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ea2858f076a4fb3" /><Relationship Type="http://schemas.openxmlformats.org/officeDocument/2006/relationships/extended-properties" Target="/docProps/app.xml" Id="Rb6b50595248649da" /><Relationship Type="http://schemas.openxmlformats.org/officeDocument/2006/relationships/officeDocument" Target="/ppt/presentation.xml" Id="R2d15dcec0e1d4042" /></Relationships>
</file>

<file path=ppt/presentation.xml><?xml version="1.0" encoding="utf-8"?>
<p:presentation xmlns:p="http://schemas.openxmlformats.org/presentationml/2006/main">
  <p:sldMasterIdLst>
    <p:sldMasterId xmlns:r="http://schemas.openxmlformats.org/officeDocument/2006/relationships" id="2147483648" r:id="R31be4df961514d4f"/>
  </p:sldMasterIdLst>
  <p:notesMasterIdLst>
    <p:notesMasterId xmlns:r="http://schemas.openxmlformats.org/officeDocument/2006/relationships" r:id="Raa63c169270c42f0"/>
  </p:notesMasterIdLst>
  <p:sldIdLst>
    <p:sldId xmlns:r="http://schemas.openxmlformats.org/officeDocument/2006/relationships" id="256" r:id="R454c0089fa414ee9"/>
    <p:sldId xmlns:r="http://schemas.openxmlformats.org/officeDocument/2006/relationships" id="257" r:id="R0539026c305b480d"/>
    <p:sldId xmlns:r="http://schemas.openxmlformats.org/officeDocument/2006/relationships" id="258" r:id="R3999c74a050f41f3"/>
    <p:sldId xmlns:r="http://schemas.openxmlformats.org/officeDocument/2006/relationships" id="259" r:id="R95bb16354bf6432f"/>
    <p:sldId xmlns:r="http://schemas.openxmlformats.org/officeDocument/2006/relationships" id="260" r:id="R5c2a52695d814d4e"/>
    <p:sldId xmlns:r="http://schemas.openxmlformats.org/officeDocument/2006/relationships" id="261" r:id="R1aea400d2124437a"/>
    <p:sldId xmlns:r="http://schemas.openxmlformats.org/officeDocument/2006/relationships" id="262" r:id="R1c54cd4ea110466f"/>
    <p:sldId xmlns:r="http://schemas.openxmlformats.org/officeDocument/2006/relationships" id="263" r:id="Rcdc71752ed1d4ef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5568f8999da4e25" /><Relationship Type="http://schemas.openxmlformats.org/officeDocument/2006/relationships/slideMaster" Target="/ppt/slideMasters/slideMaster1.xml" Id="R31be4df961514d4f" /><Relationship Type="http://schemas.openxmlformats.org/officeDocument/2006/relationships/notesMaster" Target="/ppt/notesMasters/notesMaster1.xml" Id="Raa63c169270c42f0" /><Relationship Type="http://schemas.openxmlformats.org/officeDocument/2006/relationships/presProps" Target="/ppt/presProps.xml" Id="Rb9ca8261b92e45f1" /><Relationship Type="http://schemas.openxmlformats.org/officeDocument/2006/relationships/tableStyles" Target="/ppt/tableStyles.xml" Id="Ra8ad87b086524835" /><Relationship Type="http://schemas.openxmlformats.org/officeDocument/2006/relationships/slide" Target="/ppt/slides/slide1.xml" Id="R454c0089fa414ee9" /><Relationship Type="http://schemas.openxmlformats.org/officeDocument/2006/relationships/slide" Target="/ppt/slides/slide2.xml" Id="R0539026c305b480d" /><Relationship Type="http://schemas.openxmlformats.org/officeDocument/2006/relationships/slide" Target="/ppt/slides/slide3.xml" Id="R3999c74a050f41f3" /><Relationship Type="http://schemas.openxmlformats.org/officeDocument/2006/relationships/slide" Target="/ppt/slides/slide4.xml" Id="R95bb16354bf6432f" /><Relationship Type="http://schemas.openxmlformats.org/officeDocument/2006/relationships/slide" Target="/ppt/slides/slide5.xml" Id="R5c2a52695d814d4e" /><Relationship Type="http://schemas.openxmlformats.org/officeDocument/2006/relationships/slide" Target="/ppt/slides/slide6.xml" Id="R1aea400d2124437a" /><Relationship Type="http://schemas.openxmlformats.org/officeDocument/2006/relationships/slide" Target="/ppt/slides/slide7.xml" Id="R1c54cd4ea110466f" /><Relationship Type="http://schemas.openxmlformats.org/officeDocument/2006/relationships/slide" Target="/ppt/slides/slide8.xml" Id="Rcdc71752ed1d4ef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f11b2a41b43459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668aa515fb44eff" /><Relationship Type="http://schemas.openxmlformats.org/officeDocument/2006/relationships/notesMaster" Target="/ppt/notesMasters/notesMaster1.xml" Id="R40fcd890359448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c82acd7fc754c9b" /><Relationship Type="http://schemas.openxmlformats.org/officeDocument/2006/relationships/notesMaster" Target="/ppt/notesMasters/notesMaster1.xml" Id="Rd5a2bebc93a24d3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5dbfb777814405" /><Relationship Type="http://schemas.openxmlformats.org/officeDocument/2006/relationships/notesMaster" Target="/ppt/notesMasters/notesMaster1.xml" Id="Rd8f2d78eea4b45c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a640c2d7d4a448d" /><Relationship Type="http://schemas.openxmlformats.org/officeDocument/2006/relationships/notesMaster" Target="/ppt/notesMasters/notesMaster1.xml" Id="R40e9e7a2d51f4cc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36c9c88bb0f4586" /><Relationship Type="http://schemas.openxmlformats.org/officeDocument/2006/relationships/notesMaster" Target="/ppt/notesMasters/notesMaster1.xml" Id="Rbbc1850ef0184501" /></Relationships>
</file>

<file path=ppt/notesSlides/_rels/notesSlide6.xml.rels>&#65279;<?xml version="1.0" encoding="utf-8"?><Relationships xmlns="http://schemas.openxmlformats.org/package/2006/relationships"><Relationship Type="http://schemas.openxmlformats.org/officeDocument/2006/relationships/slide" Target="/ppt/slides/slide6.xml" Id="R4f1c594237fe466c" /><Relationship Type="http://schemas.openxmlformats.org/officeDocument/2006/relationships/notesMaster" Target="/ppt/notesMasters/notesMaster1.xml" Id="R701539a23cfe4c77" /></Relationships>
</file>

<file path=ppt/notesSlides/_rels/notesSlide7.xml.rels>&#65279;<?xml version="1.0" encoding="utf-8"?><Relationships xmlns="http://schemas.openxmlformats.org/package/2006/relationships"><Relationship Type="http://schemas.openxmlformats.org/officeDocument/2006/relationships/slide" Target="/ppt/slides/slide7.xml" Id="R94581a1b25fa48a7" /><Relationship Type="http://schemas.openxmlformats.org/officeDocument/2006/relationships/notesMaster" Target="/ppt/notesMasters/notesMaster1.xml" Id="Rfcbe07d1a8f44f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25dbd4364454509" /><Relationship Type="http://schemas.openxmlformats.org/officeDocument/2006/relationships/notesMaster" Target="/ppt/notesMasters/notesMaster1.xml" Id="R9d4c2796de334d9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State the learning purpose in one sentence.</a:t>
            </a:r>
          </a:p>
          <a:p xmlns:a="http://schemas.openxmlformats.org/drawingml/2006/main">
            <a:r>
              <a:t>- Use the image only as a conceptual project cue; it is not a plan or model specification.</a:t>
            </a:r>
          </a:p>
          <a:p xmlns:a="http://schemas.openxmlformats.org/drawingml/2006/main">
            <a:r>
              <a:t/>
            </a:r>
          </a:p>
          <a:p xmlns:a="http://schemas.openxmlformats.org/drawingml/2006/main">
            <a:r>
              <a:t>Prompt</a:t>
            </a:r>
          </a:p>
          <a:p xmlns:a="http://schemas.openxmlformats.org/drawingml/2006/main">
            <a:r>
              <a:t>- What relationship or evidence do you expect to matter in this module?</a:t>
            </a:r>
          </a:p>
          <a:p xmlns:a="http://schemas.openxmlformats.org/drawingml/2006/main">
            <a:r>
              <a:t/>
            </a:r>
          </a:p>
          <a:p xmlns:a="http://schemas.openxmlformats.org/drawingml/2006/main">
            <a:r>
              <a:t>Likely misconception</a:t>
            </a:r>
          </a:p>
          <a:p xmlns:a="http://schemas.openxmlformats.org/drawingml/2006/main">
            <a:r>
              <a:t>- A realistic image must show the exact project design.</a:t>
            </a:r>
          </a:p>
          <a:p xmlns:a="http://schemas.openxmlformats.org/drawingml/2006/main">
            <a:r>
              <a:t/>
            </a:r>
          </a:p>
          <a:p xmlns:a="http://schemas.openxmlformats.org/drawingml/2006/main">
            <a:r>
              <a:t>Transition</a:t>
            </a:r>
          </a:p>
          <a:p xmlns:a="http://schemas.openxmlformats.org/drawingml/2006/main">
            <a:r>
              <a:t>- Move from the project cue to the three ideas students will learn.</a:t>
            </a:r>
          </a:p>
          <a:p xmlns:a="http://schemas.openxmlformats.org/drawingml/2006/main">
            <a:r>
              <a:t/>
            </a:r>
          </a:p>
          <a:p xmlns:a="http://schemas.openxmlformats.org/drawingml/2006/main">
            <a:r>
              <a:t>[Sources]</a:t>
            </a:r>
          </a:p>
          <a:p xmlns:a="http://schemas.openxmlformats.org/drawingml/2006/main">
            <a:r>
              <a:t>- Year 8 Catapult student theory draft v1.0, module-06, 24 Aug 2026.</a:t>
            </a:r>
          </a:p>
          <a:p xmlns:a="http://schemas.openxmlformats.org/drawingml/2006/main">
            <a:r>
              <a:t>- Catapult Booklet 2026.pdf, pp. 17 and 22–25; teacher sequence; theory draft module-06.</a:t>
            </a:r>
          </a:p>
          <a:p xmlns:a="http://schemas.openxmlformats.org/drawingml/2006/main">
            <a:r>
              <a:t>- OpenAI image generation for this course, 24 Aug 2026, conceptual only; file: radiata-pine-grain-samples.png.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Frame the module as a cumulative learning sequence.</a:t>
            </a:r>
          </a:p>
          <a:p xmlns:a="http://schemas.openxmlformats.org/drawingml/2006/main">
            <a:r>
              <a:t>- Invite a brief retrieval response before introducing new content.</a:t>
            </a:r>
          </a:p>
          <a:p xmlns:a="http://schemas.openxmlformats.org/drawingml/2006/main">
            <a:r>
              <a:t/>
            </a:r>
          </a:p>
          <a:p xmlns:a="http://schemas.openxmlformats.org/drawingml/2006/main">
            <a:r>
              <a:t>Prompt</a:t>
            </a:r>
          </a:p>
          <a:p xmlns:a="http://schemas.openxmlformats.org/drawingml/2006/main">
            <a:r>
              <a:t>- What could depend on the frame being aligned before a later stage begins?</a:t>
            </a:r>
          </a:p>
          <a:p xmlns:a="http://schemas.openxmlformats.org/drawingml/2006/main">
            <a:r>
              <a:t/>
            </a:r>
          </a:p>
          <a:p xmlns:a="http://schemas.openxmlformats.org/drawingml/2006/main">
            <a:r>
              <a:t>Likely misconception</a:t>
            </a:r>
          </a:p>
          <a:p xmlns:a="http://schemas.openxmlformats.org/drawingml/2006/main">
            <a:r>
              <a:t>- The three ideas are separate facts rather than parts of one explanation.</a:t>
            </a:r>
          </a:p>
          <a:p xmlns:a="http://schemas.openxmlformats.org/drawingml/2006/main">
            <a:r>
              <a:t/>
            </a:r>
          </a:p>
          <a:p xmlns:a="http://schemas.openxmlformats.org/drawingml/2006/main">
            <a:r>
              <a:t>Transition</a:t>
            </a:r>
          </a:p>
          <a:p xmlns:a="http://schemas.openxmlformats.org/drawingml/2006/main">
            <a:r>
              <a:t>- Tell students that each theory slide will supply evidence for the final response.</a:t>
            </a:r>
          </a:p>
          <a:p xmlns:a="http://schemas.openxmlformats.org/drawingml/2006/main">
            <a:r>
              <a:t/>
            </a:r>
          </a:p>
          <a:p xmlns:a="http://schemas.openxmlformats.org/drawingml/2006/main">
            <a:r>
              <a:t>[Sources]</a:t>
            </a:r>
          </a:p>
          <a:p xmlns:a="http://schemas.openxmlformats.org/drawingml/2006/main">
            <a:r>
              <a:t>- Year 8 Catapult student theory draft v1.0, module-06, 24 Aug 2026.</a:t>
            </a:r>
          </a:p>
          <a:p xmlns:a="http://schemas.openxmlformats.org/drawingml/2006/main">
            <a:r>
              <a:t>- Catapult Booklet 2026.pdf, pp. 17 and 22–25; teacher sequence; theory draft module-06.</a:t>
            </a:r>
          </a:p>
          <a:p xmlns:a="http://schemas.openxmlformats.org/drawingml/2006/main">
            <a:r>
              <a:t>- Native pathway diagram authored for this deck from the approved module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Some production stages rely on earlier information or checks. A later component cannot be confidently fitted when the related drawing or frame alignment is unresolved. A checkpoint is a planned pause to compare the work with approved design information before a dependent stage begins.</a:t>
            </a:r>
          </a:p>
          <a:p xmlns:a="http://schemas.openxmlformats.org/drawingml/2006/main">
            <a:r>
              <a:t>- Use the visual to emphasise: Identify what must be checked before the set-aside components can sensibly be added.</a:t>
            </a:r>
          </a:p>
          <a:p xmlns:a="http://schemas.openxmlformats.org/drawingml/2006/main">
            <a:r>
              <a:t/>
            </a:r>
          </a:p>
          <a:p xmlns:a="http://schemas.openxmlformats.org/drawingml/2006/main">
            <a:r>
              <a:t>Prompt</a:t>
            </a:r>
          </a:p>
          <a:p xmlns:a="http://schemas.openxmlformats.org/drawingml/2006/main">
            <a:r>
              <a:t>- Application: name one later stage that depends on a frame checkpoint and explain the risk of skipping it.</a:t>
            </a:r>
          </a:p>
          <a:p xmlns:a="http://schemas.openxmlformats.org/drawingml/2006/main">
            <a:r>
              <a:t/>
            </a:r>
          </a:p>
          <a:p xmlns:a="http://schemas.openxmlformats.org/drawingml/2006/main">
            <a:r>
              <a:t>Likely misconception</a:t>
            </a:r>
          </a:p>
          <a:p xmlns:a="http://schemas.openxmlformats.org/drawingml/2006/main">
            <a:r>
              <a:t>- What is a production dependency?</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module-06, 24 Aug 2026.</a:t>
            </a:r>
          </a:p>
          <a:p xmlns:a="http://schemas.openxmlformats.org/drawingml/2006/main">
            <a:r>
              <a:t>- Catapult Booklet 2026.pdf, pp. 17 and 22–25; teacher sequence; theory draft module-06.</a:t>
            </a:r>
          </a:p>
          <a:p xmlns:a="http://schemas.openxmlformats.org/drawingml/2006/main">
            <a:r>
              <a:t>- Teaching visual: assets/visuals/theory/m06-check-before-next-stage.png.</a:t>
            </a:r>
          </a:p>
          <a:p xmlns:a="http://schemas.openxmlformats.org/drawingml/2006/main">
            <a:r>
              <a:t>- OpenAI image generation for this course, 24 Aug 2026; conceptual teaching still life; final prompt: Loose partial timber corner relationship checked with a square while later components remain set aside; no joinery or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A load path is the route a force follows through a structure towards its supports. Members may experience compression, tension, shear, torsion or bending. Bracing and shape matter only when they suit the actual path, joints and material—not because one shape is automatically strong everywhere.</a:t>
            </a:r>
          </a:p>
          <a:p xmlns:a="http://schemas.openxmlformats.org/drawingml/2006/main">
            <a:r>
              <a:t>- Use the visual to emphasise: Follow where the applied load could travel and locate an interface that might interrupt the path.</a:t>
            </a:r>
          </a:p>
          <a:p xmlns:a="http://schemas.openxmlformats.org/drawingml/2006/main">
            <a:r>
              <a:t/>
            </a:r>
          </a:p>
          <a:p xmlns:a="http://schemas.openxmlformats.org/drawingml/2006/main">
            <a:r>
              <a:t>Prompt</a:t>
            </a:r>
          </a:p>
          <a:p xmlns:a="http://schemas.openxmlformats.org/drawingml/2006/main">
            <a:r>
              <a:t>- Reason: trace where movement begins and where the force could travel before proposing added material.</a:t>
            </a:r>
          </a:p>
          <a:p xmlns:a="http://schemas.openxmlformats.org/drawingml/2006/main">
            <a:r>
              <a:t/>
            </a:r>
          </a:p>
          <a:p xmlns:a="http://schemas.openxmlformats.org/drawingml/2006/main">
            <a:r>
              <a:t>Likely misconception</a:t>
            </a:r>
          </a:p>
          <a:p xmlns:a="http://schemas.openxmlformats.org/drawingml/2006/main">
            <a:r>
              <a:t>- What does a load path describe?</a:t>
            </a:r>
          </a:p>
          <a:p xmlns:a="http://schemas.openxmlformats.org/drawingml/2006/main">
            <a:r>
              <a:t/>
            </a:r>
          </a:p>
          <a:p xmlns:a="http://schemas.openxmlformats.org/drawingml/2006/main">
            <a:r>
              <a:t>Transition</a:t>
            </a:r>
          </a:p>
          <a:p xmlns:a="http://schemas.openxmlformats.org/drawingml/2006/main">
            <a:r>
              <a:t>- Link this idea to the next relationship in the module.</a:t>
            </a:r>
          </a:p>
          <a:p xmlns:a="http://schemas.openxmlformats.org/drawingml/2006/main">
            <a:r>
              <a:t/>
            </a:r>
          </a:p>
          <a:p xmlns:a="http://schemas.openxmlformats.org/drawingml/2006/main">
            <a:r>
              <a:t>[Sources]</a:t>
            </a:r>
          </a:p>
          <a:p xmlns:a="http://schemas.openxmlformats.org/drawingml/2006/main">
            <a:r>
              <a:t>- Year 8 Catapult student theory draft v1.0, module-06, 24 Aug 2026.</a:t>
            </a:r>
          </a:p>
          <a:p xmlns:a="http://schemas.openxmlformats.org/drawingml/2006/main">
            <a:r>
              <a:t>- Catapult Booklet 2026.pdf, pp. 17 and 22–25; teacher sequence; theory draft module-06.</a:t>
            </a:r>
          </a:p>
          <a:p xmlns:a="http://schemas.openxmlformats.org/drawingml/2006/main">
            <a:r>
              <a:t>- Teaching visual: assets/visuals/theory/m06-load-path-model.png.</a:t>
            </a:r>
          </a:p>
          <a:p xmlns:a="http://schemas.openxmlformats.org/drawingml/2006/main">
            <a:r>
              <a:t>- OpenAI image generation for this course, 24 Aug 2026; conceptual teaching still life; final prompt: Abstract triangular timber teaching frame supporting a light neutral block above broad supports; no Catapult geometry or strength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Squareness, symmetry, joint quality, stability and efficient material use are connected. Accurate individual components can still assemble into a misaligned system. A useful photo or note identifies the feature, the check, the decision and what changed; it does not prove competence by itself.</a:t>
            </a:r>
          </a:p>
          <a:p xmlns:a="http://schemas.openxmlformats.org/drawingml/2006/main">
            <a:r>
              <a:t>- Use the visual to emphasise: Look for a clear subject and the feature that the evidence would need to explain.</a:t>
            </a:r>
          </a:p>
          <a:p xmlns:a="http://schemas.openxmlformats.org/drawingml/2006/main">
            <a:r>
              <a:t/>
            </a:r>
          </a:p>
          <a:p xmlns:a="http://schemas.openxmlformats.org/drawingml/2006/main">
            <a:r>
              <a:t>Prompt</a:t>
            </a:r>
          </a:p>
          <a:p xmlns:a="http://schemas.openxmlformats.org/drawingml/2006/main">
            <a:r>
              <a:t>- Evidence move: caption one checkpoint image so it explains what was checked and why it mattered.</a:t>
            </a:r>
          </a:p>
          <a:p xmlns:a="http://schemas.openxmlformats.org/drawingml/2006/main">
            <a:r>
              <a:t/>
            </a:r>
          </a:p>
          <a:p xmlns:a="http://schemas.openxmlformats.org/drawingml/2006/main">
            <a:r>
              <a:t>Likely misconception</a:t>
            </a:r>
          </a:p>
          <a:p xmlns:a="http://schemas.openxmlformats.org/drawingml/2006/main">
            <a:r>
              <a:t>- Why does extra material not automatically fix a frame?</a:t>
            </a:r>
          </a:p>
          <a:p xmlns:a="http://schemas.openxmlformats.org/drawingml/2006/main">
            <a:r>
              <a:t/>
            </a:r>
          </a:p>
          <a:p xmlns:a="http://schemas.openxmlformats.org/drawingml/2006/main">
            <a:r>
              <a:t>Transition</a:t>
            </a:r>
          </a:p>
          <a:p xmlns:a="http://schemas.openxmlformats.org/drawingml/2006/main">
            <a:r>
              <a:t>- Prepare students to retrieve and apply all three ideas.</a:t>
            </a:r>
          </a:p>
          <a:p xmlns:a="http://schemas.openxmlformats.org/drawingml/2006/main">
            <a:r>
              <a:t/>
            </a:r>
          </a:p>
          <a:p xmlns:a="http://schemas.openxmlformats.org/drawingml/2006/main">
            <a:r>
              <a:t>[Sources]</a:t>
            </a:r>
          </a:p>
          <a:p xmlns:a="http://schemas.openxmlformats.org/drawingml/2006/main">
            <a:r>
              <a:t>- Year 8 Catapult student theory draft v1.0, module-06, 24 Aug 2026.</a:t>
            </a:r>
          </a:p>
          <a:p xmlns:a="http://schemas.openxmlformats.org/drawingml/2006/main">
            <a:r>
              <a:t>- Catapult Booklet 2026.pdf, pp. 17 and 22–25; teacher sequence; theory draft module-06.</a:t>
            </a:r>
          </a:p>
          <a:p xmlns:a="http://schemas.openxmlformats.org/drawingml/2006/main">
            <a:r>
              <a:t>- Teaching visual: assets/visuals/theory/m06-quality-evidence.png.</a:t>
            </a:r>
          </a:p>
          <a:p xmlns:a="http://schemas.openxmlformats.org/drawingml/2006/main">
            <a:r>
              <a:t>- OpenAI image generation for this course, 24 Aug 2026; conceptual teaching still life; final prompt: Partial generic frame, square, unmarked camera and blank evidence card; no drilled holes, controls, student work or pass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Give individual thinking time before partner discussion.</a:t>
            </a:r>
          </a:p>
          <a:p xmlns:a="http://schemas.openxmlformats.org/drawingml/2006/main">
            <a:r>
              <a:t>- Ask for evidence or a because-clause, not just the answer.</a:t>
            </a:r>
          </a:p>
          <a:p xmlns:a="http://schemas.openxmlformats.org/drawingml/2006/main">
            <a:r>
              <a:t/>
            </a:r>
          </a:p>
          <a:p xmlns:a="http://schemas.openxmlformats.org/drawingml/2006/main">
            <a:r>
              <a:t>Prompt</a:t>
            </a:r>
          </a:p>
          <a:p xmlns:a="http://schemas.openxmlformats.org/drawingml/2006/main">
            <a:r>
              <a:t>- Which answer changed after discussion, and what evidence changed it?</a:t>
            </a:r>
          </a:p>
          <a:p xmlns:a="http://schemas.openxmlformats.org/drawingml/2006/main">
            <a:r>
              <a:t/>
            </a:r>
          </a:p>
          <a:p xmlns:a="http://schemas.openxmlformats.org/drawingml/2006/main">
            <a:r>
              <a:t>Likely misconception</a:t>
            </a:r>
          </a:p>
          <a:p xmlns:a="http://schemas.openxmlformats.org/drawingml/2006/main">
            <a:r>
              <a:t>- Retrieval is a memory race rather than a chance to repair understanding.</a:t>
            </a:r>
          </a:p>
          <a:p xmlns:a="http://schemas.openxmlformats.org/drawingml/2006/main">
            <a:r>
              <a:t/>
            </a:r>
          </a:p>
          <a:p xmlns:a="http://schemas.openxmlformats.org/drawingml/2006/main">
            <a:r>
              <a:t>Transition</a:t>
            </a:r>
          </a:p>
          <a:p xmlns:a="http://schemas.openxmlformats.org/drawingml/2006/main">
            <a:r>
              <a:t>- Use the strongest unresolved question to launch the evidence scaffold.</a:t>
            </a:r>
          </a:p>
          <a:p xmlns:a="http://schemas.openxmlformats.org/drawingml/2006/main">
            <a:r>
              <a:t/>
            </a:r>
          </a:p>
          <a:p xmlns:a="http://schemas.openxmlformats.org/drawingml/2006/main">
            <a:r>
              <a:t>[Sources]</a:t>
            </a:r>
          </a:p>
          <a:p xmlns:a="http://schemas.openxmlformats.org/drawingml/2006/main">
            <a:r>
              <a:t>- Year 8 Catapult student theory draft v1.0, module-06, 24 Aug 2026.</a:t>
            </a:r>
          </a:p>
          <a:p xmlns:a="http://schemas.openxmlformats.org/drawingml/2006/main">
            <a:r>
              <a:t>- Catapult Booklet 2026.pdf, pp. 17 and 22–25; teacher sequence; theory draft module-06.</a:t>
            </a:r>
          </a:p>
          <a:p xmlns:a="http://schemas.openxmlformats.org/drawingml/2006/main">
            <a:r>
              <a:t>- Questions derived from the approved module theory; no external asset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Model how to select evidence before writing the explanation.</a:t>
            </a:r>
          </a:p>
          <a:p xmlns:a="http://schemas.openxmlformats.org/drawingml/2006/main">
            <a:r>
              <a:t>- Read the sentence support aloud, then let students change its wording to suit their evidence.</a:t>
            </a:r>
          </a:p>
          <a:p xmlns:a="http://schemas.openxmlformats.org/drawingml/2006/main">
            <a:r>
              <a:t/>
            </a:r>
          </a:p>
          <a:p xmlns:a="http://schemas.openxmlformats.org/drawingml/2006/main">
            <a:r>
              <a:t>Prompt</a:t>
            </a:r>
          </a:p>
          <a:p xmlns:a="http://schemas.openxmlformats.org/drawingml/2006/main">
            <a:r>
              <a:t>- A frame looks neat but shifts sideways during a teacher-approved check. Explain possible load-path, alignment and joint causes, then state the evidence needed before one change.</a:t>
            </a:r>
          </a:p>
          <a:p xmlns:a="http://schemas.openxmlformats.org/drawingml/2006/main">
            <a:r>
              <a:t/>
            </a:r>
          </a:p>
          <a:p xmlns:a="http://schemas.openxmlformats.org/drawingml/2006/main">
            <a:r>
              <a:t>Likely misconception</a:t>
            </a:r>
          </a:p>
          <a:p xmlns:a="http://schemas.openxmlformats.org/drawingml/2006/main">
            <a:r>
              <a:t>- Longer writing is automatically stronger evidence.</a:t>
            </a:r>
          </a:p>
          <a:p xmlns:a="http://schemas.openxmlformats.org/drawingml/2006/main">
            <a:r>
              <a:t/>
            </a:r>
          </a:p>
          <a:p xmlns:a="http://schemas.openxmlformats.org/drawingml/2006/main">
            <a:r>
              <a:t>Transition</a:t>
            </a:r>
          </a:p>
          <a:p xmlns:a="http://schemas.openxmlformats.org/drawingml/2006/main">
            <a:r>
              <a:t>- Move from the scaffold to a concise exit ticket and evidence-save action.</a:t>
            </a:r>
          </a:p>
          <a:p xmlns:a="http://schemas.openxmlformats.org/drawingml/2006/main">
            <a:r>
              <a:t/>
            </a:r>
          </a:p>
          <a:p xmlns:a="http://schemas.openxmlformats.org/drawingml/2006/main">
            <a:r>
              <a:t>[Sources]</a:t>
            </a:r>
          </a:p>
          <a:p xmlns:a="http://schemas.openxmlformats.org/drawingml/2006/main">
            <a:r>
              <a:t>- Year 8 Catapult student theory draft v1.0, module-06, 24 Aug 2026.</a:t>
            </a:r>
          </a:p>
          <a:p xmlns:a="http://schemas.openxmlformats.org/drawingml/2006/main">
            <a:r>
              <a:t>- Catapult Booklet 2026.pdf, pp. 17 and 22–25; teacher sequence; theory draft module-06.</a:t>
            </a:r>
          </a:p>
          <a:p xmlns:a="http://schemas.openxmlformats.org/drawingml/2006/main">
            <a:r>
              <a:t>- Read–Select–Explain–Check scaffold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points</a:t>
            </a:r>
          </a:p>
          <a:p xmlns:a="http://schemas.openxmlformats.org/drawingml/2006/main">
            <a:r>
              <a:t>- Collect a short answer to each exit prompt.</a:t>
            </a:r>
          </a:p>
          <a:p xmlns:a="http://schemas.openxmlformats.org/drawingml/2006/main">
            <a:r>
              <a:t>- Make the evidence destination explicit without turning the slide into assessment administration.</a:t>
            </a:r>
          </a:p>
          <a:p xmlns:a="http://schemas.openxmlformats.org/drawingml/2006/main">
            <a:r>
              <a:t/>
            </a:r>
          </a:p>
          <a:p xmlns:a="http://schemas.openxmlformats.org/drawingml/2006/main">
            <a:r>
              <a:t>Prompt</a:t>
            </a:r>
          </a:p>
          <a:p xmlns:a="http://schemas.openxmlformats.org/drawingml/2006/main">
            <a:r>
              <a:t>- Which exit response best shows a changed decision or deeper explanation?</a:t>
            </a:r>
          </a:p>
          <a:p xmlns:a="http://schemas.openxmlformats.org/drawingml/2006/main">
            <a:r>
              <a:t/>
            </a:r>
          </a:p>
          <a:p xmlns:a="http://schemas.openxmlformats.org/drawingml/2006/main">
            <a:r>
              <a:t>Likely misconception</a:t>
            </a:r>
          </a:p>
          <a:p xmlns:a="http://schemas.openxmlformats.org/drawingml/2006/main">
            <a:r>
              <a:t>- The exit ticket is a generic summary with no next evidence action.</a:t>
            </a:r>
          </a:p>
          <a:p xmlns:a="http://schemas.openxmlformats.org/drawingml/2006/main">
            <a:r>
              <a:t/>
            </a:r>
          </a:p>
          <a:p xmlns:a="http://schemas.openxmlformats.org/drawingml/2006/main">
            <a:r>
              <a:t>Transition</a:t>
            </a:r>
          </a:p>
          <a:p xmlns:a="http://schemas.openxmlformats.org/drawingml/2006/main">
            <a:r>
              <a:t>- Next: map component interactions and use quality checks during assembly.</a:t>
            </a:r>
          </a:p>
          <a:p xmlns:a="http://schemas.openxmlformats.org/drawingml/2006/main">
            <a:r>
              <a:t/>
            </a:r>
          </a:p>
          <a:p xmlns:a="http://schemas.openxmlformats.org/drawingml/2006/main">
            <a:r>
              <a:t>[Sources]</a:t>
            </a:r>
          </a:p>
          <a:p xmlns:a="http://schemas.openxmlformats.org/drawingml/2006/main">
            <a:r>
              <a:t>- Year 8 Catapult student theory draft v1.0, module-06, 24 Aug 2026.</a:t>
            </a:r>
          </a:p>
          <a:p xmlns:a="http://schemas.openxmlformats.org/drawingml/2006/main">
            <a:r>
              <a:t>- Catapult Booklet 2026.pdf, pp. 17 and 22–25; teacher sequence; theory draft module-06.</a:t>
            </a:r>
          </a:p>
          <a:p xmlns:a="http://schemas.openxmlformats.org/drawingml/2006/main">
            <a:r>
              <a:t>- Exit-evidence structure follows the TAS course presentation standard.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a850c6d7ebb436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67decdc0b034238" /><Relationship Type="http://schemas.openxmlformats.org/officeDocument/2006/relationships/slideLayout" Target="/ppt/slideLayouts/slideLayout1.xml" Id="Ra0615bcf37dc43a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0615bcf37dc43a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a17708d53d84f86" /><Relationship Type="http://schemas.openxmlformats.org/officeDocument/2006/relationships/image" Target="/ppt/media/image.png" Id="R06ca5edd1894442b" /><Relationship Type="http://schemas.openxmlformats.org/officeDocument/2006/relationships/notesSlide" Target="/ppt/notesSlides/notesSlide1.xml" Id="R1dcd20348f2148e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f7f46736e5e4efb" /><Relationship Type="http://schemas.openxmlformats.org/officeDocument/2006/relationships/notesSlide" Target="/ppt/notesSlides/notesSlide2.xml" Id="R68b02f81729a40d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209f833f9a44dfe" /><Relationship Type="http://schemas.openxmlformats.org/officeDocument/2006/relationships/image" Target="/ppt/media/image2.png" Id="R7d909f858c7d4574" /><Relationship Type="http://schemas.openxmlformats.org/officeDocument/2006/relationships/notesSlide" Target="/ppt/notesSlides/notesSlide3.xml" Id="Red9f08380ae24eb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8d3e3824b7b4c18" /><Relationship Type="http://schemas.openxmlformats.org/officeDocument/2006/relationships/image" Target="/ppt/media/image3.png" Id="Rc6af3c8578af40c1" /><Relationship Type="http://schemas.openxmlformats.org/officeDocument/2006/relationships/notesSlide" Target="/ppt/notesSlides/notesSlide4.xml" Id="R1f1128b2b59240f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c51ec93d475440b" /><Relationship Type="http://schemas.openxmlformats.org/officeDocument/2006/relationships/image" Target="/ppt/media/image4.png" Id="R7e98b0f621934b0d" /><Relationship Type="http://schemas.openxmlformats.org/officeDocument/2006/relationships/notesSlide" Target="/ppt/notesSlides/notesSlide5.xml" Id="R436674c597e8434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c4089fde8ce43e4" /><Relationship Type="http://schemas.openxmlformats.org/officeDocument/2006/relationships/notesSlide" Target="/ppt/notesSlides/notesSlide6.xml" Id="R592d7d524a17443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815951a055d4ce1" /><Relationship Type="http://schemas.openxmlformats.org/officeDocument/2006/relationships/notesSlide" Target="/ppt/notesSlides/notesSlide7.xml" Id="Rc85d3a44d390467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d96b65ec2ab41e2" /><Relationship Type="http://schemas.openxmlformats.org/officeDocument/2006/relationships/notesSlide" Target="/ppt/notesSlides/notesSlide8.xml" Id="R34a230f7b59f44fe" /></Relationships>
</file>

<file path=ppt/slides/slide1.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06ca5edd1894442b"/>
          <a:srcRect xmlns:a="http://schemas.openxmlformats.org/drawingml/2006/main" l="25926" t="0" r="25926" b="0"/>
          <a:stretch xmlns:a="http://schemas.openxmlformats.org/drawingml/2006/main">
            <a:fillRect l="0" t="0" r="0" b="0"/>
          </a:stretch>
        </p:blipFill>
        <p:spPr>
          <a:xfrm xmlns:a="http://schemas.openxmlformats.org/drawingml/2006/main">
            <a:off x="7239000" y="0"/>
            <a:ext cx="4953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2596CD3-976C-4E4D-BC94-4735AADAA488}"/>
              </a:ext>
            </a:extLst>
          </p:cNvPr>
          <p:cNvSpPr>
            <a:spLocks xmlns:a="http://schemas.openxmlformats.org/drawingml/2006/main" noGrp="1"/>
          </p:cNvSpPr>
          <p:nvPr/>
        </p:nvSpPr>
        <p:spPr>
          <a:xfrm xmlns:a="http://schemas.openxmlformats.org/drawingml/2006/main">
            <a:off x="7029450" y="0"/>
            <a:ext cx="285750" cy="685800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CA48CA0-0A78-49FA-B1D9-9E09DED5F117}"/>
              </a:ext>
            </a:extLst>
          </p:cNvPr>
          <p:cNvSpPr>
            <a:spLocks xmlns:a="http://schemas.openxmlformats.org/drawingml/2006/main" noGrp="1"/>
          </p:cNvSpPr>
          <p:nvPr/>
        </p:nvSpPr>
        <p:spPr>
          <a:xfrm xmlns:a="http://schemas.openxmlformats.org/drawingml/2006/main">
            <a:off x="685800" y="72390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MODULE 06</a:t>
            </a:r>
          </a:p>
        </p:txBody>
      </p:sp>
      <p:sp>
        <p:nvSpPr>
          <p:cNvPr id="4" name="">
            <a:extLst xmlns:a="http://schemas.openxmlformats.org/drawingml/2006/main">
              <a:ext uri="{FF2B5EF4-FFF2-40B4-BE49-F238E27FC236}">
                <a16:creationId xmlns:a16="http://schemas.microsoft.com/office/drawing/2014/main" id="{67B2E53E-34D6-44BE-80FC-34700BA946AC}"/>
              </a:ext>
            </a:extLst>
          </p:cNvPr>
          <p:cNvSpPr>
            <a:spLocks xmlns:a="http://schemas.openxmlformats.org/drawingml/2006/main" noGrp="1"/>
          </p:cNvSpPr>
          <p:nvPr/>
        </p:nvSpPr>
        <p:spPr>
          <a:xfrm xmlns:a="http://schemas.openxmlformats.org/drawingml/2006/main">
            <a:off x="685800" y="1428750"/>
            <a:ext cx="5810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4350" b="1">
                <a:solidFill>
                  <a:srgbClr val="FFFFFF"/>
                </a:solidFill>
              </a:defRPr>
            </a:pPr>
            <a:r>
              <a:rPr sz="4350" b="1">
                <a:solidFill>
                  <a:srgbClr val="FFFFFF"/>
                </a:solidFill>
              </a:rPr>
              <a:t>Producing the Base and Frame</a:t>
            </a:r>
          </a:p>
        </p:txBody>
      </p:sp>
      <p:sp>
        <p:nvSpPr>
          <p:cNvPr id="5" name="">
            <a:extLst xmlns:a="http://schemas.openxmlformats.org/drawingml/2006/main">
              <a:ext uri="{FF2B5EF4-FFF2-40B4-BE49-F238E27FC236}">
                <a16:creationId xmlns:a16="http://schemas.microsoft.com/office/drawing/2014/main" id="{6DDBF28E-37D0-4E04-A0C7-842E0B2A5EA7}"/>
              </a:ext>
            </a:extLst>
          </p:cNvPr>
          <p:cNvSpPr>
            <a:spLocks xmlns:a="http://schemas.openxmlformats.org/drawingml/2006/main" noGrp="1"/>
          </p:cNvSpPr>
          <p:nvPr/>
        </p:nvSpPr>
        <p:spPr>
          <a:xfrm xmlns:a="http://schemas.openxmlformats.org/drawingml/2006/main">
            <a:off x="685800" y="3943350"/>
            <a:ext cx="5762625"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0">
                <a:solidFill>
                  <a:srgbClr val="D7E5E8"/>
                </a:solidFill>
              </a:defRPr>
            </a:pPr>
            <a:r>
              <a:rPr sz="1875" b="0">
                <a:solidFill>
                  <a:srgbClr val="D7E5E8"/>
                </a:solidFill>
              </a:rPr>
              <a:t>Explain dependencies, load paths and evidence checkpoints during teacher-directed production.</a:t>
            </a:r>
          </a:p>
        </p:txBody>
      </p:sp>
      <p:sp>
        <p:nvSpPr>
          <p:cNvPr id="6" name="">
            <a:extLst xmlns:a="http://schemas.openxmlformats.org/drawingml/2006/main">
              <a:ext uri="{FF2B5EF4-FFF2-40B4-BE49-F238E27FC236}">
                <a16:creationId xmlns:a16="http://schemas.microsoft.com/office/drawing/2014/main" id="{966716AC-3AEB-450F-975C-4CBDDD11714D}"/>
              </a:ext>
            </a:extLst>
          </p:cNvPr>
          <p:cNvSpPr>
            <a:spLocks xmlns:a="http://schemas.openxmlformats.org/drawingml/2006/main" noGrp="1"/>
          </p:cNvSpPr>
          <p:nvPr/>
        </p:nvSpPr>
        <p:spPr>
          <a:xfrm xmlns:a="http://schemas.openxmlformats.org/drawingml/2006/main">
            <a:off x="685800" y="592455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D7E5E8"/>
                </a:solidFill>
              </a:defRPr>
            </a:pPr>
            <a:r>
              <a:rPr sz="1125" b="1">
                <a:solidFill>
                  <a:srgbClr val="D7E5E8"/>
                </a:solidFill>
              </a:rPr>
              <a:t>YEAR 8  •  ENGINEERING TECHNOLOGIES AND SYSTEMS</a:t>
            </a:r>
          </a:p>
        </p:txBody>
      </p:sp>
    </p:spTree>
    <p:extLst>
      <p:ext uri="{BB962C8B-B14F-4D97-AF65-F5344CB8AC3E}">
        <p14:creationId xmlns:p14="http://schemas.microsoft.com/office/powerpoint/2010/main" val="1908436471"/>
      </p:ext>
    </p:extLst>
  </p:cSld>
</p:sld>
</file>

<file path=ppt/slides/slide2.xml><?xml version="1.0" encoding="utf-8"?>
<p:sld xmlns:p="http://schemas.openxmlformats.org/presentationml/2006/main">
  <p:cSld>
    <p:bg>
      <p:bgPr>
        <a:solidFill xmlns:a="http://schemas.openxmlformats.org/drawingml/2006/main">
          <a:srgbClr val="F3F6F7"/>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D9B3A35-E4EE-41E4-A940-BC8DD64FED14}"/>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B5486AF-B1F8-4898-BB46-461FBBE9452E}"/>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06  /  BASE AND FRAME</a:t>
            </a:r>
          </a:p>
        </p:txBody>
      </p:sp>
      <p:sp>
        <p:nvSpPr>
          <p:cNvPr id="3" name="">
            <a:extLst xmlns:a="http://schemas.openxmlformats.org/drawingml/2006/main">
              <a:ext uri="{FF2B5EF4-FFF2-40B4-BE49-F238E27FC236}">
                <a16:creationId xmlns:a16="http://schemas.microsoft.com/office/drawing/2014/main" id="{343BBCF6-FFE3-41A8-BD72-FB5EEC5546B5}"/>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The learning question</a:t>
            </a:r>
          </a:p>
        </p:txBody>
      </p:sp>
      <p:sp>
        <p:nvSpPr>
          <p:cNvPr id="4" name="">
            <a:extLst xmlns:a="http://schemas.openxmlformats.org/drawingml/2006/main">
              <a:ext uri="{FF2B5EF4-FFF2-40B4-BE49-F238E27FC236}">
                <a16:creationId xmlns:a16="http://schemas.microsoft.com/office/drawing/2014/main" id="{0B40ABC2-1280-47BB-BEC5-7FCE03E47B34}"/>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2262AD0C-5B18-425F-ADCD-7376C78AF446}"/>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06</a:t>
            </a:r>
          </a:p>
        </p:txBody>
      </p:sp>
      <p:sp>
        <p:nvSpPr>
          <p:cNvPr id="6" name="">
            <a:extLst xmlns:a="http://schemas.openxmlformats.org/drawingml/2006/main">
              <a:ext uri="{FF2B5EF4-FFF2-40B4-BE49-F238E27FC236}">
                <a16:creationId xmlns:a16="http://schemas.microsoft.com/office/drawing/2014/main" id="{C2219457-0591-42B3-A9BA-97D1EDD819F2}"/>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02</a:t>
            </a:r>
          </a:p>
        </p:txBody>
      </p:sp>
      <p:sp>
        <p:nvSpPr>
          <p:cNvPr id="7" name="">
            <a:extLst xmlns:a="http://schemas.openxmlformats.org/drawingml/2006/main">
              <a:ext uri="{FF2B5EF4-FFF2-40B4-BE49-F238E27FC236}">
                <a16:creationId xmlns:a16="http://schemas.microsoft.com/office/drawing/2014/main" id="{4D3C2DD0-8B84-4F09-B8E0-2173C33A3F27}"/>
              </a:ext>
            </a:extLst>
          </p:cNvPr>
          <p:cNvSpPr>
            <a:spLocks xmlns:a="http://schemas.openxmlformats.org/drawingml/2006/main" noGrp="1"/>
          </p:cNvSpPr>
          <p:nvPr/>
        </p:nvSpPr>
        <p:spPr>
          <a:xfrm xmlns:a="http://schemas.openxmlformats.org/drawingml/2006/main">
            <a:off x="685800" y="1333500"/>
            <a:ext cx="10477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250" b="1">
                <a:solidFill>
                  <a:srgbClr val="184F5E"/>
                </a:solidFill>
              </a:defRPr>
            </a:pPr>
            <a:r>
              <a:rPr sz="2250" b="1">
                <a:solidFill>
                  <a:srgbClr val="184F5E"/>
                </a:solidFill>
              </a:rPr>
              <a:t>How do planned checkpoints prevent one early issue from spreading through a system?</a:t>
            </a:r>
          </a:p>
        </p:txBody>
      </p:sp>
      <p:sp>
        <p:nvSpPr>
          <p:cNvPr id="8" name="">
            <a:extLst xmlns:a="http://schemas.openxmlformats.org/drawingml/2006/main">
              <a:ext uri="{FF2B5EF4-FFF2-40B4-BE49-F238E27FC236}">
                <a16:creationId xmlns:a16="http://schemas.microsoft.com/office/drawing/2014/main" id="{C8B2EDE8-6C1C-4522-8F03-8BAAB0316886}"/>
              </a:ext>
            </a:extLst>
          </p:cNvPr>
          <p:cNvSpPr>
            <a:spLocks xmlns:a="http://schemas.openxmlformats.org/drawingml/2006/main" noGrp="1"/>
          </p:cNvSpPr>
          <p:nvPr/>
        </p:nvSpPr>
        <p:spPr>
          <a:xfrm xmlns:a="http://schemas.openxmlformats.org/drawingml/2006/main">
            <a:off x="3543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8D9096D-9C0D-426C-A6EE-B741DC80EE29}"/>
              </a:ext>
            </a:extLst>
          </p:cNvPr>
          <p:cNvSpPr>
            <a:spLocks xmlns:a="http://schemas.openxmlformats.org/drawingml/2006/main" noGrp="1"/>
          </p:cNvSpPr>
          <p:nvPr/>
        </p:nvSpPr>
        <p:spPr>
          <a:xfrm xmlns:a="http://schemas.openxmlformats.org/drawingml/2006/main">
            <a:off x="6972300" y="3181350"/>
            <a:ext cx="66675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CEF00A8-86D7-442C-9B8F-F3E3CA43C0FA}"/>
              </a:ext>
            </a:extLst>
          </p:cNvPr>
          <p:cNvSpPr>
            <a:spLocks xmlns:a="http://schemas.openxmlformats.org/drawingml/2006/main" noGrp="1"/>
          </p:cNvSpPr>
          <p:nvPr/>
        </p:nvSpPr>
        <p:spPr>
          <a:xfrm xmlns:a="http://schemas.openxmlformats.org/drawingml/2006/main">
            <a:off x="819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51DEF79-0FD4-464A-8BEF-CFC5C34599EC}"/>
              </a:ext>
            </a:extLst>
          </p:cNvPr>
          <p:cNvSpPr>
            <a:spLocks xmlns:a="http://schemas.openxmlformats.org/drawingml/2006/main" noGrp="1"/>
          </p:cNvSpPr>
          <p:nvPr/>
        </p:nvSpPr>
        <p:spPr>
          <a:xfrm xmlns:a="http://schemas.openxmlformats.org/drawingml/2006/main">
            <a:off x="819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1</a:t>
            </a:r>
          </a:p>
        </p:txBody>
      </p:sp>
      <p:sp>
        <p:nvSpPr>
          <p:cNvPr id="12" name="">
            <a:extLst xmlns:a="http://schemas.openxmlformats.org/drawingml/2006/main">
              <a:ext uri="{FF2B5EF4-FFF2-40B4-BE49-F238E27FC236}">
                <a16:creationId xmlns:a16="http://schemas.microsoft.com/office/drawing/2014/main" id="{6F1841E9-F6CB-4B5D-8A2D-7739EC4054EF}"/>
              </a:ext>
            </a:extLst>
          </p:cNvPr>
          <p:cNvSpPr>
            <a:spLocks xmlns:a="http://schemas.openxmlformats.org/drawingml/2006/main" noGrp="1"/>
          </p:cNvSpPr>
          <p:nvPr/>
        </p:nvSpPr>
        <p:spPr>
          <a:xfrm xmlns:a="http://schemas.openxmlformats.org/drawingml/2006/main">
            <a:off x="1790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Sequence around dependencies</a:t>
            </a:r>
          </a:p>
        </p:txBody>
      </p:sp>
      <p:sp>
        <p:nvSpPr>
          <p:cNvPr id="13" name="">
            <a:extLst xmlns:a="http://schemas.openxmlformats.org/drawingml/2006/main">
              <a:ext uri="{FF2B5EF4-FFF2-40B4-BE49-F238E27FC236}">
                <a16:creationId xmlns:a16="http://schemas.microsoft.com/office/drawing/2014/main" id="{A7227FAF-6318-441B-B28C-AF44D0CABAD0}"/>
              </a:ext>
            </a:extLst>
          </p:cNvPr>
          <p:cNvSpPr>
            <a:spLocks xmlns:a="http://schemas.openxmlformats.org/drawingml/2006/main" noGrp="1"/>
          </p:cNvSpPr>
          <p:nvPr/>
        </p:nvSpPr>
        <p:spPr>
          <a:xfrm xmlns:a="http://schemas.openxmlformats.org/drawingml/2006/main">
            <a:off x="4248150" y="2743200"/>
            <a:ext cx="819150" cy="81915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F2D56BC-E52C-40F6-969B-52CABC74E31B}"/>
              </a:ext>
            </a:extLst>
          </p:cNvPr>
          <p:cNvSpPr>
            <a:spLocks xmlns:a="http://schemas.openxmlformats.org/drawingml/2006/main" noGrp="1"/>
          </p:cNvSpPr>
          <p:nvPr/>
        </p:nvSpPr>
        <p:spPr>
          <a:xfrm xmlns:a="http://schemas.openxmlformats.org/drawingml/2006/main">
            <a:off x="4248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17232B"/>
                </a:solidFill>
              </a:defRPr>
            </a:pPr>
            <a:r>
              <a:rPr sz="2400" b="1">
                <a:solidFill>
                  <a:srgbClr val="17232B"/>
                </a:solidFill>
              </a:rPr>
              <a:t>2</a:t>
            </a:r>
          </a:p>
        </p:txBody>
      </p:sp>
      <p:sp>
        <p:nvSpPr>
          <p:cNvPr id="15" name="">
            <a:extLst xmlns:a="http://schemas.openxmlformats.org/drawingml/2006/main">
              <a:ext uri="{FF2B5EF4-FFF2-40B4-BE49-F238E27FC236}">
                <a16:creationId xmlns:a16="http://schemas.microsoft.com/office/drawing/2014/main" id="{A8194DB7-CBB6-48D6-8EAC-74C553822029}"/>
              </a:ext>
            </a:extLst>
          </p:cNvPr>
          <p:cNvSpPr>
            <a:spLocks xmlns:a="http://schemas.openxmlformats.org/drawingml/2006/main" noGrp="1"/>
          </p:cNvSpPr>
          <p:nvPr/>
        </p:nvSpPr>
        <p:spPr>
          <a:xfrm xmlns:a="http://schemas.openxmlformats.org/drawingml/2006/main">
            <a:off x="5219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Trace load paths</a:t>
            </a:r>
          </a:p>
        </p:txBody>
      </p:sp>
      <p:sp>
        <p:nvSpPr>
          <p:cNvPr id="16" name="">
            <a:extLst xmlns:a="http://schemas.openxmlformats.org/drawingml/2006/main">
              <a:ext uri="{FF2B5EF4-FFF2-40B4-BE49-F238E27FC236}">
                <a16:creationId xmlns:a16="http://schemas.microsoft.com/office/drawing/2014/main" id="{C13A31E5-4623-421B-B584-108370AC1ED9}"/>
              </a:ext>
            </a:extLst>
          </p:cNvPr>
          <p:cNvSpPr>
            <a:spLocks xmlns:a="http://schemas.openxmlformats.org/drawingml/2006/main" noGrp="1"/>
          </p:cNvSpPr>
          <p:nvPr/>
        </p:nvSpPr>
        <p:spPr>
          <a:xfrm xmlns:a="http://schemas.openxmlformats.org/drawingml/2006/main">
            <a:off x="7677150" y="2743200"/>
            <a:ext cx="819150" cy="819150"/>
          </a:xfrm>
          <a:prstGeom xmlns:a="http://schemas.openxmlformats.org/drawingml/2006/main" prst="ellipse">
            <a:avLst/>
          </a:prstGeom>
          <a:solidFill xmlns:a="http://schemas.openxmlformats.org/drawingml/2006/main">
            <a:srgbClr val="184F5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5010068-D9E3-4CB4-8917-2DAD5CFDE639}"/>
              </a:ext>
            </a:extLst>
          </p:cNvPr>
          <p:cNvSpPr>
            <a:spLocks xmlns:a="http://schemas.openxmlformats.org/drawingml/2006/main" noGrp="1"/>
          </p:cNvSpPr>
          <p:nvPr/>
        </p:nvSpPr>
        <p:spPr>
          <a:xfrm xmlns:a="http://schemas.openxmlformats.org/drawingml/2006/main">
            <a:off x="7677150" y="2914650"/>
            <a:ext cx="8191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2400" b="1">
                <a:solidFill>
                  <a:srgbClr val="FFFFFF"/>
                </a:solidFill>
              </a:defRPr>
            </a:pPr>
            <a:r>
              <a:rPr sz="2400" b="1">
                <a:solidFill>
                  <a:srgbClr val="FFFFFF"/>
                </a:solidFill>
              </a:rPr>
              <a:t>3</a:t>
            </a:r>
          </a:p>
        </p:txBody>
      </p:sp>
      <p:sp>
        <p:nvSpPr>
          <p:cNvPr id="18" name="">
            <a:extLst xmlns:a="http://schemas.openxmlformats.org/drawingml/2006/main">
              <a:ext uri="{FF2B5EF4-FFF2-40B4-BE49-F238E27FC236}">
                <a16:creationId xmlns:a16="http://schemas.microsoft.com/office/drawing/2014/main" id="{4990C1A8-FEB7-4D3E-85D8-1A47AF8995C3}"/>
              </a:ext>
            </a:extLst>
          </p:cNvPr>
          <p:cNvSpPr>
            <a:spLocks xmlns:a="http://schemas.openxmlformats.org/drawingml/2006/main" noGrp="1"/>
          </p:cNvSpPr>
          <p:nvPr/>
        </p:nvSpPr>
        <p:spPr>
          <a:xfrm xmlns:a="http://schemas.openxmlformats.org/drawingml/2006/main">
            <a:off x="8648700" y="2781300"/>
            <a:ext cx="233362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7232B"/>
                </a:solidFill>
              </a:defRPr>
            </a:pPr>
            <a:r>
              <a:rPr sz="1725" b="1">
                <a:solidFill>
                  <a:srgbClr val="17232B"/>
                </a:solidFill>
              </a:rPr>
              <a:t>Record quality evidence</a:t>
            </a:r>
          </a:p>
        </p:txBody>
      </p:sp>
      <p:sp>
        <p:nvSpPr>
          <p:cNvPr id="19" name="">
            <a:extLst xmlns:a="http://schemas.openxmlformats.org/drawingml/2006/main">
              <a:ext uri="{FF2B5EF4-FFF2-40B4-BE49-F238E27FC236}">
                <a16:creationId xmlns:a16="http://schemas.microsoft.com/office/drawing/2014/main" id="{3EF3A157-05D2-4369-9AA1-C8C6C351E451}"/>
              </a:ext>
            </a:extLst>
          </p:cNvPr>
          <p:cNvSpPr>
            <a:spLocks xmlns:a="http://schemas.openxmlformats.org/drawingml/2006/main" noGrp="1"/>
          </p:cNvSpPr>
          <p:nvPr/>
        </p:nvSpPr>
        <p:spPr>
          <a:xfrm xmlns:a="http://schemas.openxmlformats.org/drawingml/2006/main">
            <a:off x="685800" y="4686300"/>
            <a:ext cx="1082040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20" name="">
            <a:extLst xmlns:a="http://schemas.openxmlformats.org/drawingml/2006/main">
              <a:ext uri="{FF2B5EF4-FFF2-40B4-BE49-F238E27FC236}">
                <a16:creationId xmlns:a16="http://schemas.microsoft.com/office/drawing/2014/main" id="{2DA1521B-E9C5-4AF8-866C-5AAF44EB735A}"/>
              </a:ext>
            </a:extLst>
          </p:cNvPr>
          <p:cNvSpPr>
            <a:spLocks xmlns:a="http://schemas.openxmlformats.org/drawingml/2006/main" noGrp="1"/>
          </p:cNvSpPr>
          <p:nvPr/>
        </p:nvSpPr>
        <p:spPr>
          <a:xfrm xmlns:a="http://schemas.openxmlformats.org/drawingml/2006/main">
            <a:off x="933450" y="489585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RETRIEVAL WARM-UP</a:t>
            </a:r>
          </a:p>
        </p:txBody>
      </p:sp>
      <p:sp>
        <p:nvSpPr>
          <p:cNvPr id="21" name="">
            <a:extLst xmlns:a="http://schemas.openxmlformats.org/drawingml/2006/main">
              <a:ext uri="{FF2B5EF4-FFF2-40B4-BE49-F238E27FC236}">
                <a16:creationId xmlns:a16="http://schemas.microsoft.com/office/drawing/2014/main" id="{91B939A1-6896-4B30-AEA0-0C3A8774EB33}"/>
              </a:ext>
            </a:extLst>
          </p:cNvPr>
          <p:cNvSpPr>
            <a:spLocks xmlns:a="http://schemas.openxmlformats.org/drawingml/2006/main" noGrp="1"/>
          </p:cNvSpPr>
          <p:nvPr/>
        </p:nvSpPr>
        <p:spPr>
          <a:xfrm xmlns:a="http://schemas.openxmlformats.org/drawingml/2006/main">
            <a:off x="933450" y="5219700"/>
            <a:ext cx="1009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What could depend on the frame being aligned before a later stage begins?</a:t>
            </a:r>
          </a:p>
        </p:txBody>
      </p:sp>
    </p:spTree>
    <p:extLst>
      <p:ext uri="{BB962C8B-B14F-4D97-AF65-F5344CB8AC3E}">
        <p14:creationId xmlns:p14="http://schemas.microsoft.com/office/powerpoint/2010/main" val="143681413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7EBC925-6BD1-4B3A-9202-523D54A5B82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9B8D546-7CF7-45AE-A682-AF340F73DE62}"/>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06  /  BASE AND FRAME</a:t>
            </a:r>
          </a:p>
        </p:txBody>
      </p:sp>
      <p:sp>
        <p:nvSpPr>
          <p:cNvPr id="3" name="">
            <a:extLst xmlns:a="http://schemas.openxmlformats.org/drawingml/2006/main">
              <a:ext uri="{FF2B5EF4-FFF2-40B4-BE49-F238E27FC236}">
                <a16:creationId xmlns:a16="http://schemas.microsoft.com/office/drawing/2014/main" id="{76195EE4-173A-4602-B9C1-443EB1B511A9}"/>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Dependencies determine a sensible sequence</a:t>
            </a:r>
          </a:p>
        </p:txBody>
      </p:sp>
      <p:sp>
        <p:nvSpPr>
          <p:cNvPr id="4" name="">
            <a:extLst xmlns:a="http://schemas.openxmlformats.org/drawingml/2006/main">
              <a:ext uri="{FF2B5EF4-FFF2-40B4-BE49-F238E27FC236}">
                <a16:creationId xmlns:a16="http://schemas.microsoft.com/office/drawing/2014/main" id="{DC317749-B04A-4001-B63A-8168862C5947}"/>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A82A756B-C085-4235-ABED-98A4F8B44D0F}"/>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06</a:t>
            </a:r>
          </a:p>
        </p:txBody>
      </p:sp>
      <p:sp>
        <p:nvSpPr>
          <p:cNvPr id="6" name="">
            <a:extLst xmlns:a="http://schemas.openxmlformats.org/drawingml/2006/main">
              <a:ext uri="{FF2B5EF4-FFF2-40B4-BE49-F238E27FC236}">
                <a16:creationId xmlns:a16="http://schemas.microsoft.com/office/drawing/2014/main" id="{51993F7F-1846-4E87-93ED-43B1A3734D52}"/>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03</a:t>
            </a:r>
          </a:p>
        </p:txBody>
      </p:sp>
      <p:sp>
        <p:nvSpPr>
          <p:cNvPr id="7" name="">
            <a:extLst xmlns:a="http://schemas.openxmlformats.org/drawingml/2006/main">
              <a:ext uri="{FF2B5EF4-FFF2-40B4-BE49-F238E27FC236}">
                <a16:creationId xmlns:a16="http://schemas.microsoft.com/office/drawing/2014/main" id="{47382682-C664-492F-A545-BC0066782F6B}"/>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Some production stages rely on earlier information or checks. A later component cannot be confidently fitted when the related drawing or frame alignment is unresolved. A checkpoint is a planned pause to compare the work with approved design information before a dependent stage begins.</a:t>
            </a:r>
          </a:p>
        </p:txBody>
      </p:sp>
      <p:sp>
        <p:nvSpPr>
          <p:cNvPr id="8" name="">
            <a:extLst xmlns:a="http://schemas.openxmlformats.org/drawingml/2006/main">
              <a:ext uri="{FF2B5EF4-FFF2-40B4-BE49-F238E27FC236}">
                <a16:creationId xmlns:a16="http://schemas.microsoft.com/office/drawing/2014/main" id="{355B5285-8324-4811-8F74-21E47717DF5B}"/>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4004E2E7-DE42-4A1D-844D-39ACDAB27309}"/>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Application: name one later stage that depends on a frame checkpoint and explain the risk of skipping it.</a:t>
            </a:r>
          </a:p>
        </p:txBody>
      </p:sp>
      <p:sp>
        <p:nvSpPr>
          <p:cNvPr id="10" name="">
            <a:extLst xmlns:a="http://schemas.openxmlformats.org/drawingml/2006/main">
              <a:ext uri="{FF2B5EF4-FFF2-40B4-BE49-F238E27FC236}">
                <a16:creationId xmlns:a16="http://schemas.microsoft.com/office/drawing/2014/main" id="{7AB54B4F-ABC7-41C2-8805-6B45EEB925F1}"/>
              </a:ext>
            </a:extLst>
          </p:cNvPr>
          <p:cNvSpPr>
            <a:spLocks xmlns:a="http://schemas.openxmlformats.org/drawingml/2006/main" noGrp="1"/>
          </p:cNvSpPr>
          <p:nvPr/>
        </p:nvSpPr>
        <p:spPr>
          <a:xfrm xmlns:a="http://schemas.openxmlformats.org/drawingml/2006/main">
            <a:off x="6191250" y="1295400"/>
            <a:ext cx="4762500" cy="2676525"/>
          </a:xfrm>
          <a:prstGeom xmlns:a="http://schemas.openxmlformats.org/drawingml/2006/main" prst="roundRect">
            <a:avLst>
              <a:gd name="adj" fmla="val 2847"/>
            </a:avLst>
          </a:prstGeom>
          <a:solidFill xmlns:a="http://schemas.openxmlformats.org/drawingml/2006/main">
            <a:srgbClr val="FFFFFF"/>
          </a:solidFill>
          <a:ln xmlns:a="http://schemas.openxmlformats.org/drawingml/2006/main" w="9525">
            <a:solidFill>
              <a:srgbClr val="CAD4D8"/>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d909f858c7d4574"/>
          <a:srcRect xmlns:a="http://schemas.openxmlformats.org/drawingml/2006/main" l="0" t="71" r="0" b="71"/>
          <a:stretch xmlns:a="http://schemas.openxmlformats.org/drawingml/2006/main">
            <a:fillRect l="0" t="0" r="0" b="0"/>
          </a:stretch>
        </p:blipFill>
        <p:spPr>
          <a:xfrm xmlns:a="http://schemas.openxmlformats.org/drawingml/2006/main">
            <a:off x="6191250" y="1295400"/>
            <a:ext cx="4762500" cy="2676525"/>
          </a:xfrm>
          <a:prstGeom xmlns:a="http://schemas.openxmlformats.org/drawingml/2006/main" prst="roundRect">
            <a:avLst>
              <a:gd name="adj" fmla="val 4270"/>
            </a:avLst>
          </a:prstGeom>
        </p:spPr>
      </p:pic>
      <p:sp>
        <p:nvSpPr>
          <p:cNvPr id="12" name="">
            <a:extLst xmlns:a="http://schemas.openxmlformats.org/drawingml/2006/main">
              <a:ext uri="{FF2B5EF4-FFF2-40B4-BE49-F238E27FC236}">
                <a16:creationId xmlns:a16="http://schemas.microsoft.com/office/drawing/2014/main" id="{C387C6EB-5BD2-42F3-ABFC-87C4713E2EB2}"/>
              </a:ext>
            </a:extLst>
          </p:cNvPr>
          <p:cNvSpPr>
            <a:spLocks xmlns:a="http://schemas.openxmlformats.org/drawingml/2006/main" noGrp="1"/>
          </p:cNvSpPr>
          <p:nvPr/>
        </p:nvSpPr>
        <p:spPr>
          <a:xfrm xmlns:a="http://schemas.openxmlformats.org/drawingml/2006/main">
            <a:off x="6191250" y="4057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7232B"/>
                </a:solidFill>
              </a:defRPr>
            </a:pPr>
            <a:r>
              <a:rPr sz="1125" b="1">
                <a:solidFill>
                  <a:srgbClr val="17232B"/>
                </a:solidFill>
              </a:rPr>
              <a:t>A checkpoint protects the next dependent stage from an earlier mismatch.</a:t>
            </a:r>
          </a:p>
        </p:txBody>
      </p:sp>
      <p:sp>
        <p:nvSpPr>
          <p:cNvPr id="13" name="">
            <a:extLst xmlns:a="http://schemas.openxmlformats.org/drawingml/2006/main">
              <a:ext uri="{FF2B5EF4-FFF2-40B4-BE49-F238E27FC236}">
                <a16:creationId xmlns:a16="http://schemas.microsoft.com/office/drawing/2014/main" id="{5EC9D1EF-B7D8-4437-A713-26896870E1ED}"/>
              </a:ext>
            </a:extLst>
          </p:cNvPr>
          <p:cNvSpPr>
            <a:spLocks xmlns:a="http://schemas.openxmlformats.org/drawingml/2006/main" noGrp="1"/>
          </p:cNvSpPr>
          <p:nvPr/>
        </p:nvSpPr>
        <p:spPr>
          <a:xfrm xmlns:a="http://schemas.openxmlformats.org/drawingml/2006/main">
            <a:off x="6191250" y="4610100"/>
            <a:ext cx="4762500" cy="7810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125" b="1">
                <a:solidFill>
                  <a:srgbClr val="184F5E"/>
                </a:solidFill>
              </a:defRPr>
            </a:pPr>
            <a:r>
              <a:rPr sz="1125" b="1">
                <a:solidFill>
                  <a:srgbClr val="184F5E"/>
                </a:solidFill>
              </a:rPr>
              <a:t>NOTICE  Identify what must be checked before the set-aside components can sensibly be added.</a:t>
            </a:r>
          </a:p>
        </p:txBody>
      </p:sp>
    </p:spTree>
    <p:extLst>
      <p:ext uri="{BB962C8B-B14F-4D97-AF65-F5344CB8AC3E}">
        <p14:creationId xmlns:p14="http://schemas.microsoft.com/office/powerpoint/2010/main" val="80879722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ACDC4EA-31F1-436B-97E0-D93E6C99BBE0}"/>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72E17D8-364B-4C64-AD42-DF0F6B6858CB}"/>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06  /  BASE AND FRAME</a:t>
            </a:r>
          </a:p>
        </p:txBody>
      </p:sp>
      <p:sp>
        <p:nvSpPr>
          <p:cNvPr id="3" name="">
            <a:extLst xmlns:a="http://schemas.openxmlformats.org/drawingml/2006/main">
              <a:ext uri="{FF2B5EF4-FFF2-40B4-BE49-F238E27FC236}">
                <a16:creationId xmlns:a16="http://schemas.microsoft.com/office/drawing/2014/main" id="{7FCDC4A8-AD4E-42DA-9FE4-3AFBEDEA20F8}"/>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Structures carry forces along load paths</a:t>
            </a:r>
          </a:p>
        </p:txBody>
      </p:sp>
      <p:sp>
        <p:nvSpPr>
          <p:cNvPr id="4" name="">
            <a:extLst xmlns:a="http://schemas.openxmlformats.org/drawingml/2006/main">
              <a:ext uri="{FF2B5EF4-FFF2-40B4-BE49-F238E27FC236}">
                <a16:creationId xmlns:a16="http://schemas.microsoft.com/office/drawing/2014/main" id="{C92C946C-1337-485E-910D-C8FF8F5B2EE1}"/>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E97E2944-B655-48AC-8901-508981552E64}"/>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06</a:t>
            </a:r>
          </a:p>
        </p:txBody>
      </p:sp>
      <p:sp>
        <p:nvSpPr>
          <p:cNvPr id="6" name="">
            <a:extLst xmlns:a="http://schemas.openxmlformats.org/drawingml/2006/main">
              <a:ext uri="{FF2B5EF4-FFF2-40B4-BE49-F238E27FC236}">
                <a16:creationId xmlns:a16="http://schemas.microsoft.com/office/drawing/2014/main" id="{437E7310-B115-447A-9592-AC4B7BFB32FC}"/>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04</a:t>
            </a:r>
          </a:p>
        </p:txBody>
      </p:sp>
      <p:sp>
        <p:nvSpPr>
          <p:cNvPr id="7" name="">
            <a:extLst xmlns:a="http://schemas.openxmlformats.org/drawingml/2006/main">
              <a:ext uri="{FF2B5EF4-FFF2-40B4-BE49-F238E27FC236}">
                <a16:creationId xmlns:a16="http://schemas.microsoft.com/office/drawing/2014/main" id="{0E0CF22D-C172-4E42-8C17-C56B71B12A1F}"/>
              </a:ext>
            </a:extLst>
          </p:cNvPr>
          <p:cNvSpPr>
            <a:spLocks xmlns:a="http://schemas.openxmlformats.org/drawingml/2006/main" noGrp="1"/>
          </p:cNvSpPr>
          <p:nvPr/>
        </p:nvSpPr>
        <p:spPr>
          <a:xfrm xmlns:a="http://schemas.openxmlformats.org/drawingml/2006/main">
            <a:off x="67056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A load path is the route a force follows through a structure towards its supports. Members may experience compression, tension, shear, torsion or bending. Bracing and shape matter only when they suit the actual path, joints and material—not because one shape is automatically strong everywhere.</a:t>
            </a:r>
          </a:p>
        </p:txBody>
      </p:sp>
      <p:sp>
        <p:nvSpPr>
          <p:cNvPr id="8" name="">
            <a:extLst xmlns:a="http://schemas.openxmlformats.org/drawingml/2006/main">
              <a:ext uri="{FF2B5EF4-FFF2-40B4-BE49-F238E27FC236}">
                <a16:creationId xmlns:a16="http://schemas.microsoft.com/office/drawing/2014/main" id="{CB2036BD-1F8C-4091-B496-0FBD20AABCB7}"/>
              </a:ext>
            </a:extLst>
          </p:cNvPr>
          <p:cNvSpPr>
            <a:spLocks xmlns:a="http://schemas.openxmlformats.org/drawingml/2006/main" noGrp="1"/>
          </p:cNvSpPr>
          <p:nvPr/>
        </p:nvSpPr>
        <p:spPr>
          <a:xfrm xmlns:a="http://schemas.openxmlformats.org/drawingml/2006/main">
            <a:off x="67056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46DFB6DD-B69B-4ECA-B5BC-B05711465391}"/>
              </a:ext>
            </a:extLst>
          </p:cNvPr>
          <p:cNvSpPr>
            <a:spLocks xmlns:a="http://schemas.openxmlformats.org/drawingml/2006/main" noGrp="1"/>
          </p:cNvSpPr>
          <p:nvPr/>
        </p:nvSpPr>
        <p:spPr>
          <a:xfrm xmlns:a="http://schemas.openxmlformats.org/drawingml/2006/main">
            <a:off x="67056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Reason: trace where movement begins and where the force could travel before proposing added material.</a:t>
            </a:r>
          </a:p>
        </p:txBody>
      </p:sp>
      <p:sp>
        <p:nvSpPr>
          <p:cNvPr id="10" name="">
            <a:extLst xmlns:a="http://schemas.openxmlformats.org/drawingml/2006/main">
              <a:ext uri="{FF2B5EF4-FFF2-40B4-BE49-F238E27FC236}">
                <a16:creationId xmlns:a16="http://schemas.microsoft.com/office/drawing/2014/main" id="{1AD71E05-F777-40AC-80CB-56D8FF276137}"/>
              </a:ext>
            </a:extLst>
          </p:cNvPr>
          <p:cNvSpPr>
            <a:spLocks xmlns:a="http://schemas.openxmlformats.org/drawingml/2006/main" noGrp="1"/>
          </p:cNvSpPr>
          <p:nvPr/>
        </p:nvSpPr>
        <p:spPr>
          <a:xfrm xmlns:a="http://schemas.openxmlformats.org/drawingml/2006/main">
            <a:off x="685800" y="1295400"/>
            <a:ext cx="4762500" cy="2676525"/>
          </a:xfrm>
          <a:prstGeom xmlns:a="http://schemas.openxmlformats.org/drawingml/2006/main" prst="roundRect">
            <a:avLst>
              <a:gd name="adj" fmla="val 2847"/>
            </a:avLst>
          </a:prstGeom>
          <a:solidFill xmlns:a="http://schemas.openxmlformats.org/drawingml/2006/main">
            <a:srgbClr val="FFFFFF"/>
          </a:solidFill>
          <a:ln xmlns:a="http://schemas.openxmlformats.org/drawingml/2006/main" w="9525">
            <a:solidFill>
              <a:srgbClr val="CAD4D8"/>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6af3c8578af40c1"/>
          <a:srcRect xmlns:a="http://schemas.openxmlformats.org/drawingml/2006/main" l="0" t="71" r="0" b="71"/>
          <a:stretch xmlns:a="http://schemas.openxmlformats.org/drawingml/2006/main">
            <a:fillRect l="0" t="0" r="0" b="0"/>
          </a:stretch>
        </p:blipFill>
        <p:spPr>
          <a:xfrm xmlns:a="http://schemas.openxmlformats.org/drawingml/2006/main">
            <a:off x="685800" y="1295400"/>
            <a:ext cx="4762500" cy="2676525"/>
          </a:xfrm>
          <a:prstGeom xmlns:a="http://schemas.openxmlformats.org/drawingml/2006/main" prst="roundRect">
            <a:avLst>
              <a:gd name="adj" fmla="val 4270"/>
            </a:avLst>
          </a:prstGeom>
        </p:spPr>
      </p:pic>
      <p:sp>
        <p:nvSpPr>
          <p:cNvPr id="12" name="">
            <a:extLst xmlns:a="http://schemas.openxmlformats.org/drawingml/2006/main">
              <a:ext uri="{FF2B5EF4-FFF2-40B4-BE49-F238E27FC236}">
                <a16:creationId xmlns:a16="http://schemas.microsoft.com/office/drawing/2014/main" id="{5FF7B8A7-4CE3-4354-95B4-CB8E37B25D80}"/>
              </a:ext>
            </a:extLst>
          </p:cNvPr>
          <p:cNvSpPr>
            <a:spLocks xmlns:a="http://schemas.openxmlformats.org/drawingml/2006/main" noGrp="1"/>
          </p:cNvSpPr>
          <p:nvPr/>
        </p:nvSpPr>
        <p:spPr>
          <a:xfrm xmlns:a="http://schemas.openxmlformats.org/drawingml/2006/main">
            <a:off x="685800" y="4057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7232B"/>
                </a:solidFill>
              </a:defRPr>
            </a:pPr>
            <a:r>
              <a:rPr sz="1125" b="1">
                <a:solidFill>
                  <a:srgbClr val="17232B"/>
                </a:solidFill>
              </a:rPr>
              <a:t>Loads travel through connected members and joints towards supports.</a:t>
            </a:r>
          </a:p>
        </p:txBody>
      </p:sp>
      <p:sp>
        <p:nvSpPr>
          <p:cNvPr id="13" name="">
            <a:extLst xmlns:a="http://schemas.openxmlformats.org/drawingml/2006/main">
              <a:ext uri="{FF2B5EF4-FFF2-40B4-BE49-F238E27FC236}">
                <a16:creationId xmlns:a16="http://schemas.microsoft.com/office/drawing/2014/main" id="{BB3F2289-7422-49CE-9145-6D58AD7EB654}"/>
              </a:ext>
            </a:extLst>
          </p:cNvPr>
          <p:cNvSpPr>
            <a:spLocks xmlns:a="http://schemas.openxmlformats.org/drawingml/2006/main" noGrp="1"/>
          </p:cNvSpPr>
          <p:nvPr/>
        </p:nvSpPr>
        <p:spPr>
          <a:xfrm xmlns:a="http://schemas.openxmlformats.org/drawingml/2006/main">
            <a:off x="685800" y="4610100"/>
            <a:ext cx="4762500" cy="7810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125" b="1">
                <a:solidFill>
                  <a:srgbClr val="184F5E"/>
                </a:solidFill>
              </a:defRPr>
            </a:pPr>
            <a:r>
              <a:rPr sz="1125" b="1">
                <a:solidFill>
                  <a:srgbClr val="184F5E"/>
                </a:solidFill>
              </a:rPr>
              <a:t>NOTICE  Follow where the applied load could travel and locate an interface that might interrupt the path.</a:t>
            </a:r>
          </a:p>
        </p:txBody>
      </p:sp>
    </p:spTree>
    <p:extLst>
      <p:ext uri="{BB962C8B-B14F-4D97-AF65-F5344CB8AC3E}">
        <p14:creationId xmlns:p14="http://schemas.microsoft.com/office/powerpoint/2010/main" val="5595680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3FB9EC1-0A1F-4FC6-B782-6FF54B48FBB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01B9B2D-63FB-4462-9FC3-25FE214B3E2E}"/>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06  /  BASE AND FRAME</a:t>
            </a:r>
          </a:p>
        </p:txBody>
      </p:sp>
      <p:sp>
        <p:nvSpPr>
          <p:cNvPr id="3" name="">
            <a:extLst xmlns:a="http://schemas.openxmlformats.org/drawingml/2006/main">
              <a:ext uri="{FF2B5EF4-FFF2-40B4-BE49-F238E27FC236}">
                <a16:creationId xmlns:a16="http://schemas.microsoft.com/office/drawing/2014/main" id="{5DAAD2AC-36C4-49C1-A116-C4E1CB6AC87C}"/>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Quality evidence should show relationships between parts</a:t>
            </a:r>
          </a:p>
        </p:txBody>
      </p:sp>
      <p:sp>
        <p:nvSpPr>
          <p:cNvPr id="4" name="">
            <a:extLst xmlns:a="http://schemas.openxmlformats.org/drawingml/2006/main">
              <a:ext uri="{FF2B5EF4-FFF2-40B4-BE49-F238E27FC236}">
                <a16:creationId xmlns:a16="http://schemas.microsoft.com/office/drawing/2014/main" id="{5817CA7F-A8C3-486B-9DF1-3764F370D6BD}"/>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C87225FA-9D2C-4CB2-839E-3A57BB848F97}"/>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06</a:t>
            </a:r>
          </a:p>
        </p:txBody>
      </p:sp>
      <p:sp>
        <p:nvSpPr>
          <p:cNvPr id="6" name="">
            <a:extLst xmlns:a="http://schemas.openxmlformats.org/drawingml/2006/main">
              <a:ext uri="{FF2B5EF4-FFF2-40B4-BE49-F238E27FC236}">
                <a16:creationId xmlns:a16="http://schemas.microsoft.com/office/drawing/2014/main" id="{21115D10-6720-4985-B30C-17466D43660D}"/>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05</a:t>
            </a:r>
          </a:p>
        </p:txBody>
      </p:sp>
      <p:sp>
        <p:nvSpPr>
          <p:cNvPr id="7" name="">
            <a:extLst xmlns:a="http://schemas.openxmlformats.org/drawingml/2006/main">
              <a:ext uri="{FF2B5EF4-FFF2-40B4-BE49-F238E27FC236}">
                <a16:creationId xmlns:a16="http://schemas.microsoft.com/office/drawing/2014/main" id="{7C8F7FB5-111A-453A-A790-48B2B1A75AAD}"/>
              </a:ext>
            </a:extLst>
          </p:cNvPr>
          <p:cNvSpPr>
            <a:spLocks xmlns:a="http://schemas.openxmlformats.org/drawingml/2006/main" noGrp="1"/>
          </p:cNvSpPr>
          <p:nvPr/>
        </p:nvSpPr>
        <p:spPr>
          <a:xfrm xmlns:a="http://schemas.openxmlformats.org/drawingml/2006/main">
            <a:off x="685800" y="1381125"/>
            <a:ext cx="480060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17232B"/>
                </a:solidFill>
              </a:defRPr>
            </a:pPr>
            <a:r>
              <a:rPr sz="1725" b="0">
                <a:solidFill>
                  <a:srgbClr val="17232B"/>
                </a:solidFill>
              </a:rPr>
              <a:t>Squareness, symmetry, joint quality, stability and efficient material use are connected. Accurate individual components can still assemble into a misaligned system. A useful photo or note identifies the feature, the check, the decision and what changed; it does not prove competence by itself.</a:t>
            </a:r>
          </a:p>
        </p:txBody>
      </p:sp>
      <p:sp>
        <p:nvSpPr>
          <p:cNvPr id="8" name="">
            <a:extLst xmlns:a="http://schemas.openxmlformats.org/drawingml/2006/main">
              <a:ext uri="{FF2B5EF4-FFF2-40B4-BE49-F238E27FC236}">
                <a16:creationId xmlns:a16="http://schemas.microsoft.com/office/drawing/2014/main" id="{8C0A40A0-13CD-4D95-8A10-3FD286733F78}"/>
              </a:ext>
            </a:extLst>
          </p:cNvPr>
          <p:cNvSpPr>
            <a:spLocks xmlns:a="http://schemas.openxmlformats.org/drawingml/2006/main" noGrp="1"/>
          </p:cNvSpPr>
          <p:nvPr/>
        </p:nvSpPr>
        <p:spPr>
          <a:xfrm xmlns:a="http://schemas.openxmlformats.org/drawingml/2006/main">
            <a:off x="685800" y="3905250"/>
            <a:ext cx="4762500" cy="0"/>
          </a:xfrm>
          <a:prstGeom xmlns:a="http://schemas.openxmlformats.org/drawingml/2006/main" prst="line">
            <a:avLst/>
          </a:prstGeom>
          <a:noFill xmlns:a="http://schemas.openxmlformats.org/drawingml/2006/main"/>
          <a:ln xmlns:a="http://schemas.openxmlformats.org/drawingml/2006/main" w="38100">
            <a:solidFill>
              <a:srgbClr val="F0B84B"/>
            </a:solidFill>
            <a:prstDash val="solid"/>
          </a:ln>
        </p:spPr>
      </p:sp>
      <p:sp>
        <p:nvSpPr>
          <p:cNvPr id="9" name="">
            <a:extLst xmlns:a="http://schemas.openxmlformats.org/drawingml/2006/main">
              <a:ext uri="{FF2B5EF4-FFF2-40B4-BE49-F238E27FC236}">
                <a16:creationId xmlns:a16="http://schemas.microsoft.com/office/drawing/2014/main" id="{D601B599-CD6A-49CC-A588-56D4A4F61E9D}"/>
              </a:ext>
            </a:extLst>
          </p:cNvPr>
          <p:cNvSpPr>
            <a:spLocks xmlns:a="http://schemas.openxmlformats.org/drawingml/2006/main" noGrp="1"/>
          </p:cNvSpPr>
          <p:nvPr/>
        </p:nvSpPr>
        <p:spPr>
          <a:xfrm xmlns:a="http://schemas.openxmlformats.org/drawingml/2006/main">
            <a:off x="685800" y="4171950"/>
            <a:ext cx="48006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A94424"/>
                </a:solidFill>
              </a:defRPr>
            </a:pPr>
            <a:r>
              <a:rPr sz="1575" b="1">
                <a:solidFill>
                  <a:srgbClr val="A94424"/>
                </a:solidFill>
              </a:rPr>
              <a:t>Evidence move: caption one checkpoint image so it explains what was checked and why it mattered.</a:t>
            </a:r>
          </a:p>
        </p:txBody>
      </p:sp>
      <p:sp>
        <p:nvSpPr>
          <p:cNvPr id="10" name="">
            <a:extLst xmlns:a="http://schemas.openxmlformats.org/drawingml/2006/main">
              <a:ext uri="{FF2B5EF4-FFF2-40B4-BE49-F238E27FC236}">
                <a16:creationId xmlns:a16="http://schemas.microsoft.com/office/drawing/2014/main" id="{75B3866A-36EA-46B5-8130-F51FD9D47055}"/>
              </a:ext>
            </a:extLst>
          </p:cNvPr>
          <p:cNvSpPr>
            <a:spLocks xmlns:a="http://schemas.openxmlformats.org/drawingml/2006/main" noGrp="1"/>
          </p:cNvSpPr>
          <p:nvPr/>
        </p:nvSpPr>
        <p:spPr>
          <a:xfrm xmlns:a="http://schemas.openxmlformats.org/drawingml/2006/main">
            <a:off x="6191250" y="1295400"/>
            <a:ext cx="4762500" cy="2676525"/>
          </a:xfrm>
          <a:prstGeom xmlns:a="http://schemas.openxmlformats.org/drawingml/2006/main" prst="roundRect">
            <a:avLst>
              <a:gd name="adj" fmla="val 2847"/>
            </a:avLst>
          </a:prstGeom>
          <a:solidFill xmlns:a="http://schemas.openxmlformats.org/drawingml/2006/main">
            <a:srgbClr val="FFFFFF"/>
          </a:solidFill>
          <a:ln xmlns:a="http://schemas.openxmlformats.org/drawingml/2006/main" w="9525">
            <a:solidFill>
              <a:srgbClr val="CAD4D8"/>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e98b0f621934b0d"/>
          <a:srcRect xmlns:a="http://schemas.openxmlformats.org/drawingml/2006/main" l="0" t="71" r="0" b="71"/>
          <a:stretch xmlns:a="http://schemas.openxmlformats.org/drawingml/2006/main">
            <a:fillRect l="0" t="0" r="0" b="0"/>
          </a:stretch>
        </p:blipFill>
        <p:spPr>
          <a:xfrm xmlns:a="http://schemas.openxmlformats.org/drawingml/2006/main">
            <a:off x="6191250" y="1295400"/>
            <a:ext cx="4762500" cy="2676525"/>
          </a:xfrm>
          <a:prstGeom xmlns:a="http://schemas.openxmlformats.org/drawingml/2006/main" prst="roundRect">
            <a:avLst>
              <a:gd name="adj" fmla="val 4270"/>
            </a:avLst>
          </a:prstGeom>
        </p:spPr>
      </p:pic>
      <p:sp>
        <p:nvSpPr>
          <p:cNvPr id="12" name="">
            <a:extLst xmlns:a="http://schemas.openxmlformats.org/drawingml/2006/main">
              <a:ext uri="{FF2B5EF4-FFF2-40B4-BE49-F238E27FC236}">
                <a16:creationId xmlns:a16="http://schemas.microsoft.com/office/drawing/2014/main" id="{3F7AC85E-1EA6-4A2D-A6A5-7AA8B807278F}"/>
              </a:ext>
            </a:extLst>
          </p:cNvPr>
          <p:cNvSpPr>
            <a:spLocks xmlns:a="http://schemas.openxmlformats.org/drawingml/2006/main" noGrp="1"/>
          </p:cNvSpPr>
          <p:nvPr/>
        </p:nvSpPr>
        <p:spPr>
          <a:xfrm xmlns:a="http://schemas.openxmlformats.org/drawingml/2006/main">
            <a:off x="6191250" y="405765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17232B"/>
                </a:solidFill>
              </a:defRPr>
            </a:pPr>
            <a:r>
              <a:rPr sz="1125" b="1">
                <a:solidFill>
                  <a:srgbClr val="17232B"/>
                </a:solidFill>
              </a:rPr>
              <a:t>Quality evidence records the relationship checked, the observation and the reason for any adjustment.</a:t>
            </a:r>
          </a:p>
        </p:txBody>
      </p:sp>
      <p:sp>
        <p:nvSpPr>
          <p:cNvPr id="13" name="">
            <a:extLst xmlns:a="http://schemas.openxmlformats.org/drawingml/2006/main">
              <a:ext uri="{FF2B5EF4-FFF2-40B4-BE49-F238E27FC236}">
                <a16:creationId xmlns:a16="http://schemas.microsoft.com/office/drawing/2014/main" id="{8AAA3248-F032-41DA-B6C7-D0491F544C36}"/>
              </a:ext>
            </a:extLst>
          </p:cNvPr>
          <p:cNvSpPr>
            <a:spLocks xmlns:a="http://schemas.openxmlformats.org/drawingml/2006/main" noGrp="1"/>
          </p:cNvSpPr>
          <p:nvPr/>
        </p:nvSpPr>
        <p:spPr>
          <a:xfrm xmlns:a="http://schemas.openxmlformats.org/drawingml/2006/main">
            <a:off x="6191250" y="4610100"/>
            <a:ext cx="4762500" cy="781050"/>
          </a:xfrm>
          <a:prstGeom xmlns:a="http://schemas.openxmlformats.org/drawingml/2006/main" prst="rect">
            <a:avLst/>
          </a:prstGeom>
          <a:solidFill xmlns:a="http://schemas.openxmlformats.org/drawingml/2006/main">
            <a:srgbClr val="FFF4D8"/>
          </a:solidFill>
          <a:ln xmlns:a="http://schemas.openxmlformats.org/drawingml/2006/main" w="9525">
            <a:solidFill>
              <a:srgbClr val="F0B84B"/>
            </a:solidFill>
            <a:prstDash val="solid"/>
          </a:ln>
        </p:spPr>
        <p:txBody>
          <a:bodyPr xmlns:a="http://schemas.openxmlformats.org/drawingml/2006/main"/>
          <a:lstStyle xmlns:a="http://schemas.openxmlformats.org/drawingml/2006/main"/>
          <a:p xmlns:a="http://schemas.openxmlformats.org/drawingml/2006/main">
            <a:pPr algn="l">
              <a:defRPr sz="1125" b="1">
                <a:solidFill>
                  <a:srgbClr val="184F5E"/>
                </a:solidFill>
              </a:defRPr>
            </a:pPr>
            <a:r>
              <a:rPr sz="1125" b="1">
                <a:solidFill>
                  <a:srgbClr val="184F5E"/>
                </a:solidFill>
              </a:rPr>
              <a:t>NOTICE  Look for a clear subject and the feature that the evidence would need to explain.</a:t>
            </a:r>
          </a:p>
        </p:txBody>
      </p:sp>
    </p:spTree>
    <p:extLst>
      <p:ext uri="{BB962C8B-B14F-4D97-AF65-F5344CB8AC3E}">
        <p14:creationId xmlns:p14="http://schemas.microsoft.com/office/powerpoint/2010/main" val="1107807398"/>
      </p:ext>
    </p:extLst>
  </p:cSld>
</p:sld>
</file>

<file path=ppt/slides/slide6.xml><?xml version="1.0" encoding="utf-8"?>
<p:sld xmlns:p="http://schemas.openxmlformats.org/presentationml/2006/main">
  <p:cSld>
    <p:bg>
      <p:bgPr>
        <a:solidFill xmlns:a="http://schemas.openxmlformats.org/drawingml/2006/main">
          <a:srgbClr val="0B3541"/>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F0A97434-4AFB-4C4B-BD3D-93788DD9422E}"/>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7539620-8599-4B93-ABA6-29BCB953071C}"/>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F0B84B"/>
                </a:solidFill>
              </a:defRPr>
            </a:pPr>
            <a:r>
              <a:rPr sz="1050" b="1">
                <a:solidFill>
                  <a:srgbClr val="F0B84B"/>
                </a:solidFill>
              </a:rPr>
              <a:t>MODULE 06  /  BASE AND FRAME</a:t>
            </a:r>
          </a:p>
        </p:txBody>
      </p:sp>
      <p:sp>
        <p:nvSpPr>
          <p:cNvPr id="3" name="">
            <a:extLst xmlns:a="http://schemas.openxmlformats.org/drawingml/2006/main">
              <a:ext uri="{FF2B5EF4-FFF2-40B4-BE49-F238E27FC236}">
                <a16:creationId xmlns:a16="http://schemas.microsoft.com/office/drawing/2014/main" id="{75AD23C3-61BE-4896-89B1-0854AA194362}"/>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Stop. Think. Explain.</a:t>
            </a:r>
          </a:p>
        </p:txBody>
      </p:sp>
      <p:sp>
        <p:nvSpPr>
          <p:cNvPr id="4" name="">
            <a:extLst xmlns:a="http://schemas.openxmlformats.org/drawingml/2006/main">
              <a:ext uri="{FF2B5EF4-FFF2-40B4-BE49-F238E27FC236}">
                <a16:creationId xmlns:a16="http://schemas.microsoft.com/office/drawing/2014/main" id="{050FFDD5-7D75-458D-9E4C-C1E5153AA84C}"/>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5" name="">
            <a:extLst xmlns:a="http://schemas.openxmlformats.org/drawingml/2006/main">
              <a:ext uri="{FF2B5EF4-FFF2-40B4-BE49-F238E27FC236}">
                <a16:creationId xmlns:a16="http://schemas.microsoft.com/office/drawing/2014/main" id="{064896A4-0CED-4D55-A2A3-5EBCB1082FC5}"/>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06</a:t>
            </a:r>
          </a:p>
        </p:txBody>
      </p:sp>
      <p:sp>
        <p:nvSpPr>
          <p:cNvPr id="6" name="">
            <a:extLst xmlns:a="http://schemas.openxmlformats.org/drawingml/2006/main">
              <a:ext uri="{FF2B5EF4-FFF2-40B4-BE49-F238E27FC236}">
                <a16:creationId xmlns:a16="http://schemas.microsoft.com/office/drawing/2014/main" id="{94313397-B1B1-4591-882D-CA6888D2E2C9}"/>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06</a:t>
            </a:r>
          </a:p>
        </p:txBody>
      </p:sp>
      <p:sp>
        <p:nvSpPr>
          <p:cNvPr id="7" name="">
            <a:extLst xmlns:a="http://schemas.openxmlformats.org/drawingml/2006/main">
              <a:ext uri="{FF2B5EF4-FFF2-40B4-BE49-F238E27FC236}">
                <a16:creationId xmlns:a16="http://schemas.microsoft.com/office/drawing/2014/main" id="{EDDECE3D-E1CD-4BA8-8233-772A66C71055}"/>
              </a:ext>
            </a:extLst>
          </p:cNvPr>
          <p:cNvSpPr>
            <a:spLocks xmlns:a="http://schemas.openxmlformats.org/drawingml/2006/main" noGrp="1"/>
          </p:cNvSpPr>
          <p:nvPr/>
        </p:nvSpPr>
        <p:spPr>
          <a:xfrm xmlns:a="http://schemas.openxmlformats.org/drawingml/2006/main">
            <a:off x="685800" y="1219200"/>
            <a:ext cx="981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D7E5E8"/>
                </a:solidFill>
              </a:defRPr>
            </a:pPr>
            <a:r>
              <a:rPr sz="1500" b="0">
                <a:solidFill>
                  <a:srgbClr val="D7E5E8"/>
                </a:solidFill>
              </a:rPr>
              <a:t>Answer silently first. Then justify one answer with a partner.</a:t>
            </a:r>
          </a:p>
        </p:txBody>
      </p:sp>
      <p:sp>
        <p:nvSpPr>
          <p:cNvPr id="8" name="">
            <a:extLst xmlns:a="http://schemas.openxmlformats.org/drawingml/2006/main">
              <a:ext uri="{FF2B5EF4-FFF2-40B4-BE49-F238E27FC236}">
                <a16:creationId xmlns:a16="http://schemas.microsoft.com/office/drawing/2014/main" id="{FA8E72BE-983A-4A60-B6F0-8DB961022BC9}"/>
              </a:ext>
            </a:extLst>
          </p:cNvPr>
          <p:cNvSpPr>
            <a:spLocks xmlns:a="http://schemas.openxmlformats.org/drawingml/2006/main" noGrp="1"/>
          </p:cNvSpPr>
          <p:nvPr/>
        </p:nvSpPr>
        <p:spPr>
          <a:xfrm xmlns:a="http://schemas.openxmlformats.org/drawingml/2006/main">
            <a:off x="781050" y="193357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1</a:t>
            </a:r>
          </a:p>
        </p:txBody>
      </p:sp>
      <p:sp>
        <p:nvSpPr>
          <p:cNvPr id="9" name="">
            <a:extLst xmlns:a="http://schemas.openxmlformats.org/drawingml/2006/main">
              <a:ext uri="{FF2B5EF4-FFF2-40B4-BE49-F238E27FC236}">
                <a16:creationId xmlns:a16="http://schemas.microsoft.com/office/drawing/2014/main" id="{214ACF9D-6148-4E68-9F93-DDD26739CBD4}"/>
              </a:ext>
            </a:extLst>
          </p:cNvPr>
          <p:cNvSpPr>
            <a:spLocks xmlns:a="http://schemas.openxmlformats.org/drawingml/2006/main" noGrp="1"/>
          </p:cNvSpPr>
          <p:nvPr/>
        </p:nvSpPr>
        <p:spPr>
          <a:xfrm xmlns:a="http://schemas.openxmlformats.org/drawingml/2006/main">
            <a:off x="1485900" y="184785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is a production dependency?</a:t>
            </a:r>
          </a:p>
        </p:txBody>
      </p:sp>
      <p:sp>
        <p:nvSpPr>
          <p:cNvPr id="10" name="">
            <a:extLst xmlns:a="http://schemas.openxmlformats.org/drawingml/2006/main">
              <a:ext uri="{FF2B5EF4-FFF2-40B4-BE49-F238E27FC236}">
                <a16:creationId xmlns:a16="http://schemas.microsoft.com/office/drawing/2014/main" id="{1A6CB5E7-7F90-4993-B37B-2B7A827D8A26}"/>
              </a:ext>
            </a:extLst>
          </p:cNvPr>
          <p:cNvSpPr>
            <a:spLocks xmlns:a="http://schemas.openxmlformats.org/drawingml/2006/main" noGrp="1"/>
          </p:cNvSpPr>
          <p:nvPr/>
        </p:nvSpPr>
        <p:spPr>
          <a:xfrm xmlns:a="http://schemas.openxmlformats.org/drawingml/2006/main">
            <a:off x="1485900" y="253365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1" name="">
            <a:extLst xmlns:a="http://schemas.openxmlformats.org/drawingml/2006/main">
              <a:ext uri="{FF2B5EF4-FFF2-40B4-BE49-F238E27FC236}">
                <a16:creationId xmlns:a16="http://schemas.microsoft.com/office/drawing/2014/main" id="{56A2CC10-A6E9-4816-A83D-C6EA48EDAEEB}"/>
              </a:ext>
            </a:extLst>
          </p:cNvPr>
          <p:cNvSpPr>
            <a:spLocks xmlns:a="http://schemas.openxmlformats.org/drawingml/2006/main" noGrp="1"/>
          </p:cNvSpPr>
          <p:nvPr/>
        </p:nvSpPr>
        <p:spPr>
          <a:xfrm xmlns:a="http://schemas.openxmlformats.org/drawingml/2006/main">
            <a:off x="781050" y="291465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2</a:t>
            </a:r>
          </a:p>
        </p:txBody>
      </p:sp>
      <p:sp>
        <p:nvSpPr>
          <p:cNvPr id="12" name="">
            <a:extLst xmlns:a="http://schemas.openxmlformats.org/drawingml/2006/main">
              <a:ext uri="{FF2B5EF4-FFF2-40B4-BE49-F238E27FC236}">
                <a16:creationId xmlns:a16="http://schemas.microsoft.com/office/drawing/2014/main" id="{5C2A8D44-A6EB-4EA2-A570-5467212BF073}"/>
              </a:ext>
            </a:extLst>
          </p:cNvPr>
          <p:cNvSpPr>
            <a:spLocks xmlns:a="http://schemas.openxmlformats.org/drawingml/2006/main" noGrp="1"/>
          </p:cNvSpPr>
          <p:nvPr/>
        </p:nvSpPr>
        <p:spPr>
          <a:xfrm xmlns:a="http://schemas.openxmlformats.org/drawingml/2006/main">
            <a:off x="1485900" y="282892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does a load path describe?</a:t>
            </a:r>
          </a:p>
        </p:txBody>
      </p:sp>
      <p:sp>
        <p:nvSpPr>
          <p:cNvPr id="13" name="">
            <a:extLst xmlns:a="http://schemas.openxmlformats.org/drawingml/2006/main">
              <a:ext uri="{FF2B5EF4-FFF2-40B4-BE49-F238E27FC236}">
                <a16:creationId xmlns:a16="http://schemas.microsoft.com/office/drawing/2014/main" id="{C4183690-B3CE-439E-BE44-88BC474B2670}"/>
              </a:ext>
            </a:extLst>
          </p:cNvPr>
          <p:cNvSpPr>
            <a:spLocks xmlns:a="http://schemas.openxmlformats.org/drawingml/2006/main" noGrp="1"/>
          </p:cNvSpPr>
          <p:nvPr/>
        </p:nvSpPr>
        <p:spPr>
          <a:xfrm xmlns:a="http://schemas.openxmlformats.org/drawingml/2006/main">
            <a:off x="1485900" y="3514725"/>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4" name="">
            <a:extLst xmlns:a="http://schemas.openxmlformats.org/drawingml/2006/main">
              <a:ext uri="{FF2B5EF4-FFF2-40B4-BE49-F238E27FC236}">
                <a16:creationId xmlns:a16="http://schemas.microsoft.com/office/drawing/2014/main" id="{C074D4D2-7A76-4C87-B3CD-37B2085BD779}"/>
              </a:ext>
            </a:extLst>
          </p:cNvPr>
          <p:cNvSpPr>
            <a:spLocks xmlns:a="http://schemas.openxmlformats.org/drawingml/2006/main" noGrp="1"/>
          </p:cNvSpPr>
          <p:nvPr/>
        </p:nvSpPr>
        <p:spPr>
          <a:xfrm xmlns:a="http://schemas.openxmlformats.org/drawingml/2006/main">
            <a:off x="781050" y="3895725"/>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3</a:t>
            </a:r>
          </a:p>
        </p:txBody>
      </p:sp>
      <p:sp>
        <p:nvSpPr>
          <p:cNvPr id="15" name="">
            <a:extLst xmlns:a="http://schemas.openxmlformats.org/drawingml/2006/main">
              <a:ext uri="{FF2B5EF4-FFF2-40B4-BE49-F238E27FC236}">
                <a16:creationId xmlns:a16="http://schemas.microsoft.com/office/drawing/2014/main" id="{63A08C74-6597-488D-A6AA-13FF58BFFA80}"/>
              </a:ext>
            </a:extLst>
          </p:cNvPr>
          <p:cNvSpPr>
            <a:spLocks xmlns:a="http://schemas.openxmlformats.org/drawingml/2006/main" noGrp="1"/>
          </p:cNvSpPr>
          <p:nvPr/>
        </p:nvSpPr>
        <p:spPr>
          <a:xfrm xmlns:a="http://schemas.openxmlformats.org/drawingml/2006/main">
            <a:off x="1485900" y="3810000"/>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does extra material not automatically fix a frame?</a:t>
            </a:r>
          </a:p>
        </p:txBody>
      </p:sp>
      <p:sp>
        <p:nvSpPr>
          <p:cNvPr id="16" name="">
            <a:extLst xmlns:a="http://schemas.openxmlformats.org/drawingml/2006/main">
              <a:ext uri="{FF2B5EF4-FFF2-40B4-BE49-F238E27FC236}">
                <a16:creationId xmlns:a16="http://schemas.microsoft.com/office/drawing/2014/main" id="{0BDD8CAB-A4BB-4D25-8191-425FA569DFD1}"/>
              </a:ext>
            </a:extLst>
          </p:cNvPr>
          <p:cNvSpPr>
            <a:spLocks xmlns:a="http://schemas.openxmlformats.org/drawingml/2006/main" noGrp="1"/>
          </p:cNvSpPr>
          <p:nvPr/>
        </p:nvSpPr>
        <p:spPr>
          <a:xfrm xmlns:a="http://schemas.openxmlformats.org/drawingml/2006/main">
            <a:off x="1485900" y="4495800"/>
            <a:ext cx="9048750" cy="0"/>
          </a:xfrm>
          <a:prstGeom xmlns:a="http://schemas.openxmlformats.org/drawingml/2006/main" prst="line">
            <a:avLst/>
          </a:prstGeom>
          <a:noFill xmlns:a="http://schemas.openxmlformats.org/drawingml/2006/main"/>
          <a:ln xmlns:a="http://schemas.openxmlformats.org/drawingml/2006/main" w="9525">
            <a:solidFill>
              <a:srgbClr val="FFFFFF">
                <a:alpha val="20000"/>
              </a:srgbClr>
            </a:solidFill>
            <a:prstDash val="solid"/>
          </a:ln>
        </p:spPr>
      </p:sp>
      <p:sp>
        <p:nvSpPr>
          <p:cNvPr id="17" name="">
            <a:extLst xmlns:a="http://schemas.openxmlformats.org/drawingml/2006/main">
              <a:ext uri="{FF2B5EF4-FFF2-40B4-BE49-F238E27FC236}">
                <a16:creationId xmlns:a16="http://schemas.microsoft.com/office/drawing/2014/main" id="{833E6A1D-5612-41DF-8B3D-223068590B84}"/>
              </a:ext>
            </a:extLst>
          </p:cNvPr>
          <p:cNvSpPr>
            <a:spLocks xmlns:a="http://schemas.openxmlformats.org/drawingml/2006/main" noGrp="1"/>
          </p:cNvSpPr>
          <p:nvPr/>
        </p:nvSpPr>
        <p:spPr>
          <a:xfrm xmlns:a="http://schemas.openxmlformats.org/drawingml/2006/main">
            <a:off x="781050" y="4876800"/>
            <a:ext cx="495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00" b="1">
                <a:solidFill>
                  <a:srgbClr val="F0B84B"/>
                </a:solidFill>
              </a:defRPr>
            </a:pPr>
            <a:r>
              <a:rPr sz="1800" b="1">
                <a:solidFill>
                  <a:srgbClr val="F0B84B"/>
                </a:solidFill>
              </a:rPr>
              <a:t>4</a:t>
            </a:r>
          </a:p>
        </p:txBody>
      </p:sp>
      <p:sp>
        <p:nvSpPr>
          <p:cNvPr id="18" name="">
            <a:extLst xmlns:a="http://schemas.openxmlformats.org/drawingml/2006/main">
              <a:ext uri="{FF2B5EF4-FFF2-40B4-BE49-F238E27FC236}">
                <a16:creationId xmlns:a16="http://schemas.microsoft.com/office/drawing/2014/main" id="{DD5573A2-B165-4848-B8B4-5F99019E680C}"/>
              </a:ext>
            </a:extLst>
          </p:cNvPr>
          <p:cNvSpPr>
            <a:spLocks xmlns:a="http://schemas.openxmlformats.org/drawingml/2006/main" noGrp="1"/>
          </p:cNvSpPr>
          <p:nvPr/>
        </p:nvSpPr>
        <p:spPr>
          <a:xfrm xmlns:a="http://schemas.openxmlformats.org/drawingml/2006/main">
            <a:off x="1485900" y="4791075"/>
            <a:ext cx="933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makes a production photograph useful evidence?</a:t>
            </a:r>
          </a:p>
        </p:txBody>
      </p:sp>
    </p:spTree>
    <p:extLst>
      <p:ext uri="{BB962C8B-B14F-4D97-AF65-F5344CB8AC3E}">
        <p14:creationId xmlns:p14="http://schemas.microsoft.com/office/powerpoint/2010/main" val="885918126"/>
      </p:ext>
    </p:extLst>
  </p:cSld>
</p:sld>
</file>

<file path=ppt/slides/slide7.xml><?xml version="1.0" encoding="utf-8"?>
<p:sld xmlns:p="http://schemas.openxmlformats.org/presentationml/2006/main">
  <p:cSld>
    <p:bg>
      <p:bgPr>
        <a:solidFill xmlns:a="http://schemas.openxmlformats.org/drawingml/2006/main">
          <a:srgbClr val="FFFA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247C263-2A2D-4480-B5C2-9F4F267DC92F}"/>
              </a:ext>
            </a:extLst>
          </p:cNvPr>
          <p:cNvSpPr>
            <a:spLocks xmlns:a="http://schemas.openxmlformats.org/drawingml/2006/main" noGrp="1"/>
          </p:cNvSpPr>
          <p:nvPr/>
        </p:nvSpPr>
        <p:spPr>
          <a:xfrm xmlns:a="http://schemas.openxmlformats.org/drawingml/2006/main">
            <a:off x="0" y="0"/>
            <a:ext cx="12192000" cy="95250"/>
          </a:xfrm>
          <a:prstGeom xmlns:a="http://schemas.openxmlformats.org/drawingml/2006/main" prst="rect">
            <a:avLst/>
          </a:prstGeom>
          <a:solidFill xmlns:a="http://schemas.openxmlformats.org/drawingml/2006/main">
            <a:srgbClr val="F0B84B"/>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98EAB26-0006-42EA-B671-6FE9F86AD679}"/>
              </a:ext>
            </a:extLst>
          </p:cNvPr>
          <p:cNvSpPr>
            <a:spLocks xmlns:a="http://schemas.openxmlformats.org/drawingml/2006/main" noGrp="1"/>
          </p:cNvSpPr>
          <p:nvPr/>
        </p:nvSpPr>
        <p:spPr>
          <a:xfrm xmlns:a="http://schemas.openxmlformats.org/drawingml/2006/main">
            <a:off x="685800" y="304800"/>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A94424"/>
                </a:solidFill>
              </a:defRPr>
            </a:pPr>
            <a:r>
              <a:rPr sz="1050" b="1">
                <a:solidFill>
                  <a:srgbClr val="A94424"/>
                </a:solidFill>
              </a:rPr>
              <a:t>MODULE 06  /  BASE AND FRAME</a:t>
            </a:r>
          </a:p>
        </p:txBody>
      </p:sp>
      <p:sp>
        <p:nvSpPr>
          <p:cNvPr id="3" name="">
            <a:extLst xmlns:a="http://schemas.openxmlformats.org/drawingml/2006/main">
              <a:ext uri="{FF2B5EF4-FFF2-40B4-BE49-F238E27FC236}">
                <a16:creationId xmlns:a16="http://schemas.microsoft.com/office/drawing/2014/main" id="{0FF3487C-D262-4F65-A286-AA92EB9D7FE4}"/>
              </a:ext>
            </a:extLst>
          </p:cNvPr>
          <p:cNvSpPr>
            <a:spLocks xmlns:a="http://schemas.openxmlformats.org/drawingml/2006/main" noGrp="1"/>
          </p:cNvSpPr>
          <p:nvPr/>
        </p:nvSpPr>
        <p:spPr>
          <a:xfrm xmlns:a="http://schemas.openxmlformats.org/drawingml/2006/main">
            <a:off x="685800" y="619125"/>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7232B"/>
                </a:solidFill>
              </a:defRPr>
            </a:pPr>
            <a:r>
              <a:rPr sz="2850" b="1">
                <a:solidFill>
                  <a:srgbClr val="17232B"/>
                </a:solidFill>
              </a:rPr>
              <a:t>Build the evidence, not just an answer</a:t>
            </a:r>
          </a:p>
        </p:txBody>
      </p:sp>
      <p:sp>
        <p:nvSpPr>
          <p:cNvPr id="4" name="">
            <a:extLst xmlns:a="http://schemas.openxmlformats.org/drawingml/2006/main">
              <a:ext uri="{FF2B5EF4-FFF2-40B4-BE49-F238E27FC236}">
                <a16:creationId xmlns:a16="http://schemas.microsoft.com/office/drawing/2014/main" id="{42AFF969-4FB2-4436-BCC7-E77458D049C5}"/>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CAD4D8"/>
            </a:solidFill>
            <a:prstDash val="solid"/>
          </a:ln>
        </p:spPr>
      </p:sp>
      <p:sp>
        <p:nvSpPr>
          <p:cNvPr id="5" name="">
            <a:extLst xmlns:a="http://schemas.openxmlformats.org/drawingml/2006/main">
              <a:ext uri="{FF2B5EF4-FFF2-40B4-BE49-F238E27FC236}">
                <a16:creationId xmlns:a16="http://schemas.microsoft.com/office/drawing/2014/main" id="{95186ADB-E183-4F3C-80D2-D20FB535E19D}"/>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53636D"/>
                </a:solidFill>
              </a:defRPr>
            </a:pPr>
            <a:r>
              <a:rPr sz="975" b="1">
                <a:solidFill>
                  <a:srgbClr val="53636D"/>
                </a:solidFill>
              </a:rPr>
              <a:t>YEAR 8 CATAPULT  •  MODULE 06</a:t>
            </a:r>
          </a:p>
        </p:txBody>
      </p:sp>
      <p:sp>
        <p:nvSpPr>
          <p:cNvPr id="6" name="">
            <a:extLst xmlns:a="http://schemas.openxmlformats.org/drawingml/2006/main">
              <a:ext uri="{FF2B5EF4-FFF2-40B4-BE49-F238E27FC236}">
                <a16:creationId xmlns:a16="http://schemas.microsoft.com/office/drawing/2014/main" id="{5F220CA1-6588-4A28-BA4A-D79FED950536}"/>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A94424"/>
                </a:solidFill>
              </a:defRPr>
            </a:pPr>
            <a:r>
              <a:rPr sz="975" b="1">
                <a:solidFill>
                  <a:srgbClr val="A94424"/>
                </a:solidFill>
              </a:rPr>
              <a:t>07</a:t>
            </a:r>
          </a:p>
        </p:txBody>
      </p:sp>
      <p:sp>
        <p:nvSpPr>
          <p:cNvPr id="7" name="">
            <a:extLst xmlns:a="http://schemas.openxmlformats.org/drawingml/2006/main">
              <a:ext uri="{FF2B5EF4-FFF2-40B4-BE49-F238E27FC236}">
                <a16:creationId xmlns:a16="http://schemas.microsoft.com/office/drawing/2014/main" id="{2D95DE07-4AFD-4272-AA0B-9184FDA43ABF}"/>
              </a:ext>
            </a:extLst>
          </p:cNvPr>
          <p:cNvSpPr>
            <a:spLocks xmlns:a="http://schemas.openxmlformats.org/drawingml/2006/main" noGrp="1"/>
          </p:cNvSpPr>
          <p:nvPr/>
        </p:nvSpPr>
        <p:spPr>
          <a:xfrm xmlns:a="http://schemas.openxmlformats.org/drawingml/2006/main">
            <a:off x="685800" y="12573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THE QUESTION</a:t>
            </a:r>
          </a:p>
        </p:txBody>
      </p:sp>
      <p:sp>
        <p:nvSpPr>
          <p:cNvPr id="8" name="">
            <a:extLst xmlns:a="http://schemas.openxmlformats.org/drawingml/2006/main">
              <a:ext uri="{FF2B5EF4-FFF2-40B4-BE49-F238E27FC236}">
                <a16:creationId xmlns:a16="http://schemas.microsoft.com/office/drawing/2014/main" id="{AB69ABAB-0561-4501-B1CB-7C35D307796F}"/>
              </a:ext>
            </a:extLst>
          </p:cNvPr>
          <p:cNvSpPr>
            <a:spLocks xmlns:a="http://schemas.openxmlformats.org/drawingml/2006/main" noGrp="1"/>
          </p:cNvSpPr>
          <p:nvPr/>
        </p:nvSpPr>
        <p:spPr>
          <a:xfrm xmlns:a="http://schemas.openxmlformats.org/drawingml/2006/main">
            <a:off x="685800" y="1581150"/>
            <a:ext cx="108204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00" b="1">
                <a:solidFill>
                  <a:srgbClr val="17232B"/>
                </a:solidFill>
              </a:defRPr>
            </a:pPr>
            <a:r>
              <a:rPr sz="1800" b="1">
                <a:solidFill>
                  <a:srgbClr val="17232B"/>
                </a:solidFill>
              </a:rPr>
              <a:t>A frame looks neat but shifts sideways during a teacher-approved check. Explain possible load-path, alignment and joint causes, then state the evidence needed before one change.</a:t>
            </a:r>
          </a:p>
        </p:txBody>
      </p:sp>
      <p:sp>
        <p:nvSpPr>
          <p:cNvPr id="9" name="">
            <a:extLst xmlns:a="http://schemas.openxmlformats.org/drawingml/2006/main">
              <a:ext uri="{FF2B5EF4-FFF2-40B4-BE49-F238E27FC236}">
                <a16:creationId xmlns:a16="http://schemas.microsoft.com/office/drawing/2014/main" id="{065BEA1C-F72A-4ACC-941D-9E0D0119F9B2}"/>
              </a:ext>
            </a:extLst>
          </p:cNvPr>
          <p:cNvSpPr>
            <a:spLocks xmlns:a="http://schemas.openxmlformats.org/drawingml/2006/main" noGrp="1"/>
          </p:cNvSpPr>
          <p:nvPr/>
        </p:nvSpPr>
        <p:spPr>
          <a:xfrm xmlns:a="http://schemas.openxmlformats.org/drawingml/2006/main">
            <a:off x="31432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F846172-9E67-404D-AA3F-996E00AD23DD}"/>
              </a:ext>
            </a:extLst>
          </p:cNvPr>
          <p:cNvSpPr>
            <a:spLocks xmlns:a="http://schemas.openxmlformats.org/drawingml/2006/main" noGrp="1"/>
          </p:cNvSpPr>
          <p:nvPr/>
        </p:nvSpPr>
        <p:spPr>
          <a:xfrm xmlns:a="http://schemas.openxmlformats.org/drawingml/2006/main">
            <a:off x="586740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F5D4850-2B06-4A62-B8DE-C49B2AF772E7}"/>
              </a:ext>
            </a:extLst>
          </p:cNvPr>
          <p:cNvSpPr>
            <a:spLocks xmlns:a="http://schemas.openxmlformats.org/drawingml/2006/main" noGrp="1"/>
          </p:cNvSpPr>
          <p:nvPr/>
        </p:nvSpPr>
        <p:spPr>
          <a:xfrm xmlns:a="http://schemas.openxmlformats.org/drawingml/2006/main">
            <a:off x="8591550" y="3476625"/>
            <a:ext cx="533400" cy="247650"/>
          </a:xfrm>
          <a:prstGeom xmlns:a="http://schemas.openxmlformats.org/drawingml/2006/main" prst="rightArrow">
            <a:avLst/>
          </a:prstGeom>
          <a:solidFill xmlns:a="http://schemas.openxmlformats.org/drawingml/2006/main">
            <a:srgbClr val="F0B84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B45E5A-D3B3-4D1D-81AB-F51D8556F4A3}"/>
              </a:ext>
            </a:extLst>
          </p:cNvPr>
          <p:cNvSpPr>
            <a:spLocks xmlns:a="http://schemas.openxmlformats.org/drawingml/2006/main" noGrp="1"/>
          </p:cNvSpPr>
          <p:nvPr/>
        </p:nvSpPr>
        <p:spPr>
          <a:xfrm xmlns:a="http://schemas.openxmlformats.org/drawingml/2006/main">
            <a:off x="6858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READ</a:t>
            </a:r>
          </a:p>
          <a:p xmlns:a="http://schemas.openxmlformats.org/drawingml/2006/main">
            <a:pPr algn="ctr">
              <a:defRPr sz="1500" b="1">
                <a:solidFill>
                  <a:srgbClr val="184F5E"/>
                </a:solidFill>
              </a:defRPr>
            </a:pPr>
            <a:r>
              <a:rPr sz="1500" b="1">
                <a:solidFill>
                  <a:srgbClr val="184F5E"/>
                </a:solidFill>
              </a:rPr>
              <a:t>Underline the decision</a:t>
            </a:r>
          </a:p>
        </p:txBody>
      </p:sp>
      <p:sp>
        <p:nvSpPr>
          <p:cNvPr id="13" name="">
            <a:extLst xmlns:a="http://schemas.openxmlformats.org/drawingml/2006/main">
              <a:ext uri="{FF2B5EF4-FFF2-40B4-BE49-F238E27FC236}">
                <a16:creationId xmlns:a16="http://schemas.microsoft.com/office/drawing/2014/main" id="{269589D4-A27F-4242-9D04-383B22377F61}"/>
              </a:ext>
            </a:extLst>
          </p:cNvPr>
          <p:cNvSpPr>
            <a:spLocks xmlns:a="http://schemas.openxmlformats.org/drawingml/2006/main" noGrp="1"/>
          </p:cNvSpPr>
          <p:nvPr/>
        </p:nvSpPr>
        <p:spPr>
          <a:xfrm xmlns:a="http://schemas.openxmlformats.org/drawingml/2006/main">
            <a:off x="34099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SELECT</a:t>
            </a:r>
          </a:p>
          <a:p xmlns:a="http://schemas.openxmlformats.org/drawingml/2006/main">
            <a:pPr algn="ctr">
              <a:defRPr sz="1500" b="1">
                <a:solidFill>
                  <a:srgbClr val="A94424"/>
                </a:solidFill>
              </a:defRPr>
            </a:pPr>
            <a:r>
              <a:rPr sz="1500" b="1">
                <a:solidFill>
                  <a:srgbClr val="A94424"/>
                </a:solidFill>
              </a:rPr>
              <a:t>Choose precise evidence</a:t>
            </a:r>
          </a:p>
        </p:txBody>
      </p:sp>
      <p:sp>
        <p:nvSpPr>
          <p:cNvPr id="14" name="">
            <a:extLst xmlns:a="http://schemas.openxmlformats.org/drawingml/2006/main">
              <a:ext uri="{FF2B5EF4-FFF2-40B4-BE49-F238E27FC236}">
                <a16:creationId xmlns:a16="http://schemas.microsoft.com/office/drawing/2014/main" id="{9837ADF7-121B-4DB3-BD2F-D946E28FA37E}"/>
              </a:ext>
            </a:extLst>
          </p:cNvPr>
          <p:cNvSpPr>
            <a:spLocks xmlns:a="http://schemas.openxmlformats.org/drawingml/2006/main" noGrp="1"/>
          </p:cNvSpPr>
          <p:nvPr/>
        </p:nvSpPr>
        <p:spPr>
          <a:xfrm xmlns:a="http://schemas.openxmlformats.org/drawingml/2006/main">
            <a:off x="613410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184F5E"/>
                </a:solidFill>
              </a:defRPr>
            </a:pPr>
            <a:r>
              <a:rPr sz="1500" b="1">
                <a:solidFill>
                  <a:srgbClr val="184F5E"/>
                </a:solidFill>
              </a:rPr>
              <a:t>EXPLAIN</a:t>
            </a:r>
          </a:p>
          <a:p xmlns:a="http://schemas.openxmlformats.org/drawingml/2006/main">
            <a:pPr algn="ctr">
              <a:defRPr sz="1500" b="1">
                <a:solidFill>
                  <a:srgbClr val="184F5E"/>
                </a:solidFill>
              </a:defRPr>
            </a:pPr>
            <a:r>
              <a:rPr sz="1500" b="1">
                <a:solidFill>
                  <a:srgbClr val="184F5E"/>
                </a:solidFill>
              </a:rPr>
              <a:t>Connect with theory</a:t>
            </a:r>
          </a:p>
        </p:txBody>
      </p:sp>
      <p:sp>
        <p:nvSpPr>
          <p:cNvPr id="15" name="">
            <a:extLst xmlns:a="http://schemas.openxmlformats.org/drawingml/2006/main">
              <a:ext uri="{FF2B5EF4-FFF2-40B4-BE49-F238E27FC236}">
                <a16:creationId xmlns:a16="http://schemas.microsoft.com/office/drawing/2014/main" id="{EE8D395B-A1F5-4038-B762-703286C7B3DB}"/>
              </a:ext>
            </a:extLst>
          </p:cNvPr>
          <p:cNvSpPr>
            <a:spLocks xmlns:a="http://schemas.openxmlformats.org/drawingml/2006/main" noGrp="1"/>
          </p:cNvSpPr>
          <p:nvPr/>
        </p:nvSpPr>
        <p:spPr>
          <a:xfrm xmlns:a="http://schemas.openxmlformats.org/drawingml/2006/main">
            <a:off x="8858250" y="3028950"/>
            <a:ext cx="2343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500" b="1">
                <a:solidFill>
                  <a:srgbClr val="A94424"/>
                </a:solidFill>
              </a:defRPr>
            </a:pPr>
            <a:r>
              <a:rPr sz="1500" b="1">
                <a:solidFill>
                  <a:srgbClr val="A94424"/>
                </a:solidFill>
              </a:rPr>
              <a:t>CHECK</a:t>
            </a:r>
          </a:p>
          <a:p xmlns:a="http://schemas.openxmlformats.org/drawingml/2006/main">
            <a:pPr algn="ctr">
              <a:defRPr sz="1500" b="1">
                <a:solidFill>
                  <a:srgbClr val="A94424"/>
                </a:solidFill>
              </a:defRPr>
            </a:pPr>
            <a:r>
              <a:rPr sz="1500" b="1">
                <a:solidFill>
                  <a:srgbClr val="A94424"/>
                </a:solidFill>
              </a:rPr>
              <a:t>Answer every part</a:t>
            </a:r>
          </a:p>
        </p:txBody>
      </p:sp>
      <p:sp>
        <p:nvSpPr>
          <p:cNvPr id="16" name="">
            <a:extLst xmlns:a="http://schemas.openxmlformats.org/drawingml/2006/main">
              <a:ext uri="{FF2B5EF4-FFF2-40B4-BE49-F238E27FC236}">
                <a16:creationId xmlns:a16="http://schemas.microsoft.com/office/drawing/2014/main" id="{44AD82E4-0605-4FCC-B8D8-3EE8200C60CC}"/>
              </a:ext>
            </a:extLst>
          </p:cNvPr>
          <p:cNvSpPr>
            <a:spLocks xmlns:a="http://schemas.openxmlformats.org/drawingml/2006/main" noGrp="1"/>
          </p:cNvSpPr>
          <p:nvPr/>
        </p:nvSpPr>
        <p:spPr>
          <a:xfrm xmlns:a="http://schemas.openxmlformats.org/drawingml/2006/main">
            <a:off x="685800" y="4476750"/>
            <a:ext cx="10820400" cy="1219200"/>
          </a:xfrm>
          <a:prstGeom xmlns:a="http://schemas.openxmlformats.org/drawingml/2006/main" prst="rect">
            <a:avLst/>
          </a:prstGeom>
          <a:solidFill xmlns:a="http://schemas.openxmlformats.org/drawingml/2006/main">
            <a:srgbClr val="FFFFFF"/>
          </a:solidFill>
          <a:ln xmlns:a="http://schemas.openxmlformats.org/drawingml/2006/main" w="9525">
            <a:solidFill>
              <a:srgbClr val="CAD4D8"/>
            </a:solidFill>
            <a:prstDash val="solid"/>
          </a:ln>
        </p:spPr>
      </p:sp>
      <p:sp>
        <p:nvSpPr>
          <p:cNvPr id="17" name="">
            <a:extLst xmlns:a="http://schemas.openxmlformats.org/drawingml/2006/main">
              <a:ext uri="{FF2B5EF4-FFF2-40B4-BE49-F238E27FC236}">
                <a16:creationId xmlns:a16="http://schemas.microsoft.com/office/drawing/2014/main" id="{4809F926-5F28-452B-A958-BA5F99809FC4}"/>
              </a:ext>
            </a:extLst>
          </p:cNvPr>
          <p:cNvSpPr>
            <a:spLocks xmlns:a="http://schemas.openxmlformats.org/drawingml/2006/main" noGrp="1"/>
          </p:cNvSpPr>
          <p:nvPr/>
        </p:nvSpPr>
        <p:spPr>
          <a:xfrm xmlns:a="http://schemas.openxmlformats.org/drawingml/2006/main">
            <a:off x="914400" y="46672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A94424"/>
                </a:solidFill>
              </a:defRPr>
            </a:pPr>
            <a:r>
              <a:rPr sz="1200" b="1">
                <a:solidFill>
                  <a:srgbClr val="A94424"/>
                </a:solidFill>
              </a:rPr>
              <a:t>SENTENCE SUPPORT</a:t>
            </a:r>
          </a:p>
        </p:txBody>
      </p:sp>
      <p:sp>
        <p:nvSpPr>
          <p:cNvPr id="18" name="">
            <a:extLst xmlns:a="http://schemas.openxmlformats.org/drawingml/2006/main">
              <a:ext uri="{FF2B5EF4-FFF2-40B4-BE49-F238E27FC236}">
                <a16:creationId xmlns:a16="http://schemas.microsoft.com/office/drawing/2014/main" id="{5BF5FAB7-A0FD-43FF-A63B-8530C43A493B}"/>
              </a:ext>
            </a:extLst>
          </p:cNvPr>
          <p:cNvSpPr>
            <a:spLocks xmlns:a="http://schemas.openxmlformats.org/drawingml/2006/main" noGrp="1"/>
          </p:cNvSpPr>
          <p:nvPr/>
        </p:nvSpPr>
        <p:spPr>
          <a:xfrm xmlns:a="http://schemas.openxmlformats.org/drawingml/2006/main">
            <a:off x="914400" y="5029200"/>
            <a:ext cx="10144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7232B"/>
                </a:solidFill>
              </a:defRPr>
            </a:pPr>
            <a:r>
              <a:rPr sz="1575" b="0">
                <a:solidFill>
                  <a:srgbClr val="17232B"/>
                </a:solidFill>
              </a:rPr>
              <a:t>The neat appearance does not prove … The movement may begin at … Evidence about … would help distinguish … before changing …</a:t>
            </a:r>
          </a:p>
        </p:txBody>
      </p:sp>
    </p:spTree>
    <p:extLst>
      <p:ext uri="{BB962C8B-B14F-4D97-AF65-F5344CB8AC3E}">
        <p14:creationId xmlns:p14="http://schemas.microsoft.com/office/powerpoint/2010/main" val="409506781"/>
      </p:ext>
    </p:extLst>
  </p:cSld>
</p:sld>
</file>

<file path=ppt/slides/slide8.xml><?xml version="1.0" encoding="utf-8"?>
<p:sld xmlns:p="http://schemas.openxmlformats.org/presentationml/2006/main">
  <p:cSld>
    <p:bg>
      <p:bgPr>
        <a:solidFill xmlns:a="http://schemas.openxmlformats.org/drawingml/2006/main">
          <a:srgbClr val="A9442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7F40EAC-3837-413A-AE2F-22CAAF6A4361}"/>
              </a:ext>
            </a:extLst>
          </p:cNvPr>
          <p:cNvSpPr>
            <a:spLocks xmlns:a="http://schemas.openxmlformats.org/drawingml/2006/main" noGrp="1"/>
          </p:cNvSpPr>
          <p:nvPr/>
        </p:nvSpPr>
        <p:spPr>
          <a:xfrm xmlns:a="http://schemas.openxmlformats.org/drawingml/2006/main">
            <a:off x="685800" y="552450"/>
            <a:ext cx="6191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BEFORE YOU PACK UP …</a:t>
            </a:r>
          </a:p>
        </p:txBody>
      </p:sp>
      <p:sp>
        <p:nvSpPr>
          <p:cNvPr id="2" name="">
            <a:extLst xmlns:a="http://schemas.openxmlformats.org/drawingml/2006/main">
              <a:ext uri="{FF2B5EF4-FFF2-40B4-BE49-F238E27FC236}">
                <a16:creationId xmlns:a16="http://schemas.microsoft.com/office/drawing/2014/main" id="{EB5EE04F-BCD9-484A-B800-4FD310341164}"/>
              </a:ext>
            </a:extLst>
          </p:cNvPr>
          <p:cNvSpPr>
            <a:spLocks xmlns:a="http://schemas.openxmlformats.org/drawingml/2006/main" noGrp="1"/>
          </p:cNvSpPr>
          <p:nvPr/>
        </p:nvSpPr>
        <p:spPr>
          <a:xfrm xmlns:a="http://schemas.openxmlformats.org/drawingml/2006/main">
            <a:off x="685800" y="1066800"/>
            <a:ext cx="8001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150" b="1">
                <a:solidFill>
                  <a:srgbClr val="FFFFFF"/>
                </a:solidFill>
              </a:defRPr>
            </a:pPr>
            <a:r>
              <a:rPr sz="3150" b="1">
                <a:solidFill>
                  <a:srgbClr val="FFFFFF"/>
                </a:solidFill>
              </a:rPr>
              <a:t>Close the design loop</a:t>
            </a:r>
          </a:p>
        </p:txBody>
      </p:sp>
      <p:sp>
        <p:nvSpPr>
          <p:cNvPr id="3" name="">
            <a:extLst xmlns:a="http://schemas.openxmlformats.org/drawingml/2006/main">
              <a:ext uri="{FF2B5EF4-FFF2-40B4-BE49-F238E27FC236}">
                <a16:creationId xmlns:a16="http://schemas.microsoft.com/office/drawing/2014/main" id="{CC968EA7-EC35-43CD-8046-D944981CBA2B}"/>
              </a:ext>
            </a:extLst>
          </p:cNvPr>
          <p:cNvSpPr>
            <a:spLocks xmlns:a="http://schemas.openxmlformats.org/drawingml/2006/main" noGrp="1"/>
          </p:cNvSpPr>
          <p:nvPr/>
        </p:nvSpPr>
        <p:spPr>
          <a:xfrm xmlns:a="http://schemas.openxmlformats.org/drawingml/2006/main">
            <a:off x="685800" y="20955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3A95966-93A3-4F01-971C-AADB1A992505}"/>
              </a:ext>
            </a:extLst>
          </p:cNvPr>
          <p:cNvSpPr>
            <a:spLocks xmlns:a="http://schemas.openxmlformats.org/drawingml/2006/main" noGrp="1"/>
          </p:cNvSpPr>
          <p:nvPr/>
        </p:nvSpPr>
        <p:spPr>
          <a:xfrm xmlns:a="http://schemas.openxmlformats.org/drawingml/2006/main">
            <a:off x="933450" y="22669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1. One dependency I can plan for …</a:t>
            </a:r>
          </a:p>
        </p:txBody>
      </p:sp>
      <p:sp>
        <p:nvSpPr>
          <p:cNvPr id="5" name="">
            <a:extLst xmlns:a="http://schemas.openxmlformats.org/drawingml/2006/main">
              <a:ext uri="{FF2B5EF4-FFF2-40B4-BE49-F238E27FC236}">
                <a16:creationId xmlns:a16="http://schemas.microsoft.com/office/drawing/2014/main" id="{7DC420CB-1652-47F3-B937-ED42B08EDA12}"/>
              </a:ext>
            </a:extLst>
          </p:cNvPr>
          <p:cNvSpPr>
            <a:spLocks xmlns:a="http://schemas.openxmlformats.org/drawingml/2006/main" noGrp="1"/>
          </p:cNvSpPr>
          <p:nvPr/>
        </p:nvSpPr>
        <p:spPr>
          <a:xfrm xmlns:a="http://schemas.openxmlformats.org/drawingml/2006/main">
            <a:off x="685800" y="302895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8C594EA-5801-48F0-9510-50643B9F195A}"/>
              </a:ext>
            </a:extLst>
          </p:cNvPr>
          <p:cNvSpPr>
            <a:spLocks xmlns:a="http://schemas.openxmlformats.org/drawingml/2006/main" noGrp="1"/>
          </p:cNvSpPr>
          <p:nvPr/>
        </p:nvSpPr>
        <p:spPr>
          <a:xfrm xmlns:a="http://schemas.openxmlformats.org/drawingml/2006/main">
            <a:off x="933450" y="320040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2. One load path I can trace …</a:t>
            </a:r>
          </a:p>
        </p:txBody>
      </p:sp>
      <p:sp>
        <p:nvSpPr>
          <p:cNvPr id="7" name="">
            <a:extLst xmlns:a="http://schemas.openxmlformats.org/drawingml/2006/main">
              <a:ext uri="{FF2B5EF4-FFF2-40B4-BE49-F238E27FC236}">
                <a16:creationId xmlns:a16="http://schemas.microsoft.com/office/drawing/2014/main" id="{637528D6-3E03-42A6-B6CA-AAB08DE6E941}"/>
              </a:ext>
            </a:extLst>
          </p:cNvPr>
          <p:cNvSpPr>
            <a:spLocks xmlns:a="http://schemas.openxmlformats.org/drawingml/2006/main" noGrp="1"/>
          </p:cNvSpPr>
          <p:nvPr/>
        </p:nvSpPr>
        <p:spPr>
          <a:xfrm xmlns:a="http://schemas.openxmlformats.org/drawingml/2006/main">
            <a:off x="685800" y="3962400"/>
            <a:ext cx="8096250" cy="666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B38F220-25AF-44D8-96FB-E82D1F2A734B}"/>
              </a:ext>
            </a:extLst>
          </p:cNvPr>
          <p:cNvSpPr>
            <a:spLocks xmlns:a="http://schemas.openxmlformats.org/drawingml/2006/main" noGrp="1"/>
          </p:cNvSpPr>
          <p:nvPr/>
        </p:nvSpPr>
        <p:spPr>
          <a:xfrm xmlns:a="http://schemas.openxmlformats.org/drawingml/2006/main">
            <a:off x="933450" y="4133850"/>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17232B"/>
                </a:solidFill>
              </a:defRPr>
            </a:pPr>
            <a:r>
              <a:rPr sz="1650" b="1">
                <a:solidFill>
                  <a:srgbClr val="17232B"/>
                </a:solidFill>
              </a:rPr>
              <a:t>3. One checkpoint record I can improve …</a:t>
            </a:r>
          </a:p>
        </p:txBody>
      </p:sp>
      <p:sp>
        <p:nvSpPr>
          <p:cNvPr id="9" name="">
            <a:extLst xmlns:a="http://schemas.openxmlformats.org/drawingml/2006/main">
              <a:ext uri="{FF2B5EF4-FFF2-40B4-BE49-F238E27FC236}">
                <a16:creationId xmlns:a16="http://schemas.microsoft.com/office/drawing/2014/main" id="{B1ECA8FD-12B9-46C4-91CC-2449FBC03A4B}"/>
              </a:ext>
            </a:extLst>
          </p:cNvPr>
          <p:cNvSpPr>
            <a:spLocks xmlns:a="http://schemas.openxmlformats.org/drawingml/2006/main" noGrp="1"/>
          </p:cNvSpPr>
          <p:nvPr/>
        </p:nvSpPr>
        <p:spPr>
          <a:xfrm xmlns:a="http://schemas.openxmlformats.org/drawingml/2006/main">
            <a:off x="9353550" y="2419350"/>
            <a:ext cx="1828800" cy="1828800"/>
          </a:xfrm>
          <a:prstGeom xmlns:a="http://schemas.openxmlformats.org/drawingml/2006/main" prst="ellipse">
            <a:avLst/>
          </a:prstGeom>
          <a:solidFill xmlns:a="http://schemas.openxmlformats.org/drawingml/2006/main">
            <a:srgbClr val="F0B84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62144D5-9D31-4FC2-8A70-8CDB27CF92E9}"/>
              </a:ext>
            </a:extLst>
          </p:cNvPr>
          <p:cNvSpPr>
            <a:spLocks xmlns:a="http://schemas.openxmlformats.org/drawingml/2006/main" noGrp="1"/>
          </p:cNvSpPr>
          <p:nvPr/>
        </p:nvSpPr>
        <p:spPr>
          <a:xfrm xmlns:a="http://schemas.openxmlformats.org/drawingml/2006/main">
            <a:off x="9610725" y="2800350"/>
            <a:ext cx="131445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17232B"/>
                </a:solidFill>
              </a:defRPr>
            </a:pPr>
            <a:r>
              <a:rPr sz="1875" b="1">
                <a:solidFill>
                  <a:srgbClr val="17232B"/>
                </a:solidFill>
              </a:rPr>
              <a:t>SAVE</a:t>
            </a:r>
          </a:p>
          <a:p xmlns:a="http://schemas.openxmlformats.org/drawingml/2006/main">
            <a:pPr algn="ctr">
              <a:defRPr sz="1875" b="1">
                <a:solidFill>
                  <a:srgbClr val="17232B"/>
                </a:solidFill>
              </a:defRPr>
            </a:pPr>
            <a:r>
              <a:rPr sz="1875" b="1">
                <a:solidFill>
                  <a:srgbClr val="17232B"/>
                </a:solidFill>
              </a:rPr>
              <a:t>YOUR</a:t>
            </a:r>
          </a:p>
          <a:p xmlns:a="http://schemas.openxmlformats.org/drawingml/2006/main">
            <a:pPr algn="ctr">
              <a:defRPr sz="1875" b="1">
                <a:solidFill>
                  <a:srgbClr val="17232B"/>
                </a:solidFill>
              </a:defRPr>
            </a:pPr>
            <a:r>
              <a:rPr sz="1875" b="1">
                <a:solidFill>
                  <a:srgbClr val="17232B"/>
                </a:solidFill>
              </a:rPr>
              <a:t>EVIDENCE</a:t>
            </a:r>
          </a:p>
        </p:txBody>
      </p:sp>
      <p:sp>
        <p:nvSpPr>
          <p:cNvPr id="11" name="">
            <a:extLst xmlns:a="http://schemas.openxmlformats.org/drawingml/2006/main">
              <a:ext uri="{FF2B5EF4-FFF2-40B4-BE49-F238E27FC236}">
                <a16:creationId xmlns:a16="http://schemas.microsoft.com/office/drawing/2014/main" id="{0E57A14B-3937-4282-B4BA-D3B7ECC1B304}"/>
              </a:ext>
            </a:extLst>
          </p:cNvPr>
          <p:cNvSpPr>
            <a:spLocks xmlns:a="http://schemas.openxmlformats.org/drawingml/2006/main" noGrp="1"/>
          </p:cNvSpPr>
          <p:nvPr/>
        </p:nvSpPr>
        <p:spPr>
          <a:xfrm xmlns:a="http://schemas.openxmlformats.org/drawingml/2006/main">
            <a:off x="685800" y="5219700"/>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FFFF"/>
                </a:solidFill>
              </a:defRPr>
            </a:pPr>
            <a:r>
              <a:rPr sz="1425" b="0">
                <a:solidFill>
                  <a:srgbClr val="FFFFFF"/>
                </a:solidFill>
              </a:rPr>
              <a:t>Evidence destination: your module response and folio where your teacher directs.</a:t>
            </a:r>
          </a:p>
        </p:txBody>
      </p:sp>
      <p:sp>
        <p:nvSpPr>
          <p:cNvPr id="12" name="">
            <a:extLst xmlns:a="http://schemas.openxmlformats.org/drawingml/2006/main">
              <a:ext uri="{FF2B5EF4-FFF2-40B4-BE49-F238E27FC236}">
                <a16:creationId xmlns:a16="http://schemas.microsoft.com/office/drawing/2014/main" id="{01352E1F-D1EF-403A-B374-F373651374F7}"/>
              </a:ext>
            </a:extLst>
          </p:cNvPr>
          <p:cNvSpPr>
            <a:spLocks xmlns:a="http://schemas.openxmlformats.org/drawingml/2006/main" noGrp="1"/>
          </p:cNvSpPr>
          <p:nvPr/>
        </p:nvSpPr>
        <p:spPr>
          <a:xfrm xmlns:a="http://schemas.openxmlformats.org/drawingml/2006/main">
            <a:off x="685800" y="5886450"/>
            <a:ext cx="10572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0B84B"/>
                </a:solidFill>
              </a:defRPr>
            </a:pPr>
            <a:r>
              <a:rPr sz="1350" b="1">
                <a:solidFill>
                  <a:srgbClr val="F0B84B"/>
                </a:solidFill>
              </a:rPr>
              <a:t>Next: map component interactions and use quality checks during assembly.</a:t>
            </a:r>
          </a:p>
        </p:txBody>
      </p:sp>
      <p:sp>
        <p:nvSpPr>
          <p:cNvPr id="13" name="">
            <a:extLst xmlns:a="http://schemas.openxmlformats.org/drawingml/2006/main">
              <a:ext uri="{FF2B5EF4-FFF2-40B4-BE49-F238E27FC236}">
                <a16:creationId xmlns:a16="http://schemas.microsoft.com/office/drawing/2014/main" id="{07591509-307B-4D5F-A99A-A988D9805E84}"/>
              </a:ext>
            </a:extLst>
          </p:cNvPr>
          <p:cNvSpPr>
            <a:spLocks xmlns:a="http://schemas.openxmlformats.org/drawingml/2006/main" noGrp="1"/>
          </p:cNvSpPr>
          <p:nvPr/>
        </p:nvSpPr>
        <p:spPr>
          <a:xfrm xmlns:a="http://schemas.openxmlformats.org/drawingml/2006/main">
            <a:off x="685800" y="6400800"/>
            <a:ext cx="10820400" cy="0"/>
          </a:xfrm>
          <a:prstGeom xmlns:a="http://schemas.openxmlformats.org/drawingml/2006/main" prst="line">
            <a:avLst/>
          </a:prstGeom>
          <a:noFill xmlns:a="http://schemas.openxmlformats.org/drawingml/2006/main"/>
          <a:ln xmlns:a="http://schemas.openxmlformats.org/drawingml/2006/main" w="9525">
            <a:solidFill>
              <a:srgbClr val="FFFFFF">
                <a:alpha val="33333"/>
              </a:srgbClr>
            </a:solidFill>
            <a:prstDash val="solid"/>
          </a:ln>
        </p:spPr>
      </p:sp>
      <p:sp>
        <p:nvSpPr>
          <p:cNvPr id="14" name="">
            <a:extLst xmlns:a="http://schemas.openxmlformats.org/drawingml/2006/main">
              <a:ext uri="{FF2B5EF4-FFF2-40B4-BE49-F238E27FC236}">
                <a16:creationId xmlns:a16="http://schemas.microsoft.com/office/drawing/2014/main" id="{0672CE53-AF3C-4145-AE0E-D7C5E162E1A5}"/>
              </a:ext>
            </a:extLst>
          </p:cNvPr>
          <p:cNvSpPr>
            <a:spLocks xmlns:a="http://schemas.openxmlformats.org/drawingml/2006/main" noGrp="1"/>
          </p:cNvSpPr>
          <p:nvPr/>
        </p:nvSpPr>
        <p:spPr>
          <a:xfrm xmlns:a="http://schemas.openxmlformats.org/drawingml/2006/main">
            <a:off x="685800" y="64960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75" b="1">
                <a:solidFill>
                  <a:srgbClr val="D7E5E8"/>
                </a:solidFill>
              </a:defRPr>
            </a:pPr>
            <a:r>
              <a:rPr sz="975" b="1">
                <a:solidFill>
                  <a:srgbClr val="D7E5E8"/>
                </a:solidFill>
              </a:rPr>
              <a:t>YEAR 8 CATAPULT  •  MODULE 06</a:t>
            </a:r>
          </a:p>
        </p:txBody>
      </p:sp>
      <p:sp>
        <p:nvSpPr>
          <p:cNvPr id="15" name="">
            <a:extLst xmlns:a="http://schemas.openxmlformats.org/drawingml/2006/main">
              <a:ext uri="{FF2B5EF4-FFF2-40B4-BE49-F238E27FC236}">
                <a16:creationId xmlns:a16="http://schemas.microsoft.com/office/drawing/2014/main" id="{6B3494CE-2CA3-4A9C-852C-6C1502D708AA}"/>
              </a:ext>
            </a:extLst>
          </p:cNvPr>
          <p:cNvSpPr>
            <a:spLocks xmlns:a="http://schemas.openxmlformats.org/drawingml/2006/main" noGrp="1"/>
          </p:cNvSpPr>
          <p:nvPr/>
        </p:nvSpPr>
        <p:spPr>
          <a:xfrm xmlns:a="http://schemas.openxmlformats.org/drawingml/2006/main">
            <a:off x="11049000" y="649605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75" b="1">
                <a:solidFill>
                  <a:srgbClr val="F0B84B"/>
                </a:solidFill>
              </a:defRPr>
            </a:pPr>
            <a:r>
              <a:rPr sz="975" b="1">
                <a:solidFill>
                  <a:srgbClr val="F0B84B"/>
                </a:solidFill>
              </a:rPr>
              <a:t>08</a:t>
            </a:r>
          </a:p>
        </p:txBody>
      </p:sp>
    </p:spTree>
    <p:extLst>
      <p:ext uri="{BB962C8B-B14F-4D97-AF65-F5344CB8AC3E}">
        <p14:creationId xmlns:p14="http://schemas.microsoft.com/office/powerpoint/2010/main" val="6122030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2026-08-24T09:20:28.0330000Z</dcterms:created>
  <dcterms:modified xsi:type="dcterms:W3CDTF">2026-08-24T09:20:28.0330000Z</dcterms:modified>
</coreProperties>
</file>