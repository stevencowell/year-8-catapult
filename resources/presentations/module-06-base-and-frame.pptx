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d10b35fc1941e0" /><Relationship Type="http://schemas.openxmlformats.org/officeDocument/2006/relationships/extended-properties" Target="/docProps/app.xml" Id="Rd93e378b603f468a" /><Relationship Type="http://schemas.openxmlformats.org/officeDocument/2006/relationships/officeDocument" Target="/ppt/presentation.xml" Id="Rb4074fcb58d84442" /></Relationships>
</file>

<file path=ppt/presentation.xml><?xml version="1.0" encoding="utf-8"?>
<p:presentation xmlns:p="http://schemas.openxmlformats.org/presentationml/2006/main">
  <p:sldMasterIdLst>
    <p:sldMasterId xmlns:r="http://schemas.openxmlformats.org/officeDocument/2006/relationships" id="2147483648" r:id="Rd82eb0f0dee74bc8"/>
  </p:sldMasterIdLst>
  <p:notesMasterIdLst>
    <p:notesMasterId xmlns:r="http://schemas.openxmlformats.org/officeDocument/2006/relationships" r:id="Rfa212894bfb04390"/>
  </p:notesMasterIdLst>
  <p:sldIdLst>
    <p:sldId xmlns:r="http://schemas.openxmlformats.org/officeDocument/2006/relationships" id="256" r:id="R2cb6103da2034b79"/>
    <p:sldId xmlns:r="http://schemas.openxmlformats.org/officeDocument/2006/relationships" id="257" r:id="Re5bdd11d4138405e"/>
    <p:sldId xmlns:r="http://schemas.openxmlformats.org/officeDocument/2006/relationships" id="258" r:id="R41d05cad23724804"/>
    <p:sldId xmlns:r="http://schemas.openxmlformats.org/officeDocument/2006/relationships" id="259" r:id="Ra2fae5f430b74cfd"/>
    <p:sldId xmlns:r="http://schemas.openxmlformats.org/officeDocument/2006/relationships" id="260" r:id="R6d0d86ef029f4308"/>
    <p:sldId xmlns:r="http://schemas.openxmlformats.org/officeDocument/2006/relationships" id="261" r:id="Ref3573682d9c4bf0"/>
    <p:sldId xmlns:r="http://schemas.openxmlformats.org/officeDocument/2006/relationships" id="262" r:id="Rbfb486f828d84668"/>
    <p:sldId xmlns:r="http://schemas.openxmlformats.org/officeDocument/2006/relationships" id="263" r:id="R62c0e467a98345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476b34363d4a13" /><Relationship Type="http://schemas.openxmlformats.org/officeDocument/2006/relationships/slideMaster" Target="/ppt/slideMasters/slideMaster1.xml" Id="Rd82eb0f0dee74bc8" /><Relationship Type="http://schemas.openxmlformats.org/officeDocument/2006/relationships/notesMaster" Target="/ppt/notesMasters/notesMaster1.xml" Id="Rfa212894bfb04390" /><Relationship Type="http://schemas.openxmlformats.org/officeDocument/2006/relationships/presProps" Target="/ppt/presProps.xml" Id="Rd73218b24c134fc4" /><Relationship Type="http://schemas.openxmlformats.org/officeDocument/2006/relationships/tableStyles" Target="/ppt/tableStyles.xml" Id="R94aaad27d8fc459f" /><Relationship Type="http://schemas.openxmlformats.org/officeDocument/2006/relationships/slide" Target="/ppt/slides/slide1.xml" Id="R2cb6103da2034b79" /><Relationship Type="http://schemas.openxmlformats.org/officeDocument/2006/relationships/slide" Target="/ppt/slides/slide2.xml" Id="Re5bdd11d4138405e" /><Relationship Type="http://schemas.openxmlformats.org/officeDocument/2006/relationships/slide" Target="/ppt/slides/slide3.xml" Id="R41d05cad23724804" /><Relationship Type="http://schemas.openxmlformats.org/officeDocument/2006/relationships/slide" Target="/ppt/slides/slide4.xml" Id="Ra2fae5f430b74cfd" /><Relationship Type="http://schemas.openxmlformats.org/officeDocument/2006/relationships/slide" Target="/ppt/slides/slide5.xml" Id="R6d0d86ef029f4308" /><Relationship Type="http://schemas.openxmlformats.org/officeDocument/2006/relationships/slide" Target="/ppt/slides/slide6.xml" Id="Ref3573682d9c4bf0" /><Relationship Type="http://schemas.openxmlformats.org/officeDocument/2006/relationships/slide" Target="/ppt/slides/slide7.xml" Id="Rbfb486f828d84668" /><Relationship Type="http://schemas.openxmlformats.org/officeDocument/2006/relationships/slide" Target="/ppt/slides/slide8.xml" Id="R62c0e467a98345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4f37bec0614c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d0d72f3f764f8d" /><Relationship Type="http://schemas.openxmlformats.org/officeDocument/2006/relationships/notesMaster" Target="/ppt/notesMasters/notesMaster1.xml" Id="Rb8d2bad12b3543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87996695bc47ed" /><Relationship Type="http://schemas.openxmlformats.org/officeDocument/2006/relationships/notesMaster" Target="/ppt/notesMasters/notesMaster1.xml" Id="Rbeed1cda1cd14e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38e9c4638c4e07" /><Relationship Type="http://schemas.openxmlformats.org/officeDocument/2006/relationships/notesMaster" Target="/ppt/notesMasters/notesMaster1.xml" Id="R29726e6b14664c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9b1b0f2fcd40fc" /><Relationship Type="http://schemas.openxmlformats.org/officeDocument/2006/relationships/notesMaster" Target="/ppt/notesMasters/notesMaster1.xml" Id="R2306e3f1899e47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d1c4bed9ae4f07" /><Relationship Type="http://schemas.openxmlformats.org/officeDocument/2006/relationships/notesMaster" Target="/ppt/notesMasters/notesMaster1.xml" Id="Re2f5e62f4bbb49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9a3a68b1494a88" /><Relationship Type="http://schemas.openxmlformats.org/officeDocument/2006/relationships/notesMaster" Target="/ppt/notesMasters/notesMaster1.xml" Id="R98132e9a002142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541ed4d43a4b64" /><Relationship Type="http://schemas.openxmlformats.org/officeDocument/2006/relationships/notesMaster" Target="/ppt/notesMasters/notesMaster1.xml" Id="R4676d8746ac344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e8758155e54a5e" /><Relationship Type="http://schemas.openxmlformats.org/officeDocument/2006/relationships/notesMaster" Target="/ppt/notesMasters/notesMaster1.xml" Id="Ra32595beb9794f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OpenAI image generation for this course, 24 Aug 2026, conceptual only; file: radiata-pine-grain-samples.png.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What could depend on the frame being aligned before a later stage begins?</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Some production stages rely on earlier information or checks. A later component cannot be confidently fitted when the related drawing or frame alignment is unresolved. A checkpoint is a planned pause to compare the work with approved design information before a dependent stage begins.</a:t>
            </a:r>
          </a:p>
          <a:p xmlns:a="http://schemas.openxmlformats.org/drawingml/2006/main">
            <a:r>
              <a:t>- Use the visual to emphasise: Find mismatches while they are still easier to explain and correct.</a:t>
            </a:r>
          </a:p>
          <a:p xmlns:a="http://schemas.openxmlformats.org/drawingml/2006/main">
            <a:r>
              <a:t/>
            </a:r>
          </a:p>
          <a:p xmlns:a="http://schemas.openxmlformats.org/drawingml/2006/main">
            <a:r>
              <a:t>Prompt</a:t>
            </a:r>
          </a:p>
          <a:p xmlns:a="http://schemas.openxmlformats.org/drawingml/2006/main">
            <a:r>
              <a:t>- Application: name one later stage that depends on a frame checkpoint and explain the risk of skipping it.</a:t>
            </a:r>
          </a:p>
          <a:p xmlns:a="http://schemas.openxmlformats.org/drawingml/2006/main">
            <a:r>
              <a:t/>
            </a:r>
          </a:p>
          <a:p xmlns:a="http://schemas.openxmlformats.org/drawingml/2006/main">
            <a:r>
              <a:t>Likely misconception</a:t>
            </a:r>
          </a:p>
          <a:p xmlns:a="http://schemas.openxmlformats.org/drawingml/2006/main">
            <a:r>
              <a:t>- What is a production dependency?</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load path is the route a force follows through a structure towards its supports. Members may experience compression, tension, shear, torsion or bending. Bracing and shape matter only when they suit the actual path, joints and material—not because one shape is automatically strong everywhere.</a:t>
            </a:r>
          </a:p>
          <a:p xmlns:a="http://schemas.openxmlformats.org/drawingml/2006/main">
            <a:r>
              <a:t>- Use the visual to emphasise: A useful structural change responds to the real load path rather than adding material at random.</a:t>
            </a:r>
          </a:p>
          <a:p xmlns:a="http://schemas.openxmlformats.org/drawingml/2006/main">
            <a:r>
              <a:t/>
            </a:r>
          </a:p>
          <a:p xmlns:a="http://schemas.openxmlformats.org/drawingml/2006/main">
            <a:r>
              <a:t>Prompt</a:t>
            </a:r>
          </a:p>
          <a:p xmlns:a="http://schemas.openxmlformats.org/drawingml/2006/main">
            <a:r>
              <a:t>- Reason: trace where movement begins and where the force could travel before proposing added material.</a:t>
            </a:r>
          </a:p>
          <a:p xmlns:a="http://schemas.openxmlformats.org/drawingml/2006/main">
            <a:r>
              <a:t/>
            </a:r>
          </a:p>
          <a:p xmlns:a="http://schemas.openxmlformats.org/drawingml/2006/main">
            <a:r>
              <a:t>Likely misconception</a:t>
            </a:r>
          </a:p>
          <a:p xmlns:a="http://schemas.openxmlformats.org/drawingml/2006/main">
            <a:r>
              <a:t>- What does a load path describe?</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Squareness, symmetry, joint quality, stability and efficient material use are connected. Accurate individual components can still assemble into a misaligned system. A useful photo or note identifies the feature, the check, the decision and what changed; it does not prove competence by itself.</a:t>
            </a:r>
          </a:p>
          <a:p xmlns:a="http://schemas.openxmlformats.org/drawingml/2006/main">
            <a:r>
              <a:t>- Use the visual to emphasise: Honest evidence includes problems and adjustments as well as successful stages.</a:t>
            </a:r>
          </a:p>
          <a:p xmlns:a="http://schemas.openxmlformats.org/drawingml/2006/main">
            <a:r>
              <a:t/>
            </a:r>
          </a:p>
          <a:p xmlns:a="http://schemas.openxmlformats.org/drawingml/2006/main">
            <a:r>
              <a:t>Prompt</a:t>
            </a:r>
          </a:p>
          <a:p xmlns:a="http://schemas.openxmlformats.org/drawingml/2006/main">
            <a:r>
              <a:t>- Evidence move: caption one checkpoint image so it explains what was checked and why it mattered.</a:t>
            </a:r>
          </a:p>
          <a:p xmlns:a="http://schemas.openxmlformats.org/drawingml/2006/main">
            <a:r>
              <a:t/>
            </a:r>
          </a:p>
          <a:p xmlns:a="http://schemas.openxmlformats.org/drawingml/2006/main">
            <a:r>
              <a:t>Likely misconception</a:t>
            </a:r>
          </a:p>
          <a:p xmlns:a="http://schemas.openxmlformats.org/drawingml/2006/main">
            <a:r>
              <a:t>- Why does extra material not automatically fix a frame?</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A frame looks neat but shifts sideways during a teacher-approved check. Explain possible load-path, alignment and joint causes, then state the evidence needed before one change.</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map component interactions and use quality checks during assembly.</a:t>
            </a:r>
          </a:p>
          <a:p xmlns:a="http://schemas.openxmlformats.org/drawingml/2006/main">
            <a:r>
              <a:t/>
            </a:r>
          </a:p>
          <a:p xmlns:a="http://schemas.openxmlformats.org/drawingml/2006/main">
            <a:r>
              <a:t>[Sources]</a:t>
            </a:r>
          </a:p>
          <a:p xmlns:a="http://schemas.openxmlformats.org/drawingml/2006/main">
            <a:r>
              <a:t>- Year 8 Catapult student theory draft v1.0, module-06, 24 Aug 2026.</a:t>
            </a:r>
          </a:p>
          <a:p xmlns:a="http://schemas.openxmlformats.org/drawingml/2006/main">
            <a:r>
              <a:t>- Catapult Booklet 2026.pdf, pp. 17 and 22–25; teacher sequence; theory draft module-06.</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ad697f26d148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e94461cb24da9" /><Relationship Type="http://schemas.openxmlformats.org/officeDocument/2006/relationships/slideLayout" Target="/ppt/slideLayouts/slideLayout1.xml" Id="R592dd1dc01c54b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dd1dc01c54b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dfde367c314f43" /><Relationship Type="http://schemas.openxmlformats.org/officeDocument/2006/relationships/image" Target="/ppt/media/image.png" Id="R78b05ed295524438" /><Relationship Type="http://schemas.openxmlformats.org/officeDocument/2006/relationships/notesSlide" Target="/ppt/notesSlides/notesSlide1.xml" Id="R72712362ef804c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58f2db47d34e26" /><Relationship Type="http://schemas.openxmlformats.org/officeDocument/2006/relationships/notesSlide" Target="/ppt/notesSlides/notesSlide2.xml" Id="Rab86bd8e2a8c41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15d466e3e04469" /><Relationship Type="http://schemas.openxmlformats.org/officeDocument/2006/relationships/notesSlide" Target="/ppt/notesSlides/notesSlide3.xml" Id="R8751d6f80d704f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3fc9fbb3bc49a5" /><Relationship Type="http://schemas.openxmlformats.org/officeDocument/2006/relationships/notesSlide" Target="/ppt/notesSlides/notesSlide4.xml" Id="Rf728fe855b5c4c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2574fcd3514a27" /><Relationship Type="http://schemas.openxmlformats.org/officeDocument/2006/relationships/notesSlide" Target="/ppt/notesSlides/notesSlide5.xml" Id="Rdfeb136632b54c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e0158379db4036" /><Relationship Type="http://schemas.openxmlformats.org/officeDocument/2006/relationships/notesSlide" Target="/ppt/notesSlides/notesSlide6.xml" Id="R7749ed57c2e149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c6d9fb8f614c5c" /><Relationship Type="http://schemas.openxmlformats.org/officeDocument/2006/relationships/notesSlide" Target="/ppt/notesSlides/notesSlide7.xml" Id="R5c121e43cbcb4e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b56290fbf447d8" /><Relationship Type="http://schemas.openxmlformats.org/officeDocument/2006/relationships/notesSlide" Target="/ppt/notesSlides/notesSlide8.xml" Id="R378b46f326d445a2"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8b05ed295524438"/>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F38270-3FE1-4894-9E78-1645485089F5}"/>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084F97-E8AE-4F33-A07C-366D07208423}"/>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06</a:t>
            </a:r>
          </a:p>
        </p:txBody>
      </p:sp>
      <p:sp>
        <p:nvSpPr>
          <p:cNvPr id="4" name="">
            <a:extLst xmlns:a="http://schemas.openxmlformats.org/drawingml/2006/main">
              <a:ext uri="{FF2B5EF4-FFF2-40B4-BE49-F238E27FC236}">
                <a16:creationId xmlns:a16="http://schemas.microsoft.com/office/drawing/2014/main" id="{11FFA7FA-397E-4E2F-A431-C4E55852183E}"/>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Producing the Base and Frame</a:t>
            </a:r>
          </a:p>
        </p:txBody>
      </p:sp>
      <p:sp>
        <p:nvSpPr>
          <p:cNvPr id="5" name="">
            <a:extLst xmlns:a="http://schemas.openxmlformats.org/drawingml/2006/main">
              <a:ext uri="{FF2B5EF4-FFF2-40B4-BE49-F238E27FC236}">
                <a16:creationId xmlns:a16="http://schemas.microsoft.com/office/drawing/2014/main" id="{F4FC86F0-EA63-460F-BB0C-12111C973056}"/>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Explain dependencies, load paths and evidence checkpoints during teacher-directed production.</a:t>
            </a:r>
          </a:p>
        </p:txBody>
      </p:sp>
      <p:sp>
        <p:nvSpPr>
          <p:cNvPr id="6" name="">
            <a:extLst xmlns:a="http://schemas.openxmlformats.org/drawingml/2006/main">
              <a:ext uri="{FF2B5EF4-FFF2-40B4-BE49-F238E27FC236}">
                <a16:creationId xmlns:a16="http://schemas.microsoft.com/office/drawing/2014/main" id="{459078EF-34C1-40E3-8D59-92EF10EBD963}"/>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1707390749"/>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675943D-B887-457F-8DC2-C8B2868541E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94D854-613B-4A18-814E-B4FEAC33AD92}"/>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06  /  BASE AND FRAME</a:t>
            </a:r>
          </a:p>
        </p:txBody>
      </p:sp>
      <p:sp>
        <p:nvSpPr>
          <p:cNvPr id="3" name="">
            <a:extLst xmlns:a="http://schemas.openxmlformats.org/drawingml/2006/main">
              <a:ext uri="{FF2B5EF4-FFF2-40B4-BE49-F238E27FC236}">
                <a16:creationId xmlns:a16="http://schemas.microsoft.com/office/drawing/2014/main" id="{14138C23-E887-451E-AA64-3F23499DFEA3}"/>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36D7FC16-7BE0-4FCE-9ACE-BD2380EA5A2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348AAC8B-54D0-48B0-A696-C8A815679595}"/>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06</a:t>
            </a:r>
          </a:p>
        </p:txBody>
      </p:sp>
      <p:sp>
        <p:nvSpPr>
          <p:cNvPr id="6" name="">
            <a:extLst xmlns:a="http://schemas.openxmlformats.org/drawingml/2006/main">
              <a:ext uri="{FF2B5EF4-FFF2-40B4-BE49-F238E27FC236}">
                <a16:creationId xmlns:a16="http://schemas.microsoft.com/office/drawing/2014/main" id="{4F55C326-516C-4E43-865E-FD8E16F1C80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03748FAD-C45D-4C52-B00D-B85579127A20}"/>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do planned checkpoints prevent one early issue from spreading through a system?</a:t>
            </a:r>
          </a:p>
        </p:txBody>
      </p:sp>
      <p:sp>
        <p:nvSpPr>
          <p:cNvPr id="8" name="">
            <a:extLst xmlns:a="http://schemas.openxmlformats.org/drawingml/2006/main">
              <a:ext uri="{FF2B5EF4-FFF2-40B4-BE49-F238E27FC236}">
                <a16:creationId xmlns:a16="http://schemas.microsoft.com/office/drawing/2014/main" id="{DCE1342F-F7A0-4950-BA65-97FB5D7C0D0F}"/>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CF6633-BC80-4C4F-83FB-0EB38288D929}"/>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854020-FDF3-41A6-9F76-0F525ED7548D}"/>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6BAA3C-9330-4004-8384-17049BD8537F}"/>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E23E6CE0-10DA-4A9A-ACC5-808EA3EC8337}"/>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Sequence around dependencies</a:t>
            </a:r>
          </a:p>
        </p:txBody>
      </p:sp>
      <p:sp>
        <p:nvSpPr>
          <p:cNvPr id="13" name="">
            <a:extLst xmlns:a="http://schemas.openxmlformats.org/drawingml/2006/main">
              <a:ext uri="{FF2B5EF4-FFF2-40B4-BE49-F238E27FC236}">
                <a16:creationId xmlns:a16="http://schemas.microsoft.com/office/drawing/2014/main" id="{18419EDD-4DF6-4363-AE9F-F39BE5F40D36}"/>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88AB29B-D6BB-4931-9EA0-6F2948DEAB04}"/>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AE83866F-E87D-42ED-BEC6-3A929ABF772C}"/>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Trace load paths</a:t>
            </a:r>
          </a:p>
        </p:txBody>
      </p:sp>
      <p:sp>
        <p:nvSpPr>
          <p:cNvPr id="16" name="">
            <a:extLst xmlns:a="http://schemas.openxmlformats.org/drawingml/2006/main">
              <a:ext uri="{FF2B5EF4-FFF2-40B4-BE49-F238E27FC236}">
                <a16:creationId xmlns:a16="http://schemas.microsoft.com/office/drawing/2014/main" id="{933FC633-72DE-433F-B62E-3CDB8547D1F6}"/>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1BC8A97-1900-4194-BF5B-AF398F4268B8}"/>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7770547C-D14A-4E6D-807E-9A347B194A99}"/>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Record quality evidence</a:t>
            </a:r>
          </a:p>
        </p:txBody>
      </p:sp>
      <p:sp>
        <p:nvSpPr>
          <p:cNvPr id="19" name="">
            <a:extLst xmlns:a="http://schemas.openxmlformats.org/drawingml/2006/main">
              <a:ext uri="{FF2B5EF4-FFF2-40B4-BE49-F238E27FC236}">
                <a16:creationId xmlns:a16="http://schemas.microsoft.com/office/drawing/2014/main" id="{F542EBDB-3296-4B2A-8828-70C68DA62F06}"/>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8196738B-13A7-456D-8BF1-91AC8288FCC4}"/>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3E553DAB-4E6B-49AA-B71B-2C3D74AFEAF8}"/>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What could depend on the frame being aligned before a later stage begins?</a:t>
            </a:r>
          </a:p>
        </p:txBody>
      </p:sp>
    </p:spTree>
    <p:extLst>
      <p:ext uri="{BB962C8B-B14F-4D97-AF65-F5344CB8AC3E}">
        <p14:creationId xmlns:p14="http://schemas.microsoft.com/office/powerpoint/2010/main" val="2363365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7CB3D8-A8CD-4192-956D-C099279E68E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0E2BAC-AA20-4EAD-B14F-8D2CA4B3865E}"/>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06  /  BASE AND FRAME</a:t>
            </a:r>
          </a:p>
        </p:txBody>
      </p:sp>
      <p:sp>
        <p:nvSpPr>
          <p:cNvPr id="3" name="">
            <a:extLst xmlns:a="http://schemas.openxmlformats.org/drawingml/2006/main">
              <a:ext uri="{FF2B5EF4-FFF2-40B4-BE49-F238E27FC236}">
                <a16:creationId xmlns:a16="http://schemas.microsoft.com/office/drawing/2014/main" id="{828949C9-8A20-4544-BC45-68510FC7A98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Dependencies determine a sensible sequence</a:t>
            </a:r>
          </a:p>
        </p:txBody>
      </p:sp>
      <p:sp>
        <p:nvSpPr>
          <p:cNvPr id="4" name="">
            <a:extLst xmlns:a="http://schemas.openxmlformats.org/drawingml/2006/main">
              <a:ext uri="{FF2B5EF4-FFF2-40B4-BE49-F238E27FC236}">
                <a16:creationId xmlns:a16="http://schemas.microsoft.com/office/drawing/2014/main" id="{5244DDEA-3B6F-4D42-92B6-BC7F6CE7159D}"/>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8097091C-B83D-4BB4-8941-132EE4755A75}"/>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06</a:t>
            </a:r>
          </a:p>
        </p:txBody>
      </p:sp>
      <p:sp>
        <p:nvSpPr>
          <p:cNvPr id="6" name="">
            <a:extLst xmlns:a="http://schemas.openxmlformats.org/drawingml/2006/main">
              <a:ext uri="{FF2B5EF4-FFF2-40B4-BE49-F238E27FC236}">
                <a16:creationId xmlns:a16="http://schemas.microsoft.com/office/drawing/2014/main" id="{389CB384-C313-48BD-A2AC-26D32C1C3C4E}"/>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F2674A97-02CD-413A-B141-6D851BFB9FA2}"/>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Some production stages rely on earlier information or checks. A later component cannot be confidently fitted when the related drawing or frame alignment is unresolved. A checkpoint is a planned pause to compare the work with approved design information before a dependent stage begins.</a:t>
            </a:r>
          </a:p>
        </p:txBody>
      </p:sp>
      <p:sp>
        <p:nvSpPr>
          <p:cNvPr id="8" name="">
            <a:extLst xmlns:a="http://schemas.openxmlformats.org/drawingml/2006/main">
              <a:ext uri="{FF2B5EF4-FFF2-40B4-BE49-F238E27FC236}">
                <a16:creationId xmlns:a16="http://schemas.microsoft.com/office/drawing/2014/main" id="{49A5CC44-466A-46FB-99B9-55D39659F007}"/>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75327AD5-757B-41F5-8205-DF6805BC1346}"/>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Application: name one later stage that depends on a frame checkpoint and explain the risk of skipping it.</a:t>
            </a:r>
          </a:p>
        </p:txBody>
      </p:sp>
      <p:sp>
        <p:nvSpPr>
          <p:cNvPr id="10" name="">
            <a:extLst xmlns:a="http://schemas.openxmlformats.org/drawingml/2006/main">
              <a:ext uri="{FF2B5EF4-FFF2-40B4-BE49-F238E27FC236}">
                <a16:creationId xmlns:a16="http://schemas.microsoft.com/office/drawing/2014/main" id="{CE408F2E-60F7-4937-B896-482E9FD208B9}"/>
              </a:ext>
            </a:extLst>
          </p:cNvPr>
          <p:cNvSpPr>
            <a:spLocks xmlns:a="http://schemas.openxmlformats.org/drawingml/2006/main" noGrp="1"/>
          </p:cNvSpPr>
          <p:nvPr/>
        </p:nvSpPr>
        <p:spPr>
          <a:xfrm xmlns:a="http://schemas.openxmlformats.org/drawingml/2006/main">
            <a:off x="7512050" y="2362200"/>
            <a:ext cx="3619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45EE09-7D40-4275-AEE9-E99F1168A67C}"/>
              </a:ext>
            </a:extLst>
          </p:cNvPr>
          <p:cNvSpPr>
            <a:spLocks xmlns:a="http://schemas.openxmlformats.org/drawingml/2006/main" noGrp="1"/>
          </p:cNvSpPr>
          <p:nvPr/>
        </p:nvSpPr>
        <p:spPr>
          <a:xfrm xmlns:a="http://schemas.openxmlformats.org/drawingml/2006/main">
            <a:off x="9271000" y="2362200"/>
            <a:ext cx="3619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02149F7-CF11-4CA4-A075-C8C37D47752F}"/>
              </a:ext>
            </a:extLst>
          </p:cNvPr>
          <p:cNvSpPr>
            <a:spLocks xmlns:a="http://schemas.openxmlformats.org/drawingml/2006/main" noGrp="1"/>
          </p:cNvSpPr>
          <p:nvPr/>
        </p:nvSpPr>
        <p:spPr>
          <a:xfrm xmlns:a="http://schemas.openxmlformats.org/drawingml/2006/main">
            <a:off x="6191250" y="1962150"/>
            <a:ext cx="1244600" cy="876300"/>
          </a:xfrm>
          <a:prstGeom xmlns:a="http://schemas.openxmlformats.org/drawingml/2006/main" prst="roundRect">
            <a:avLst>
              <a:gd name="adj" fmla="val 8696"/>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DESIGN INFORMATION</a:t>
            </a:r>
          </a:p>
        </p:txBody>
      </p:sp>
      <p:sp>
        <p:nvSpPr>
          <p:cNvPr id="13" name="">
            <a:extLst xmlns:a="http://schemas.openxmlformats.org/drawingml/2006/main">
              <a:ext uri="{FF2B5EF4-FFF2-40B4-BE49-F238E27FC236}">
                <a16:creationId xmlns:a16="http://schemas.microsoft.com/office/drawing/2014/main" id="{D1139D3E-A398-4BE7-991A-D95B1D54E437}"/>
              </a:ext>
            </a:extLst>
          </p:cNvPr>
          <p:cNvSpPr>
            <a:spLocks xmlns:a="http://schemas.openxmlformats.org/drawingml/2006/main" noGrp="1"/>
          </p:cNvSpPr>
          <p:nvPr/>
        </p:nvSpPr>
        <p:spPr>
          <a:xfrm xmlns:a="http://schemas.openxmlformats.org/drawingml/2006/main">
            <a:off x="7950200" y="2228850"/>
            <a:ext cx="12446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CHECKPOINT</a:t>
            </a:r>
          </a:p>
        </p:txBody>
      </p:sp>
      <p:sp>
        <p:nvSpPr>
          <p:cNvPr id="14" name="">
            <a:extLst xmlns:a="http://schemas.openxmlformats.org/drawingml/2006/main">
              <a:ext uri="{FF2B5EF4-FFF2-40B4-BE49-F238E27FC236}">
                <a16:creationId xmlns:a16="http://schemas.microsoft.com/office/drawing/2014/main" id="{C26F3FE8-0A4A-4373-A2AC-F0AF3B8C801B}"/>
              </a:ext>
            </a:extLst>
          </p:cNvPr>
          <p:cNvSpPr>
            <a:spLocks xmlns:a="http://schemas.openxmlformats.org/drawingml/2006/main" noGrp="1"/>
          </p:cNvSpPr>
          <p:nvPr/>
        </p:nvSpPr>
        <p:spPr>
          <a:xfrm xmlns:a="http://schemas.openxmlformats.org/drawingml/2006/main">
            <a:off x="9709150" y="2495550"/>
            <a:ext cx="1244600" cy="876300"/>
          </a:xfrm>
          <a:prstGeom xmlns:a="http://schemas.openxmlformats.org/drawingml/2006/main" prst="roundRect">
            <a:avLst>
              <a:gd name="adj" fmla="val 8696"/>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DEPENDENT STAGE</a:t>
            </a:r>
          </a:p>
        </p:txBody>
      </p:sp>
      <p:sp>
        <p:nvSpPr>
          <p:cNvPr id="15" name="">
            <a:extLst xmlns:a="http://schemas.openxmlformats.org/drawingml/2006/main">
              <a:ext uri="{FF2B5EF4-FFF2-40B4-BE49-F238E27FC236}">
                <a16:creationId xmlns:a16="http://schemas.microsoft.com/office/drawing/2014/main" id="{A956C532-C95A-4C37-BCA7-0CD54EFD8265}"/>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Find mismatches while they are still easier to explain and correct.</a:t>
            </a:r>
          </a:p>
        </p:txBody>
      </p:sp>
    </p:spTree>
    <p:extLst>
      <p:ext uri="{BB962C8B-B14F-4D97-AF65-F5344CB8AC3E}">
        <p14:creationId xmlns:p14="http://schemas.microsoft.com/office/powerpoint/2010/main" val="19436011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869309-DC17-4038-92C8-EC920E3DEC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11CFB0-1CCA-4E92-A871-99ECA25E8EEB}"/>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06  /  BASE AND FRAME</a:t>
            </a:r>
          </a:p>
        </p:txBody>
      </p:sp>
      <p:sp>
        <p:nvSpPr>
          <p:cNvPr id="3" name="">
            <a:extLst xmlns:a="http://schemas.openxmlformats.org/drawingml/2006/main">
              <a:ext uri="{FF2B5EF4-FFF2-40B4-BE49-F238E27FC236}">
                <a16:creationId xmlns:a16="http://schemas.microsoft.com/office/drawing/2014/main" id="{A87D58B2-061E-43FB-A9C2-632A61A9ECD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Structures carry forces along load paths</a:t>
            </a:r>
          </a:p>
        </p:txBody>
      </p:sp>
      <p:sp>
        <p:nvSpPr>
          <p:cNvPr id="4" name="">
            <a:extLst xmlns:a="http://schemas.openxmlformats.org/drawingml/2006/main">
              <a:ext uri="{FF2B5EF4-FFF2-40B4-BE49-F238E27FC236}">
                <a16:creationId xmlns:a16="http://schemas.microsoft.com/office/drawing/2014/main" id="{B4A19DC6-CD74-4588-86CA-D3871F72FF4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27359D12-B279-418A-B719-876628F84F15}"/>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06</a:t>
            </a:r>
          </a:p>
        </p:txBody>
      </p:sp>
      <p:sp>
        <p:nvSpPr>
          <p:cNvPr id="6" name="">
            <a:extLst xmlns:a="http://schemas.openxmlformats.org/drawingml/2006/main">
              <a:ext uri="{FF2B5EF4-FFF2-40B4-BE49-F238E27FC236}">
                <a16:creationId xmlns:a16="http://schemas.microsoft.com/office/drawing/2014/main" id="{3643DD9C-528B-43F2-9360-4EBA87EB1883}"/>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E9C1BEA5-97CD-456C-B2E2-8CFD4971CB9A}"/>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load path is the route a force follows through a structure towards its supports. Members may experience compression, tension, shear, torsion or bending. Bracing and shape matter only when they suit the actual path, joints and material—not because one shape is automatically strong everywhere.</a:t>
            </a:r>
          </a:p>
        </p:txBody>
      </p:sp>
      <p:sp>
        <p:nvSpPr>
          <p:cNvPr id="8" name="">
            <a:extLst xmlns:a="http://schemas.openxmlformats.org/drawingml/2006/main">
              <a:ext uri="{FF2B5EF4-FFF2-40B4-BE49-F238E27FC236}">
                <a16:creationId xmlns:a16="http://schemas.microsoft.com/office/drawing/2014/main" id="{7C17C07F-7DE9-4369-905B-9B6C3439387B}"/>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FED3642F-6D62-47C5-9353-8D816DBF944A}"/>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Reason: trace where movement begins and where the force could travel before proposing added material.</a:t>
            </a:r>
          </a:p>
        </p:txBody>
      </p:sp>
      <p:sp>
        <p:nvSpPr>
          <p:cNvPr id="10" name="">
            <a:extLst xmlns:a="http://schemas.openxmlformats.org/drawingml/2006/main">
              <a:ext uri="{FF2B5EF4-FFF2-40B4-BE49-F238E27FC236}">
                <a16:creationId xmlns:a16="http://schemas.microsoft.com/office/drawing/2014/main" id="{087A8477-CAF0-4504-B5A5-3C422102F5E6}"/>
              </a:ext>
            </a:extLst>
          </p:cNvPr>
          <p:cNvSpPr>
            <a:spLocks xmlns:a="http://schemas.openxmlformats.org/drawingml/2006/main" noGrp="1"/>
          </p:cNvSpPr>
          <p:nvPr/>
        </p:nvSpPr>
        <p:spPr>
          <a:xfrm xmlns:a="http://schemas.openxmlformats.org/drawingml/2006/main">
            <a:off x="207645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63E369-B599-419B-9F94-113509ABA34D}"/>
              </a:ext>
            </a:extLst>
          </p:cNvPr>
          <p:cNvSpPr>
            <a:spLocks xmlns:a="http://schemas.openxmlformats.org/drawingml/2006/main" noGrp="1"/>
          </p:cNvSpPr>
          <p:nvPr/>
        </p:nvSpPr>
        <p:spPr>
          <a:xfrm xmlns:a="http://schemas.openxmlformats.org/drawingml/2006/main">
            <a:off x="379095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03923A-92BA-442E-8805-62333E3116FB}"/>
              </a:ext>
            </a:extLst>
          </p:cNvPr>
          <p:cNvSpPr>
            <a:spLocks xmlns:a="http://schemas.openxmlformats.org/drawingml/2006/main" noGrp="1"/>
          </p:cNvSpPr>
          <p:nvPr/>
        </p:nvSpPr>
        <p:spPr>
          <a:xfrm xmlns:a="http://schemas.openxmlformats.org/drawingml/2006/main">
            <a:off x="685800" y="2076450"/>
            <a:ext cx="1333500" cy="838200"/>
          </a:xfrm>
          <a:prstGeom xmlns:a="http://schemas.openxmlformats.org/drawingml/2006/main" prst="roundRect">
            <a:avLst>
              <a:gd name="adj" fmla="val 909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APPLIED FORCE</a:t>
            </a:r>
          </a:p>
        </p:txBody>
      </p:sp>
      <p:sp>
        <p:nvSpPr>
          <p:cNvPr id="13" name="">
            <a:extLst xmlns:a="http://schemas.openxmlformats.org/drawingml/2006/main">
              <a:ext uri="{FF2B5EF4-FFF2-40B4-BE49-F238E27FC236}">
                <a16:creationId xmlns:a16="http://schemas.microsoft.com/office/drawing/2014/main" id="{979E2790-3D12-42B3-B329-402FAE26C545}"/>
              </a:ext>
            </a:extLst>
          </p:cNvPr>
          <p:cNvSpPr>
            <a:spLocks xmlns:a="http://schemas.openxmlformats.org/drawingml/2006/main" noGrp="1"/>
          </p:cNvSpPr>
          <p:nvPr/>
        </p:nvSpPr>
        <p:spPr>
          <a:xfrm xmlns:a="http://schemas.openxmlformats.org/drawingml/2006/main">
            <a:off x="240030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MEMBERS + JOINTS</a:t>
            </a:r>
          </a:p>
        </p:txBody>
      </p:sp>
      <p:sp>
        <p:nvSpPr>
          <p:cNvPr id="14" name="">
            <a:extLst xmlns:a="http://schemas.openxmlformats.org/drawingml/2006/main">
              <a:ext uri="{FF2B5EF4-FFF2-40B4-BE49-F238E27FC236}">
                <a16:creationId xmlns:a16="http://schemas.microsoft.com/office/drawing/2014/main" id="{4492A114-ACC3-424C-88C7-08DBCCA97CBF}"/>
              </a:ext>
            </a:extLst>
          </p:cNvPr>
          <p:cNvSpPr>
            <a:spLocks xmlns:a="http://schemas.openxmlformats.org/drawingml/2006/main" noGrp="1"/>
          </p:cNvSpPr>
          <p:nvPr/>
        </p:nvSpPr>
        <p:spPr>
          <a:xfrm xmlns:a="http://schemas.openxmlformats.org/drawingml/2006/main">
            <a:off x="411480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SUPPORTS</a:t>
            </a:r>
          </a:p>
        </p:txBody>
      </p:sp>
      <p:sp>
        <p:nvSpPr>
          <p:cNvPr id="15" name="">
            <a:extLst xmlns:a="http://schemas.openxmlformats.org/drawingml/2006/main">
              <a:ext uri="{FF2B5EF4-FFF2-40B4-BE49-F238E27FC236}">
                <a16:creationId xmlns:a16="http://schemas.microsoft.com/office/drawing/2014/main" id="{9EC3C6E6-6133-437B-BC70-2522BC53F822}"/>
              </a:ext>
            </a:extLst>
          </p:cNvPr>
          <p:cNvSpPr>
            <a:spLocks xmlns:a="http://schemas.openxmlformats.org/drawingml/2006/main" noGrp="1"/>
          </p:cNvSpPr>
          <p:nvPr/>
        </p:nvSpPr>
        <p:spPr>
          <a:xfrm xmlns:a="http://schemas.openxmlformats.org/drawingml/2006/main">
            <a:off x="68580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A useful structural change responds to the real load path rather than adding material at random.</a:t>
            </a:r>
          </a:p>
        </p:txBody>
      </p:sp>
    </p:spTree>
    <p:extLst>
      <p:ext uri="{BB962C8B-B14F-4D97-AF65-F5344CB8AC3E}">
        <p14:creationId xmlns:p14="http://schemas.microsoft.com/office/powerpoint/2010/main" val="4169097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41A191-A6EE-446A-8847-C2600D21C16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01A47F-AA29-4946-99E9-EF7B0010B966}"/>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06  /  BASE AND FRAME</a:t>
            </a:r>
          </a:p>
        </p:txBody>
      </p:sp>
      <p:sp>
        <p:nvSpPr>
          <p:cNvPr id="3" name="">
            <a:extLst xmlns:a="http://schemas.openxmlformats.org/drawingml/2006/main">
              <a:ext uri="{FF2B5EF4-FFF2-40B4-BE49-F238E27FC236}">
                <a16:creationId xmlns:a16="http://schemas.microsoft.com/office/drawing/2014/main" id="{D9DCC7C8-442A-451A-97C8-11E5F44EC008}"/>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Quality evidence should show relationships between parts</a:t>
            </a:r>
          </a:p>
        </p:txBody>
      </p:sp>
      <p:sp>
        <p:nvSpPr>
          <p:cNvPr id="4" name="">
            <a:extLst xmlns:a="http://schemas.openxmlformats.org/drawingml/2006/main">
              <a:ext uri="{FF2B5EF4-FFF2-40B4-BE49-F238E27FC236}">
                <a16:creationId xmlns:a16="http://schemas.microsoft.com/office/drawing/2014/main" id="{DE6AD6C5-182F-482A-80B4-2D7F0DA49AEB}"/>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A8FF19A-2250-4860-B4AD-ED0C4B6FE0AD}"/>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06</a:t>
            </a:r>
          </a:p>
        </p:txBody>
      </p:sp>
      <p:sp>
        <p:nvSpPr>
          <p:cNvPr id="6" name="">
            <a:extLst xmlns:a="http://schemas.openxmlformats.org/drawingml/2006/main">
              <a:ext uri="{FF2B5EF4-FFF2-40B4-BE49-F238E27FC236}">
                <a16:creationId xmlns:a16="http://schemas.microsoft.com/office/drawing/2014/main" id="{799E2503-4731-408C-8DCD-C11B751655F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2CCB326D-475E-40FC-AA04-59128BA64BE1}"/>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Squareness, symmetry, joint quality, stability and efficient material use are connected. Accurate individual components can still assemble into a misaligned system. A useful photo or note identifies the feature, the check, the decision and what changed; it does not prove competence by itself.</a:t>
            </a:r>
          </a:p>
        </p:txBody>
      </p:sp>
      <p:sp>
        <p:nvSpPr>
          <p:cNvPr id="8" name="">
            <a:extLst xmlns:a="http://schemas.openxmlformats.org/drawingml/2006/main">
              <a:ext uri="{FF2B5EF4-FFF2-40B4-BE49-F238E27FC236}">
                <a16:creationId xmlns:a16="http://schemas.microsoft.com/office/drawing/2014/main" id="{0B3B8E5E-E173-466B-9462-42B6C2FEF3D6}"/>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745A09FF-2A0C-4C6A-8F19-6373F640F72F}"/>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Evidence move: caption one checkpoint image so it explains what was checked and why it mattered.</a:t>
            </a:r>
          </a:p>
        </p:txBody>
      </p:sp>
      <p:sp>
        <p:nvSpPr>
          <p:cNvPr id="10" name="">
            <a:extLst xmlns:a="http://schemas.openxmlformats.org/drawingml/2006/main">
              <a:ext uri="{FF2B5EF4-FFF2-40B4-BE49-F238E27FC236}">
                <a16:creationId xmlns:a16="http://schemas.microsoft.com/office/drawing/2014/main" id="{56D7CC7E-F9E6-440C-9C31-41E19DFFA729}"/>
              </a:ext>
            </a:extLst>
          </p:cNvPr>
          <p:cNvSpPr>
            <a:spLocks xmlns:a="http://schemas.openxmlformats.org/drawingml/2006/main" noGrp="1"/>
          </p:cNvSpPr>
          <p:nvPr/>
        </p:nvSpPr>
        <p:spPr>
          <a:xfrm xmlns:a="http://schemas.openxmlformats.org/drawingml/2006/main" rot="2280000">
            <a:off x="93345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AE74A0-9936-4AD0-8F43-4EAB296656EA}"/>
              </a:ext>
            </a:extLst>
          </p:cNvPr>
          <p:cNvSpPr>
            <a:spLocks xmlns:a="http://schemas.openxmlformats.org/drawingml/2006/main" noGrp="1"/>
          </p:cNvSpPr>
          <p:nvPr/>
        </p:nvSpPr>
        <p:spPr>
          <a:xfrm xmlns:a="http://schemas.openxmlformats.org/drawingml/2006/main" rot="8520000">
            <a:off x="93345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9EF714-CE93-4906-AB5E-8E0AAE67337B}"/>
              </a:ext>
            </a:extLst>
          </p:cNvPr>
          <p:cNvSpPr>
            <a:spLocks xmlns:a="http://schemas.openxmlformats.org/drawingml/2006/main" noGrp="1"/>
          </p:cNvSpPr>
          <p:nvPr/>
        </p:nvSpPr>
        <p:spPr>
          <a:xfrm xmlns:a="http://schemas.openxmlformats.org/drawingml/2006/main" rot="13080000">
            <a:off x="69342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854528D-AE09-4988-8958-667E5E5BF4D5}"/>
              </a:ext>
            </a:extLst>
          </p:cNvPr>
          <p:cNvSpPr>
            <a:spLocks xmlns:a="http://schemas.openxmlformats.org/drawingml/2006/main" noGrp="1"/>
          </p:cNvSpPr>
          <p:nvPr/>
        </p:nvSpPr>
        <p:spPr>
          <a:xfrm xmlns:a="http://schemas.openxmlformats.org/drawingml/2006/main" rot="19320000">
            <a:off x="69342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335486-0E49-47F8-BF8F-C78AEECEE9B6}"/>
              </a:ext>
            </a:extLst>
          </p:cNvPr>
          <p:cNvSpPr>
            <a:spLocks xmlns:a="http://schemas.openxmlformats.org/drawingml/2006/main" noGrp="1"/>
          </p:cNvSpPr>
          <p:nvPr/>
        </p:nvSpPr>
        <p:spPr>
          <a:xfrm xmlns:a="http://schemas.openxmlformats.org/drawingml/2006/main">
            <a:off x="7886700" y="1409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CHECK</a:t>
            </a:r>
          </a:p>
        </p:txBody>
      </p:sp>
      <p:sp>
        <p:nvSpPr>
          <p:cNvPr id="15" name="">
            <a:extLst xmlns:a="http://schemas.openxmlformats.org/drawingml/2006/main">
              <a:ext uri="{FF2B5EF4-FFF2-40B4-BE49-F238E27FC236}">
                <a16:creationId xmlns:a16="http://schemas.microsoft.com/office/drawing/2014/main" id="{1D4A2F61-3216-4354-9A3C-F73FE7F36A12}"/>
              </a:ext>
            </a:extLst>
          </p:cNvPr>
          <p:cNvSpPr>
            <a:spLocks xmlns:a="http://schemas.openxmlformats.org/drawingml/2006/main" noGrp="1"/>
          </p:cNvSpPr>
          <p:nvPr/>
        </p:nvSpPr>
        <p:spPr>
          <a:xfrm xmlns:a="http://schemas.openxmlformats.org/drawingml/2006/main">
            <a:off x="96393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OBSERVE</a:t>
            </a:r>
          </a:p>
        </p:txBody>
      </p:sp>
      <p:sp>
        <p:nvSpPr>
          <p:cNvPr id="16" name="">
            <a:extLst xmlns:a="http://schemas.openxmlformats.org/drawingml/2006/main">
              <a:ext uri="{FF2B5EF4-FFF2-40B4-BE49-F238E27FC236}">
                <a16:creationId xmlns:a16="http://schemas.microsoft.com/office/drawing/2014/main" id="{BEB47B80-E0ED-46C7-B951-E3441DC4EE4C}"/>
              </a:ext>
            </a:extLst>
          </p:cNvPr>
          <p:cNvSpPr>
            <a:spLocks xmlns:a="http://schemas.openxmlformats.org/drawingml/2006/main" noGrp="1"/>
          </p:cNvSpPr>
          <p:nvPr/>
        </p:nvSpPr>
        <p:spPr>
          <a:xfrm xmlns:a="http://schemas.openxmlformats.org/drawingml/2006/main">
            <a:off x="7886700" y="3314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DECIDE</a:t>
            </a:r>
          </a:p>
        </p:txBody>
      </p:sp>
      <p:sp>
        <p:nvSpPr>
          <p:cNvPr id="17" name="">
            <a:extLst xmlns:a="http://schemas.openxmlformats.org/drawingml/2006/main">
              <a:ext uri="{FF2B5EF4-FFF2-40B4-BE49-F238E27FC236}">
                <a16:creationId xmlns:a16="http://schemas.microsoft.com/office/drawing/2014/main" id="{E4BA185B-8547-441E-B149-C94FE642F110}"/>
              </a:ext>
            </a:extLst>
          </p:cNvPr>
          <p:cNvSpPr>
            <a:spLocks xmlns:a="http://schemas.openxmlformats.org/drawingml/2006/main" noGrp="1"/>
          </p:cNvSpPr>
          <p:nvPr/>
        </p:nvSpPr>
        <p:spPr>
          <a:xfrm xmlns:a="http://schemas.openxmlformats.org/drawingml/2006/main">
            <a:off x="61341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RECORD</a:t>
            </a:r>
          </a:p>
        </p:txBody>
      </p:sp>
      <p:sp>
        <p:nvSpPr>
          <p:cNvPr id="18" name="">
            <a:extLst xmlns:a="http://schemas.openxmlformats.org/drawingml/2006/main">
              <a:ext uri="{FF2B5EF4-FFF2-40B4-BE49-F238E27FC236}">
                <a16:creationId xmlns:a16="http://schemas.microsoft.com/office/drawing/2014/main" id="{F72E6A48-13B2-4F83-9423-926530D185C0}"/>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Honest evidence includes problems and adjustments as well as successful stages.</a:t>
            </a:r>
          </a:p>
        </p:txBody>
      </p:sp>
    </p:spTree>
    <p:extLst>
      <p:ext uri="{BB962C8B-B14F-4D97-AF65-F5344CB8AC3E}">
        <p14:creationId xmlns:p14="http://schemas.microsoft.com/office/powerpoint/2010/main" val="554297235"/>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8D8E704-AC05-47AF-BA2C-48B0A5DE9C1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6385B2-E68E-4FDE-AB20-BADCC3C5ACB3}"/>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06  /  BASE AND FRAME</a:t>
            </a:r>
          </a:p>
        </p:txBody>
      </p:sp>
      <p:sp>
        <p:nvSpPr>
          <p:cNvPr id="3" name="">
            <a:extLst xmlns:a="http://schemas.openxmlformats.org/drawingml/2006/main">
              <a:ext uri="{FF2B5EF4-FFF2-40B4-BE49-F238E27FC236}">
                <a16:creationId xmlns:a16="http://schemas.microsoft.com/office/drawing/2014/main" id="{E2A55154-9387-4677-A415-DAB75B3E5D9C}"/>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A10B5DBA-2043-4623-A5C0-298546B1808A}"/>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DD87B868-7D47-4888-81FA-48341377A47B}"/>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06</a:t>
            </a:r>
          </a:p>
        </p:txBody>
      </p:sp>
      <p:sp>
        <p:nvSpPr>
          <p:cNvPr id="6" name="">
            <a:extLst xmlns:a="http://schemas.openxmlformats.org/drawingml/2006/main">
              <a:ext uri="{FF2B5EF4-FFF2-40B4-BE49-F238E27FC236}">
                <a16:creationId xmlns:a16="http://schemas.microsoft.com/office/drawing/2014/main" id="{DCFA359E-6E71-4B85-9A8B-6F69B9A52768}"/>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921216CD-C0E0-4042-A1C4-F721CE46C33E}"/>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C04A737B-87E2-4CC3-B481-A3216973D7AF}"/>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EE972839-0E4D-47FE-9B96-ADF43FEF866A}"/>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a production dependency?</a:t>
            </a:r>
          </a:p>
        </p:txBody>
      </p:sp>
      <p:sp>
        <p:nvSpPr>
          <p:cNvPr id="10" name="">
            <a:extLst xmlns:a="http://schemas.openxmlformats.org/drawingml/2006/main">
              <a:ext uri="{FF2B5EF4-FFF2-40B4-BE49-F238E27FC236}">
                <a16:creationId xmlns:a16="http://schemas.microsoft.com/office/drawing/2014/main" id="{AC3643AC-7281-467C-8C72-001DC98AAB1E}"/>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1BC58ACD-0F15-4871-9497-19331D795E81}"/>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BBCE0A57-3C9D-4F4F-AA97-6F7741BDD9F6}"/>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does a load path describe?</a:t>
            </a:r>
          </a:p>
        </p:txBody>
      </p:sp>
      <p:sp>
        <p:nvSpPr>
          <p:cNvPr id="13" name="">
            <a:extLst xmlns:a="http://schemas.openxmlformats.org/drawingml/2006/main">
              <a:ext uri="{FF2B5EF4-FFF2-40B4-BE49-F238E27FC236}">
                <a16:creationId xmlns:a16="http://schemas.microsoft.com/office/drawing/2014/main" id="{C626513B-A83E-4EF7-B546-E1BD0AEDEDEC}"/>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A6D12968-4CF0-4FC8-893D-4581D3254EEC}"/>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CC49B174-5C73-4F36-BB74-D207BDBD9A84}"/>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does extra material not automatically fix a frame?</a:t>
            </a:r>
          </a:p>
        </p:txBody>
      </p:sp>
      <p:sp>
        <p:nvSpPr>
          <p:cNvPr id="16" name="">
            <a:extLst xmlns:a="http://schemas.openxmlformats.org/drawingml/2006/main">
              <a:ext uri="{FF2B5EF4-FFF2-40B4-BE49-F238E27FC236}">
                <a16:creationId xmlns:a16="http://schemas.microsoft.com/office/drawing/2014/main" id="{500C8445-EA3D-4FBE-9337-4B5BAE5AC518}"/>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878C4F33-DA92-40E9-BD63-38A376943716}"/>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62CAEF61-467F-40B5-A0B7-20846FC2FDB9}"/>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production photograph useful evidence?</a:t>
            </a:r>
          </a:p>
        </p:txBody>
      </p:sp>
    </p:spTree>
    <p:extLst>
      <p:ext uri="{BB962C8B-B14F-4D97-AF65-F5344CB8AC3E}">
        <p14:creationId xmlns:p14="http://schemas.microsoft.com/office/powerpoint/2010/main" val="488626249"/>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2823C2D-447C-47A9-9F16-22426B05F6E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C1696A-C7C3-4321-9C81-7457B68C6A7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06  /  BASE AND FRAME</a:t>
            </a:r>
          </a:p>
        </p:txBody>
      </p:sp>
      <p:sp>
        <p:nvSpPr>
          <p:cNvPr id="3" name="">
            <a:extLst xmlns:a="http://schemas.openxmlformats.org/drawingml/2006/main">
              <a:ext uri="{FF2B5EF4-FFF2-40B4-BE49-F238E27FC236}">
                <a16:creationId xmlns:a16="http://schemas.microsoft.com/office/drawing/2014/main" id="{D710E134-209C-459E-9451-DA39AD05640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5AF29486-4BD0-45D8-BD28-0303433A6E4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9D6C8360-A1C8-4127-B662-C90375EBAA9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06</a:t>
            </a:r>
          </a:p>
        </p:txBody>
      </p:sp>
      <p:sp>
        <p:nvSpPr>
          <p:cNvPr id="6" name="">
            <a:extLst xmlns:a="http://schemas.openxmlformats.org/drawingml/2006/main">
              <a:ext uri="{FF2B5EF4-FFF2-40B4-BE49-F238E27FC236}">
                <a16:creationId xmlns:a16="http://schemas.microsoft.com/office/drawing/2014/main" id="{BA930CE2-E71B-441D-ABA6-C611722B849F}"/>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AB696D2F-7B73-4F76-906A-02A003CDCBFA}"/>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8E5532CF-95D1-4F1E-BB41-923ED55D4B7B}"/>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A frame looks neat but shifts sideways during a teacher-approved check. Explain possible load-path, alignment and joint causes, then state the evidence needed before one change.</a:t>
            </a:r>
          </a:p>
        </p:txBody>
      </p:sp>
      <p:sp>
        <p:nvSpPr>
          <p:cNvPr id="9" name="">
            <a:extLst xmlns:a="http://schemas.openxmlformats.org/drawingml/2006/main">
              <a:ext uri="{FF2B5EF4-FFF2-40B4-BE49-F238E27FC236}">
                <a16:creationId xmlns:a16="http://schemas.microsoft.com/office/drawing/2014/main" id="{6C16AC95-53A9-4ED4-AD57-0E8FB247B3EB}"/>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3EA268-7D0B-4021-AD46-11DA438C3928}"/>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28FF7B6-7146-470C-91B3-817AFC7AA0A4}"/>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87A59E-8638-41C4-B3F4-5F9A63FDFF4E}"/>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8BEEE75F-3EAB-485B-8C16-47D4269E1210}"/>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CBFF7ADA-D3A3-4228-A35E-B12CD9444D47}"/>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6C3FA6E5-1CF7-4E62-8057-9C852FFCE051}"/>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8C7CD1B1-1BE8-4328-93E4-27C84682876B}"/>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B9ABC4BD-264E-4B55-A0DC-B44CF1B6FC8E}"/>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B7C3F3A2-00B8-4BAB-8EE2-608F6FAE4FC5}"/>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The neat appearance does not prove … The movement may begin at … Evidence about … would help distinguish … before changing …</a:t>
            </a:r>
          </a:p>
        </p:txBody>
      </p:sp>
    </p:spTree>
    <p:extLst>
      <p:ext uri="{BB962C8B-B14F-4D97-AF65-F5344CB8AC3E}">
        <p14:creationId xmlns:p14="http://schemas.microsoft.com/office/powerpoint/2010/main" val="1693491121"/>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A5FB69-3588-4AB2-B021-35DFB372B131}"/>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094EC20E-EBD9-4B9F-83C0-7929B0DC5D20}"/>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E162A7AF-4F02-4AB6-9B9E-6EF9883C79A4}"/>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5549F5-FF52-4E30-BF84-9EF24B79F87B}"/>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dependency I can plan for …</a:t>
            </a:r>
          </a:p>
        </p:txBody>
      </p:sp>
      <p:sp>
        <p:nvSpPr>
          <p:cNvPr id="5" name="">
            <a:extLst xmlns:a="http://schemas.openxmlformats.org/drawingml/2006/main">
              <a:ext uri="{FF2B5EF4-FFF2-40B4-BE49-F238E27FC236}">
                <a16:creationId xmlns:a16="http://schemas.microsoft.com/office/drawing/2014/main" id="{4F598C6B-7DF6-4041-B545-2444FF171E7A}"/>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14AD0D-6FF2-440E-B5DD-4EE41AD977D5}"/>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load path I can trace …</a:t>
            </a:r>
          </a:p>
        </p:txBody>
      </p:sp>
      <p:sp>
        <p:nvSpPr>
          <p:cNvPr id="7" name="">
            <a:extLst xmlns:a="http://schemas.openxmlformats.org/drawingml/2006/main">
              <a:ext uri="{FF2B5EF4-FFF2-40B4-BE49-F238E27FC236}">
                <a16:creationId xmlns:a16="http://schemas.microsoft.com/office/drawing/2014/main" id="{09480476-8123-408B-8072-C0D305E8EB4D}"/>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7BE13E-AB85-415C-A8EB-1FD7FAE1D845}"/>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checkpoint record I can improve …</a:t>
            </a:r>
          </a:p>
        </p:txBody>
      </p:sp>
      <p:sp>
        <p:nvSpPr>
          <p:cNvPr id="9" name="">
            <a:extLst xmlns:a="http://schemas.openxmlformats.org/drawingml/2006/main">
              <a:ext uri="{FF2B5EF4-FFF2-40B4-BE49-F238E27FC236}">
                <a16:creationId xmlns:a16="http://schemas.microsoft.com/office/drawing/2014/main" id="{DF694952-C010-41F9-9D9A-129EF3C7204A}"/>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DA921F-81D5-4063-84D0-D592F143A8C2}"/>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81153CE2-B679-4DE9-BF18-94B027D7E0F2}"/>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AC09C4B8-63E5-4702-A897-BB68350F7FE1}"/>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map component interactions and use quality checks during assembly.</a:t>
            </a:r>
          </a:p>
        </p:txBody>
      </p:sp>
      <p:sp>
        <p:nvSpPr>
          <p:cNvPr id="13" name="">
            <a:extLst xmlns:a="http://schemas.openxmlformats.org/drawingml/2006/main">
              <a:ext uri="{FF2B5EF4-FFF2-40B4-BE49-F238E27FC236}">
                <a16:creationId xmlns:a16="http://schemas.microsoft.com/office/drawing/2014/main" id="{8EC891ED-108C-4055-A330-CA18811A9FA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F1514FE2-DE6B-4869-B372-9306FF48852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06</a:t>
            </a:r>
          </a:p>
        </p:txBody>
      </p:sp>
      <p:sp>
        <p:nvSpPr>
          <p:cNvPr id="15" name="">
            <a:extLst xmlns:a="http://schemas.openxmlformats.org/drawingml/2006/main">
              <a:ext uri="{FF2B5EF4-FFF2-40B4-BE49-F238E27FC236}">
                <a16:creationId xmlns:a16="http://schemas.microsoft.com/office/drawing/2014/main" id="{24C8E413-5C39-4F74-918F-8D1F231E36F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403503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2026-08-24T03:19:40.7420000Z</dcterms:created>
  <dcterms:modified xsi:type="dcterms:W3CDTF">2026-08-24T03:19:40.7420000Z</dcterms:modified>
</coreProperties>
</file>