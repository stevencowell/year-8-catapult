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fa45452c7474de4" /><Relationship Type="http://schemas.openxmlformats.org/officeDocument/2006/relationships/extended-properties" Target="/docProps/app.xml" Id="R8d8f8c51c5ab42c3" /><Relationship Type="http://schemas.openxmlformats.org/officeDocument/2006/relationships/officeDocument" Target="/ppt/presentation.xml" Id="R21ea4840f63242a1" /></Relationships>
</file>

<file path=ppt/presentation.xml><?xml version="1.0" encoding="utf-8"?>
<p:presentation xmlns:p="http://schemas.openxmlformats.org/presentationml/2006/main">
  <p:sldMasterIdLst>
    <p:sldMasterId xmlns:r="http://schemas.openxmlformats.org/officeDocument/2006/relationships" id="2147483648" r:id="R28da9709998241a7"/>
  </p:sldMasterIdLst>
  <p:notesMasterIdLst>
    <p:notesMasterId xmlns:r="http://schemas.openxmlformats.org/officeDocument/2006/relationships" r:id="R1cedef31d50a4674"/>
  </p:notesMasterIdLst>
  <p:sldIdLst>
    <p:sldId xmlns:r="http://schemas.openxmlformats.org/officeDocument/2006/relationships" id="256" r:id="Re5be729039e14d6f"/>
    <p:sldId xmlns:r="http://schemas.openxmlformats.org/officeDocument/2006/relationships" id="257" r:id="R3dd38c45ea6b425f"/>
    <p:sldId xmlns:r="http://schemas.openxmlformats.org/officeDocument/2006/relationships" id="258" r:id="Rb0aba1edeaf141e5"/>
    <p:sldId xmlns:r="http://schemas.openxmlformats.org/officeDocument/2006/relationships" id="259" r:id="R4c3d05473ba34f35"/>
    <p:sldId xmlns:r="http://schemas.openxmlformats.org/officeDocument/2006/relationships" id="260" r:id="Rb83118b786214e97"/>
    <p:sldId xmlns:r="http://schemas.openxmlformats.org/officeDocument/2006/relationships" id="261" r:id="R58477061fce04423"/>
    <p:sldId xmlns:r="http://schemas.openxmlformats.org/officeDocument/2006/relationships" id="262" r:id="R3ec11011a1824d7e"/>
    <p:sldId xmlns:r="http://schemas.openxmlformats.org/officeDocument/2006/relationships" id="263" r:id="Rab88b0dbef3842d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52a78bccb9b4608" /><Relationship Type="http://schemas.openxmlformats.org/officeDocument/2006/relationships/slideMaster" Target="/ppt/slideMasters/slideMaster1.xml" Id="R28da9709998241a7" /><Relationship Type="http://schemas.openxmlformats.org/officeDocument/2006/relationships/notesMaster" Target="/ppt/notesMasters/notesMaster1.xml" Id="R1cedef31d50a4674" /><Relationship Type="http://schemas.openxmlformats.org/officeDocument/2006/relationships/presProps" Target="/ppt/presProps.xml" Id="R46f6ef1a4b57498e" /><Relationship Type="http://schemas.openxmlformats.org/officeDocument/2006/relationships/tableStyles" Target="/ppt/tableStyles.xml" Id="R01dd2ff134a84524" /><Relationship Type="http://schemas.openxmlformats.org/officeDocument/2006/relationships/slide" Target="/ppt/slides/slide1.xml" Id="Re5be729039e14d6f" /><Relationship Type="http://schemas.openxmlformats.org/officeDocument/2006/relationships/slide" Target="/ppt/slides/slide2.xml" Id="R3dd38c45ea6b425f" /><Relationship Type="http://schemas.openxmlformats.org/officeDocument/2006/relationships/slide" Target="/ppt/slides/slide3.xml" Id="Rb0aba1edeaf141e5" /><Relationship Type="http://schemas.openxmlformats.org/officeDocument/2006/relationships/slide" Target="/ppt/slides/slide4.xml" Id="R4c3d05473ba34f35" /><Relationship Type="http://schemas.openxmlformats.org/officeDocument/2006/relationships/slide" Target="/ppt/slides/slide5.xml" Id="Rb83118b786214e97" /><Relationship Type="http://schemas.openxmlformats.org/officeDocument/2006/relationships/slide" Target="/ppt/slides/slide6.xml" Id="R58477061fce04423" /><Relationship Type="http://schemas.openxmlformats.org/officeDocument/2006/relationships/slide" Target="/ppt/slides/slide7.xml" Id="R3ec11011a1824d7e" /><Relationship Type="http://schemas.openxmlformats.org/officeDocument/2006/relationships/slide" Target="/ppt/slides/slide8.xml" Id="Rab88b0dbef3842d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187960f73d64b1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ede1378e72425a" /><Relationship Type="http://schemas.openxmlformats.org/officeDocument/2006/relationships/notesMaster" Target="/ppt/notesMasters/notesMaster1.xml" Id="Rd226313798a248a2"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98ea8a31eb4bc7" /><Relationship Type="http://schemas.openxmlformats.org/officeDocument/2006/relationships/notesMaster" Target="/ppt/notesMasters/notesMaster1.xml" Id="R67ea7992dece4e1c" /></Relationships>
</file>

<file path=ppt/notesSlides/_rels/notesSlide3.xml.rels>&#65279;<?xml version="1.0" encoding="utf-8"?><Relationships xmlns="http://schemas.openxmlformats.org/package/2006/relationships"><Relationship Type="http://schemas.openxmlformats.org/officeDocument/2006/relationships/slide" Target="/ppt/slides/slide3.xml" Id="R0c3123e55aef435f" /><Relationship Type="http://schemas.openxmlformats.org/officeDocument/2006/relationships/notesMaster" Target="/ppt/notesMasters/notesMaster1.xml" Id="Rd51a32709f554895"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42e11d030242dc" /><Relationship Type="http://schemas.openxmlformats.org/officeDocument/2006/relationships/notesMaster" Target="/ppt/notesMasters/notesMaster1.xml" Id="Rc26e44d449f44766"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33f0cccf1c42b3" /><Relationship Type="http://schemas.openxmlformats.org/officeDocument/2006/relationships/notesMaster" Target="/ppt/notesMasters/notesMaster1.xml" Id="R6b44cac8d4ef43f4" /></Relationships>
</file>

<file path=ppt/notesSlides/_rels/notesSlide6.xml.rels>&#65279;<?xml version="1.0" encoding="utf-8"?><Relationships xmlns="http://schemas.openxmlformats.org/package/2006/relationships"><Relationship Type="http://schemas.openxmlformats.org/officeDocument/2006/relationships/slide" Target="/ppt/slides/slide6.xml" Id="R4d9638f3d5c84efc" /><Relationship Type="http://schemas.openxmlformats.org/officeDocument/2006/relationships/notesMaster" Target="/ppt/notesMasters/notesMaster1.xml" Id="Rb19446b575af4501" /></Relationships>
</file>

<file path=ppt/notesSlides/_rels/notesSlide7.xml.rels>&#65279;<?xml version="1.0" encoding="utf-8"?><Relationships xmlns="http://schemas.openxmlformats.org/package/2006/relationships"><Relationship Type="http://schemas.openxmlformats.org/officeDocument/2006/relationships/slide" Target="/ppt/slides/slide7.xml" Id="Ra0f53b09c6534392" /><Relationship Type="http://schemas.openxmlformats.org/officeDocument/2006/relationships/notesMaster" Target="/ppt/notesMasters/notesMaster1.xml" Id="R06bad1105a414aca" /></Relationships>
</file>

<file path=ppt/notesSlides/_rels/notesSlide8.xml.rels>&#65279;<?xml version="1.0" encoding="utf-8"?><Relationships xmlns="http://schemas.openxmlformats.org/package/2006/relationships"><Relationship Type="http://schemas.openxmlformats.org/officeDocument/2006/relationships/slide" Target="/ppt/slides/slide8.xml" Id="R8ac9437324644242" /><Relationship Type="http://schemas.openxmlformats.org/officeDocument/2006/relationships/notesMaster" Target="/ppt/notesMasters/notesMaster1.xml" Id="R000eaa1aa81a44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State the learning purpose in one sentence.</a:t>
            </a:r>
          </a:p>
          <a:p xmlns:a="http://schemas.openxmlformats.org/drawingml/2006/main">
            <a:r>
              <a:t>- Use the image only as a conceptual project cue; it is not a plan or model specification.</a:t>
            </a:r>
          </a:p>
          <a:p xmlns:a="http://schemas.openxmlformats.org/drawingml/2006/main">
            <a:r>
              <a:t/>
            </a:r>
          </a:p>
          <a:p xmlns:a="http://schemas.openxmlformats.org/drawingml/2006/main">
            <a:r>
              <a:t>Prompt</a:t>
            </a:r>
          </a:p>
          <a:p xmlns:a="http://schemas.openxmlformats.org/drawingml/2006/main">
            <a:r>
              <a:t>- What relationship or evidence do you expect to matter in this module?</a:t>
            </a:r>
          </a:p>
          <a:p xmlns:a="http://schemas.openxmlformats.org/drawingml/2006/main">
            <a:r>
              <a:t/>
            </a:r>
          </a:p>
          <a:p xmlns:a="http://schemas.openxmlformats.org/drawingml/2006/main">
            <a:r>
              <a:t>Likely misconception</a:t>
            </a:r>
          </a:p>
          <a:p xmlns:a="http://schemas.openxmlformats.org/drawingml/2006/main">
            <a:r>
              <a:t>- A realistic image must show the exact project design.</a:t>
            </a:r>
          </a:p>
          <a:p xmlns:a="http://schemas.openxmlformats.org/drawingml/2006/main">
            <a:r>
              <a:t/>
            </a:r>
          </a:p>
          <a:p xmlns:a="http://schemas.openxmlformats.org/drawingml/2006/main">
            <a:r>
              <a:t>Transition</a:t>
            </a:r>
          </a:p>
          <a:p xmlns:a="http://schemas.openxmlformats.org/drawingml/2006/main">
            <a:r>
              <a:t>- Move from the project cue to the three ideas students will learn.</a:t>
            </a:r>
          </a:p>
          <a:p xmlns:a="http://schemas.openxmlformats.org/drawingml/2006/main">
            <a:r>
              <a:t/>
            </a:r>
          </a:p>
          <a:p xmlns:a="http://schemas.openxmlformats.org/drawingml/2006/main">
            <a:r>
              <a:t>[Sources]</a:t>
            </a:r>
          </a:p>
          <a:p xmlns:a="http://schemas.openxmlformats.org/drawingml/2006/main">
            <a:r>
              <a:t>- Year 8 Catapult student theory draft v1.0, module-04, 24 Aug 2026.</a:t>
            </a:r>
          </a:p>
          <a:p xmlns:a="http://schemas.openxmlformats.org/drawingml/2006/main">
            <a:r>
              <a:t>- Catapult Booklet 2026.pdf, pp. 14–15; NASA Newton’s laws; US DOE energy conservation; theory draft module-04.</a:t>
            </a:r>
          </a:p>
          <a:p xmlns:a="http://schemas.openxmlformats.org/drawingml/2006/main">
            <a:r>
              <a:t>- OpenAI image generation for this course, 24 Aug 2026, conceptual only; file: elastic-energy-still-life.png.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Frame the module as a cumulative learning sequence.</a:t>
            </a:r>
          </a:p>
          <a:p xmlns:a="http://schemas.openxmlformats.org/drawingml/2006/main">
            <a:r>
              <a:t>- Invite a brief retrieval response before introducing new content.</a:t>
            </a:r>
          </a:p>
          <a:p xmlns:a="http://schemas.openxmlformats.org/drawingml/2006/main">
            <a:r>
              <a:t/>
            </a:r>
          </a:p>
          <a:p xmlns:a="http://schemas.openxmlformats.org/drawingml/2006/main">
            <a:r>
              <a:t>Prompt</a:t>
            </a:r>
          </a:p>
          <a:p xmlns:a="http://schemas.openxmlformats.org/drawingml/2006/main">
            <a:r>
              <a:t>- Where might stored energy transfer besides useful movement?</a:t>
            </a:r>
          </a:p>
          <a:p xmlns:a="http://schemas.openxmlformats.org/drawingml/2006/main">
            <a:r>
              <a:t/>
            </a:r>
          </a:p>
          <a:p xmlns:a="http://schemas.openxmlformats.org/drawingml/2006/main">
            <a:r>
              <a:t>Likely misconception</a:t>
            </a:r>
          </a:p>
          <a:p xmlns:a="http://schemas.openxmlformats.org/drawingml/2006/main">
            <a:r>
              <a:t>- The three ideas are separate facts rather than parts of one explanation.</a:t>
            </a:r>
          </a:p>
          <a:p xmlns:a="http://schemas.openxmlformats.org/drawingml/2006/main">
            <a:r>
              <a:t/>
            </a:r>
          </a:p>
          <a:p xmlns:a="http://schemas.openxmlformats.org/drawingml/2006/main">
            <a:r>
              <a:t>Transition</a:t>
            </a:r>
          </a:p>
          <a:p xmlns:a="http://schemas.openxmlformats.org/drawingml/2006/main">
            <a:r>
              <a:t>- Tell students that each theory slide will supply evidence for the final response.</a:t>
            </a:r>
          </a:p>
          <a:p xmlns:a="http://schemas.openxmlformats.org/drawingml/2006/main">
            <a:r>
              <a:t/>
            </a:r>
          </a:p>
          <a:p xmlns:a="http://schemas.openxmlformats.org/drawingml/2006/main">
            <a:r>
              <a:t>[Sources]</a:t>
            </a:r>
          </a:p>
          <a:p xmlns:a="http://schemas.openxmlformats.org/drawingml/2006/main">
            <a:r>
              <a:t>- Year 8 Catapult student theory draft v1.0, module-04, 24 Aug 2026.</a:t>
            </a:r>
          </a:p>
          <a:p xmlns:a="http://schemas.openxmlformats.org/drawingml/2006/main">
            <a:r>
              <a:t>- Catapult Booklet 2026.pdf, pp. 14–15; NASA Newton’s laws; US DOE energy conservation; theory draft module-04.</a:t>
            </a:r>
          </a:p>
          <a:p xmlns:a="http://schemas.openxmlformats.org/drawingml/2006/main">
            <a:r>
              <a:t>- Native pathway diagram authored for this deck from the approved module sequence.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Work done on an elastic component can store elastic potential energy. During a teacher-controlled release, energy can become kinetic energy in moving parts and the projectile, while other transfers appear as sound, heat, vibration, air movement or unwanted frame motion.</a:t>
            </a:r>
          </a:p>
          <a:p xmlns:a="http://schemas.openxmlformats.org/drawingml/2006/main">
            <a:r>
              <a:t>- Use the visual to emphasise: Energy is transferred; it does not simply disappear when the system vibrates or makes sound.</a:t>
            </a:r>
          </a:p>
          <a:p xmlns:a="http://schemas.openxmlformats.org/drawingml/2006/main">
            <a:r>
              <a:t/>
            </a:r>
          </a:p>
          <a:p xmlns:a="http://schemas.openxmlformats.org/drawingml/2006/main">
            <a:r>
              <a:t>Prompt</a:t>
            </a:r>
          </a:p>
          <a:p xmlns:a="http://schemas.openxmlformats.org/drawingml/2006/main">
            <a:r>
              <a:t>- Evidence move: identify one intended and one unintended energy pathway from an observation.</a:t>
            </a:r>
          </a:p>
          <a:p xmlns:a="http://schemas.openxmlformats.org/drawingml/2006/main">
            <a:r>
              <a:t/>
            </a:r>
          </a:p>
          <a:p xmlns:a="http://schemas.openxmlformats.org/drawingml/2006/main">
            <a:r>
              <a:t>Likely misconception</a:t>
            </a:r>
          </a:p>
          <a:p xmlns:a="http://schemas.openxmlformats.org/drawingml/2006/main">
            <a:r>
              <a:t>- Where can energy transfer besides useful motion?</a:t>
            </a:r>
          </a:p>
          <a:p xmlns:a="http://schemas.openxmlformats.org/drawingml/2006/main">
            <a:r>
              <a:t/>
            </a:r>
          </a:p>
          <a:p xmlns:a="http://schemas.openxmlformats.org/drawingml/2006/main">
            <a:r>
              <a:t>Transition</a:t>
            </a:r>
          </a:p>
          <a:p xmlns:a="http://schemas.openxmlformats.org/drawingml/2006/main">
            <a:r>
              <a:t>- Link this idea to the next relationship in the module.</a:t>
            </a:r>
          </a:p>
          <a:p xmlns:a="http://schemas.openxmlformats.org/drawingml/2006/main">
            <a:r>
              <a:t/>
            </a:r>
          </a:p>
          <a:p xmlns:a="http://schemas.openxmlformats.org/drawingml/2006/main">
            <a:r>
              <a:t>[Sources]</a:t>
            </a:r>
          </a:p>
          <a:p xmlns:a="http://schemas.openxmlformats.org/drawingml/2006/main">
            <a:r>
              <a:t>- Year 8 Catapult student theory draft v1.0, module-04, 24 Aug 2026.</a:t>
            </a:r>
          </a:p>
          <a:p xmlns:a="http://schemas.openxmlformats.org/drawingml/2006/main">
            <a:r>
              <a:t>- Catapult Booklet 2026.pdf, pp. 14–15; NASA Newton’s laws; US DOE energy conservation; theory draft module-04.</a:t>
            </a:r>
          </a:p>
          <a:p xmlns:a="http://schemas.openxmlformats.org/drawingml/2006/main">
            <a:r>
              <a:t>- Editable native diagram authored for this deck from the approved course theory.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The first law describes motion changing when a net external force acts. The second links net force, mass and acceleration. The third identifies equal-and-opposite force pairs acting on different objects. Separate the objects so the forces are not incorrectly cancelled in one vague diagram.</a:t>
            </a:r>
          </a:p>
          <a:p xmlns:a="http://schemas.openxmlformats.org/drawingml/2006/main">
            <a:r>
              <a:t>- Use the visual to emphasise: Each law answers a different question; the force pair acts on different objects.</a:t>
            </a:r>
          </a:p>
          <a:p xmlns:a="http://schemas.openxmlformats.org/drawingml/2006/main">
            <a:r>
              <a:t/>
            </a:r>
          </a:p>
          <a:p xmlns:a="http://schemas.openxmlformats.org/drawingml/2006/main">
            <a:r>
              <a:t>Prompt</a:t>
            </a:r>
          </a:p>
          <a:p xmlns:a="http://schemas.openxmlformats.org/drawingml/2006/main">
            <a:r>
              <a:t>- Explain: choose one moving object and name the force relationship that changes its motion.</a:t>
            </a:r>
          </a:p>
          <a:p xmlns:a="http://schemas.openxmlformats.org/drawingml/2006/main">
            <a:r>
              <a:t/>
            </a:r>
          </a:p>
          <a:p xmlns:a="http://schemas.openxmlformats.org/drawingml/2006/main">
            <a:r>
              <a:t>Likely misconception</a:t>
            </a:r>
          </a:p>
          <a:p xmlns:a="http://schemas.openxmlformats.org/drawingml/2006/main">
            <a:r>
              <a:t>- Why do third-law force pairs not cancel on one object?</a:t>
            </a:r>
          </a:p>
          <a:p xmlns:a="http://schemas.openxmlformats.org/drawingml/2006/main">
            <a:r>
              <a:t/>
            </a:r>
          </a:p>
          <a:p xmlns:a="http://schemas.openxmlformats.org/drawingml/2006/main">
            <a:r>
              <a:t>Transition</a:t>
            </a:r>
          </a:p>
          <a:p xmlns:a="http://schemas.openxmlformats.org/drawingml/2006/main">
            <a:r>
              <a:t>- Link this idea to the next relationship in the module.</a:t>
            </a:r>
          </a:p>
          <a:p xmlns:a="http://schemas.openxmlformats.org/drawingml/2006/main">
            <a:r>
              <a:t/>
            </a:r>
          </a:p>
          <a:p xmlns:a="http://schemas.openxmlformats.org/drawingml/2006/main">
            <a:r>
              <a:t>[Sources]</a:t>
            </a:r>
          </a:p>
          <a:p xmlns:a="http://schemas.openxmlformats.org/drawingml/2006/main">
            <a:r>
              <a:t>- Year 8 Catapult student theory draft v1.0, module-04, 24 Aug 2026.</a:t>
            </a:r>
          </a:p>
          <a:p xmlns:a="http://schemas.openxmlformats.org/drawingml/2006/main">
            <a:r>
              <a:t>- Catapult Booklet 2026.pdf, pp. 14–15; NASA Newton’s laws; US DOE energy conservation; theory draft module-04.</a:t>
            </a:r>
          </a:p>
          <a:p xmlns:a="http://schemas.openxmlformats.org/drawingml/2006/main">
            <a:r>
              <a:t>- Editable native diagram authored for this deck from the approved course theory.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A prototype investigates one relationship before full production. A fair comparison changes one chosen variable, keeps important conditions consistent and repeats observations. Its value is the evidence it produces, not how finished it looks. The activity and conditions remain teacher directed.</a:t>
            </a:r>
          </a:p>
          <a:p xmlns:a="http://schemas.openxmlformats.org/drawingml/2006/main">
            <a:r>
              <a:t>- Use the visual to emphasise: Control and repetition make the reasoning visible enough for another person to check.</a:t>
            </a:r>
          </a:p>
          <a:p xmlns:a="http://schemas.openxmlformats.org/drawingml/2006/main">
            <a:r>
              <a:t/>
            </a:r>
          </a:p>
          <a:p xmlns:a="http://schemas.openxmlformats.org/drawingml/2006/main">
            <a:r>
              <a:t>Prompt</a:t>
            </a:r>
          </a:p>
          <a:p xmlns:a="http://schemas.openxmlformats.org/drawingml/2006/main">
            <a:r>
              <a:t>- Design the evidence: name one changed variable, two controls and the observation that would answer the question.</a:t>
            </a:r>
          </a:p>
          <a:p xmlns:a="http://schemas.openxmlformats.org/drawingml/2006/main">
            <a:r>
              <a:t/>
            </a:r>
          </a:p>
          <a:p xmlns:a="http://schemas.openxmlformats.org/drawingml/2006/main">
            <a:r>
              <a:t>Likely misconception</a:t>
            </a:r>
          </a:p>
          <a:p xmlns:a="http://schemas.openxmlformats.org/drawingml/2006/main">
            <a:r>
              <a:t>- What makes a prototype useful rather than merely unfinished?</a:t>
            </a:r>
          </a:p>
          <a:p xmlns:a="http://schemas.openxmlformats.org/drawingml/2006/main">
            <a:r>
              <a:t/>
            </a:r>
          </a:p>
          <a:p xmlns:a="http://schemas.openxmlformats.org/drawingml/2006/main">
            <a:r>
              <a:t>Transition</a:t>
            </a:r>
          </a:p>
          <a:p xmlns:a="http://schemas.openxmlformats.org/drawingml/2006/main">
            <a:r>
              <a:t>- Prepare students to retrieve and apply all three ideas.</a:t>
            </a:r>
          </a:p>
          <a:p xmlns:a="http://schemas.openxmlformats.org/drawingml/2006/main">
            <a:r>
              <a:t/>
            </a:r>
          </a:p>
          <a:p xmlns:a="http://schemas.openxmlformats.org/drawingml/2006/main">
            <a:r>
              <a:t>[Sources]</a:t>
            </a:r>
          </a:p>
          <a:p xmlns:a="http://schemas.openxmlformats.org/drawingml/2006/main">
            <a:r>
              <a:t>- Year 8 Catapult student theory draft v1.0, module-04, 24 Aug 2026.</a:t>
            </a:r>
          </a:p>
          <a:p xmlns:a="http://schemas.openxmlformats.org/drawingml/2006/main">
            <a:r>
              <a:t>- Catapult Booklet 2026.pdf, pp. 14–15; NASA Newton’s laws; US DOE energy conservation; theory draft module-04.</a:t>
            </a:r>
          </a:p>
          <a:p xmlns:a="http://schemas.openxmlformats.org/drawingml/2006/main">
            <a:r>
              <a:t>- Editable native diagram authored for this deck from the approved course theory.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Give individual thinking time before partner discussion.</a:t>
            </a:r>
          </a:p>
          <a:p xmlns:a="http://schemas.openxmlformats.org/drawingml/2006/main">
            <a:r>
              <a:t>- Ask for evidence or a because-clause, not just the answer.</a:t>
            </a:r>
          </a:p>
          <a:p xmlns:a="http://schemas.openxmlformats.org/drawingml/2006/main">
            <a:r>
              <a:t/>
            </a:r>
          </a:p>
          <a:p xmlns:a="http://schemas.openxmlformats.org/drawingml/2006/main">
            <a:r>
              <a:t>Prompt</a:t>
            </a:r>
          </a:p>
          <a:p xmlns:a="http://schemas.openxmlformats.org/drawingml/2006/main">
            <a:r>
              <a:t>- Which answer changed after discussion, and what evidence changed it?</a:t>
            </a:r>
          </a:p>
          <a:p xmlns:a="http://schemas.openxmlformats.org/drawingml/2006/main">
            <a:r>
              <a:t/>
            </a:r>
          </a:p>
          <a:p xmlns:a="http://schemas.openxmlformats.org/drawingml/2006/main">
            <a:r>
              <a:t>Likely misconception</a:t>
            </a:r>
          </a:p>
          <a:p xmlns:a="http://schemas.openxmlformats.org/drawingml/2006/main">
            <a:r>
              <a:t>- Retrieval is a memory race rather than a chance to repair understanding.</a:t>
            </a:r>
          </a:p>
          <a:p xmlns:a="http://schemas.openxmlformats.org/drawingml/2006/main">
            <a:r>
              <a:t/>
            </a:r>
          </a:p>
          <a:p xmlns:a="http://schemas.openxmlformats.org/drawingml/2006/main">
            <a:r>
              <a:t>Transition</a:t>
            </a:r>
          </a:p>
          <a:p xmlns:a="http://schemas.openxmlformats.org/drawingml/2006/main">
            <a:r>
              <a:t>- Use the strongest unresolved question to launch the evidence scaffold.</a:t>
            </a:r>
          </a:p>
          <a:p xmlns:a="http://schemas.openxmlformats.org/drawingml/2006/main">
            <a:r>
              <a:t/>
            </a:r>
          </a:p>
          <a:p xmlns:a="http://schemas.openxmlformats.org/drawingml/2006/main">
            <a:r>
              <a:t>[Sources]</a:t>
            </a:r>
          </a:p>
          <a:p xmlns:a="http://schemas.openxmlformats.org/drawingml/2006/main">
            <a:r>
              <a:t>- Year 8 Catapult student theory draft v1.0, module-04, 24 Aug 2026.</a:t>
            </a:r>
          </a:p>
          <a:p xmlns:a="http://schemas.openxmlformats.org/drawingml/2006/main">
            <a:r>
              <a:t>- Catapult Booklet 2026.pdf, pp. 14–15; NASA Newton’s laws; US DOE energy conservation; theory draft module-04.</a:t>
            </a:r>
          </a:p>
          <a:p xmlns:a="http://schemas.openxmlformats.org/drawingml/2006/main">
            <a:r>
              <a:t>- Questions derived from the approved module theory; no external asset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Model how to select evidence before writing the explanation.</a:t>
            </a:r>
          </a:p>
          <a:p xmlns:a="http://schemas.openxmlformats.org/drawingml/2006/main">
            <a:r>
              <a:t>- Read the sentence support aloud, then let students change its wording to suit their evidence.</a:t>
            </a:r>
          </a:p>
          <a:p xmlns:a="http://schemas.openxmlformats.org/drawingml/2006/main">
            <a:r>
              <a:t/>
            </a:r>
          </a:p>
          <a:p xmlns:a="http://schemas.openxmlformats.org/drawingml/2006/main">
            <a:r>
              <a:t>Prompt</a:t>
            </a:r>
          </a:p>
          <a:p xmlns:a="http://schemas.openxmlformats.org/drawingml/2006/main">
            <a:r>
              <a:t>- A prototype has a large energy input but inconsistent motion. Propose two possible causes using energy pathways and Newton’s laws, then explain how to investigate only one at a time.</a:t>
            </a:r>
          </a:p>
          <a:p xmlns:a="http://schemas.openxmlformats.org/drawingml/2006/main">
            <a:r>
              <a:t/>
            </a:r>
          </a:p>
          <a:p xmlns:a="http://schemas.openxmlformats.org/drawingml/2006/main">
            <a:r>
              <a:t>Likely misconception</a:t>
            </a:r>
          </a:p>
          <a:p xmlns:a="http://schemas.openxmlformats.org/drawingml/2006/main">
            <a:r>
              <a:t>- Longer writing is automatically stronger evidence.</a:t>
            </a:r>
          </a:p>
          <a:p xmlns:a="http://schemas.openxmlformats.org/drawingml/2006/main">
            <a:r>
              <a:t/>
            </a:r>
          </a:p>
          <a:p xmlns:a="http://schemas.openxmlformats.org/drawingml/2006/main">
            <a:r>
              <a:t>Transition</a:t>
            </a:r>
          </a:p>
          <a:p xmlns:a="http://schemas.openxmlformats.org/drawingml/2006/main">
            <a:r>
              <a:t>- Move from the scaffold to a concise exit ticket and evidence-save action.</a:t>
            </a:r>
          </a:p>
          <a:p xmlns:a="http://schemas.openxmlformats.org/drawingml/2006/main">
            <a:r>
              <a:t/>
            </a:r>
          </a:p>
          <a:p xmlns:a="http://schemas.openxmlformats.org/drawingml/2006/main">
            <a:r>
              <a:t>[Sources]</a:t>
            </a:r>
          </a:p>
          <a:p xmlns:a="http://schemas.openxmlformats.org/drawingml/2006/main">
            <a:r>
              <a:t>- Year 8 Catapult student theory draft v1.0, module-04, 24 Aug 2026.</a:t>
            </a:r>
          </a:p>
          <a:p xmlns:a="http://schemas.openxmlformats.org/drawingml/2006/main">
            <a:r>
              <a:t>- Catapult Booklet 2026.pdf, pp. 14–15; NASA Newton’s laws; US DOE energy conservation; theory draft module-04.</a:t>
            </a:r>
          </a:p>
          <a:p xmlns:a="http://schemas.openxmlformats.org/drawingml/2006/main">
            <a:r>
              <a:t>- Read–Select–Explain–Check scaffold follows the TAS course presentation standard.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Collect a short answer to each exit prompt.</a:t>
            </a:r>
          </a:p>
          <a:p xmlns:a="http://schemas.openxmlformats.org/drawingml/2006/main">
            <a:r>
              <a:t>- Make the evidence destination explicit without turning the slide into assessment administration.</a:t>
            </a:r>
          </a:p>
          <a:p xmlns:a="http://schemas.openxmlformats.org/drawingml/2006/main">
            <a:r>
              <a:t/>
            </a:r>
          </a:p>
          <a:p xmlns:a="http://schemas.openxmlformats.org/drawingml/2006/main">
            <a:r>
              <a:t>Prompt</a:t>
            </a:r>
          </a:p>
          <a:p xmlns:a="http://schemas.openxmlformats.org/drawingml/2006/main">
            <a:r>
              <a:t>- Which exit response best shows a changed decision or deeper explanation?</a:t>
            </a:r>
          </a:p>
          <a:p xmlns:a="http://schemas.openxmlformats.org/drawingml/2006/main">
            <a:r>
              <a:t/>
            </a:r>
          </a:p>
          <a:p xmlns:a="http://schemas.openxmlformats.org/drawingml/2006/main">
            <a:r>
              <a:t>Likely misconception</a:t>
            </a:r>
          </a:p>
          <a:p xmlns:a="http://schemas.openxmlformats.org/drawingml/2006/main">
            <a:r>
              <a:t>- The exit ticket is a generic summary with no next evidence action.</a:t>
            </a:r>
          </a:p>
          <a:p xmlns:a="http://schemas.openxmlformats.org/drawingml/2006/main">
            <a:r>
              <a:t/>
            </a:r>
          </a:p>
          <a:p xmlns:a="http://schemas.openxmlformats.org/drawingml/2006/main">
            <a:r>
              <a:t>Transition</a:t>
            </a:r>
          </a:p>
          <a:p xmlns:a="http://schemas.openxmlformats.org/drawingml/2006/main">
            <a:r>
              <a:t>- Next: turn design ideas into drawings and a checked material plan.</a:t>
            </a:r>
          </a:p>
          <a:p xmlns:a="http://schemas.openxmlformats.org/drawingml/2006/main">
            <a:r>
              <a:t/>
            </a:r>
          </a:p>
          <a:p xmlns:a="http://schemas.openxmlformats.org/drawingml/2006/main">
            <a:r>
              <a:t>[Sources]</a:t>
            </a:r>
          </a:p>
          <a:p xmlns:a="http://schemas.openxmlformats.org/drawingml/2006/main">
            <a:r>
              <a:t>- Year 8 Catapult student theory draft v1.0, module-04, 24 Aug 2026.</a:t>
            </a:r>
          </a:p>
          <a:p xmlns:a="http://schemas.openxmlformats.org/drawingml/2006/main">
            <a:r>
              <a:t>- Catapult Booklet 2026.pdf, pp. 14–15; NASA Newton’s laws; US DOE energy conservation; theory draft module-04.</a:t>
            </a:r>
          </a:p>
          <a:p xmlns:a="http://schemas.openxmlformats.org/drawingml/2006/main">
            <a:r>
              <a:t>- Exit-evidence structure follows the TAS course presentation standard.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589b3db025e42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d01590b5a74b57" /><Relationship Type="http://schemas.openxmlformats.org/officeDocument/2006/relationships/slideLayout" Target="/ppt/slideLayouts/slideLayout1.xml" Id="R8485f0bb61204f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485f0bb61204f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2ccf30932ad48ac" /><Relationship Type="http://schemas.openxmlformats.org/officeDocument/2006/relationships/image" Target="/ppt/media/image.png" Id="R9c375efab69645f6" /><Relationship Type="http://schemas.openxmlformats.org/officeDocument/2006/relationships/notesSlide" Target="/ppt/notesSlides/notesSlide1.xml" Id="R6cc6aeb26ff04bf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8c3082dcd114a0a" /><Relationship Type="http://schemas.openxmlformats.org/officeDocument/2006/relationships/notesSlide" Target="/ppt/notesSlides/notesSlide2.xml" Id="Re5498da874ba4b4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8a862a62e2b4c1f" /><Relationship Type="http://schemas.openxmlformats.org/officeDocument/2006/relationships/notesSlide" Target="/ppt/notesSlides/notesSlide3.xml" Id="Rb5133e85c8f546c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67f62fa05654fd1" /><Relationship Type="http://schemas.openxmlformats.org/officeDocument/2006/relationships/notesSlide" Target="/ppt/notesSlides/notesSlide4.xml" Id="R07bfdb47f16e422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8c48316a5684f61" /><Relationship Type="http://schemas.openxmlformats.org/officeDocument/2006/relationships/notesSlide" Target="/ppt/notesSlides/notesSlide5.xml" Id="Rfe22e93385a1469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cb17e4d74284f74" /><Relationship Type="http://schemas.openxmlformats.org/officeDocument/2006/relationships/notesSlide" Target="/ppt/notesSlides/notesSlide6.xml" Id="R9d8a5b6795444c4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4df258b83d64254" /><Relationship Type="http://schemas.openxmlformats.org/officeDocument/2006/relationships/notesSlide" Target="/ppt/notesSlides/notesSlide7.xml" Id="R816119d897194b8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bd33f6a41434092" /><Relationship Type="http://schemas.openxmlformats.org/officeDocument/2006/relationships/notesSlide" Target="/ppt/notesSlides/notesSlide8.xml" Id="R7eaf026d3e464347" /></Relationships>
</file>

<file path=ppt/slides/slide1.xml><?xml version="1.0" encoding="utf-8"?>
<p:sld xmlns:p="http://schemas.openxmlformats.org/presentationml/2006/main">
  <p:cSld>
    <p:bg>
      <p:bgPr>
        <a:solidFill xmlns:a="http://schemas.openxmlformats.org/drawingml/2006/main">
          <a:srgbClr val="0B3541"/>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c375efab69645f6"/>
          <a:srcRect xmlns:a="http://schemas.openxmlformats.org/drawingml/2006/main" l="25926" t="0" r="25926"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6F49323-293C-45C6-B195-417F387601F8}"/>
              </a:ext>
            </a:extLst>
          </p:cNvPr>
          <p:cNvSpPr>
            <a:spLocks xmlns:a="http://schemas.openxmlformats.org/drawingml/2006/main" noGrp="1"/>
          </p:cNvSpPr>
          <p:nvPr/>
        </p:nvSpPr>
        <p:spPr>
          <a:xfrm xmlns:a="http://schemas.openxmlformats.org/drawingml/2006/main">
            <a:off x="7029450" y="0"/>
            <a:ext cx="285750" cy="685800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C1EF2E7-CE36-489F-BBFC-1E543F3004D5}"/>
              </a:ext>
            </a:extLst>
          </p:cNvPr>
          <p:cNvSpPr>
            <a:spLocks xmlns:a="http://schemas.openxmlformats.org/drawingml/2006/main" noGrp="1"/>
          </p:cNvSpPr>
          <p:nvPr/>
        </p:nvSpPr>
        <p:spPr>
          <a:xfrm xmlns:a="http://schemas.openxmlformats.org/drawingml/2006/main">
            <a:off x="685800" y="7239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0B84B"/>
                </a:solidFill>
              </a:defRPr>
            </a:pPr>
            <a:r>
              <a:rPr sz="1350" b="1">
                <a:solidFill>
                  <a:srgbClr val="F0B84B"/>
                </a:solidFill>
              </a:rPr>
              <a:t>MODULE 04</a:t>
            </a:r>
          </a:p>
        </p:txBody>
      </p:sp>
      <p:sp>
        <p:nvSpPr>
          <p:cNvPr id="4" name="">
            <a:extLst xmlns:a="http://schemas.openxmlformats.org/drawingml/2006/main">
              <a:ext uri="{FF2B5EF4-FFF2-40B4-BE49-F238E27FC236}">
                <a16:creationId xmlns:a16="http://schemas.microsoft.com/office/drawing/2014/main" id="{46B010F1-711E-456B-994B-A34B2025CDCD}"/>
              </a:ext>
            </a:extLst>
          </p:cNvPr>
          <p:cNvSpPr>
            <a:spLocks xmlns:a="http://schemas.openxmlformats.org/drawingml/2006/main" noGrp="1"/>
          </p:cNvSpPr>
          <p:nvPr/>
        </p:nvSpPr>
        <p:spPr>
          <a:xfrm xmlns:a="http://schemas.openxmlformats.org/drawingml/2006/main">
            <a:off x="685800" y="1428750"/>
            <a:ext cx="5810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350" b="1">
                <a:solidFill>
                  <a:srgbClr val="FFFFFF"/>
                </a:solidFill>
              </a:defRPr>
            </a:pPr>
            <a:r>
              <a:rPr sz="4350" b="1">
                <a:solidFill>
                  <a:srgbClr val="FFFFFF"/>
                </a:solidFill>
              </a:rPr>
              <a:t>Force, Motion, Energy and Prototypes</a:t>
            </a:r>
          </a:p>
        </p:txBody>
      </p:sp>
      <p:sp>
        <p:nvSpPr>
          <p:cNvPr id="5" name="">
            <a:extLst xmlns:a="http://schemas.openxmlformats.org/drawingml/2006/main">
              <a:ext uri="{FF2B5EF4-FFF2-40B4-BE49-F238E27FC236}">
                <a16:creationId xmlns:a16="http://schemas.microsoft.com/office/drawing/2014/main" id="{B90DFAE4-3804-4F5B-843F-32F7755FBDFE}"/>
              </a:ext>
            </a:extLst>
          </p:cNvPr>
          <p:cNvSpPr>
            <a:spLocks xmlns:a="http://schemas.openxmlformats.org/drawingml/2006/main" noGrp="1"/>
          </p:cNvSpPr>
          <p:nvPr/>
        </p:nvSpPr>
        <p:spPr>
          <a:xfrm xmlns:a="http://schemas.openxmlformats.org/drawingml/2006/main">
            <a:off x="685800" y="3943350"/>
            <a:ext cx="576262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D7E5E8"/>
                </a:solidFill>
              </a:defRPr>
            </a:pPr>
            <a:r>
              <a:rPr sz="1875" b="0">
                <a:solidFill>
                  <a:srgbClr val="D7E5E8"/>
                </a:solidFill>
              </a:rPr>
              <a:t>Use energy transfers, Newton’s laws and fair testing to explain prototype behaviour.</a:t>
            </a:r>
          </a:p>
        </p:txBody>
      </p:sp>
      <p:sp>
        <p:nvSpPr>
          <p:cNvPr id="6" name="">
            <a:extLst xmlns:a="http://schemas.openxmlformats.org/drawingml/2006/main">
              <a:ext uri="{FF2B5EF4-FFF2-40B4-BE49-F238E27FC236}">
                <a16:creationId xmlns:a16="http://schemas.microsoft.com/office/drawing/2014/main" id="{9871DB34-46E8-4338-BA11-2D7DA75C36BB}"/>
              </a:ext>
            </a:extLst>
          </p:cNvPr>
          <p:cNvSpPr>
            <a:spLocks xmlns:a="http://schemas.openxmlformats.org/drawingml/2006/main" noGrp="1"/>
          </p:cNvSpPr>
          <p:nvPr/>
        </p:nvSpPr>
        <p:spPr>
          <a:xfrm xmlns:a="http://schemas.openxmlformats.org/drawingml/2006/main">
            <a:off x="685800" y="59245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7E5E8"/>
                </a:solidFill>
              </a:defRPr>
            </a:pPr>
            <a:r>
              <a:rPr sz="1125" b="1">
                <a:solidFill>
                  <a:srgbClr val="D7E5E8"/>
                </a:solidFill>
              </a:rPr>
              <a:t>YEAR 8  •  ENGINEERING TECHNOLOGIES AND SYSTEMS</a:t>
            </a:r>
          </a:p>
        </p:txBody>
      </p:sp>
    </p:spTree>
    <p:extLst>
      <p:ext uri="{BB962C8B-B14F-4D97-AF65-F5344CB8AC3E}">
        <p14:creationId xmlns:p14="http://schemas.microsoft.com/office/powerpoint/2010/main" val="428205814"/>
      </p:ext>
    </p:extLst>
  </p:cSld>
</p:sld>
</file>

<file path=ppt/slides/slide2.xml><?xml version="1.0" encoding="utf-8"?>
<p:sld xmlns:p="http://schemas.openxmlformats.org/presentationml/2006/main">
  <p:cSld>
    <p:bg>
      <p:bgPr>
        <a:solidFill xmlns:a="http://schemas.openxmlformats.org/drawingml/2006/main">
          <a:srgbClr val="F3F6F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BB74429-BD13-4C6A-81B6-40ECA7045FDD}"/>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73022A1-9887-4D31-A083-BD862877E22B}"/>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04  /  FORCE, MOTION AND PROTOTYPES</a:t>
            </a:r>
          </a:p>
        </p:txBody>
      </p:sp>
      <p:sp>
        <p:nvSpPr>
          <p:cNvPr id="3" name="">
            <a:extLst xmlns:a="http://schemas.openxmlformats.org/drawingml/2006/main">
              <a:ext uri="{FF2B5EF4-FFF2-40B4-BE49-F238E27FC236}">
                <a16:creationId xmlns:a16="http://schemas.microsoft.com/office/drawing/2014/main" id="{FB6FF528-2B16-4411-BDD6-F8F2BAB18C90}"/>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The learning question</a:t>
            </a:r>
          </a:p>
        </p:txBody>
      </p:sp>
      <p:sp>
        <p:nvSpPr>
          <p:cNvPr id="4" name="">
            <a:extLst xmlns:a="http://schemas.openxmlformats.org/drawingml/2006/main">
              <a:ext uri="{FF2B5EF4-FFF2-40B4-BE49-F238E27FC236}">
                <a16:creationId xmlns:a16="http://schemas.microsoft.com/office/drawing/2014/main" id="{3F2A1E4F-61B4-40A0-BCFD-A0B980FA2572}"/>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0BAF40D0-30FC-41D4-8FEA-829AB4BBBEAB}"/>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04</a:t>
            </a:r>
          </a:p>
        </p:txBody>
      </p:sp>
      <p:sp>
        <p:nvSpPr>
          <p:cNvPr id="6" name="">
            <a:extLst xmlns:a="http://schemas.openxmlformats.org/drawingml/2006/main">
              <a:ext uri="{FF2B5EF4-FFF2-40B4-BE49-F238E27FC236}">
                <a16:creationId xmlns:a16="http://schemas.microsoft.com/office/drawing/2014/main" id="{AEB97F78-34B5-4804-B4EB-1B76702805A2}"/>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02</a:t>
            </a:r>
          </a:p>
        </p:txBody>
      </p:sp>
      <p:sp>
        <p:nvSpPr>
          <p:cNvPr id="7" name="">
            <a:extLst xmlns:a="http://schemas.openxmlformats.org/drawingml/2006/main">
              <a:ext uri="{FF2B5EF4-FFF2-40B4-BE49-F238E27FC236}">
                <a16:creationId xmlns:a16="http://schemas.microsoft.com/office/drawing/2014/main" id="{211F365C-9950-4BF6-ADC3-7371F5A433F5}"/>
              </a:ext>
            </a:extLst>
          </p:cNvPr>
          <p:cNvSpPr>
            <a:spLocks xmlns:a="http://schemas.openxmlformats.org/drawingml/2006/main" noGrp="1"/>
          </p:cNvSpPr>
          <p:nvPr/>
        </p:nvSpPr>
        <p:spPr>
          <a:xfrm xmlns:a="http://schemas.openxmlformats.org/drawingml/2006/main">
            <a:off x="685800" y="1333500"/>
            <a:ext cx="1047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84F5E"/>
                </a:solidFill>
              </a:defRPr>
            </a:pPr>
            <a:r>
              <a:rPr sz="2250" b="1">
                <a:solidFill>
                  <a:srgbClr val="184F5E"/>
                </a:solidFill>
              </a:rPr>
              <a:t>Why can a system store energy yet still produce inconsistent motion?</a:t>
            </a:r>
          </a:p>
        </p:txBody>
      </p:sp>
      <p:sp>
        <p:nvSpPr>
          <p:cNvPr id="8" name="">
            <a:extLst xmlns:a="http://schemas.openxmlformats.org/drawingml/2006/main">
              <a:ext uri="{FF2B5EF4-FFF2-40B4-BE49-F238E27FC236}">
                <a16:creationId xmlns:a16="http://schemas.microsoft.com/office/drawing/2014/main" id="{0894DA93-E3BE-41CA-971A-0BB420FBC6CA}"/>
              </a:ext>
            </a:extLst>
          </p:cNvPr>
          <p:cNvSpPr>
            <a:spLocks xmlns:a="http://schemas.openxmlformats.org/drawingml/2006/main" noGrp="1"/>
          </p:cNvSpPr>
          <p:nvPr/>
        </p:nvSpPr>
        <p:spPr>
          <a:xfrm xmlns:a="http://schemas.openxmlformats.org/drawingml/2006/main">
            <a:off x="3543300" y="3181350"/>
            <a:ext cx="66675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1102B07-210E-4903-AA27-72173CC89A93}"/>
              </a:ext>
            </a:extLst>
          </p:cNvPr>
          <p:cNvSpPr>
            <a:spLocks xmlns:a="http://schemas.openxmlformats.org/drawingml/2006/main" noGrp="1"/>
          </p:cNvSpPr>
          <p:nvPr/>
        </p:nvSpPr>
        <p:spPr>
          <a:xfrm xmlns:a="http://schemas.openxmlformats.org/drawingml/2006/main">
            <a:off x="6972300" y="3181350"/>
            <a:ext cx="66675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FD0525F-E843-4503-BA51-65A5FE537C58}"/>
              </a:ext>
            </a:extLst>
          </p:cNvPr>
          <p:cNvSpPr>
            <a:spLocks xmlns:a="http://schemas.openxmlformats.org/drawingml/2006/main" noGrp="1"/>
          </p:cNvSpPr>
          <p:nvPr/>
        </p:nvSpPr>
        <p:spPr>
          <a:xfrm xmlns:a="http://schemas.openxmlformats.org/drawingml/2006/main">
            <a:off x="819150" y="2743200"/>
            <a:ext cx="819150" cy="819150"/>
          </a:xfrm>
          <a:prstGeom xmlns:a="http://schemas.openxmlformats.org/drawingml/2006/main" prst="ellipse">
            <a:avLst/>
          </a:prstGeom>
          <a:solidFill xmlns:a="http://schemas.openxmlformats.org/drawingml/2006/main">
            <a:srgbClr val="184F5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FC7C099-59A6-495B-BA91-062C92995991}"/>
              </a:ext>
            </a:extLst>
          </p:cNvPr>
          <p:cNvSpPr>
            <a:spLocks xmlns:a="http://schemas.openxmlformats.org/drawingml/2006/main" noGrp="1"/>
          </p:cNvSpPr>
          <p:nvPr/>
        </p:nvSpPr>
        <p:spPr>
          <a:xfrm xmlns:a="http://schemas.openxmlformats.org/drawingml/2006/main">
            <a:off x="819150" y="2914650"/>
            <a:ext cx="819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FFFFFF"/>
                </a:solidFill>
              </a:defRPr>
            </a:pPr>
            <a:r>
              <a:rPr sz="2400" b="1">
                <a:solidFill>
                  <a:srgbClr val="FFFFFF"/>
                </a:solidFill>
              </a:rPr>
              <a:t>1</a:t>
            </a:r>
          </a:p>
        </p:txBody>
      </p:sp>
      <p:sp>
        <p:nvSpPr>
          <p:cNvPr id="12" name="">
            <a:extLst xmlns:a="http://schemas.openxmlformats.org/drawingml/2006/main">
              <a:ext uri="{FF2B5EF4-FFF2-40B4-BE49-F238E27FC236}">
                <a16:creationId xmlns:a16="http://schemas.microsoft.com/office/drawing/2014/main" id="{F4475029-CF2D-4304-A7A1-AF515C6BC008}"/>
              </a:ext>
            </a:extLst>
          </p:cNvPr>
          <p:cNvSpPr>
            <a:spLocks xmlns:a="http://schemas.openxmlformats.org/drawingml/2006/main" noGrp="1"/>
          </p:cNvSpPr>
          <p:nvPr/>
        </p:nvSpPr>
        <p:spPr>
          <a:xfrm xmlns:a="http://schemas.openxmlformats.org/drawingml/2006/main">
            <a:off x="1790700" y="2781300"/>
            <a:ext cx="2333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7232B"/>
                </a:solidFill>
              </a:defRPr>
            </a:pPr>
            <a:r>
              <a:rPr sz="1725" b="1">
                <a:solidFill>
                  <a:srgbClr val="17232B"/>
                </a:solidFill>
              </a:rPr>
              <a:t>Energy follows pathways</a:t>
            </a:r>
          </a:p>
        </p:txBody>
      </p:sp>
      <p:sp>
        <p:nvSpPr>
          <p:cNvPr id="13" name="">
            <a:extLst xmlns:a="http://schemas.openxmlformats.org/drawingml/2006/main">
              <a:ext uri="{FF2B5EF4-FFF2-40B4-BE49-F238E27FC236}">
                <a16:creationId xmlns:a16="http://schemas.microsoft.com/office/drawing/2014/main" id="{4C160FD0-A5CD-43BF-8DFC-1C432E1ABBD2}"/>
              </a:ext>
            </a:extLst>
          </p:cNvPr>
          <p:cNvSpPr>
            <a:spLocks xmlns:a="http://schemas.openxmlformats.org/drawingml/2006/main" noGrp="1"/>
          </p:cNvSpPr>
          <p:nvPr/>
        </p:nvSpPr>
        <p:spPr>
          <a:xfrm xmlns:a="http://schemas.openxmlformats.org/drawingml/2006/main">
            <a:off x="4248150" y="2743200"/>
            <a:ext cx="819150" cy="819150"/>
          </a:xfrm>
          <a:prstGeom xmlns:a="http://schemas.openxmlformats.org/drawingml/2006/main" prst="ellipse">
            <a:avLst/>
          </a:prstGeom>
          <a:solidFill xmlns:a="http://schemas.openxmlformats.org/drawingml/2006/main">
            <a:srgbClr val="F0B8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29ADA1F-A244-49BE-812E-8C75F55FEC5F}"/>
              </a:ext>
            </a:extLst>
          </p:cNvPr>
          <p:cNvSpPr>
            <a:spLocks xmlns:a="http://schemas.openxmlformats.org/drawingml/2006/main" noGrp="1"/>
          </p:cNvSpPr>
          <p:nvPr/>
        </p:nvSpPr>
        <p:spPr>
          <a:xfrm xmlns:a="http://schemas.openxmlformats.org/drawingml/2006/main">
            <a:off x="4248150" y="2914650"/>
            <a:ext cx="819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17232B"/>
                </a:solidFill>
              </a:defRPr>
            </a:pPr>
            <a:r>
              <a:rPr sz="2400" b="1">
                <a:solidFill>
                  <a:srgbClr val="17232B"/>
                </a:solidFill>
              </a:rPr>
              <a:t>2</a:t>
            </a:r>
          </a:p>
        </p:txBody>
      </p:sp>
      <p:sp>
        <p:nvSpPr>
          <p:cNvPr id="15" name="">
            <a:extLst xmlns:a="http://schemas.openxmlformats.org/drawingml/2006/main">
              <a:ext uri="{FF2B5EF4-FFF2-40B4-BE49-F238E27FC236}">
                <a16:creationId xmlns:a16="http://schemas.microsoft.com/office/drawing/2014/main" id="{218EE5A5-66FB-4FF6-A593-C993E7D09478}"/>
              </a:ext>
            </a:extLst>
          </p:cNvPr>
          <p:cNvSpPr>
            <a:spLocks xmlns:a="http://schemas.openxmlformats.org/drawingml/2006/main" noGrp="1"/>
          </p:cNvSpPr>
          <p:nvPr/>
        </p:nvSpPr>
        <p:spPr>
          <a:xfrm xmlns:a="http://schemas.openxmlformats.org/drawingml/2006/main">
            <a:off x="5219700" y="2781300"/>
            <a:ext cx="2333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7232B"/>
                </a:solidFill>
              </a:defRPr>
            </a:pPr>
            <a:r>
              <a:rPr sz="1725" b="1">
                <a:solidFill>
                  <a:srgbClr val="17232B"/>
                </a:solidFill>
              </a:rPr>
              <a:t>Forces act on objects</a:t>
            </a:r>
          </a:p>
        </p:txBody>
      </p:sp>
      <p:sp>
        <p:nvSpPr>
          <p:cNvPr id="16" name="">
            <a:extLst xmlns:a="http://schemas.openxmlformats.org/drawingml/2006/main">
              <a:ext uri="{FF2B5EF4-FFF2-40B4-BE49-F238E27FC236}">
                <a16:creationId xmlns:a16="http://schemas.microsoft.com/office/drawing/2014/main" id="{F48EAD0A-5A8E-4DDD-AFBB-A0DF053FA4BB}"/>
              </a:ext>
            </a:extLst>
          </p:cNvPr>
          <p:cNvSpPr>
            <a:spLocks xmlns:a="http://schemas.openxmlformats.org/drawingml/2006/main" noGrp="1"/>
          </p:cNvSpPr>
          <p:nvPr/>
        </p:nvSpPr>
        <p:spPr>
          <a:xfrm xmlns:a="http://schemas.openxmlformats.org/drawingml/2006/main">
            <a:off x="7677150" y="2743200"/>
            <a:ext cx="819150" cy="819150"/>
          </a:xfrm>
          <a:prstGeom xmlns:a="http://schemas.openxmlformats.org/drawingml/2006/main" prst="ellipse">
            <a:avLst/>
          </a:prstGeom>
          <a:solidFill xmlns:a="http://schemas.openxmlformats.org/drawingml/2006/main">
            <a:srgbClr val="184F5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A9ABAFF-D250-4D2B-9EC8-5B77FE380FB9}"/>
              </a:ext>
            </a:extLst>
          </p:cNvPr>
          <p:cNvSpPr>
            <a:spLocks xmlns:a="http://schemas.openxmlformats.org/drawingml/2006/main" noGrp="1"/>
          </p:cNvSpPr>
          <p:nvPr/>
        </p:nvSpPr>
        <p:spPr>
          <a:xfrm xmlns:a="http://schemas.openxmlformats.org/drawingml/2006/main">
            <a:off x="7677150" y="2914650"/>
            <a:ext cx="819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FFFFFF"/>
                </a:solidFill>
              </a:defRPr>
            </a:pPr>
            <a:r>
              <a:rPr sz="2400" b="1">
                <a:solidFill>
                  <a:srgbClr val="FFFFFF"/>
                </a:solidFill>
              </a:rPr>
              <a:t>3</a:t>
            </a:r>
          </a:p>
        </p:txBody>
      </p:sp>
      <p:sp>
        <p:nvSpPr>
          <p:cNvPr id="18" name="">
            <a:extLst xmlns:a="http://schemas.openxmlformats.org/drawingml/2006/main">
              <a:ext uri="{FF2B5EF4-FFF2-40B4-BE49-F238E27FC236}">
                <a16:creationId xmlns:a16="http://schemas.microsoft.com/office/drawing/2014/main" id="{35B724A2-E31E-4479-9E10-81294D512C02}"/>
              </a:ext>
            </a:extLst>
          </p:cNvPr>
          <p:cNvSpPr>
            <a:spLocks xmlns:a="http://schemas.openxmlformats.org/drawingml/2006/main" noGrp="1"/>
          </p:cNvSpPr>
          <p:nvPr/>
        </p:nvSpPr>
        <p:spPr>
          <a:xfrm xmlns:a="http://schemas.openxmlformats.org/drawingml/2006/main">
            <a:off x="8648700" y="2781300"/>
            <a:ext cx="2333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7232B"/>
                </a:solidFill>
              </a:defRPr>
            </a:pPr>
            <a:r>
              <a:rPr sz="1725" b="1">
                <a:solidFill>
                  <a:srgbClr val="17232B"/>
                </a:solidFill>
              </a:rPr>
              <a:t>Fair evidence controls variables</a:t>
            </a:r>
          </a:p>
        </p:txBody>
      </p:sp>
      <p:sp>
        <p:nvSpPr>
          <p:cNvPr id="19" name="">
            <a:extLst xmlns:a="http://schemas.openxmlformats.org/drawingml/2006/main">
              <a:ext uri="{FF2B5EF4-FFF2-40B4-BE49-F238E27FC236}">
                <a16:creationId xmlns:a16="http://schemas.microsoft.com/office/drawing/2014/main" id="{3013E949-7FF3-48FF-8E78-C813EF72CCB3}"/>
              </a:ext>
            </a:extLst>
          </p:cNvPr>
          <p:cNvSpPr>
            <a:spLocks xmlns:a="http://schemas.openxmlformats.org/drawingml/2006/main" noGrp="1"/>
          </p:cNvSpPr>
          <p:nvPr/>
        </p:nvSpPr>
        <p:spPr>
          <a:xfrm xmlns:a="http://schemas.openxmlformats.org/drawingml/2006/main">
            <a:off x="685800" y="4686300"/>
            <a:ext cx="1082040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CAD4D8"/>
            </a:solidFill>
            <a:prstDash val="solid"/>
          </a:ln>
        </p:spPr>
      </p:sp>
      <p:sp>
        <p:nvSpPr>
          <p:cNvPr id="20" name="">
            <a:extLst xmlns:a="http://schemas.openxmlformats.org/drawingml/2006/main">
              <a:ext uri="{FF2B5EF4-FFF2-40B4-BE49-F238E27FC236}">
                <a16:creationId xmlns:a16="http://schemas.microsoft.com/office/drawing/2014/main" id="{67EB68D9-D443-4CF7-B714-252B2117DFB4}"/>
              </a:ext>
            </a:extLst>
          </p:cNvPr>
          <p:cNvSpPr>
            <a:spLocks xmlns:a="http://schemas.openxmlformats.org/drawingml/2006/main" noGrp="1"/>
          </p:cNvSpPr>
          <p:nvPr/>
        </p:nvSpPr>
        <p:spPr>
          <a:xfrm xmlns:a="http://schemas.openxmlformats.org/drawingml/2006/main">
            <a:off x="933450" y="489585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94424"/>
                </a:solidFill>
              </a:defRPr>
            </a:pPr>
            <a:r>
              <a:rPr sz="1200" b="1">
                <a:solidFill>
                  <a:srgbClr val="A94424"/>
                </a:solidFill>
              </a:rPr>
              <a:t>RETRIEVAL WARM-UP</a:t>
            </a:r>
          </a:p>
        </p:txBody>
      </p:sp>
      <p:sp>
        <p:nvSpPr>
          <p:cNvPr id="21" name="">
            <a:extLst xmlns:a="http://schemas.openxmlformats.org/drawingml/2006/main">
              <a:ext uri="{FF2B5EF4-FFF2-40B4-BE49-F238E27FC236}">
                <a16:creationId xmlns:a16="http://schemas.microsoft.com/office/drawing/2014/main" id="{91012D08-3766-401F-8AAF-0375D776563C}"/>
              </a:ext>
            </a:extLst>
          </p:cNvPr>
          <p:cNvSpPr>
            <a:spLocks xmlns:a="http://schemas.openxmlformats.org/drawingml/2006/main" noGrp="1"/>
          </p:cNvSpPr>
          <p:nvPr/>
        </p:nvSpPr>
        <p:spPr>
          <a:xfrm xmlns:a="http://schemas.openxmlformats.org/drawingml/2006/main">
            <a:off x="933450" y="5219700"/>
            <a:ext cx="1009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232B"/>
                </a:solidFill>
              </a:defRPr>
            </a:pPr>
            <a:r>
              <a:rPr sz="1650" b="1">
                <a:solidFill>
                  <a:srgbClr val="17232B"/>
                </a:solidFill>
              </a:rPr>
              <a:t>Where might stored energy transfer besides useful movement?</a:t>
            </a:r>
          </a:p>
        </p:txBody>
      </p:sp>
    </p:spTree>
    <p:extLst>
      <p:ext uri="{BB962C8B-B14F-4D97-AF65-F5344CB8AC3E}">
        <p14:creationId xmlns:p14="http://schemas.microsoft.com/office/powerpoint/2010/main" val="18290623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1AA3B58-7C14-4A69-B66D-27C68BFDE4F5}"/>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E132A61-F98E-4E3A-ABBA-979082C6415B}"/>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04  /  FORCE, MOTION AND PROTOTYPES</a:t>
            </a:r>
          </a:p>
        </p:txBody>
      </p:sp>
      <p:sp>
        <p:nvSpPr>
          <p:cNvPr id="3" name="">
            <a:extLst xmlns:a="http://schemas.openxmlformats.org/drawingml/2006/main">
              <a:ext uri="{FF2B5EF4-FFF2-40B4-BE49-F238E27FC236}">
                <a16:creationId xmlns:a16="http://schemas.microsoft.com/office/drawing/2014/main" id="{477694D3-B277-4D23-B312-3956A2AC049A}"/>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Energy transfers through useful and unwanted pathways</a:t>
            </a:r>
          </a:p>
        </p:txBody>
      </p:sp>
      <p:sp>
        <p:nvSpPr>
          <p:cNvPr id="4" name="">
            <a:extLst xmlns:a="http://schemas.openxmlformats.org/drawingml/2006/main">
              <a:ext uri="{FF2B5EF4-FFF2-40B4-BE49-F238E27FC236}">
                <a16:creationId xmlns:a16="http://schemas.microsoft.com/office/drawing/2014/main" id="{C9834EE7-4FC1-4CB2-A174-55A30BE442FD}"/>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08C9681E-0C80-4105-9494-AA52276FEA44}"/>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04</a:t>
            </a:r>
          </a:p>
        </p:txBody>
      </p:sp>
      <p:sp>
        <p:nvSpPr>
          <p:cNvPr id="6" name="">
            <a:extLst xmlns:a="http://schemas.openxmlformats.org/drawingml/2006/main">
              <a:ext uri="{FF2B5EF4-FFF2-40B4-BE49-F238E27FC236}">
                <a16:creationId xmlns:a16="http://schemas.microsoft.com/office/drawing/2014/main" id="{C30392CE-1462-446C-A2A8-A4D0123A85E6}"/>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03</a:t>
            </a:r>
          </a:p>
        </p:txBody>
      </p:sp>
      <p:sp>
        <p:nvSpPr>
          <p:cNvPr id="7" name="">
            <a:extLst xmlns:a="http://schemas.openxmlformats.org/drawingml/2006/main">
              <a:ext uri="{FF2B5EF4-FFF2-40B4-BE49-F238E27FC236}">
                <a16:creationId xmlns:a16="http://schemas.microsoft.com/office/drawing/2014/main" id="{043289D4-E5EE-4DB2-B4A9-778FA3ED126C}"/>
              </a:ext>
            </a:extLst>
          </p:cNvPr>
          <p:cNvSpPr>
            <a:spLocks xmlns:a="http://schemas.openxmlformats.org/drawingml/2006/main" noGrp="1"/>
          </p:cNvSpPr>
          <p:nvPr/>
        </p:nvSpPr>
        <p:spPr>
          <a:xfrm xmlns:a="http://schemas.openxmlformats.org/drawingml/2006/main">
            <a:off x="685800" y="1381125"/>
            <a:ext cx="48006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7232B"/>
                </a:solidFill>
              </a:defRPr>
            </a:pPr>
            <a:r>
              <a:rPr sz="1725" b="0">
                <a:solidFill>
                  <a:srgbClr val="17232B"/>
                </a:solidFill>
              </a:rPr>
              <a:t>Work done on an elastic component can store elastic potential energy. During a teacher-controlled release, energy can become kinetic energy in moving parts and the projectile, while other transfers appear as sound, heat, vibration, air movement or unwanted frame motion.</a:t>
            </a:r>
          </a:p>
        </p:txBody>
      </p:sp>
      <p:sp>
        <p:nvSpPr>
          <p:cNvPr id="8" name="">
            <a:extLst xmlns:a="http://schemas.openxmlformats.org/drawingml/2006/main">
              <a:ext uri="{FF2B5EF4-FFF2-40B4-BE49-F238E27FC236}">
                <a16:creationId xmlns:a16="http://schemas.microsoft.com/office/drawing/2014/main" id="{4CEDFDB1-7BC2-43FC-BFCE-DB5E28E1EA69}"/>
              </a:ext>
            </a:extLst>
          </p:cNvPr>
          <p:cNvSpPr>
            <a:spLocks xmlns:a="http://schemas.openxmlformats.org/drawingml/2006/main" noGrp="1"/>
          </p:cNvSpPr>
          <p:nvPr/>
        </p:nvSpPr>
        <p:spPr>
          <a:xfrm xmlns:a="http://schemas.openxmlformats.org/drawingml/2006/main">
            <a:off x="685800" y="3905250"/>
            <a:ext cx="4762500" cy="0"/>
          </a:xfrm>
          <a:prstGeom xmlns:a="http://schemas.openxmlformats.org/drawingml/2006/main" prst="line">
            <a:avLst/>
          </a:prstGeom>
          <a:noFill xmlns:a="http://schemas.openxmlformats.org/drawingml/2006/main"/>
          <a:ln xmlns:a="http://schemas.openxmlformats.org/drawingml/2006/main" w="38100">
            <a:solidFill>
              <a:srgbClr val="F0B84B"/>
            </a:solidFill>
            <a:prstDash val="solid"/>
          </a:ln>
        </p:spPr>
      </p:sp>
      <p:sp>
        <p:nvSpPr>
          <p:cNvPr id="9" name="">
            <a:extLst xmlns:a="http://schemas.openxmlformats.org/drawingml/2006/main">
              <a:ext uri="{FF2B5EF4-FFF2-40B4-BE49-F238E27FC236}">
                <a16:creationId xmlns:a16="http://schemas.microsoft.com/office/drawing/2014/main" id="{24408864-48E0-4B7E-825C-EA8138ACDEC2}"/>
              </a:ext>
            </a:extLst>
          </p:cNvPr>
          <p:cNvSpPr>
            <a:spLocks xmlns:a="http://schemas.openxmlformats.org/drawingml/2006/main" noGrp="1"/>
          </p:cNvSpPr>
          <p:nvPr/>
        </p:nvSpPr>
        <p:spPr>
          <a:xfrm xmlns:a="http://schemas.openxmlformats.org/drawingml/2006/main">
            <a:off x="685800" y="4171950"/>
            <a:ext cx="48006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A94424"/>
                </a:solidFill>
              </a:defRPr>
            </a:pPr>
            <a:r>
              <a:rPr sz="1575" b="1">
                <a:solidFill>
                  <a:srgbClr val="A94424"/>
                </a:solidFill>
              </a:rPr>
              <a:t>Evidence move: identify one intended and one unintended energy pathway from an observation.</a:t>
            </a:r>
          </a:p>
        </p:txBody>
      </p:sp>
      <p:sp>
        <p:nvSpPr>
          <p:cNvPr id="10" name="">
            <a:extLst xmlns:a="http://schemas.openxmlformats.org/drawingml/2006/main">
              <a:ext uri="{FF2B5EF4-FFF2-40B4-BE49-F238E27FC236}">
                <a16:creationId xmlns:a16="http://schemas.microsoft.com/office/drawing/2014/main" id="{F683727B-F76F-4B7A-8052-A5C36B9C1252}"/>
              </a:ext>
            </a:extLst>
          </p:cNvPr>
          <p:cNvSpPr>
            <a:spLocks xmlns:a="http://schemas.openxmlformats.org/drawingml/2006/main" noGrp="1"/>
          </p:cNvSpPr>
          <p:nvPr/>
        </p:nvSpPr>
        <p:spPr>
          <a:xfrm xmlns:a="http://schemas.openxmlformats.org/drawingml/2006/main">
            <a:off x="7581900" y="2371725"/>
            <a:ext cx="26670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5378C97-EEDD-4CDD-B252-CBFF15DFCAA1}"/>
              </a:ext>
            </a:extLst>
          </p:cNvPr>
          <p:cNvSpPr>
            <a:spLocks xmlns:a="http://schemas.openxmlformats.org/drawingml/2006/main" noGrp="1"/>
          </p:cNvSpPr>
          <p:nvPr/>
        </p:nvSpPr>
        <p:spPr>
          <a:xfrm xmlns:a="http://schemas.openxmlformats.org/drawingml/2006/main">
            <a:off x="9296400" y="2371725"/>
            <a:ext cx="26670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CB6FFA7-C4A5-45A0-A054-1CA9BE01510F}"/>
              </a:ext>
            </a:extLst>
          </p:cNvPr>
          <p:cNvSpPr>
            <a:spLocks xmlns:a="http://schemas.openxmlformats.org/drawingml/2006/main" noGrp="1"/>
          </p:cNvSpPr>
          <p:nvPr/>
        </p:nvSpPr>
        <p:spPr>
          <a:xfrm xmlns:a="http://schemas.openxmlformats.org/drawingml/2006/main">
            <a:off x="6191250" y="2076450"/>
            <a:ext cx="1333500" cy="838200"/>
          </a:xfrm>
          <a:prstGeom xmlns:a="http://schemas.openxmlformats.org/drawingml/2006/main" prst="roundRect">
            <a:avLst>
              <a:gd name="adj" fmla="val 9091"/>
            </a:avLst>
          </a:prstGeom>
          <a:solidFill xmlns:a="http://schemas.openxmlformats.org/drawingml/2006/main">
            <a:srgbClr val="E7EEF0"/>
          </a:solidFill>
          <a:ln xmlns:a="http://schemas.openxmlformats.org/drawingml/2006/main" w="9525">
            <a:solidFill>
              <a:srgbClr val="CAD4D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7232B"/>
                </a:solidFill>
              </a:defRPr>
            </a:pPr>
            <a:r>
              <a:rPr sz="1200" b="1">
                <a:solidFill>
                  <a:srgbClr val="17232B"/>
                </a:solidFill>
              </a:rPr>
              <a:t>STORED ENERGY</a:t>
            </a:r>
          </a:p>
        </p:txBody>
      </p:sp>
      <p:sp>
        <p:nvSpPr>
          <p:cNvPr id="13" name="">
            <a:extLst xmlns:a="http://schemas.openxmlformats.org/drawingml/2006/main">
              <a:ext uri="{FF2B5EF4-FFF2-40B4-BE49-F238E27FC236}">
                <a16:creationId xmlns:a16="http://schemas.microsoft.com/office/drawing/2014/main" id="{057413C5-EF93-436E-96B7-161C490A35CE}"/>
              </a:ext>
            </a:extLst>
          </p:cNvPr>
          <p:cNvSpPr>
            <a:spLocks xmlns:a="http://schemas.openxmlformats.org/drawingml/2006/main" noGrp="1"/>
          </p:cNvSpPr>
          <p:nvPr/>
        </p:nvSpPr>
        <p:spPr>
          <a:xfrm xmlns:a="http://schemas.openxmlformats.org/drawingml/2006/main">
            <a:off x="7905750" y="2076450"/>
            <a:ext cx="13335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CAD4D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7232B"/>
                </a:solidFill>
              </a:defRPr>
            </a:pPr>
            <a:r>
              <a:rPr sz="1200" b="1">
                <a:solidFill>
                  <a:srgbClr val="17232B"/>
                </a:solidFill>
              </a:rPr>
              <a:t>MOVING SYSTEM</a:t>
            </a:r>
          </a:p>
        </p:txBody>
      </p:sp>
      <p:sp>
        <p:nvSpPr>
          <p:cNvPr id="14" name="">
            <a:extLst xmlns:a="http://schemas.openxmlformats.org/drawingml/2006/main">
              <a:ext uri="{FF2B5EF4-FFF2-40B4-BE49-F238E27FC236}">
                <a16:creationId xmlns:a16="http://schemas.microsoft.com/office/drawing/2014/main" id="{7F805214-9A99-42F8-B67B-EB92F5CE3837}"/>
              </a:ext>
            </a:extLst>
          </p:cNvPr>
          <p:cNvSpPr>
            <a:spLocks xmlns:a="http://schemas.openxmlformats.org/drawingml/2006/main" noGrp="1"/>
          </p:cNvSpPr>
          <p:nvPr/>
        </p:nvSpPr>
        <p:spPr>
          <a:xfrm xmlns:a="http://schemas.openxmlformats.org/drawingml/2006/main">
            <a:off x="9620250" y="2076450"/>
            <a:ext cx="13335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CAD4D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7232B"/>
                </a:solidFill>
              </a:defRPr>
            </a:pPr>
            <a:r>
              <a:rPr sz="1200" b="1">
                <a:solidFill>
                  <a:srgbClr val="17232B"/>
                </a:solidFill>
              </a:rPr>
              <a:t>MULTIPLE OUTPUTS</a:t>
            </a:r>
          </a:p>
        </p:txBody>
      </p:sp>
      <p:sp>
        <p:nvSpPr>
          <p:cNvPr id="15" name="">
            <a:extLst xmlns:a="http://schemas.openxmlformats.org/drawingml/2006/main">
              <a:ext uri="{FF2B5EF4-FFF2-40B4-BE49-F238E27FC236}">
                <a16:creationId xmlns:a16="http://schemas.microsoft.com/office/drawing/2014/main" id="{A1505E1B-4C13-4F9B-8D8D-D2BCC63878A0}"/>
              </a:ext>
            </a:extLst>
          </p:cNvPr>
          <p:cNvSpPr>
            <a:spLocks xmlns:a="http://schemas.openxmlformats.org/drawingml/2006/main" noGrp="1"/>
          </p:cNvSpPr>
          <p:nvPr/>
        </p:nvSpPr>
        <p:spPr>
          <a:xfrm xmlns:a="http://schemas.openxmlformats.org/drawingml/2006/main">
            <a:off x="6191250" y="4762500"/>
            <a:ext cx="4762500" cy="552450"/>
          </a:xfrm>
          <a:prstGeom xmlns:a="http://schemas.openxmlformats.org/drawingml/2006/main" prst="rect">
            <a:avLst/>
          </a:prstGeom>
          <a:solidFill xmlns:a="http://schemas.openxmlformats.org/drawingml/2006/main">
            <a:srgbClr val="FFF4D8"/>
          </a:solidFill>
          <a:ln xmlns:a="http://schemas.openxmlformats.org/drawingml/2006/main" w="9525">
            <a:solidFill>
              <a:srgbClr val="F0B84B"/>
            </a:solidFill>
            <a:prstDash val="solid"/>
          </a:ln>
        </p:spPr>
        <p:txBody>
          <a:bodyPr xmlns:a="http://schemas.openxmlformats.org/drawingml/2006/main"/>
          <a:lstStyle xmlns:a="http://schemas.openxmlformats.org/drawingml/2006/main"/>
          <a:p xmlns:a="http://schemas.openxmlformats.org/drawingml/2006/main">
            <a:pPr algn="l">
              <a:defRPr sz="1350" b="1">
                <a:solidFill>
                  <a:srgbClr val="184F5E"/>
                </a:solidFill>
              </a:defRPr>
            </a:pPr>
            <a:r>
              <a:rPr sz="1350" b="1">
                <a:solidFill>
                  <a:srgbClr val="184F5E"/>
                </a:solidFill>
              </a:rPr>
              <a:t>NOTICE  Energy is transferred; it does not simply disappear when the system vibrates or makes sound.</a:t>
            </a:r>
          </a:p>
        </p:txBody>
      </p:sp>
    </p:spTree>
    <p:extLst>
      <p:ext uri="{BB962C8B-B14F-4D97-AF65-F5344CB8AC3E}">
        <p14:creationId xmlns:p14="http://schemas.microsoft.com/office/powerpoint/2010/main" val="14692532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F3F6B23-E9D5-43BE-BEE0-AB7EDBB5F09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537D12F-4563-4034-A917-84DCF9FF2804}"/>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04  /  FORCE, MOTION AND PROTOTYPES</a:t>
            </a:r>
          </a:p>
        </p:txBody>
      </p:sp>
      <p:sp>
        <p:nvSpPr>
          <p:cNvPr id="3" name="">
            <a:extLst xmlns:a="http://schemas.openxmlformats.org/drawingml/2006/main">
              <a:ext uri="{FF2B5EF4-FFF2-40B4-BE49-F238E27FC236}">
                <a16:creationId xmlns:a16="http://schemas.microsoft.com/office/drawing/2014/main" id="{60C9C46A-3770-4714-BA33-ABB46A31A741}"/>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Newton’s laws describe different parts of one event</a:t>
            </a:r>
          </a:p>
        </p:txBody>
      </p:sp>
      <p:sp>
        <p:nvSpPr>
          <p:cNvPr id="4" name="">
            <a:extLst xmlns:a="http://schemas.openxmlformats.org/drawingml/2006/main">
              <a:ext uri="{FF2B5EF4-FFF2-40B4-BE49-F238E27FC236}">
                <a16:creationId xmlns:a16="http://schemas.microsoft.com/office/drawing/2014/main" id="{66DC9C4F-BD20-4FF0-8A8D-51EF2EDFF6BC}"/>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B4A5E79B-B9FB-4AD9-9B48-116097B09227}"/>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04</a:t>
            </a:r>
          </a:p>
        </p:txBody>
      </p:sp>
      <p:sp>
        <p:nvSpPr>
          <p:cNvPr id="6" name="">
            <a:extLst xmlns:a="http://schemas.openxmlformats.org/drawingml/2006/main">
              <a:ext uri="{FF2B5EF4-FFF2-40B4-BE49-F238E27FC236}">
                <a16:creationId xmlns:a16="http://schemas.microsoft.com/office/drawing/2014/main" id="{D0BE345E-5ED8-483C-B5FA-D296EB0DEE81}"/>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04</a:t>
            </a:r>
          </a:p>
        </p:txBody>
      </p:sp>
      <p:sp>
        <p:nvSpPr>
          <p:cNvPr id="7" name="">
            <a:extLst xmlns:a="http://schemas.openxmlformats.org/drawingml/2006/main">
              <a:ext uri="{FF2B5EF4-FFF2-40B4-BE49-F238E27FC236}">
                <a16:creationId xmlns:a16="http://schemas.microsoft.com/office/drawing/2014/main" id="{5E1B3275-11AF-4C30-8359-9F23B49787EE}"/>
              </a:ext>
            </a:extLst>
          </p:cNvPr>
          <p:cNvSpPr>
            <a:spLocks xmlns:a="http://schemas.openxmlformats.org/drawingml/2006/main" noGrp="1"/>
          </p:cNvSpPr>
          <p:nvPr/>
        </p:nvSpPr>
        <p:spPr>
          <a:xfrm xmlns:a="http://schemas.openxmlformats.org/drawingml/2006/main">
            <a:off x="6705600" y="1381125"/>
            <a:ext cx="48006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7232B"/>
                </a:solidFill>
              </a:defRPr>
            </a:pPr>
            <a:r>
              <a:rPr sz="1725" b="0">
                <a:solidFill>
                  <a:srgbClr val="17232B"/>
                </a:solidFill>
              </a:rPr>
              <a:t>The first law describes motion changing when a net external force acts. The second links net force, mass and acceleration. The third identifies equal-and-opposite force pairs acting on different objects. Separate the objects so the forces are not incorrectly cancelled in one vague diagram.</a:t>
            </a:r>
          </a:p>
        </p:txBody>
      </p:sp>
      <p:sp>
        <p:nvSpPr>
          <p:cNvPr id="8" name="">
            <a:extLst xmlns:a="http://schemas.openxmlformats.org/drawingml/2006/main">
              <a:ext uri="{FF2B5EF4-FFF2-40B4-BE49-F238E27FC236}">
                <a16:creationId xmlns:a16="http://schemas.microsoft.com/office/drawing/2014/main" id="{D3E9D688-9DBD-4275-8E15-7496574CCA7D}"/>
              </a:ext>
            </a:extLst>
          </p:cNvPr>
          <p:cNvSpPr>
            <a:spLocks xmlns:a="http://schemas.openxmlformats.org/drawingml/2006/main" noGrp="1"/>
          </p:cNvSpPr>
          <p:nvPr/>
        </p:nvSpPr>
        <p:spPr>
          <a:xfrm xmlns:a="http://schemas.openxmlformats.org/drawingml/2006/main">
            <a:off x="6705600" y="3905250"/>
            <a:ext cx="4762500" cy="0"/>
          </a:xfrm>
          <a:prstGeom xmlns:a="http://schemas.openxmlformats.org/drawingml/2006/main" prst="line">
            <a:avLst/>
          </a:prstGeom>
          <a:noFill xmlns:a="http://schemas.openxmlformats.org/drawingml/2006/main"/>
          <a:ln xmlns:a="http://schemas.openxmlformats.org/drawingml/2006/main" w="38100">
            <a:solidFill>
              <a:srgbClr val="F0B84B"/>
            </a:solidFill>
            <a:prstDash val="solid"/>
          </a:ln>
        </p:spPr>
      </p:sp>
      <p:sp>
        <p:nvSpPr>
          <p:cNvPr id="9" name="">
            <a:extLst xmlns:a="http://schemas.openxmlformats.org/drawingml/2006/main">
              <a:ext uri="{FF2B5EF4-FFF2-40B4-BE49-F238E27FC236}">
                <a16:creationId xmlns:a16="http://schemas.microsoft.com/office/drawing/2014/main" id="{DD090F4A-CF8F-49B3-B42A-6E1AAB1721F5}"/>
              </a:ext>
            </a:extLst>
          </p:cNvPr>
          <p:cNvSpPr>
            <a:spLocks xmlns:a="http://schemas.openxmlformats.org/drawingml/2006/main" noGrp="1"/>
          </p:cNvSpPr>
          <p:nvPr/>
        </p:nvSpPr>
        <p:spPr>
          <a:xfrm xmlns:a="http://schemas.openxmlformats.org/drawingml/2006/main">
            <a:off x="6705600" y="4171950"/>
            <a:ext cx="48006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A94424"/>
                </a:solidFill>
              </a:defRPr>
            </a:pPr>
            <a:r>
              <a:rPr sz="1575" b="1">
                <a:solidFill>
                  <a:srgbClr val="A94424"/>
                </a:solidFill>
              </a:rPr>
              <a:t>Explain: choose one moving object and name the force relationship that changes its motion.</a:t>
            </a:r>
          </a:p>
        </p:txBody>
      </p:sp>
      <p:sp>
        <p:nvSpPr>
          <p:cNvPr id="10" name="">
            <a:extLst xmlns:a="http://schemas.openxmlformats.org/drawingml/2006/main">
              <a:ext uri="{FF2B5EF4-FFF2-40B4-BE49-F238E27FC236}">
                <a16:creationId xmlns:a16="http://schemas.microsoft.com/office/drawing/2014/main" id="{B2B09823-7B2D-44D4-B312-B608ACF5DE6D}"/>
              </a:ext>
            </a:extLst>
          </p:cNvPr>
          <p:cNvSpPr>
            <a:spLocks xmlns:a="http://schemas.openxmlformats.org/drawingml/2006/main" noGrp="1"/>
          </p:cNvSpPr>
          <p:nvPr/>
        </p:nvSpPr>
        <p:spPr>
          <a:xfrm xmlns:a="http://schemas.openxmlformats.org/drawingml/2006/main">
            <a:off x="2006600" y="2362200"/>
            <a:ext cx="36195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2D81155-0930-4DA2-B03A-9F8115A008D4}"/>
              </a:ext>
            </a:extLst>
          </p:cNvPr>
          <p:cNvSpPr>
            <a:spLocks xmlns:a="http://schemas.openxmlformats.org/drawingml/2006/main" noGrp="1"/>
          </p:cNvSpPr>
          <p:nvPr/>
        </p:nvSpPr>
        <p:spPr>
          <a:xfrm xmlns:a="http://schemas.openxmlformats.org/drawingml/2006/main">
            <a:off x="3765550" y="2362200"/>
            <a:ext cx="36195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FBDD923-2F5B-4F65-966B-E4901366A0BD}"/>
              </a:ext>
            </a:extLst>
          </p:cNvPr>
          <p:cNvSpPr>
            <a:spLocks xmlns:a="http://schemas.openxmlformats.org/drawingml/2006/main" noGrp="1"/>
          </p:cNvSpPr>
          <p:nvPr/>
        </p:nvSpPr>
        <p:spPr>
          <a:xfrm xmlns:a="http://schemas.openxmlformats.org/drawingml/2006/main">
            <a:off x="685800" y="1962150"/>
            <a:ext cx="1244600" cy="876300"/>
          </a:xfrm>
          <a:prstGeom xmlns:a="http://schemas.openxmlformats.org/drawingml/2006/main" prst="roundRect">
            <a:avLst>
              <a:gd name="adj" fmla="val 8696"/>
            </a:avLst>
          </a:prstGeom>
          <a:solidFill xmlns:a="http://schemas.openxmlformats.org/drawingml/2006/main">
            <a:srgbClr val="E7EEF0"/>
          </a:solidFill>
          <a:ln xmlns:a="http://schemas.openxmlformats.org/drawingml/2006/main" w="9525">
            <a:solidFill>
              <a:srgbClr val="CAD4D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7232B"/>
                </a:solidFill>
              </a:defRPr>
            </a:pPr>
            <a:r>
              <a:rPr sz="1200" b="1">
                <a:solidFill>
                  <a:srgbClr val="17232B"/>
                </a:solidFill>
              </a:rPr>
              <a:t>MOTION + NET FORCE</a:t>
            </a:r>
          </a:p>
        </p:txBody>
      </p:sp>
      <p:sp>
        <p:nvSpPr>
          <p:cNvPr id="13" name="">
            <a:extLst xmlns:a="http://schemas.openxmlformats.org/drawingml/2006/main">
              <a:ext uri="{FF2B5EF4-FFF2-40B4-BE49-F238E27FC236}">
                <a16:creationId xmlns:a16="http://schemas.microsoft.com/office/drawing/2014/main" id="{FA96EE3F-807A-4CFD-B739-6B671E9C87B7}"/>
              </a:ext>
            </a:extLst>
          </p:cNvPr>
          <p:cNvSpPr>
            <a:spLocks xmlns:a="http://schemas.openxmlformats.org/drawingml/2006/main" noGrp="1"/>
          </p:cNvSpPr>
          <p:nvPr/>
        </p:nvSpPr>
        <p:spPr>
          <a:xfrm xmlns:a="http://schemas.openxmlformats.org/drawingml/2006/main">
            <a:off x="2444750" y="2228850"/>
            <a:ext cx="12446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CAD4D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7232B"/>
                </a:solidFill>
              </a:defRPr>
            </a:pPr>
            <a:r>
              <a:rPr sz="1200" b="1">
                <a:solidFill>
                  <a:srgbClr val="17232B"/>
                </a:solidFill>
              </a:rPr>
              <a:t>F = m × a</a:t>
            </a:r>
          </a:p>
        </p:txBody>
      </p:sp>
      <p:sp>
        <p:nvSpPr>
          <p:cNvPr id="14" name="">
            <a:extLst xmlns:a="http://schemas.openxmlformats.org/drawingml/2006/main">
              <a:ext uri="{FF2B5EF4-FFF2-40B4-BE49-F238E27FC236}">
                <a16:creationId xmlns:a16="http://schemas.microsoft.com/office/drawing/2014/main" id="{18A82968-5F4A-4AD6-95A8-03922008BFDB}"/>
              </a:ext>
            </a:extLst>
          </p:cNvPr>
          <p:cNvSpPr>
            <a:spLocks xmlns:a="http://schemas.openxmlformats.org/drawingml/2006/main" noGrp="1"/>
          </p:cNvSpPr>
          <p:nvPr/>
        </p:nvSpPr>
        <p:spPr>
          <a:xfrm xmlns:a="http://schemas.openxmlformats.org/drawingml/2006/main">
            <a:off x="4203700" y="2495550"/>
            <a:ext cx="1244600" cy="876300"/>
          </a:xfrm>
          <a:prstGeom xmlns:a="http://schemas.openxmlformats.org/drawingml/2006/main" prst="roundRect">
            <a:avLst>
              <a:gd name="adj" fmla="val 8696"/>
            </a:avLst>
          </a:prstGeom>
          <a:solidFill xmlns:a="http://schemas.openxmlformats.org/drawingml/2006/main">
            <a:srgbClr val="E7EEF0"/>
          </a:solidFill>
          <a:ln xmlns:a="http://schemas.openxmlformats.org/drawingml/2006/main" w="9525">
            <a:solidFill>
              <a:srgbClr val="CAD4D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7232B"/>
                </a:solidFill>
              </a:defRPr>
            </a:pPr>
            <a:r>
              <a:rPr sz="1200" b="1">
                <a:solidFill>
                  <a:srgbClr val="17232B"/>
                </a:solidFill>
              </a:rPr>
              <a:t>FORCE PAIR: TWO OBJECTS</a:t>
            </a:r>
          </a:p>
        </p:txBody>
      </p:sp>
      <p:sp>
        <p:nvSpPr>
          <p:cNvPr id="15" name="">
            <a:extLst xmlns:a="http://schemas.openxmlformats.org/drawingml/2006/main">
              <a:ext uri="{FF2B5EF4-FFF2-40B4-BE49-F238E27FC236}">
                <a16:creationId xmlns:a16="http://schemas.microsoft.com/office/drawing/2014/main" id="{4B404ACC-6CAA-4F08-AABF-26014D62C4EB}"/>
              </a:ext>
            </a:extLst>
          </p:cNvPr>
          <p:cNvSpPr>
            <a:spLocks xmlns:a="http://schemas.openxmlformats.org/drawingml/2006/main" noGrp="1"/>
          </p:cNvSpPr>
          <p:nvPr/>
        </p:nvSpPr>
        <p:spPr>
          <a:xfrm xmlns:a="http://schemas.openxmlformats.org/drawingml/2006/main">
            <a:off x="685800" y="4762500"/>
            <a:ext cx="4762500" cy="552450"/>
          </a:xfrm>
          <a:prstGeom xmlns:a="http://schemas.openxmlformats.org/drawingml/2006/main" prst="rect">
            <a:avLst/>
          </a:prstGeom>
          <a:solidFill xmlns:a="http://schemas.openxmlformats.org/drawingml/2006/main">
            <a:srgbClr val="FFF4D8"/>
          </a:solidFill>
          <a:ln xmlns:a="http://schemas.openxmlformats.org/drawingml/2006/main" w="9525">
            <a:solidFill>
              <a:srgbClr val="F0B84B"/>
            </a:solidFill>
            <a:prstDash val="solid"/>
          </a:ln>
        </p:spPr>
        <p:txBody>
          <a:bodyPr xmlns:a="http://schemas.openxmlformats.org/drawingml/2006/main"/>
          <a:lstStyle xmlns:a="http://schemas.openxmlformats.org/drawingml/2006/main"/>
          <a:p xmlns:a="http://schemas.openxmlformats.org/drawingml/2006/main">
            <a:pPr algn="l">
              <a:defRPr sz="1350" b="1">
                <a:solidFill>
                  <a:srgbClr val="184F5E"/>
                </a:solidFill>
              </a:defRPr>
            </a:pPr>
            <a:r>
              <a:rPr sz="1350" b="1">
                <a:solidFill>
                  <a:srgbClr val="184F5E"/>
                </a:solidFill>
              </a:rPr>
              <a:t>NOTICE  Each law answers a different question; the force pair acts on different objects.</a:t>
            </a:r>
          </a:p>
        </p:txBody>
      </p:sp>
    </p:spTree>
    <p:extLst>
      <p:ext uri="{BB962C8B-B14F-4D97-AF65-F5344CB8AC3E}">
        <p14:creationId xmlns:p14="http://schemas.microsoft.com/office/powerpoint/2010/main" val="134515407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302E6A4-ADA7-4F8A-AD85-F7A6DC0119ED}"/>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847F76D-F4E9-4B2B-999E-8673DB993091}"/>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04  /  FORCE, MOTION AND PROTOTYPES</a:t>
            </a:r>
          </a:p>
        </p:txBody>
      </p:sp>
      <p:sp>
        <p:nvSpPr>
          <p:cNvPr id="3" name="">
            <a:extLst xmlns:a="http://schemas.openxmlformats.org/drawingml/2006/main">
              <a:ext uri="{FF2B5EF4-FFF2-40B4-BE49-F238E27FC236}">
                <a16:creationId xmlns:a16="http://schemas.microsoft.com/office/drawing/2014/main" id="{FC0ECD84-9EA2-42A6-B646-747A3418E595}"/>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A prototype earns value through a clear question</a:t>
            </a:r>
          </a:p>
        </p:txBody>
      </p:sp>
      <p:sp>
        <p:nvSpPr>
          <p:cNvPr id="4" name="">
            <a:extLst xmlns:a="http://schemas.openxmlformats.org/drawingml/2006/main">
              <a:ext uri="{FF2B5EF4-FFF2-40B4-BE49-F238E27FC236}">
                <a16:creationId xmlns:a16="http://schemas.microsoft.com/office/drawing/2014/main" id="{2CDF9DAF-E5FF-49AD-A56A-3462A8D18437}"/>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582F6BE2-22C0-40E9-8643-F516FCF38103}"/>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04</a:t>
            </a:r>
          </a:p>
        </p:txBody>
      </p:sp>
      <p:sp>
        <p:nvSpPr>
          <p:cNvPr id="6" name="">
            <a:extLst xmlns:a="http://schemas.openxmlformats.org/drawingml/2006/main">
              <a:ext uri="{FF2B5EF4-FFF2-40B4-BE49-F238E27FC236}">
                <a16:creationId xmlns:a16="http://schemas.microsoft.com/office/drawing/2014/main" id="{76E9E990-92FD-496B-A1B4-E388B11049E0}"/>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05</a:t>
            </a:r>
          </a:p>
        </p:txBody>
      </p:sp>
      <p:sp>
        <p:nvSpPr>
          <p:cNvPr id="7" name="">
            <a:extLst xmlns:a="http://schemas.openxmlformats.org/drawingml/2006/main">
              <a:ext uri="{FF2B5EF4-FFF2-40B4-BE49-F238E27FC236}">
                <a16:creationId xmlns:a16="http://schemas.microsoft.com/office/drawing/2014/main" id="{DA2C9372-D117-4415-9254-69F23D29748A}"/>
              </a:ext>
            </a:extLst>
          </p:cNvPr>
          <p:cNvSpPr>
            <a:spLocks xmlns:a="http://schemas.openxmlformats.org/drawingml/2006/main" noGrp="1"/>
          </p:cNvSpPr>
          <p:nvPr/>
        </p:nvSpPr>
        <p:spPr>
          <a:xfrm xmlns:a="http://schemas.openxmlformats.org/drawingml/2006/main">
            <a:off x="685800" y="1381125"/>
            <a:ext cx="48006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7232B"/>
                </a:solidFill>
              </a:defRPr>
            </a:pPr>
            <a:r>
              <a:rPr sz="1725" b="0">
                <a:solidFill>
                  <a:srgbClr val="17232B"/>
                </a:solidFill>
              </a:rPr>
              <a:t>A prototype investigates one relationship before full production. A fair comparison changes one chosen variable, keeps important conditions consistent and repeats observations. Its value is the evidence it produces, not how finished it looks. The activity and conditions remain teacher directed.</a:t>
            </a:r>
          </a:p>
        </p:txBody>
      </p:sp>
      <p:sp>
        <p:nvSpPr>
          <p:cNvPr id="8" name="">
            <a:extLst xmlns:a="http://schemas.openxmlformats.org/drawingml/2006/main">
              <a:ext uri="{FF2B5EF4-FFF2-40B4-BE49-F238E27FC236}">
                <a16:creationId xmlns:a16="http://schemas.microsoft.com/office/drawing/2014/main" id="{AC73B546-5C52-4C2A-B5F7-6A7A76494FE5}"/>
              </a:ext>
            </a:extLst>
          </p:cNvPr>
          <p:cNvSpPr>
            <a:spLocks xmlns:a="http://schemas.openxmlformats.org/drawingml/2006/main" noGrp="1"/>
          </p:cNvSpPr>
          <p:nvPr/>
        </p:nvSpPr>
        <p:spPr>
          <a:xfrm xmlns:a="http://schemas.openxmlformats.org/drawingml/2006/main">
            <a:off x="685800" y="3905250"/>
            <a:ext cx="4762500" cy="0"/>
          </a:xfrm>
          <a:prstGeom xmlns:a="http://schemas.openxmlformats.org/drawingml/2006/main" prst="line">
            <a:avLst/>
          </a:prstGeom>
          <a:noFill xmlns:a="http://schemas.openxmlformats.org/drawingml/2006/main"/>
          <a:ln xmlns:a="http://schemas.openxmlformats.org/drawingml/2006/main" w="38100">
            <a:solidFill>
              <a:srgbClr val="F0B84B"/>
            </a:solidFill>
            <a:prstDash val="solid"/>
          </a:ln>
        </p:spPr>
      </p:sp>
      <p:sp>
        <p:nvSpPr>
          <p:cNvPr id="9" name="">
            <a:extLst xmlns:a="http://schemas.openxmlformats.org/drawingml/2006/main">
              <a:ext uri="{FF2B5EF4-FFF2-40B4-BE49-F238E27FC236}">
                <a16:creationId xmlns:a16="http://schemas.microsoft.com/office/drawing/2014/main" id="{0FAA28F1-326B-4CDD-9F4C-D646F4A19E67}"/>
              </a:ext>
            </a:extLst>
          </p:cNvPr>
          <p:cNvSpPr>
            <a:spLocks xmlns:a="http://schemas.openxmlformats.org/drawingml/2006/main" noGrp="1"/>
          </p:cNvSpPr>
          <p:nvPr/>
        </p:nvSpPr>
        <p:spPr>
          <a:xfrm xmlns:a="http://schemas.openxmlformats.org/drawingml/2006/main">
            <a:off x="685800" y="4171950"/>
            <a:ext cx="48006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A94424"/>
                </a:solidFill>
              </a:defRPr>
            </a:pPr>
            <a:r>
              <a:rPr sz="1575" b="1">
                <a:solidFill>
                  <a:srgbClr val="A94424"/>
                </a:solidFill>
              </a:rPr>
              <a:t>Design the evidence: name one changed variable, two controls and the observation that would answer the question.</a:t>
            </a:r>
          </a:p>
        </p:txBody>
      </p:sp>
      <p:sp>
        <p:nvSpPr>
          <p:cNvPr id="10" name="">
            <a:extLst xmlns:a="http://schemas.openxmlformats.org/drawingml/2006/main">
              <a:ext uri="{FF2B5EF4-FFF2-40B4-BE49-F238E27FC236}">
                <a16:creationId xmlns:a16="http://schemas.microsoft.com/office/drawing/2014/main" id="{91803727-76DF-4AEF-9DC2-C8FF9D1F707F}"/>
              </a:ext>
            </a:extLst>
          </p:cNvPr>
          <p:cNvSpPr>
            <a:spLocks xmlns:a="http://schemas.openxmlformats.org/drawingml/2006/main" noGrp="1"/>
          </p:cNvSpPr>
          <p:nvPr/>
        </p:nvSpPr>
        <p:spPr>
          <a:xfrm xmlns:a="http://schemas.openxmlformats.org/drawingml/2006/main" rot="2280000">
            <a:off x="9334500" y="2114550"/>
            <a:ext cx="714375"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EC5B05F-596E-4C6F-8767-DC3CB58264BD}"/>
              </a:ext>
            </a:extLst>
          </p:cNvPr>
          <p:cNvSpPr>
            <a:spLocks xmlns:a="http://schemas.openxmlformats.org/drawingml/2006/main" noGrp="1"/>
          </p:cNvSpPr>
          <p:nvPr/>
        </p:nvSpPr>
        <p:spPr>
          <a:xfrm xmlns:a="http://schemas.openxmlformats.org/drawingml/2006/main" rot="8520000">
            <a:off x="9334500" y="3295650"/>
            <a:ext cx="714375"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4FA8595-E3E6-47B7-8C22-13FAC129551B}"/>
              </a:ext>
            </a:extLst>
          </p:cNvPr>
          <p:cNvSpPr>
            <a:spLocks xmlns:a="http://schemas.openxmlformats.org/drawingml/2006/main" noGrp="1"/>
          </p:cNvSpPr>
          <p:nvPr/>
        </p:nvSpPr>
        <p:spPr>
          <a:xfrm xmlns:a="http://schemas.openxmlformats.org/drawingml/2006/main" rot="13080000">
            <a:off x="6934200" y="3295650"/>
            <a:ext cx="714375"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731DC13-CED4-4883-A169-857EE3E01E4B}"/>
              </a:ext>
            </a:extLst>
          </p:cNvPr>
          <p:cNvSpPr>
            <a:spLocks xmlns:a="http://schemas.openxmlformats.org/drawingml/2006/main" noGrp="1"/>
          </p:cNvSpPr>
          <p:nvPr/>
        </p:nvSpPr>
        <p:spPr>
          <a:xfrm xmlns:a="http://schemas.openxmlformats.org/drawingml/2006/main" rot="19320000">
            <a:off x="6934200" y="2114550"/>
            <a:ext cx="714375"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6AB8D7C-7B50-45F6-9B37-4F463CC950FB}"/>
              </a:ext>
            </a:extLst>
          </p:cNvPr>
          <p:cNvSpPr>
            <a:spLocks xmlns:a="http://schemas.openxmlformats.org/drawingml/2006/main" noGrp="1"/>
          </p:cNvSpPr>
          <p:nvPr/>
        </p:nvSpPr>
        <p:spPr>
          <a:xfrm xmlns:a="http://schemas.openxmlformats.org/drawingml/2006/main">
            <a:off x="7886700" y="1409700"/>
            <a:ext cx="1428750" cy="704850"/>
          </a:xfrm>
          <a:prstGeom xmlns:a="http://schemas.openxmlformats.org/drawingml/2006/main" prst="roundRect">
            <a:avLst>
              <a:gd name="adj" fmla="val 10811"/>
            </a:avLst>
          </a:prstGeom>
          <a:solidFill xmlns:a="http://schemas.openxmlformats.org/drawingml/2006/main">
            <a:srgbClr val="E7EEF0"/>
          </a:solidFill>
          <a:ln xmlns:a="http://schemas.openxmlformats.org/drawingml/2006/main" w="9525">
            <a:solidFill>
              <a:srgbClr val="CAD4D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7232B"/>
                </a:solidFill>
              </a:defRPr>
            </a:pPr>
            <a:r>
              <a:rPr sz="1200" b="1">
                <a:solidFill>
                  <a:srgbClr val="17232B"/>
                </a:solidFill>
              </a:rPr>
              <a:t>QUESTION</a:t>
            </a:r>
          </a:p>
        </p:txBody>
      </p:sp>
      <p:sp>
        <p:nvSpPr>
          <p:cNvPr id="15" name="">
            <a:extLst xmlns:a="http://schemas.openxmlformats.org/drawingml/2006/main">
              <a:ext uri="{FF2B5EF4-FFF2-40B4-BE49-F238E27FC236}">
                <a16:creationId xmlns:a16="http://schemas.microsoft.com/office/drawing/2014/main" id="{8DB0ED23-2E07-405C-9F47-B32974871323}"/>
              </a:ext>
            </a:extLst>
          </p:cNvPr>
          <p:cNvSpPr>
            <a:spLocks xmlns:a="http://schemas.openxmlformats.org/drawingml/2006/main" noGrp="1"/>
          </p:cNvSpPr>
          <p:nvPr/>
        </p:nvSpPr>
        <p:spPr>
          <a:xfrm xmlns:a="http://schemas.openxmlformats.org/drawingml/2006/main">
            <a:off x="9639300" y="2362200"/>
            <a:ext cx="142875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CAD4D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7232B"/>
                </a:solidFill>
              </a:defRPr>
            </a:pPr>
            <a:r>
              <a:rPr sz="1200" b="1">
                <a:solidFill>
                  <a:srgbClr val="17232B"/>
                </a:solidFill>
              </a:rPr>
              <a:t>ONE CHANGE</a:t>
            </a:r>
          </a:p>
        </p:txBody>
      </p:sp>
      <p:sp>
        <p:nvSpPr>
          <p:cNvPr id="16" name="">
            <a:extLst xmlns:a="http://schemas.openxmlformats.org/drawingml/2006/main">
              <a:ext uri="{FF2B5EF4-FFF2-40B4-BE49-F238E27FC236}">
                <a16:creationId xmlns:a16="http://schemas.microsoft.com/office/drawing/2014/main" id="{A4BBD008-74F6-4FED-BEEF-7577707500E1}"/>
              </a:ext>
            </a:extLst>
          </p:cNvPr>
          <p:cNvSpPr>
            <a:spLocks xmlns:a="http://schemas.openxmlformats.org/drawingml/2006/main" noGrp="1"/>
          </p:cNvSpPr>
          <p:nvPr/>
        </p:nvSpPr>
        <p:spPr>
          <a:xfrm xmlns:a="http://schemas.openxmlformats.org/drawingml/2006/main">
            <a:off x="7886700" y="3314700"/>
            <a:ext cx="1428750" cy="704850"/>
          </a:xfrm>
          <a:prstGeom xmlns:a="http://schemas.openxmlformats.org/drawingml/2006/main" prst="roundRect">
            <a:avLst>
              <a:gd name="adj" fmla="val 10811"/>
            </a:avLst>
          </a:prstGeom>
          <a:solidFill xmlns:a="http://schemas.openxmlformats.org/drawingml/2006/main">
            <a:srgbClr val="E7EEF0"/>
          </a:solidFill>
          <a:ln xmlns:a="http://schemas.openxmlformats.org/drawingml/2006/main" w="9525">
            <a:solidFill>
              <a:srgbClr val="CAD4D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7232B"/>
                </a:solidFill>
              </a:defRPr>
            </a:pPr>
            <a:r>
              <a:rPr sz="1200" b="1">
                <a:solidFill>
                  <a:srgbClr val="17232B"/>
                </a:solidFill>
              </a:rPr>
              <a:t>REPEAT</a:t>
            </a:r>
          </a:p>
        </p:txBody>
      </p:sp>
      <p:sp>
        <p:nvSpPr>
          <p:cNvPr id="17" name="">
            <a:extLst xmlns:a="http://schemas.openxmlformats.org/drawingml/2006/main">
              <a:ext uri="{FF2B5EF4-FFF2-40B4-BE49-F238E27FC236}">
                <a16:creationId xmlns:a16="http://schemas.microsoft.com/office/drawing/2014/main" id="{60564253-6E56-4A31-8E4C-8B412DE48072}"/>
              </a:ext>
            </a:extLst>
          </p:cNvPr>
          <p:cNvSpPr>
            <a:spLocks xmlns:a="http://schemas.openxmlformats.org/drawingml/2006/main" noGrp="1"/>
          </p:cNvSpPr>
          <p:nvPr/>
        </p:nvSpPr>
        <p:spPr>
          <a:xfrm xmlns:a="http://schemas.openxmlformats.org/drawingml/2006/main">
            <a:off x="6134100" y="2362200"/>
            <a:ext cx="142875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CAD4D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7232B"/>
                </a:solidFill>
              </a:defRPr>
            </a:pPr>
            <a:r>
              <a:rPr sz="1200" b="1">
                <a:solidFill>
                  <a:srgbClr val="17232B"/>
                </a:solidFill>
              </a:rPr>
              <a:t>DECIDE</a:t>
            </a:r>
          </a:p>
        </p:txBody>
      </p:sp>
      <p:sp>
        <p:nvSpPr>
          <p:cNvPr id="18" name="">
            <a:extLst xmlns:a="http://schemas.openxmlformats.org/drawingml/2006/main">
              <a:ext uri="{FF2B5EF4-FFF2-40B4-BE49-F238E27FC236}">
                <a16:creationId xmlns:a16="http://schemas.microsoft.com/office/drawing/2014/main" id="{D0034D13-808D-4978-A247-817234AB2ED8}"/>
              </a:ext>
            </a:extLst>
          </p:cNvPr>
          <p:cNvSpPr>
            <a:spLocks xmlns:a="http://schemas.openxmlformats.org/drawingml/2006/main" noGrp="1"/>
          </p:cNvSpPr>
          <p:nvPr/>
        </p:nvSpPr>
        <p:spPr>
          <a:xfrm xmlns:a="http://schemas.openxmlformats.org/drawingml/2006/main">
            <a:off x="6191250" y="4762500"/>
            <a:ext cx="4762500" cy="552450"/>
          </a:xfrm>
          <a:prstGeom xmlns:a="http://schemas.openxmlformats.org/drawingml/2006/main" prst="rect">
            <a:avLst/>
          </a:prstGeom>
          <a:solidFill xmlns:a="http://schemas.openxmlformats.org/drawingml/2006/main">
            <a:srgbClr val="FFF4D8"/>
          </a:solidFill>
          <a:ln xmlns:a="http://schemas.openxmlformats.org/drawingml/2006/main" w="9525">
            <a:solidFill>
              <a:srgbClr val="F0B84B"/>
            </a:solidFill>
            <a:prstDash val="solid"/>
          </a:ln>
        </p:spPr>
        <p:txBody>
          <a:bodyPr xmlns:a="http://schemas.openxmlformats.org/drawingml/2006/main"/>
          <a:lstStyle xmlns:a="http://schemas.openxmlformats.org/drawingml/2006/main"/>
          <a:p xmlns:a="http://schemas.openxmlformats.org/drawingml/2006/main">
            <a:pPr algn="l">
              <a:defRPr sz="1350" b="1">
                <a:solidFill>
                  <a:srgbClr val="184F5E"/>
                </a:solidFill>
              </a:defRPr>
            </a:pPr>
            <a:r>
              <a:rPr sz="1350" b="1">
                <a:solidFill>
                  <a:srgbClr val="184F5E"/>
                </a:solidFill>
              </a:rPr>
              <a:t>NOTICE  Control and repetition make the reasoning visible enough for another person to check.</a:t>
            </a:r>
          </a:p>
        </p:txBody>
      </p:sp>
    </p:spTree>
    <p:extLst>
      <p:ext uri="{BB962C8B-B14F-4D97-AF65-F5344CB8AC3E}">
        <p14:creationId xmlns:p14="http://schemas.microsoft.com/office/powerpoint/2010/main" val="523296560"/>
      </p:ext>
    </p:extLst>
  </p:cSld>
</p:sld>
</file>

<file path=ppt/slides/slide6.xml><?xml version="1.0" encoding="utf-8"?>
<p:sld xmlns:p="http://schemas.openxmlformats.org/presentationml/2006/main">
  <p:cSld>
    <p:bg>
      <p:bgPr>
        <a:solidFill xmlns:a="http://schemas.openxmlformats.org/drawingml/2006/main">
          <a:srgbClr val="0B3541"/>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FB9E98C-0240-4006-A28B-8555E68D22D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8413F5E-E1BB-4D44-9AD3-5BF72DC7DF5B}"/>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F0B84B"/>
                </a:solidFill>
              </a:defRPr>
            </a:pPr>
            <a:r>
              <a:rPr sz="1050" b="1">
                <a:solidFill>
                  <a:srgbClr val="F0B84B"/>
                </a:solidFill>
              </a:rPr>
              <a:t>MODULE 04  /  FORCE, MOTION AND PROTOTYPES</a:t>
            </a:r>
          </a:p>
        </p:txBody>
      </p:sp>
      <p:sp>
        <p:nvSpPr>
          <p:cNvPr id="3" name="">
            <a:extLst xmlns:a="http://schemas.openxmlformats.org/drawingml/2006/main">
              <a:ext uri="{FF2B5EF4-FFF2-40B4-BE49-F238E27FC236}">
                <a16:creationId xmlns:a16="http://schemas.microsoft.com/office/drawing/2014/main" id="{3E7E6EDB-F503-4DCF-9115-3E1AC5244406}"/>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FFFFF"/>
                </a:solidFill>
              </a:defRPr>
            </a:pPr>
            <a:r>
              <a:rPr sz="2850" b="1">
                <a:solidFill>
                  <a:srgbClr val="FFFFFF"/>
                </a:solidFill>
              </a:rPr>
              <a:t>Stop. Think. Explain.</a:t>
            </a:r>
          </a:p>
        </p:txBody>
      </p:sp>
      <p:sp>
        <p:nvSpPr>
          <p:cNvPr id="4" name="">
            <a:extLst xmlns:a="http://schemas.openxmlformats.org/drawingml/2006/main">
              <a:ext uri="{FF2B5EF4-FFF2-40B4-BE49-F238E27FC236}">
                <a16:creationId xmlns:a16="http://schemas.microsoft.com/office/drawing/2014/main" id="{F725152E-B892-45FB-BF06-1F4E02033447}"/>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FFFFFF">
                <a:alpha val="33333"/>
              </a:srgbClr>
            </a:solidFill>
            <a:prstDash val="solid"/>
          </a:ln>
        </p:spPr>
      </p:sp>
      <p:sp>
        <p:nvSpPr>
          <p:cNvPr id="5" name="">
            <a:extLst xmlns:a="http://schemas.openxmlformats.org/drawingml/2006/main">
              <a:ext uri="{FF2B5EF4-FFF2-40B4-BE49-F238E27FC236}">
                <a16:creationId xmlns:a16="http://schemas.microsoft.com/office/drawing/2014/main" id="{06AB2C6D-16E0-469E-A98A-C5B1F637EF22}"/>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D7E5E8"/>
                </a:solidFill>
              </a:defRPr>
            </a:pPr>
            <a:r>
              <a:rPr sz="975" b="1">
                <a:solidFill>
                  <a:srgbClr val="D7E5E8"/>
                </a:solidFill>
              </a:rPr>
              <a:t>YEAR 8 CATAPULT  •  MODULE 04</a:t>
            </a:r>
          </a:p>
        </p:txBody>
      </p:sp>
      <p:sp>
        <p:nvSpPr>
          <p:cNvPr id="6" name="">
            <a:extLst xmlns:a="http://schemas.openxmlformats.org/drawingml/2006/main">
              <a:ext uri="{FF2B5EF4-FFF2-40B4-BE49-F238E27FC236}">
                <a16:creationId xmlns:a16="http://schemas.microsoft.com/office/drawing/2014/main" id="{FE25A734-84A3-4B23-9A4A-CBF322D0B2CC}"/>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F0B84B"/>
                </a:solidFill>
              </a:defRPr>
            </a:pPr>
            <a:r>
              <a:rPr sz="975" b="1">
                <a:solidFill>
                  <a:srgbClr val="F0B84B"/>
                </a:solidFill>
              </a:rPr>
              <a:t>06</a:t>
            </a:r>
          </a:p>
        </p:txBody>
      </p:sp>
      <p:sp>
        <p:nvSpPr>
          <p:cNvPr id="7" name="">
            <a:extLst xmlns:a="http://schemas.openxmlformats.org/drawingml/2006/main">
              <a:ext uri="{FF2B5EF4-FFF2-40B4-BE49-F238E27FC236}">
                <a16:creationId xmlns:a16="http://schemas.microsoft.com/office/drawing/2014/main" id="{DDABC14E-3711-4076-911A-8B053C78B1C8}"/>
              </a:ext>
            </a:extLst>
          </p:cNvPr>
          <p:cNvSpPr>
            <a:spLocks xmlns:a="http://schemas.openxmlformats.org/drawingml/2006/main" noGrp="1"/>
          </p:cNvSpPr>
          <p:nvPr/>
        </p:nvSpPr>
        <p:spPr>
          <a:xfrm xmlns:a="http://schemas.openxmlformats.org/drawingml/2006/main">
            <a:off x="685800" y="1219200"/>
            <a:ext cx="981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D7E5E8"/>
                </a:solidFill>
              </a:defRPr>
            </a:pPr>
            <a:r>
              <a:rPr sz="1500" b="0">
                <a:solidFill>
                  <a:srgbClr val="D7E5E8"/>
                </a:solidFill>
              </a:rPr>
              <a:t>Answer silently first. Then justify one answer with a partner.</a:t>
            </a:r>
          </a:p>
        </p:txBody>
      </p:sp>
      <p:sp>
        <p:nvSpPr>
          <p:cNvPr id="8" name="">
            <a:extLst xmlns:a="http://schemas.openxmlformats.org/drawingml/2006/main">
              <a:ext uri="{FF2B5EF4-FFF2-40B4-BE49-F238E27FC236}">
                <a16:creationId xmlns:a16="http://schemas.microsoft.com/office/drawing/2014/main" id="{B3FD350C-C70D-4A42-9F39-0F1A1A23A06A}"/>
              </a:ext>
            </a:extLst>
          </p:cNvPr>
          <p:cNvSpPr>
            <a:spLocks xmlns:a="http://schemas.openxmlformats.org/drawingml/2006/main" noGrp="1"/>
          </p:cNvSpPr>
          <p:nvPr/>
        </p:nvSpPr>
        <p:spPr>
          <a:xfrm xmlns:a="http://schemas.openxmlformats.org/drawingml/2006/main">
            <a:off x="781050" y="1933575"/>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0B84B"/>
                </a:solidFill>
              </a:defRPr>
            </a:pPr>
            <a:r>
              <a:rPr sz="1800" b="1">
                <a:solidFill>
                  <a:srgbClr val="F0B84B"/>
                </a:solidFill>
              </a:rPr>
              <a:t>1</a:t>
            </a:r>
          </a:p>
        </p:txBody>
      </p:sp>
      <p:sp>
        <p:nvSpPr>
          <p:cNvPr id="9" name="">
            <a:extLst xmlns:a="http://schemas.openxmlformats.org/drawingml/2006/main">
              <a:ext uri="{FF2B5EF4-FFF2-40B4-BE49-F238E27FC236}">
                <a16:creationId xmlns:a16="http://schemas.microsoft.com/office/drawing/2014/main" id="{B5AA5A05-A284-414D-BBD0-0544C61A4C40}"/>
              </a:ext>
            </a:extLst>
          </p:cNvPr>
          <p:cNvSpPr>
            <a:spLocks xmlns:a="http://schemas.openxmlformats.org/drawingml/2006/main" noGrp="1"/>
          </p:cNvSpPr>
          <p:nvPr/>
        </p:nvSpPr>
        <p:spPr>
          <a:xfrm xmlns:a="http://schemas.openxmlformats.org/drawingml/2006/main">
            <a:off x="1485900" y="1847850"/>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Where can energy transfer besides useful motion?</a:t>
            </a:r>
          </a:p>
        </p:txBody>
      </p:sp>
      <p:sp>
        <p:nvSpPr>
          <p:cNvPr id="10" name="">
            <a:extLst xmlns:a="http://schemas.openxmlformats.org/drawingml/2006/main">
              <a:ext uri="{FF2B5EF4-FFF2-40B4-BE49-F238E27FC236}">
                <a16:creationId xmlns:a16="http://schemas.microsoft.com/office/drawing/2014/main" id="{EA40A115-0A24-41F3-8F15-425CFCF31CF5}"/>
              </a:ext>
            </a:extLst>
          </p:cNvPr>
          <p:cNvSpPr>
            <a:spLocks xmlns:a="http://schemas.openxmlformats.org/drawingml/2006/main" noGrp="1"/>
          </p:cNvSpPr>
          <p:nvPr/>
        </p:nvSpPr>
        <p:spPr>
          <a:xfrm xmlns:a="http://schemas.openxmlformats.org/drawingml/2006/main">
            <a:off x="1485900" y="2533650"/>
            <a:ext cx="9048750" cy="0"/>
          </a:xfrm>
          <a:prstGeom xmlns:a="http://schemas.openxmlformats.org/drawingml/2006/main" prst="line">
            <a:avLst/>
          </a:prstGeom>
          <a:noFill xmlns:a="http://schemas.openxmlformats.org/drawingml/2006/main"/>
          <a:ln xmlns:a="http://schemas.openxmlformats.org/drawingml/2006/main" w="9525">
            <a:solidFill>
              <a:srgbClr val="FFFFFF">
                <a:alpha val="20000"/>
              </a:srgbClr>
            </a:solidFill>
            <a:prstDash val="solid"/>
          </a:ln>
        </p:spPr>
      </p:sp>
      <p:sp>
        <p:nvSpPr>
          <p:cNvPr id="11" name="">
            <a:extLst xmlns:a="http://schemas.openxmlformats.org/drawingml/2006/main">
              <a:ext uri="{FF2B5EF4-FFF2-40B4-BE49-F238E27FC236}">
                <a16:creationId xmlns:a16="http://schemas.microsoft.com/office/drawing/2014/main" id="{8AA2423E-73AC-4F32-9870-0739C0CBF12C}"/>
              </a:ext>
            </a:extLst>
          </p:cNvPr>
          <p:cNvSpPr>
            <a:spLocks xmlns:a="http://schemas.openxmlformats.org/drawingml/2006/main" noGrp="1"/>
          </p:cNvSpPr>
          <p:nvPr/>
        </p:nvSpPr>
        <p:spPr>
          <a:xfrm xmlns:a="http://schemas.openxmlformats.org/drawingml/2006/main">
            <a:off x="781050" y="29146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0B84B"/>
                </a:solidFill>
              </a:defRPr>
            </a:pPr>
            <a:r>
              <a:rPr sz="1800" b="1">
                <a:solidFill>
                  <a:srgbClr val="F0B84B"/>
                </a:solidFill>
              </a:rPr>
              <a:t>2</a:t>
            </a:r>
          </a:p>
        </p:txBody>
      </p:sp>
      <p:sp>
        <p:nvSpPr>
          <p:cNvPr id="12" name="">
            <a:extLst xmlns:a="http://schemas.openxmlformats.org/drawingml/2006/main">
              <a:ext uri="{FF2B5EF4-FFF2-40B4-BE49-F238E27FC236}">
                <a16:creationId xmlns:a16="http://schemas.microsoft.com/office/drawing/2014/main" id="{14817B06-3AD4-4CC4-B41C-C84987249187}"/>
              </a:ext>
            </a:extLst>
          </p:cNvPr>
          <p:cNvSpPr>
            <a:spLocks xmlns:a="http://schemas.openxmlformats.org/drawingml/2006/main" noGrp="1"/>
          </p:cNvSpPr>
          <p:nvPr/>
        </p:nvSpPr>
        <p:spPr>
          <a:xfrm xmlns:a="http://schemas.openxmlformats.org/drawingml/2006/main">
            <a:off x="1485900" y="2828925"/>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Why do third-law force pairs not cancel on one object?</a:t>
            </a:r>
          </a:p>
        </p:txBody>
      </p:sp>
      <p:sp>
        <p:nvSpPr>
          <p:cNvPr id="13" name="">
            <a:extLst xmlns:a="http://schemas.openxmlformats.org/drawingml/2006/main">
              <a:ext uri="{FF2B5EF4-FFF2-40B4-BE49-F238E27FC236}">
                <a16:creationId xmlns:a16="http://schemas.microsoft.com/office/drawing/2014/main" id="{09B53FD5-2CED-44AB-BDFE-4C2B97888CE1}"/>
              </a:ext>
            </a:extLst>
          </p:cNvPr>
          <p:cNvSpPr>
            <a:spLocks xmlns:a="http://schemas.openxmlformats.org/drawingml/2006/main" noGrp="1"/>
          </p:cNvSpPr>
          <p:nvPr/>
        </p:nvSpPr>
        <p:spPr>
          <a:xfrm xmlns:a="http://schemas.openxmlformats.org/drawingml/2006/main">
            <a:off x="1485900" y="3514725"/>
            <a:ext cx="9048750" cy="0"/>
          </a:xfrm>
          <a:prstGeom xmlns:a="http://schemas.openxmlformats.org/drawingml/2006/main" prst="line">
            <a:avLst/>
          </a:prstGeom>
          <a:noFill xmlns:a="http://schemas.openxmlformats.org/drawingml/2006/main"/>
          <a:ln xmlns:a="http://schemas.openxmlformats.org/drawingml/2006/main" w="9525">
            <a:solidFill>
              <a:srgbClr val="FFFFFF">
                <a:alpha val="20000"/>
              </a:srgbClr>
            </a:solidFill>
            <a:prstDash val="solid"/>
          </a:ln>
        </p:spPr>
      </p:sp>
      <p:sp>
        <p:nvSpPr>
          <p:cNvPr id="14" name="">
            <a:extLst xmlns:a="http://schemas.openxmlformats.org/drawingml/2006/main">
              <a:ext uri="{FF2B5EF4-FFF2-40B4-BE49-F238E27FC236}">
                <a16:creationId xmlns:a16="http://schemas.microsoft.com/office/drawing/2014/main" id="{51219752-0A45-4E95-8F2A-45AF4AC8038D}"/>
              </a:ext>
            </a:extLst>
          </p:cNvPr>
          <p:cNvSpPr>
            <a:spLocks xmlns:a="http://schemas.openxmlformats.org/drawingml/2006/main" noGrp="1"/>
          </p:cNvSpPr>
          <p:nvPr/>
        </p:nvSpPr>
        <p:spPr>
          <a:xfrm xmlns:a="http://schemas.openxmlformats.org/drawingml/2006/main">
            <a:off x="781050" y="3895725"/>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0B84B"/>
                </a:solidFill>
              </a:defRPr>
            </a:pPr>
            <a:r>
              <a:rPr sz="1800" b="1">
                <a:solidFill>
                  <a:srgbClr val="F0B84B"/>
                </a:solidFill>
              </a:rPr>
              <a:t>3</a:t>
            </a:r>
          </a:p>
        </p:txBody>
      </p:sp>
      <p:sp>
        <p:nvSpPr>
          <p:cNvPr id="15" name="">
            <a:extLst xmlns:a="http://schemas.openxmlformats.org/drawingml/2006/main">
              <a:ext uri="{FF2B5EF4-FFF2-40B4-BE49-F238E27FC236}">
                <a16:creationId xmlns:a16="http://schemas.microsoft.com/office/drawing/2014/main" id="{D34FB535-6B37-4153-A274-BE85A98A3D74}"/>
              </a:ext>
            </a:extLst>
          </p:cNvPr>
          <p:cNvSpPr>
            <a:spLocks xmlns:a="http://schemas.openxmlformats.org/drawingml/2006/main" noGrp="1"/>
          </p:cNvSpPr>
          <p:nvPr/>
        </p:nvSpPr>
        <p:spPr>
          <a:xfrm xmlns:a="http://schemas.openxmlformats.org/drawingml/2006/main">
            <a:off x="1485900" y="3810000"/>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What makes a prototype useful rather than merely unfinished?</a:t>
            </a:r>
          </a:p>
        </p:txBody>
      </p:sp>
      <p:sp>
        <p:nvSpPr>
          <p:cNvPr id="16" name="">
            <a:extLst xmlns:a="http://schemas.openxmlformats.org/drawingml/2006/main">
              <a:ext uri="{FF2B5EF4-FFF2-40B4-BE49-F238E27FC236}">
                <a16:creationId xmlns:a16="http://schemas.microsoft.com/office/drawing/2014/main" id="{65C034B9-D322-4710-A51D-E280A198DD57}"/>
              </a:ext>
            </a:extLst>
          </p:cNvPr>
          <p:cNvSpPr>
            <a:spLocks xmlns:a="http://schemas.openxmlformats.org/drawingml/2006/main" noGrp="1"/>
          </p:cNvSpPr>
          <p:nvPr/>
        </p:nvSpPr>
        <p:spPr>
          <a:xfrm xmlns:a="http://schemas.openxmlformats.org/drawingml/2006/main">
            <a:off x="1485900" y="4495800"/>
            <a:ext cx="9048750" cy="0"/>
          </a:xfrm>
          <a:prstGeom xmlns:a="http://schemas.openxmlformats.org/drawingml/2006/main" prst="line">
            <a:avLst/>
          </a:prstGeom>
          <a:noFill xmlns:a="http://schemas.openxmlformats.org/drawingml/2006/main"/>
          <a:ln xmlns:a="http://schemas.openxmlformats.org/drawingml/2006/main" w="9525">
            <a:solidFill>
              <a:srgbClr val="FFFFFF">
                <a:alpha val="20000"/>
              </a:srgbClr>
            </a:solidFill>
            <a:prstDash val="solid"/>
          </a:ln>
        </p:spPr>
      </p:sp>
      <p:sp>
        <p:nvSpPr>
          <p:cNvPr id="17" name="">
            <a:extLst xmlns:a="http://schemas.openxmlformats.org/drawingml/2006/main">
              <a:ext uri="{FF2B5EF4-FFF2-40B4-BE49-F238E27FC236}">
                <a16:creationId xmlns:a16="http://schemas.microsoft.com/office/drawing/2014/main" id="{4C8F9692-6D5A-431F-AFA4-A02A52DBFFE9}"/>
              </a:ext>
            </a:extLst>
          </p:cNvPr>
          <p:cNvSpPr>
            <a:spLocks xmlns:a="http://schemas.openxmlformats.org/drawingml/2006/main" noGrp="1"/>
          </p:cNvSpPr>
          <p:nvPr/>
        </p:nvSpPr>
        <p:spPr>
          <a:xfrm xmlns:a="http://schemas.openxmlformats.org/drawingml/2006/main">
            <a:off x="781050" y="487680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0B84B"/>
                </a:solidFill>
              </a:defRPr>
            </a:pPr>
            <a:r>
              <a:rPr sz="1800" b="1">
                <a:solidFill>
                  <a:srgbClr val="F0B84B"/>
                </a:solidFill>
              </a:rPr>
              <a:t>4</a:t>
            </a:r>
          </a:p>
        </p:txBody>
      </p:sp>
      <p:sp>
        <p:nvSpPr>
          <p:cNvPr id="18" name="">
            <a:extLst xmlns:a="http://schemas.openxmlformats.org/drawingml/2006/main">
              <a:ext uri="{FF2B5EF4-FFF2-40B4-BE49-F238E27FC236}">
                <a16:creationId xmlns:a16="http://schemas.microsoft.com/office/drawing/2014/main" id="{A460CABF-1E4D-4B54-888F-693A7B7375D9}"/>
              </a:ext>
            </a:extLst>
          </p:cNvPr>
          <p:cNvSpPr>
            <a:spLocks xmlns:a="http://schemas.openxmlformats.org/drawingml/2006/main" noGrp="1"/>
          </p:cNvSpPr>
          <p:nvPr/>
        </p:nvSpPr>
        <p:spPr>
          <a:xfrm xmlns:a="http://schemas.openxmlformats.org/drawingml/2006/main">
            <a:off x="1485900" y="4791075"/>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Which variable should deliberately change in a fair comparison?</a:t>
            </a:r>
          </a:p>
        </p:txBody>
      </p:sp>
    </p:spTree>
    <p:extLst>
      <p:ext uri="{BB962C8B-B14F-4D97-AF65-F5344CB8AC3E}">
        <p14:creationId xmlns:p14="http://schemas.microsoft.com/office/powerpoint/2010/main" val="794589376"/>
      </p:ext>
    </p:extLst>
  </p:cSld>
</p:sld>
</file>

<file path=ppt/slides/slide7.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80DC8D7-F883-4A83-AF86-37268526F150}"/>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DABCE67-5D89-4C19-8EDD-C38516C9BC1B}"/>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04  /  FORCE, MOTION AND PROTOTYPES</a:t>
            </a:r>
          </a:p>
        </p:txBody>
      </p:sp>
      <p:sp>
        <p:nvSpPr>
          <p:cNvPr id="3" name="">
            <a:extLst xmlns:a="http://schemas.openxmlformats.org/drawingml/2006/main">
              <a:ext uri="{FF2B5EF4-FFF2-40B4-BE49-F238E27FC236}">
                <a16:creationId xmlns:a16="http://schemas.microsoft.com/office/drawing/2014/main" id="{F0A2028C-D9B5-4B9A-B6F4-08E257A81DB2}"/>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Build the evidence, not just an answer</a:t>
            </a:r>
          </a:p>
        </p:txBody>
      </p:sp>
      <p:sp>
        <p:nvSpPr>
          <p:cNvPr id="4" name="">
            <a:extLst xmlns:a="http://schemas.openxmlformats.org/drawingml/2006/main">
              <a:ext uri="{FF2B5EF4-FFF2-40B4-BE49-F238E27FC236}">
                <a16:creationId xmlns:a16="http://schemas.microsoft.com/office/drawing/2014/main" id="{CD904DA5-BC20-4912-BCC0-A06EB4225C81}"/>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C1F6C882-2965-4A65-893E-8295065B024F}"/>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04</a:t>
            </a:r>
          </a:p>
        </p:txBody>
      </p:sp>
      <p:sp>
        <p:nvSpPr>
          <p:cNvPr id="6" name="">
            <a:extLst xmlns:a="http://schemas.openxmlformats.org/drawingml/2006/main">
              <a:ext uri="{FF2B5EF4-FFF2-40B4-BE49-F238E27FC236}">
                <a16:creationId xmlns:a16="http://schemas.microsoft.com/office/drawing/2014/main" id="{EF9DE371-38D2-4B77-A9E1-E18B74690BDC}"/>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07</a:t>
            </a:r>
          </a:p>
        </p:txBody>
      </p:sp>
      <p:sp>
        <p:nvSpPr>
          <p:cNvPr id="7" name="">
            <a:extLst xmlns:a="http://schemas.openxmlformats.org/drawingml/2006/main">
              <a:ext uri="{FF2B5EF4-FFF2-40B4-BE49-F238E27FC236}">
                <a16:creationId xmlns:a16="http://schemas.microsoft.com/office/drawing/2014/main" id="{2B36D21A-CE88-4C8D-AD13-99E1ACCBA9B3}"/>
              </a:ext>
            </a:extLst>
          </p:cNvPr>
          <p:cNvSpPr>
            <a:spLocks xmlns:a="http://schemas.openxmlformats.org/drawingml/2006/main" noGrp="1"/>
          </p:cNvSpPr>
          <p:nvPr/>
        </p:nvSpPr>
        <p:spPr>
          <a:xfrm xmlns:a="http://schemas.openxmlformats.org/drawingml/2006/main">
            <a:off x="685800" y="12573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94424"/>
                </a:solidFill>
              </a:defRPr>
            </a:pPr>
            <a:r>
              <a:rPr sz="1200" b="1">
                <a:solidFill>
                  <a:srgbClr val="A94424"/>
                </a:solidFill>
              </a:rPr>
              <a:t>THE QUESTION</a:t>
            </a:r>
          </a:p>
        </p:txBody>
      </p:sp>
      <p:sp>
        <p:nvSpPr>
          <p:cNvPr id="8" name="">
            <a:extLst xmlns:a="http://schemas.openxmlformats.org/drawingml/2006/main">
              <a:ext uri="{FF2B5EF4-FFF2-40B4-BE49-F238E27FC236}">
                <a16:creationId xmlns:a16="http://schemas.microsoft.com/office/drawing/2014/main" id="{D45173F1-E08C-44E5-B127-F747579E9D83}"/>
              </a:ext>
            </a:extLst>
          </p:cNvPr>
          <p:cNvSpPr>
            <a:spLocks xmlns:a="http://schemas.openxmlformats.org/drawingml/2006/main" noGrp="1"/>
          </p:cNvSpPr>
          <p:nvPr/>
        </p:nvSpPr>
        <p:spPr>
          <a:xfrm xmlns:a="http://schemas.openxmlformats.org/drawingml/2006/main">
            <a:off x="685800" y="1581150"/>
            <a:ext cx="10820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7232B"/>
                </a:solidFill>
              </a:defRPr>
            </a:pPr>
            <a:r>
              <a:rPr sz="1800" b="1">
                <a:solidFill>
                  <a:srgbClr val="17232B"/>
                </a:solidFill>
              </a:rPr>
              <a:t>A prototype has a large energy input but inconsistent motion. Propose two possible causes using energy pathways and Newton’s laws, then explain how to investigate only one at a time.</a:t>
            </a:r>
          </a:p>
        </p:txBody>
      </p:sp>
      <p:sp>
        <p:nvSpPr>
          <p:cNvPr id="9" name="">
            <a:extLst xmlns:a="http://schemas.openxmlformats.org/drawingml/2006/main">
              <a:ext uri="{FF2B5EF4-FFF2-40B4-BE49-F238E27FC236}">
                <a16:creationId xmlns:a16="http://schemas.microsoft.com/office/drawing/2014/main" id="{73004183-C55D-4E5D-A343-FECA428C7335}"/>
              </a:ext>
            </a:extLst>
          </p:cNvPr>
          <p:cNvSpPr>
            <a:spLocks xmlns:a="http://schemas.openxmlformats.org/drawingml/2006/main" noGrp="1"/>
          </p:cNvSpPr>
          <p:nvPr/>
        </p:nvSpPr>
        <p:spPr>
          <a:xfrm xmlns:a="http://schemas.openxmlformats.org/drawingml/2006/main">
            <a:off x="3143250" y="3476625"/>
            <a:ext cx="53340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7679292-6AFC-4C18-9637-0D444F31D020}"/>
              </a:ext>
            </a:extLst>
          </p:cNvPr>
          <p:cNvSpPr>
            <a:spLocks xmlns:a="http://schemas.openxmlformats.org/drawingml/2006/main" noGrp="1"/>
          </p:cNvSpPr>
          <p:nvPr/>
        </p:nvSpPr>
        <p:spPr>
          <a:xfrm xmlns:a="http://schemas.openxmlformats.org/drawingml/2006/main">
            <a:off x="5867400" y="3476625"/>
            <a:ext cx="53340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D72491F-FAC9-45C4-94F3-3BBFEEFC2C47}"/>
              </a:ext>
            </a:extLst>
          </p:cNvPr>
          <p:cNvSpPr>
            <a:spLocks xmlns:a="http://schemas.openxmlformats.org/drawingml/2006/main" noGrp="1"/>
          </p:cNvSpPr>
          <p:nvPr/>
        </p:nvSpPr>
        <p:spPr>
          <a:xfrm xmlns:a="http://schemas.openxmlformats.org/drawingml/2006/main">
            <a:off x="8591550" y="3476625"/>
            <a:ext cx="53340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9C942FD-2E53-4A6A-B825-5EA01CC67031}"/>
              </a:ext>
            </a:extLst>
          </p:cNvPr>
          <p:cNvSpPr>
            <a:spLocks xmlns:a="http://schemas.openxmlformats.org/drawingml/2006/main" noGrp="1"/>
          </p:cNvSpPr>
          <p:nvPr/>
        </p:nvSpPr>
        <p:spPr>
          <a:xfrm xmlns:a="http://schemas.openxmlformats.org/drawingml/2006/main">
            <a:off x="685800" y="3028950"/>
            <a:ext cx="2343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84F5E"/>
                </a:solidFill>
              </a:defRPr>
            </a:pPr>
            <a:r>
              <a:rPr sz="1500" b="1">
                <a:solidFill>
                  <a:srgbClr val="184F5E"/>
                </a:solidFill>
              </a:rPr>
              <a:t>READ</a:t>
            </a:r>
          </a:p>
          <a:p xmlns:a="http://schemas.openxmlformats.org/drawingml/2006/main">
            <a:pPr algn="ctr">
              <a:defRPr sz="1500" b="1">
                <a:solidFill>
                  <a:srgbClr val="184F5E"/>
                </a:solidFill>
              </a:defRPr>
            </a:pPr>
            <a:r>
              <a:rPr sz="1500" b="1">
                <a:solidFill>
                  <a:srgbClr val="184F5E"/>
                </a:solidFill>
              </a:rPr>
              <a:t>Underline the decision</a:t>
            </a:r>
          </a:p>
        </p:txBody>
      </p:sp>
      <p:sp>
        <p:nvSpPr>
          <p:cNvPr id="13" name="">
            <a:extLst xmlns:a="http://schemas.openxmlformats.org/drawingml/2006/main">
              <a:ext uri="{FF2B5EF4-FFF2-40B4-BE49-F238E27FC236}">
                <a16:creationId xmlns:a16="http://schemas.microsoft.com/office/drawing/2014/main" id="{12DCC748-E8DD-4522-AC54-32A0BFD3D776}"/>
              </a:ext>
            </a:extLst>
          </p:cNvPr>
          <p:cNvSpPr>
            <a:spLocks xmlns:a="http://schemas.openxmlformats.org/drawingml/2006/main" noGrp="1"/>
          </p:cNvSpPr>
          <p:nvPr/>
        </p:nvSpPr>
        <p:spPr>
          <a:xfrm xmlns:a="http://schemas.openxmlformats.org/drawingml/2006/main">
            <a:off x="3409950" y="3028950"/>
            <a:ext cx="2343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A94424"/>
                </a:solidFill>
              </a:defRPr>
            </a:pPr>
            <a:r>
              <a:rPr sz="1500" b="1">
                <a:solidFill>
                  <a:srgbClr val="A94424"/>
                </a:solidFill>
              </a:rPr>
              <a:t>SELECT</a:t>
            </a:r>
          </a:p>
          <a:p xmlns:a="http://schemas.openxmlformats.org/drawingml/2006/main">
            <a:pPr algn="ctr">
              <a:defRPr sz="1500" b="1">
                <a:solidFill>
                  <a:srgbClr val="A94424"/>
                </a:solidFill>
              </a:defRPr>
            </a:pPr>
            <a:r>
              <a:rPr sz="1500" b="1">
                <a:solidFill>
                  <a:srgbClr val="A94424"/>
                </a:solidFill>
              </a:rPr>
              <a:t>Choose precise evidence</a:t>
            </a:r>
          </a:p>
        </p:txBody>
      </p:sp>
      <p:sp>
        <p:nvSpPr>
          <p:cNvPr id="14" name="">
            <a:extLst xmlns:a="http://schemas.openxmlformats.org/drawingml/2006/main">
              <a:ext uri="{FF2B5EF4-FFF2-40B4-BE49-F238E27FC236}">
                <a16:creationId xmlns:a16="http://schemas.microsoft.com/office/drawing/2014/main" id="{33F9BFE6-DC33-402D-9DD9-847F67DDCB30}"/>
              </a:ext>
            </a:extLst>
          </p:cNvPr>
          <p:cNvSpPr>
            <a:spLocks xmlns:a="http://schemas.openxmlformats.org/drawingml/2006/main" noGrp="1"/>
          </p:cNvSpPr>
          <p:nvPr/>
        </p:nvSpPr>
        <p:spPr>
          <a:xfrm xmlns:a="http://schemas.openxmlformats.org/drawingml/2006/main">
            <a:off x="6134100" y="3028950"/>
            <a:ext cx="2343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84F5E"/>
                </a:solidFill>
              </a:defRPr>
            </a:pPr>
            <a:r>
              <a:rPr sz="1500" b="1">
                <a:solidFill>
                  <a:srgbClr val="184F5E"/>
                </a:solidFill>
              </a:rPr>
              <a:t>EXPLAIN</a:t>
            </a:r>
          </a:p>
          <a:p xmlns:a="http://schemas.openxmlformats.org/drawingml/2006/main">
            <a:pPr algn="ctr">
              <a:defRPr sz="1500" b="1">
                <a:solidFill>
                  <a:srgbClr val="184F5E"/>
                </a:solidFill>
              </a:defRPr>
            </a:pPr>
            <a:r>
              <a:rPr sz="1500" b="1">
                <a:solidFill>
                  <a:srgbClr val="184F5E"/>
                </a:solidFill>
              </a:rPr>
              <a:t>Connect with theory</a:t>
            </a:r>
          </a:p>
        </p:txBody>
      </p:sp>
      <p:sp>
        <p:nvSpPr>
          <p:cNvPr id="15" name="">
            <a:extLst xmlns:a="http://schemas.openxmlformats.org/drawingml/2006/main">
              <a:ext uri="{FF2B5EF4-FFF2-40B4-BE49-F238E27FC236}">
                <a16:creationId xmlns:a16="http://schemas.microsoft.com/office/drawing/2014/main" id="{3FE9B5AA-4C78-43D8-A17D-5A31BC2244F7}"/>
              </a:ext>
            </a:extLst>
          </p:cNvPr>
          <p:cNvSpPr>
            <a:spLocks xmlns:a="http://schemas.openxmlformats.org/drawingml/2006/main" noGrp="1"/>
          </p:cNvSpPr>
          <p:nvPr/>
        </p:nvSpPr>
        <p:spPr>
          <a:xfrm xmlns:a="http://schemas.openxmlformats.org/drawingml/2006/main">
            <a:off x="8858250" y="3028950"/>
            <a:ext cx="2343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A94424"/>
                </a:solidFill>
              </a:defRPr>
            </a:pPr>
            <a:r>
              <a:rPr sz="1500" b="1">
                <a:solidFill>
                  <a:srgbClr val="A94424"/>
                </a:solidFill>
              </a:rPr>
              <a:t>CHECK</a:t>
            </a:r>
          </a:p>
          <a:p xmlns:a="http://schemas.openxmlformats.org/drawingml/2006/main">
            <a:pPr algn="ctr">
              <a:defRPr sz="1500" b="1">
                <a:solidFill>
                  <a:srgbClr val="A94424"/>
                </a:solidFill>
              </a:defRPr>
            </a:pPr>
            <a:r>
              <a:rPr sz="1500" b="1">
                <a:solidFill>
                  <a:srgbClr val="A94424"/>
                </a:solidFill>
              </a:rPr>
              <a:t>Answer every part</a:t>
            </a:r>
          </a:p>
        </p:txBody>
      </p:sp>
      <p:sp>
        <p:nvSpPr>
          <p:cNvPr id="16" name="">
            <a:extLst xmlns:a="http://schemas.openxmlformats.org/drawingml/2006/main">
              <a:ext uri="{FF2B5EF4-FFF2-40B4-BE49-F238E27FC236}">
                <a16:creationId xmlns:a16="http://schemas.microsoft.com/office/drawing/2014/main" id="{D6D19C48-963B-4737-BAC4-058C2C04DB13}"/>
              </a:ext>
            </a:extLst>
          </p:cNvPr>
          <p:cNvSpPr>
            <a:spLocks xmlns:a="http://schemas.openxmlformats.org/drawingml/2006/main" noGrp="1"/>
          </p:cNvSpPr>
          <p:nvPr/>
        </p:nvSpPr>
        <p:spPr>
          <a:xfrm xmlns:a="http://schemas.openxmlformats.org/drawingml/2006/main">
            <a:off x="685800" y="4476750"/>
            <a:ext cx="10820400" cy="1219200"/>
          </a:xfrm>
          <a:prstGeom xmlns:a="http://schemas.openxmlformats.org/drawingml/2006/main" prst="rect">
            <a:avLst/>
          </a:prstGeom>
          <a:solidFill xmlns:a="http://schemas.openxmlformats.org/drawingml/2006/main">
            <a:srgbClr val="FFFFFF"/>
          </a:solidFill>
          <a:ln xmlns:a="http://schemas.openxmlformats.org/drawingml/2006/main" w="9525">
            <a:solidFill>
              <a:srgbClr val="CAD4D8"/>
            </a:solidFill>
            <a:prstDash val="solid"/>
          </a:ln>
        </p:spPr>
      </p:sp>
      <p:sp>
        <p:nvSpPr>
          <p:cNvPr id="17" name="">
            <a:extLst xmlns:a="http://schemas.openxmlformats.org/drawingml/2006/main">
              <a:ext uri="{FF2B5EF4-FFF2-40B4-BE49-F238E27FC236}">
                <a16:creationId xmlns:a16="http://schemas.microsoft.com/office/drawing/2014/main" id="{BE70B66B-BBD9-48DC-AFB2-84BDFBE9B9D8}"/>
              </a:ext>
            </a:extLst>
          </p:cNvPr>
          <p:cNvSpPr>
            <a:spLocks xmlns:a="http://schemas.openxmlformats.org/drawingml/2006/main" noGrp="1"/>
          </p:cNvSpPr>
          <p:nvPr/>
        </p:nvSpPr>
        <p:spPr>
          <a:xfrm xmlns:a="http://schemas.openxmlformats.org/drawingml/2006/main">
            <a:off x="914400" y="46672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94424"/>
                </a:solidFill>
              </a:defRPr>
            </a:pPr>
            <a:r>
              <a:rPr sz="1200" b="1">
                <a:solidFill>
                  <a:srgbClr val="A94424"/>
                </a:solidFill>
              </a:rPr>
              <a:t>SENTENCE SUPPORT</a:t>
            </a:r>
          </a:p>
        </p:txBody>
      </p:sp>
      <p:sp>
        <p:nvSpPr>
          <p:cNvPr id="18" name="">
            <a:extLst xmlns:a="http://schemas.openxmlformats.org/drawingml/2006/main">
              <a:ext uri="{FF2B5EF4-FFF2-40B4-BE49-F238E27FC236}">
                <a16:creationId xmlns:a16="http://schemas.microsoft.com/office/drawing/2014/main" id="{7798094D-0F5C-4A34-B83F-E2AC97A43710}"/>
              </a:ext>
            </a:extLst>
          </p:cNvPr>
          <p:cNvSpPr>
            <a:spLocks xmlns:a="http://schemas.openxmlformats.org/drawingml/2006/main" noGrp="1"/>
          </p:cNvSpPr>
          <p:nvPr/>
        </p:nvSpPr>
        <p:spPr>
          <a:xfrm xmlns:a="http://schemas.openxmlformats.org/drawingml/2006/main">
            <a:off x="914400" y="5029200"/>
            <a:ext cx="10144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7232B"/>
                </a:solidFill>
              </a:defRPr>
            </a:pPr>
            <a:r>
              <a:rPr sz="1575" b="0">
                <a:solidFill>
                  <a:srgbClr val="17232B"/>
                </a:solidFill>
              </a:rPr>
              <a:t>The inconsistency could come from … or … I would first investigate … by changing … while keeping … because …</a:t>
            </a:r>
          </a:p>
        </p:txBody>
      </p:sp>
    </p:spTree>
    <p:extLst>
      <p:ext uri="{BB962C8B-B14F-4D97-AF65-F5344CB8AC3E}">
        <p14:creationId xmlns:p14="http://schemas.microsoft.com/office/powerpoint/2010/main" val="1561008602"/>
      </p:ext>
    </p:extLst>
  </p:cSld>
</p:sld>
</file>

<file path=ppt/slides/slide8.xml><?xml version="1.0" encoding="utf-8"?>
<p:sld xmlns:p="http://schemas.openxmlformats.org/presentationml/2006/main">
  <p:cSld>
    <p:bg>
      <p:bgPr>
        <a:solidFill xmlns:a="http://schemas.openxmlformats.org/drawingml/2006/main">
          <a:srgbClr val="A94424"/>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DF43211-5073-4766-9FD9-84FFE3B2B054}"/>
              </a:ext>
            </a:extLst>
          </p:cNvPr>
          <p:cNvSpPr>
            <a:spLocks xmlns:a="http://schemas.openxmlformats.org/drawingml/2006/main" noGrp="1"/>
          </p:cNvSpPr>
          <p:nvPr/>
        </p:nvSpPr>
        <p:spPr>
          <a:xfrm xmlns:a="http://schemas.openxmlformats.org/drawingml/2006/main">
            <a:off x="685800" y="55245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0B84B"/>
                </a:solidFill>
              </a:defRPr>
            </a:pPr>
            <a:r>
              <a:rPr sz="1350" b="1">
                <a:solidFill>
                  <a:srgbClr val="F0B84B"/>
                </a:solidFill>
              </a:rPr>
              <a:t>BEFORE YOU PACK UP …</a:t>
            </a:r>
          </a:p>
        </p:txBody>
      </p:sp>
      <p:sp>
        <p:nvSpPr>
          <p:cNvPr id="2" name="">
            <a:extLst xmlns:a="http://schemas.openxmlformats.org/drawingml/2006/main">
              <a:ext uri="{FF2B5EF4-FFF2-40B4-BE49-F238E27FC236}">
                <a16:creationId xmlns:a16="http://schemas.microsoft.com/office/drawing/2014/main" id="{348F5693-9D17-4BDE-8161-865FF5F2203D}"/>
              </a:ext>
            </a:extLst>
          </p:cNvPr>
          <p:cNvSpPr>
            <a:spLocks xmlns:a="http://schemas.openxmlformats.org/drawingml/2006/main" noGrp="1"/>
          </p:cNvSpPr>
          <p:nvPr/>
        </p:nvSpPr>
        <p:spPr>
          <a:xfrm xmlns:a="http://schemas.openxmlformats.org/drawingml/2006/main">
            <a:off x="685800" y="1066800"/>
            <a:ext cx="800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Close the design loop</a:t>
            </a:r>
          </a:p>
        </p:txBody>
      </p:sp>
      <p:sp>
        <p:nvSpPr>
          <p:cNvPr id="3" name="">
            <a:extLst xmlns:a="http://schemas.openxmlformats.org/drawingml/2006/main">
              <a:ext uri="{FF2B5EF4-FFF2-40B4-BE49-F238E27FC236}">
                <a16:creationId xmlns:a16="http://schemas.microsoft.com/office/drawing/2014/main" id="{B414D896-5CB6-428D-9110-7AFA5F97B59E}"/>
              </a:ext>
            </a:extLst>
          </p:cNvPr>
          <p:cNvSpPr>
            <a:spLocks xmlns:a="http://schemas.openxmlformats.org/drawingml/2006/main" noGrp="1"/>
          </p:cNvSpPr>
          <p:nvPr/>
        </p:nvSpPr>
        <p:spPr>
          <a:xfrm xmlns:a="http://schemas.openxmlformats.org/drawingml/2006/main">
            <a:off x="685800" y="2095500"/>
            <a:ext cx="8096250" cy="666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B461F9D-C631-4BE3-B141-337931749468}"/>
              </a:ext>
            </a:extLst>
          </p:cNvPr>
          <p:cNvSpPr>
            <a:spLocks xmlns:a="http://schemas.openxmlformats.org/drawingml/2006/main" noGrp="1"/>
          </p:cNvSpPr>
          <p:nvPr/>
        </p:nvSpPr>
        <p:spPr>
          <a:xfrm xmlns:a="http://schemas.openxmlformats.org/drawingml/2006/main">
            <a:off x="933450" y="22669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232B"/>
                </a:solidFill>
              </a:defRPr>
            </a:pPr>
            <a:r>
              <a:rPr sz="1650" b="1">
                <a:solidFill>
                  <a:srgbClr val="17232B"/>
                </a:solidFill>
              </a:rPr>
              <a:t>1. One energy pathway I can trace …</a:t>
            </a:r>
          </a:p>
        </p:txBody>
      </p:sp>
      <p:sp>
        <p:nvSpPr>
          <p:cNvPr id="5" name="">
            <a:extLst xmlns:a="http://schemas.openxmlformats.org/drawingml/2006/main">
              <a:ext uri="{FF2B5EF4-FFF2-40B4-BE49-F238E27FC236}">
                <a16:creationId xmlns:a16="http://schemas.microsoft.com/office/drawing/2014/main" id="{65053986-4843-4091-AF1E-EAA57A3C556D}"/>
              </a:ext>
            </a:extLst>
          </p:cNvPr>
          <p:cNvSpPr>
            <a:spLocks xmlns:a="http://schemas.openxmlformats.org/drawingml/2006/main" noGrp="1"/>
          </p:cNvSpPr>
          <p:nvPr/>
        </p:nvSpPr>
        <p:spPr>
          <a:xfrm xmlns:a="http://schemas.openxmlformats.org/drawingml/2006/main">
            <a:off x="685800" y="3028950"/>
            <a:ext cx="8096250" cy="666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C3C378F-AD29-4139-802F-D6F062D2DE67}"/>
              </a:ext>
            </a:extLst>
          </p:cNvPr>
          <p:cNvSpPr>
            <a:spLocks xmlns:a="http://schemas.openxmlformats.org/drawingml/2006/main" noGrp="1"/>
          </p:cNvSpPr>
          <p:nvPr/>
        </p:nvSpPr>
        <p:spPr>
          <a:xfrm xmlns:a="http://schemas.openxmlformats.org/drawingml/2006/main">
            <a:off x="933450" y="32004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232B"/>
                </a:solidFill>
              </a:defRPr>
            </a:pPr>
            <a:r>
              <a:rPr sz="1650" b="1">
                <a:solidFill>
                  <a:srgbClr val="17232B"/>
                </a:solidFill>
              </a:rPr>
              <a:t>2. One Newton’s-law explanation I can use …</a:t>
            </a:r>
          </a:p>
        </p:txBody>
      </p:sp>
      <p:sp>
        <p:nvSpPr>
          <p:cNvPr id="7" name="">
            <a:extLst xmlns:a="http://schemas.openxmlformats.org/drawingml/2006/main">
              <a:ext uri="{FF2B5EF4-FFF2-40B4-BE49-F238E27FC236}">
                <a16:creationId xmlns:a16="http://schemas.microsoft.com/office/drawing/2014/main" id="{58FF17D2-478C-4E0E-9254-D7A441D8ABDD}"/>
              </a:ext>
            </a:extLst>
          </p:cNvPr>
          <p:cNvSpPr>
            <a:spLocks xmlns:a="http://schemas.openxmlformats.org/drawingml/2006/main" noGrp="1"/>
          </p:cNvSpPr>
          <p:nvPr/>
        </p:nvSpPr>
        <p:spPr>
          <a:xfrm xmlns:a="http://schemas.openxmlformats.org/drawingml/2006/main">
            <a:off x="685800" y="3962400"/>
            <a:ext cx="8096250" cy="666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0AE80A8-81CE-45A7-9062-A2E747BD1F55}"/>
              </a:ext>
            </a:extLst>
          </p:cNvPr>
          <p:cNvSpPr>
            <a:spLocks xmlns:a="http://schemas.openxmlformats.org/drawingml/2006/main" noGrp="1"/>
          </p:cNvSpPr>
          <p:nvPr/>
        </p:nvSpPr>
        <p:spPr>
          <a:xfrm xmlns:a="http://schemas.openxmlformats.org/drawingml/2006/main">
            <a:off x="933450" y="41338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232B"/>
                </a:solidFill>
              </a:defRPr>
            </a:pPr>
            <a:r>
              <a:rPr sz="1650" b="1">
                <a:solidFill>
                  <a:srgbClr val="17232B"/>
                </a:solidFill>
              </a:rPr>
              <a:t>3. One variable I would control in a prototype …</a:t>
            </a:r>
          </a:p>
        </p:txBody>
      </p:sp>
      <p:sp>
        <p:nvSpPr>
          <p:cNvPr id="9" name="">
            <a:extLst xmlns:a="http://schemas.openxmlformats.org/drawingml/2006/main">
              <a:ext uri="{FF2B5EF4-FFF2-40B4-BE49-F238E27FC236}">
                <a16:creationId xmlns:a16="http://schemas.microsoft.com/office/drawing/2014/main" id="{57803486-D197-41F0-8B5D-80BDA78C9EB1}"/>
              </a:ext>
            </a:extLst>
          </p:cNvPr>
          <p:cNvSpPr>
            <a:spLocks xmlns:a="http://schemas.openxmlformats.org/drawingml/2006/main" noGrp="1"/>
          </p:cNvSpPr>
          <p:nvPr/>
        </p:nvSpPr>
        <p:spPr>
          <a:xfrm xmlns:a="http://schemas.openxmlformats.org/drawingml/2006/main">
            <a:off x="9353550" y="2419350"/>
            <a:ext cx="1828800" cy="1828800"/>
          </a:xfrm>
          <a:prstGeom xmlns:a="http://schemas.openxmlformats.org/drawingml/2006/main" prst="ellipse">
            <a:avLst/>
          </a:prstGeom>
          <a:solidFill xmlns:a="http://schemas.openxmlformats.org/drawingml/2006/main">
            <a:srgbClr val="F0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8F3E777-C9E6-48DF-B271-373127828C77}"/>
              </a:ext>
            </a:extLst>
          </p:cNvPr>
          <p:cNvSpPr>
            <a:spLocks xmlns:a="http://schemas.openxmlformats.org/drawingml/2006/main" noGrp="1"/>
          </p:cNvSpPr>
          <p:nvPr/>
        </p:nvSpPr>
        <p:spPr>
          <a:xfrm xmlns:a="http://schemas.openxmlformats.org/drawingml/2006/main">
            <a:off x="9610725" y="2800350"/>
            <a:ext cx="13144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7232B"/>
                </a:solidFill>
              </a:defRPr>
            </a:pPr>
            <a:r>
              <a:rPr sz="1875" b="1">
                <a:solidFill>
                  <a:srgbClr val="17232B"/>
                </a:solidFill>
              </a:rPr>
              <a:t>SAVE</a:t>
            </a:r>
          </a:p>
          <a:p xmlns:a="http://schemas.openxmlformats.org/drawingml/2006/main">
            <a:pPr algn="ctr">
              <a:defRPr sz="1875" b="1">
                <a:solidFill>
                  <a:srgbClr val="17232B"/>
                </a:solidFill>
              </a:defRPr>
            </a:pPr>
            <a:r>
              <a:rPr sz="1875" b="1">
                <a:solidFill>
                  <a:srgbClr val="17232B"/>
                </a:solidFill>
              </a:rPr>
              <a:t>YOUR</a:t>
            </a:r>
          </a:p>
          <a:p xmlns:a="http://schemas.openxmlformats.org/drawingml/2006/main">
            <a:pPr algn="ctr">
              <a:defRPr sz="1875" b="1">
                <a:solidFill>
                  <a:srgbClr val="17232B"/>
                </a:solidFill>
              </a:defRPr>
            </a:pPr>
            <a:r>
              <a:rPr sz="1875" b="1">
                <a:solidFill>
                  <a:srgbClr val="17232B"/>
                </a:solidFill>
              </a:rPr>
              <a:t>EVIDENCE</a:t>
            </a:r>
          </a:p>
        </p:txBody>
      </p:sp>
      <p:sp>
        <p:nvSpPr>
          <p:cNvPr id="11" name="">
            <a:extLst xmlns:a="http://schemas.openxmlformats.org/drawingml/2006/main">
              <a:ext uri="{FF2B5EF4-FFF2-40B4-BE49-F238E27FC236}">
                <a16:creationId xmlns:a16="http://schemas.microsoft.com/office/drawing/2014/main" id="{8FECBB1B-CA71-4AF4-A36F-BAC7E76B32D0}"/>
              </a:ext>
            </a:extLst>
          </p:cNvPr>
          <p:cNvSpPr>
            <a:spLocks xmlns:a="http://schemas.openxmlformats.org/drawingml/2006/main" noGrp="1"/>
          </p:cNvSpPr>
          <p:nvPr/>
        </p:nvSpPr>
        <p:spPr>
          <a:xfrm xmlns:a="http://schemas.openxmlformats.org/drawingml/2006/main">
            <a:off x="685800" y="5219700"/>
            <a:ext cx="809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FFFFFF"/>
                </a:solidFill>
              </a:defRPr>
            </a:pPr>
            <a:r>
              <a:rPr sz="1425" b="0">
                <a:solidFill>
                  <a:srgbClr val="FFFFFF"/>
                </a:solidFill>
              </a:rPr>
              <a:t>Evidence destination: your module response and folio where your teacher directs.</a:t>
            </a:r>
          </a:p>
        </p:txBody>
      </p:sp>
      <p:sp>
        <p:nvSpPr>
          <p:cNvPr id="12" name="">
            <a:extLst xmlns:a="http://schemas.openxmlformats.org/drawingml/2006/main">
              <a:ext uri="{FF2B5EF4-FFF2-40B4-BE49-F238E27FC236}">
                <a16:creationId xmlns:a16="http://schemas.microsoft.com/office/drawing/2014/main" id="{6C6964EA-7C62-485A-B632-3C554BE8816F}"/>
              </a:ext>
            </a:extLst>
          </p:cNvPr>
          <p:cNvSpPr>
            <a:spLocks xmlns:a="http://schemas.openxmlformats.org/drawingml/2006/main" noGrp="1"/>
          </p:cNvSpPr>
          <p:nvPr/>
        </p:nvSpPr>
        <p:spPr>
          <a:xfrm xmlns:a="http://schemas.openxmlformats.org/drawingml/2006/main">
            <a:off x="685800" y="588645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0B84B"/>
                </a:solidFill>
              </a:defRPr>
            </a:pPr>
            <a:r>
              <a:rPr sz="1350" b="1">
                <a:solidFill>
                  <a:srgbClr val="F0B84B"/>
                </a:solidFill>
              </a:rPr>
              <a:t>Next: turn design ideas into drawings and a checked material plan.</a:t>
            </a:r>
          </a:p>
        </p:txBody>
      </p:sp>
      <p:sp>
        <p:nvSpPr>
          <p:cNvPr id="13" name="">
            <a:extLst xmlns:a="http://schemas.openxmlformats.org/drawingml/2006/main">
              <a:ext uri="{FF2B5EF4-FFF2-40B4-BE49-F238E27FC236}">
                <a16:creationId xmlns:a16="http://schemas.microsoft.com/office/drawing/2014/main" id="{978E3EE8-41C2-4198-A564-7651F1975B5E}"/>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FFFFFF">
                <a:alpha val="33333"/>
              </a:srgbClr>
            </a:solidFill>
            <a:prstDash val="solid"/>
          </a:ln>
        </p:spPr>
      </p:sp>
      <p:sp>
        <p:nvSpPr>
          <p:cNvPr id="14" name="">
            <a:extLst xmlns:a="http://schemas.openxmlformats.org/drawingml/2006/main">
              <a:ext uri="{FF2B5EF4-FFF2-40B4-BE49-F238E27FC236}">
                <a16:creationId xmlns:a16="http://schemas.microsoft.com/office/drawing/2014/main" id="{9D60D7A3-C7B0-4A96-8378-013F28066A37}"/>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D7E5E8"/>
                </a:solidFill>
              </a:defRPr>
            </a:pPr>
            <a:r>
              <a:rPr sz="975" b="1">
                <a:solidFill>
                  <a:srgbClr val="D7E5E8"/>
                </a:solidFill>
              </a:rPr>
              <a:t>YEAR 8 CATAPULT  •  MODULE 04</a:t>
            </a:r>
          </a:p>
        </p:txBody>
      </p:sp>
      <p:sp>
        <p:nvSpPr>
          <p:cNvPr id="15" name="">
            <a:extLst xmlns:a="http://schemas.openxmlformats.org/drawingml/2006/main">
              <a:ext uri="{FF2B5EF4-FFF2-40B4-BE49-F238E27FC236}">
                <a16:creationId xmlns:a16="http://schemas.microsoft.com/office/drawing/2014/main" id="{CD4EC8DD-C4DD-460E-AE53-23C82C85E167}"/>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F0B84B"/>
                </a:solidFill>
              </a:defRPr>
            </a:pPr>
            <a:r>
              <a:rPr sz="975" b="1">
                <a:solidFill>
                  <a:srgbClr val="F0B84B"/>
                </a:solidFill>
              </a:rPr>
              <a:t>08</a:t>
            </a:r>
          </a:p>
        </p:txBody>
      </p:sp>
    </p:spTree>
    <p:extLst>
      <p:ext uri="{BB962C8B-B14F-4D97-AF65-F5344CB8AC3E}">
        <p14:creationId xmlns:p14="http://schemas.microsoft.com/office/powerpoint/2010/main" val="3121461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2026-08-24T03:19:38.0460000Z</dcterms:created>
  <dcterms:modified xsi:type="dcterms:W3CDTF">2026-08-24T03:19:38.0460000Z</dcterms:modified>
</coreProperties>
</file>