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643622d55f4bec" /><Relationship Type="http://schemas.openxmlformats.org/officeDocument/2006/relationships/extended-properties" Target="/docProps/app.xml" Id="R7b2b1ab3542d4c73" /><Relationship Type="http://schemas.openxmlformats.org/officeDocument/2006/relationships/officeDocument" Target="/ppt/presentation.xml" Id="R68aa3dd52f8d4918" /></Relationships>
</file>

<file path=ppt/presentation.xml><?xml version="1.0" encoding="utf-8"?>
<p:presentation xmlns:p="http://schemas.openxmlformats.org/presentationml/2006/main">
  <p:sldMasterIdLst>
    <p:sldMasterId xmlns:r="http://schemas.openxmlformats.org/officeDocument/2006/relationships" id="2147483648" r:id="R9bc0fe896ac446de"/>
  </p:sldMasterIdLst>
  <p:notesMasterIdLst>
    <p:notesMasterId xmlns:r="http://schemas.openxmlformats.org/officeDocument/2006/relationships" r:id="R0c4697feb34441b2"/>
  </p:notesMasterIdLst>
  <p:sldIdLst>
    <p:sldId xmlns:r="http://schemas.openxmlformats.org/officeDocument/2006/relationships" id="256" r:id="R440857e3c84a4f26"/>
    <p:sldId xmlns:r="http://schemas.openxmlformats.org/officeDocument/2006/relationships" id="257" r:id="R072fa5da7a364286"/>
    <p:sldId xmlns:r="http://schemas.openxmlformats.org/officeDocument/2006/relationships" id="258" r:id="R8d054cec537d45cb"/>
    <p:sldId xmlns:r="http://schemas.openxmlformats.org/officeDocument/2006/relationships" id="259" r:id="Rf85919aaa3f74e7f"/>
    <p:sldId xmlns:r="http://schemas.openxmlformats.org/officeDocument/2006/relationships" id="260" r:id="R7f2a7938cc6f4e32"/>
    <p:sldId xmlns:r="http://schemas.openxmlformats.org/officeDocument/2006/relationships" id="261" r:id="R95b3b8d7765d4f55"/>
    <p:sldId xmlns:r="http://schemas.openxmlformats.org/officeDocument/2006/relationships" id="262" r:id="Rd4b897ec054f4133"/>
    <p:sldId xmlns:r="http://schemas.openxmlformats.org/officeDocument/2006/relationships" id="263" r:id="Reb144d68dadc44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7345fe75a443fb" /><Relationship Type="http://schemas.openxmlformats.org/officeDocument/2006/relationships/slideMaster" Target="/ppt/slideMasters/slideMaster1.xml" Id="R9bc0fe896ac446de" /><Relationship Type="http://schemas.openxmlformats.org/officeDocument/2006/relationships/notesMaster" Target="/ppt/notesMasters/notesMaster1.xml" Id="R0c4697feb34441b2" /><Relationship Type="http://schemas.openxmlformats.org/officeDocument/2006/relationships/presProps" Target="/ppt/presProps.xml" Id="R0879eefda40d479c" /><Relationship Type="http://schemas.openxmlformats.org/officeDocument/2006/relationships/tableStyles" Target="/ppt/tableStyles.xml" Id="Rcc2fef5a64874165" /><Relationship Type="http://schemas.openxmlformats.org/officeDocument/2006/relationships/slide" Target="/ppt/slides/slide1.xml" Id="R440857e3c84a4f26" /><Relationship Type="http://schemas.openxmlformats.org/officeDocument/2006/relationships/slide" Target="/ppt/slides/slide2.xml" Id="R072fa5da7a364286" /><Relationship Type="http://schemas.openxmlformats.org/officeDocument/2006/relationships/slide" Target="/ppt/slides/slide3.xml" Id="R8d054cec537d45cb" /><Relationship Type="http://schemas.openxmlformats.org/officeDocument/2006/relationships/slide" Target="/ppt/slides/slide4.xml" Id="Rf85919aaa3f74e7f" /><Relationship Type="http://schemas.openxmlformats.org/officeDocument/2006/relationships/slide" Target="/ppt/slides/slide5.xml" Id="R7f2a7938cc6f4e32" /><Relationship Type="http://schemas.openxmlformats.org/officeDocument/2006/relationships/slide" Target="/ppt/slides/slide6.xml" Id="R95b3b8d7765d4f55" /><Relationship Type="http://schemas.openxmlformats.org/officeDocument/2006/relationships/slide" Target="/ppt/slides/slide7.xml" Id="Rd4b897ec054f4133" /><Relationship Type="http://schemas.openxmlformats.org/officeDocument/2006/relationships/slide" Target="/ppt/slides/slide8.xml" Id="Reb144d68dadc44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24c1b010dc4c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2bebd6bbba45b8" /><Relationship Type="http://schemas.openxmlformats.org/officeDocument/2006/relationships/notesMaster" Target="/ppt/notesMasters/notesMaster1.xml" Id="R2b55ab31058644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c1bf3b15994ad6" /><Relationship Type="http://schemas.openxmlformats.org/officeDocument/2006/relationships/notesMaster" Target="/ppt/notesMasters/notesMaster1.xml" Id="Ra9e9287540024c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6c2c6d2e114e61" /><Relationship Type="http://schemas.openxmlformats.org/officeDocument/2006/relationships/notesMaster" Target="/ppt/notesMasters/notesMaster1.xml" Id="R1df5b3484f294b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1ed8af18dc4712" /><Relationship Type="http://schemas.openxmlformats.org/officeDocument/2006/relationships/notesMaster" Target="/ppt/notesMasters/notesMaster1.xml" Id="Re774ff9be42045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f4193f82984d79" /><Relationship Type="http://schemas.openxmlformats.org/officeDocument/2006/relationships/notesMaster" Target="/ppt/notesMasters/notesMaster1.xml" Id="R9a405d8f4e9b46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7f3393a8214695" /><Relationship Type="http://schemas.openxmlformats.org/officeDocument/2006/relationships/notesMaster" Target="/ppt/notesMasters/notesMaster1.xml" Id="Rb858dc90f7bb4a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1e53524d0541b9" /><Relationship Type="http://schemas.openxmlformats.org/officeDocument/2006/relationships/notesMaster" Target="/ppt/notesMasters/notesMaster1.xml" Id="R24670624b70445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2ef31fd9cea4574" /><Relationship Type="http://schemas.openxmlformats.org/officeDocument/2006/relationships/notesMaster" Target="/ppt/notesMasters/notesMaster1.xml" Id="R770830565db94e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State the learning purpose in one sentence.</a:t>
            </a:r>
          </a:p>
          <a:p xmlns:a="http://schemas.openxmlformats.org/drawingml/2006/main">
            <a:r>
              <a:t>- Use the image only as a conceptual project cue; it is not a plan or model specification.</a:t>
            </a:r>
          </a:p>
          <a:p xmlns:a="http://schemas.openxmlformats.org/drawingml/2006/main">
            <a:r>
              <a:t/>
            </a:r>
          </a:p>
          <a:p xmlns:a="http://schemas.openxmlformats.org/drawingml/2006/main">
            <a:r>
              <a:t>Prompt</a:t>
            </a:r>
          </a:p>
          <a:p xmlns:a="http://schemas.openxmlformats.org/drawingml/2006/main">
            <a:r>
              <a:t>- What relationship or evidence do you expect to matter in this module?</a:t>
            </a:r>
          </a:p>
          <a:p xmlns:a="http://schemas.openxmlformats.org/drawingml/2006/main">
            <a:r>
              <a:t/>
            </a:r>
          </a:p>
          <a:p xmlns:a="http://schemas.openxmlformats.org/drawingml/2006/main">
            <a:r>
              <a:t>Likely misconception</a:t>
            </a:r>
          </a:p>
          <a:p xmlns:a="http://schemas.openxmlformats.org/drawingml/2006/main">
            <a:r>
              <a:t>- A realistic image must show the exact project design.</a:t>
            </a:r>
          </a:p>
          <a:p xmlns:a="http://schemas.openxmlformats.org/drawingml/2006/main">
            <a:r>
              <a:t/>
            </a:r>
          </a:p>
          <a:p xmlns:a="http://schemas.openxmlformats.org/drawingml/2006/main">
            <a:r>
              <a:t>Transition</a:t>
            </a:r>
          </a:p>
          <a:p xmlns:a="http://schemas.openxmlformats.org/drawingml/2006/main">
            <a:r>
              <a:t>- Move from the project cue to the three ideas students will learn.</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OpenAI image generation for this course, 24 Aug 2026, conceptual only; file: prototype-redesign-sequence.png.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Frame the module as a cumulative learning sequence.</a:t>
            </a:r>
          </a:p>
          <a:p xmlns:a="http://schemas.openxmlformats.org/drawingml/2006/main">
            <a:r>
              <a:t>- Invite a brief retrieval response before introducing new content.</a:t>
            </a:r>
          </a:p>
          <a:p xmlns:a="http://schemas.openxmlformats.org/drawingml/2006/main">
            <a:r>
              <a:t/>
            </a:r>
          </a:p>
          <a:p xmlns:a="http://schemas.openxmlformats.org/drawingml/2006/main">
            <a:r>
              <a:t>Prompt</a:t>
            </a:r>
          </a:p>
          <a:p xmlns:a="http://schemas.openxmlformats.org/drawingml/2006/main">
            <a:r>
              <a:t>- Why is maximum performance not automatically the strongest demonstration?</a:t>
            </a:r>
          </a:p>
          <a:p xmlns:a="http://schemas.openxmlformats.org/drawingml/2006/main">
            <a:r>
              <a:t/>
            </a:r>
          </a:p>
          <a:p xmlns:a="http://schemas.openxmlformats.org/drawingml/2006/main">
            <a:r>
              <a:t>Likely misconception</a:t>
            </a:r>
          </a:p>
          <a:p xmlns:a="http://schemas.openxmlformats.org/drawingml/2006/main">
            <a:r>
              <a:t>- The three ideas are separate facts rather than parts of one explanation.</a:t>
            </a:r>
          </a:p>
          <a:p xmlns:a="http://schemas.openxmlformats.org/drawingml/2006/main">
            <a:r>
              <a:t/>
            </a:r>
          </a:p>
          <a:p xmlns:a="http://schemas.openxmlformats.org/drawingml/2006/main">
            <a:r>
              <a:t>Transition</a:t>
            </a:r>
          </a:p>
          <a:p xmlns:a="http://schemas.openxmlformats.org/drawingml/2006/main">
            <a:r>
              <a:t>- Tell students that each theory slide will supply evidence for the final response.</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Native pathway diagram authored for this deck from the approved module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A demonstration identifies the system purpose, points out key component relationships and makes the evidence visible. Controlled, repeatable behaviour often communicates more engineering knowledge than dramatic motion. Every operating condition remains teacher controlled; student preparation centres on explanation and recording.</a:t>
            </a:r>
          </a:p>
          <a:p xmlns:a="http://schemas.openxmlformats.org/drawingml/2006/main">
            <a:r>
              <a:t>- Use the visual to emphasise: A truthful explanation remains useful even when the result differs from the prediction.</a:t>
            </a:r>
          </a:p>
          <a:p xmlns:a="http://schemas.openxmlformats.org/drawingml/2006/main">
            <a:r>
              <a:t/>
            </a:r>
          </a:p>
          <a:p xmlns:a="http://schemas.openxmlformats.org/drawingml/2006/main">
            <a:r>
              <a:t>Prompt</a:t>
            </a:r>
          </a:p>
          <a:p xmlns:a="http://schemas.openxmlformats.org/drawingml/2006/main">
            <a:r>
              <a:t>- Communication: decide what the audience should notice and which evidence will connect it to a design decision.</a:t>
            </a:r>
          </a:p>
          <a:p xmlns:a="http://schemas.openxmlformats.org/drawingml/2006/main">
            <a:r>
              <a:t/>
            </a:r>
          </a:p>
          <a:p xmlns:a="http://schemas.openxmlformats.org/drawingml/2006/main">
            <a:r>
              <a:t>Likely misconception</a:t>
            </a:r>
          </a:p>
          <a:p xmlns:a="http://schemas.openxmlformats.org/drawingml/2006/main">
            <a:r>
              <a:t>- What makes a demonstration evidence-centred?</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Product, process, personal and environmental evaluation reveal different parts of the design journey. A strong judgement follows criterion, evidence, judgement and improvement. The proposed improvement addresses a likely cause and considers how the wider system could also change.</a:t>
            </a:r>
          </a:p>
          <a:p xmlns:a="http://schemas.openxmlformats.org/drawingml/2006/main">
            <a:r>
              <a:t>- Use the visual to emphasise: Evaluation is a reasoned loop, not a statement of personal preference.</a:t>
            </a:r>
          </a:p>
          <a:p xmlns:a="http://schemas.openxmlformats.org/drawingml/2006/main">
            <a:r>
              <a:t/>
            </a:r>
          </a:p>
          <a:p xmlns:a="http://schemas.openxmlformats.org/drawingml/2006/main">
            <a:r>
              <a:t>Prompt</a:t>
            </a:r>
          </a:p>
          <a:p xmlns:a="http://schemas.openxmlformats.org/drawingml/2006/main">
            <a:r>
              <a:t>- Evaluate: choose one confirmed criterion and follow it through evidence, judgement and one checkable improvement.</a:t>
            </a:r>
          </a:p>
          <a:p xmlns:a="http://schemas.openxmlformats.org/drawingml/2006/main">
            <a:r>
              <a:t/>
            </a:r>
          </a:p>
          <a:p xmlns:a="http://schemas.openxmlformats.org/drawingml/2006/main">
            <a:r>
              <a:t>Likely misconception</a:t>
            </a:r>
          </a:p>
          <a:p xmlns:a="http://schemas.openxmlformats.org/drawingml/2006/main">
            <a:r>
              <a:t>- How do product and process evaluation differ?</a:t>
            </a:r>
          </a:p>
          <a:p xmlns:a="http://schemas.openxmlformats.org/drawingml/2006/main">
            <a:r>
              <a:t/>
            </a:r>
          </a:p>
          <a:p xmlns:a="http://schemas.openxmlformats.org/drawingml/2006/main">
            <a:r>
              <a:t>Transition</a:t>
            </a:r>
          </a:p>
          <a:p xmlns:a="http://schemas.openxmlformats.org/drawingml/2006/main">
            <a:r>
              <a:t>- Link this idea to the next relationship in the module.</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Heritage NSW identifies Ngemba people as custodians of Baiame’s Ngunnhu, where dry-stone walls and holding ponds work with changing Barwon River flows. In Gunditjmara Country, Budj Bim connects volcanic landscape, waterways and aquaculture systems with continuing knowledge and care; UNESCO records at least 6,600 years of deliberate management.</a:t>
            </a:r>
          </a:p>
          <a:p xmlns:a="http://schemas.openxmlformats.org/drawingml/2006/main">
            <a:r>
              <a:t>- Use the visual to emphasise: Neither place is a Catapult analogy or a generic design template.</a:t>
            </a:r>
          </a:p>
          <a:p xmlns:a="http://schemas.openxmlformats.org/drawingml/2006/main">
            <a:r>
              <a:t/>
            </a:r>
          </a:p>
          <a:p xmlns:a="http://schemas.openxmlformats.org/drawingml/2006/main">
            <a:r>
              <a:t>Prompt</a:t>
            </a:r>
          </a:p>
          <a:p xmlns:a="http://schemas.openxmlformats.org/drawingml/2006/main">
            <a:r>
              <a:t>- Discussion: how do people, knowledge, responsibility and care change a systems explanation of these places?</a:t>
            </a:r>
          </a:p>
          <a:p xmlns:a="http://schemas.openxmlformats.org/drawingml/2006/main">
            <a:r>
              <a:t/>
            </a:r>
          </a:p>
          <a:p xmlns:a="http://schemas.openxmlformats.org/drawingml/2006/main">
            <a:r>
              <a:t>Likely misconception</a:t>
            </a:r>
          </a:p>
          <a:p xmlns:a="http://schemas.openxmlformats.org/drawingml/2006/main">
            <a:r>
              <a:t>- What four parts build a useful evaluation?</a:t>
            </a:r>
          </a:p>
          <a:p xmlns:a="http://schemas.openxmlformats.org/drawingml/2006/main">
            <a:r>
              <a:t/>
            </a:r>
          </a:p>
          <a:p xmlns:a="http://schemas.openxmlformats.org/drawingml/2006/main">
            <a:r>
              <a:t>Transition</a:t>
            </a:r>
          </a:p>
          <a:p xmlns:a="http://schemas.openxmlformats.org/drawingml/2006/main">
            <a:r>
              <a:t>- Prepare students to retrieve and apply all three ideas.</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Editable native diagram authored for this deck from the approved course theory.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Give individual thinking time before partner discussion.</a:t>
            </a:r>
          </a:p>
          <a:p xmlns:a="http://schemas.openxmlformats.org/drawingml/2006/main">
            <a:r>
              <a:t>- Ask for evidence or a because-clause, not just the answer.</a:t>
            </a:r>
          </a:p>
          <a:p xmlns:a="http://schemas.openxmlformats.org/drawingml/2006/main">
            <a:r>
              <a:t/>
            </a:r>
          </a:p>
          <a:p xmlns:a="http://schemas.openxmlformats.org/drawingml/2006/main">
            <a:r>
              <a:t>Prompt</a:t>
            </a:r>
          </a:p>
          <a:p xmlns:a="http://schemas.openxmlformats.org/drawingml/2006/main">
            <a:r>
              <a:t>- Which answer changed after discussion, and what evidence changed it?</a:t>
            </a:r>
          </a:p>
          <a:p xmlns:a="http://schemas.openxmlformats.org/drawingml/2006/main">
            <a:r>
              <a:t/>
            </a:r>
          </a:p>
          <a:p xmlns:a="http://schemas.openxmlformats.org/drawingml/2006/main">
            <a:r>
              <a:t>Likely misconception</a:t>
            </a:r>
          </a:p>
          <a:p xmlns:a="http://schemas.openxmlformats.org/drawingml/2006/main">
            <a:r>
              <a:t>- Retrieval is a memory race rather than a chance to repair understanding.</a:t>
            </a:r>
          </a:p>
          <a:p xmlns:a="http://schemas.openxmlformats.org/drawingml/2006/main">
            <a:r>
              <a:t/>
            </a:r>
          </a:p>
          <a:p xmlns:a="http://schemas.openxmlformats.org/drawingml/2006/main">
            <a:r>
              <a:t>Transition</a:t>
            </a:r>
          </a:p>
          <a:p xmlns:a="http://schemas.openxmlformats.org/drawingml/2006/main">
            <a:r>
              <a:t>- Use the strongest unresolved question to launch the evidence scaffold.</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Questions derived from the approved module theory; no external asset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Model how to select evidence before writing the explanation.</a:t>
            </a:r>
          </a:p>
          <a:p xmlns:a="http://schemas.openxmlformats.org/drawingml/2006/main">
            <a:r>
              <a:t>- Read the sentence support aloud, then let students change its wording to suit their evidence.</a:t>
            </a:r>
          </a:p>
          <a:p xmlns:a="http://schemas.openxmlformats.org/drawingml/2006/main">
            <a:r>
              <a:t/>
            </a:r>
          </a:p>
          <a:p xmlns:a="http://schemas.openxmlformats.org/drawingml/2006/main">
            <a:r>
              <a:t>Prompt</a:t>
            </a:r>
          </a:p>
          <a:p xmlns:a="http://schemas.openxmlformats.org/drawingml/2006/main">
            <a:r>
              <a:t>- A system meets one confirmed criterion but falls short on another. Explain the trade-off, recommend one evidence-based improvement and predict how it could affect the wider system.</a:t>
            </a:r>
          </a:p>
          <a:p xmlns:a="http://schemas.openxmlformats.org/drawingml/2006/main">
            <a:r>
              <a:t/>
            </a:r>
          </a:p>
          <a:p xmlns:a="http://schemas.openxmlformats.org/drawingml/2006/main">
            <a:r>
              <a:t>Likely misconception</a:t>
            </a:r>
          </a:p>
          <a:p xmlns:a="http://schemas.openxmlformats.org/drawingml/2006/main">
            <a:r>
              <a:t>- Longer writing is automatically stronger evidence.</a:t>
            </a:r>
          </a:p>
          <a:p xmlns:a="http://schemas.openxmlformats.org/drawingml/2006/main">
            <a:r>
              <a:t/>
            </a:r>
          </a:p>
          <a:p xmlns:a="http://schemas.openxmlformats.org/drawingml/2006/main">
            <a:r>
              <a:t>Transition</a:t>
            </a:r>
          </a:p>
          <a:p xmlns:a="http://schemas.openxmlformats.org/drawingml/2006/main">
            <a:r>
              <a:t>- Move from the scaffold to a concise exit ticket and evidence-save action.</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Read–Select–Explain–Check scaffold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points</a:t>
            </a:r>
          </a:p>
          <a:p xmlns:a="http://schemas.openxmlformats.org/drawingml/2006/main">
            <a:r>
              <a:t>- Collect a short answer to each exit prompt.</a:t>
            </a:r>
          </a:p>
          <a:p xmlns:a="http://schemas.openxmlformats.org/drawingml/2006/main">
            <a:r>
              <a:t>- Make the evidence destination explicit without turning the slide into assessment administration.</a:t>
            </a:r>
          </a:p>
          <a:p xmlns:a="http://schemas.openxmlformats.org/drawingml/2006/main">
            <a:r>
              <a:t/>
            </a:r>
          </a:p>
          <a:p xmlns:a="http://schemas.openxmlformats.org/drawingml/2006/main">
            <a:r>
              <a:t>Prompt</a:t>
            </a:r>
          </a:p>
          <a:p xmlns:a="http://schemas.openxmlformats.org/drawingml/2006/main">
            <a:r>
              <a:t>- Which exit response best shows a changed decision or deeper explanation?</a:t>
            </a:r>
          </a:p>
          <a:p xmlns:a="http://schemas.openxmlformats.org/drawingml/2006/main">
            <a:r>
              <a:t/>
            </a:r>
          </a:p>
          <a:p xmlns:a="http://schemas.openxmlformats.org/drawingml/2006/main">
            <a:r>
              <a:t>Likely misconception</a:t>
            </a:r>
          </a:p>
          <a:p xmlns:a="http://schemas.openxmlformats.org/drawingml/2006/main">
            <a:r>
              <a:t>- The exit ticket is a generic summary with no next evidence action.</a:t>
            </a:r>
          </a:p>
          <a:p xmlns:a="http://schemas.openxmlformats.org/drawingml/2006/main">
            <a:r>
              <a:t/>
            </a:r>
          </a:p>
          <a:p xmlns:a="http://schemas.openxmlformats.org/drawingml/2006/main">
            <a:r>
              <a:t>Transition</a:t>
            </a:r>
          </a:p>
          <a:p xmlns:a="http://schemas.openxmlformats.org/drawingml/2006/main">
            <a:r>
              <a:t>- Next: save your evidence and follow the teacher’s directions for the final course hand-in.</a:t>
            </a:r>
          </a:p>
          <a:p xmlns:a="http://schemas.openxmlformats.org/drawingml/2006/main">
            <a:r>
              <a:t/>
            </a:r>
          </a:p>
          <a:p xmlns:a="http://schemas.openxmlformats.org/drawingml/2006/main">
            <a:r>
              <a:t>[Sources]</a:t>
            </a:r>
          </a:p>
          <a:p xmlns:a="http://schemas.openxmlformats.org/drawingml/2006/main">
            <a:r>
              <a:t>- Year 8 Catapult student theory draft v1.0, module-10, 24 Aug 2026.</a:t>
            </a:r>
          </a:p>
          <a:p xmlns:a="http://schemas.openxmlformats.org/drawingml/2006/main">
            <a:r>
              <a:t>- Catapult Booklet 2026.pdf, pp. 18–19 and 27–31; Heritage NSW on Baiame’s Ngunnhu; Gunditj Mirring and UNESCO on Budj Bim; cultural-source brief; theory draft module-10.</a:t>
            </a:r>
          </a:p>
          <a:p xmlns:a="http://schemas.openxmlformats.org/drawingml/2006/main">
            <a:r>
              <a:t>- Exit-evidence structure follows the TAS course presentation standard.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6904fe01ec4e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12c5294d3041ef" /><Relationship Type="http://schemas.openxmlformats.org/officeDocument/2006/relationships/slideLayout" Target="/ppt/slideLayouts/slideLayout1.xml" Id="R1c657b1d719b4c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657b1d719b4c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88661afc534b6a" /><Relationship Type="http://schemas.openxmlformats.org/officeDocument/2006/relationships/image" Target="/ppt/media/image.png" Id="Rfb66f879d26f4b4c" /><Relationship Type="http://schemas.openxmlformats.org/officeDocument/2006/relationships/notesSlide" Target="/ppt/notesSlides/notesSlide1.xml" Id="R69c9e43b4d9a4a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3c6ec020204657" /><Relationship Type="http://schemas.openxmlformats.org/officeDocument/2006/relationships/notesSlide" Target="/ppt/notesSlides/notesSlide2.xml" Id="Rb0d63f847d6143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0f1bb3668342ac" /><Relationship Type="http://schemas.openxmlformats.org/officeDocument/2006/relationships/notesSlide" Target="/ppt/notesSlides/notesSlide3.xml" Id="R0e2842ed8c9443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cd3f1e1b7041f3" /><Relationship Type="http://schemas.openxmlformats.org/officeDocument/2006/relationships/notesSlide" Target="/ppt/notesSlides/notesSlide4.xml" Id="R8adeb6180c5a41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f766bcaf7a46c8" /><Relationship Type="http://schemas.openxmlformats.org/officeDocument/2006/relationships/notesSlide" Target="/ppt/notesSlides/notesSlide5.xml" Id="Rde0fc3ebdf2a49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73c0d028754cb8" /><Relationship Type="http://schemas.openxmlformats.org/officeDocument/2006/relationships/notesSlide" Target="/ppt/notesSlides/notesSlide6.xml" Id="R8e63608a88de40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e3118d3c274d2d" /><Relationship Type="http://schemas.openxmlformats.org/officeDocument/2006/relationships/notesSlide" Target="/ppt/notesSlides/notesSlide7.xml" Id="R1c8dfa3c7c9b40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26dfd061e6460f" /><Relationship Type="http://schemas.openxmlformats.org/officeDocument/2006/relationships/notesSlide" Target="/ppt/notesSlides/notesSlide8.xml" Id="Rffa8dd8d144f4ac1" /></Relationships>
</file>

<file path=ppt/slides/slide1.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b66f879d26f4b4c"/>
          <a:srcRect xmlns:a="http://schemas.openxmlformats.org/drawingml/2006/main" l="25926" t="0" r="2592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C747DE3-B58D-403D-AFB4-E6E5C18E1718}"/>
              </a:ext>
            </a:extLst>
          </p:cNvPr>
          <p:cNvSpPr>
            <a:spLocks xmlns:a="http://schemas.openxmlformats.org/drawingml/2006/main" noGrp="1"/>
          </p:cNvSpPr>
          <p:nvPr/>
        </p:nvSpPr>
        <p:spPr>
          <a:xfrm xmlns:a="http://schemas.openxmlformats.org/drawingml/2006/main">
            <a:off x="7029450" y="0"/>
            <a:ext cx="285750" cy="685800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9268617-B366-40EC-A12C-3874946AD714}"/>
              </a:ext>
            </a:extLst>
          </p:cNvPr>
          <p:cNvSpPr>
            <a:spLocks xmlns:a="http://schemas.openxmlformats.org/drawingml/2006/main" noGrp="1"/>
          </p:cNvSpPr>
          <p:nvPr/>
        </p:nvSpPr>
        <p:spPr>
          <a:xfrm xmlns:a="http://schemas.openxmlformats.org/drawingml/2006/main">
            <a:off x="685800" y="723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MODULE 10</a:t>
            </a:r>
          </a:p>
        </p:txBody>
      </p:sp>
      <p:sp>
        <p:nvSpPr>
          <p:cNvPr id="4" name="">
            <a:extLst xmlns:a="http://schemas.openxmlformats.org/drawingml/2006/main">
              <a:ext uri="{FF2B5EF4-FFF2-40B4-BE49-F238E27FC236}">
                <a16:creationId xmlns:a16="http://schemas.microsoft.com/office/drawing/2014/main" id="{9AF5CD79-96B4-4843-9259-A15152855EA2}"/>
              </a:ext>
            </a:extLst>
          </p:cNvPr>
          <p:cNvSpPr>
            <a:spLocks xmlns:a="http://schemas.openxmlformats.org/drawingml/2006/main" noGrp="1"/>
          </p:cNvSpPr>
          <p:nvPr/>
        </p:nvSpPr>
        <p:spPr>
          <a:xfrm xmlns:a="http://schemas.openxmlformats.org/drawingml/2006/main">
            <a:off x="685800" y="1428750"/>
            <a:ext cx="5810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FFFFFF"/>
                </a:solidFill>
              </a:defRPr>
            </a:pPr>
            <a:r>
              <a:rPr sz="4350" b="1">
                <a:solidFill>
                  <a:srgbClr val="FFFFFF"/>
                </a:solidFill>
              </a:rPr>
              <a:t>Demonstration, Evaluation and Connected Systems</a:t>
            </a:r>
          </a:p>
        </p:txBody>
      </p:sp>
      <p:sp>
        <p:nvSpPr>
          <p:cNvPr id="5" name="">
            <a:extLst xmlns:a="http://schemas.openxmlformats.org/drawingml/2006/main">
              <a:ext uri="{FF2B5EF4-FFF2-40B4-BE49-F238E27FC236}">
                <a16:creationId xmlns:a16="http://schemas.microsoft.com/office/drawing/2014/main" id="{251A9616-49D9-44E9-A293-14D728915E53}"/>
              </a:ext>
            </a:extLst>
          </p:cNvPr>
          <p:cNvSpPr>
            <a:spLocks xmlns:a="http://schemas.openxmlformats.org/drawingml/2006/main" noGrp="1"/>
          </p:cNvSpPr>
          <p:nvPr/>
        </p:nvSpPr>
        <p:spPr>
          <a:xfrm xmlns:a="http://schemas.openxmlformats.org/drawingml/2006/main">
            <a:off x="685800" y="3943350"/>
            <a:ext cx="57626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D7E5E8"/>
                </a:solidFill>
              </a:defRPr>
            </a:pPr>
            <a:r>
              <a:rPr sz="1875" b="0">
                <a:solidFill>
                  <a:srgbClr val="D7E5E8"/>
                </a:solidFill>
              </a:rPr>
              <a:t>Communicate evidence, evaluate a trade-off and approach Aboriginal engineering systems with context first.</a:t>
            </a:r>
          </a:p>
        </p:txBody>
      </p:sp>
      <p:sp>
        <p:nvSpPr>
          <p:cNvPr id="6" name="">
            <a:extLst xmlns:a="http://schemas.openxmlformats.org/drawingml/2006/main">
              <a:ext uri="{FF2B5EF4-FFF2-40B4-BE49-F238E27FC236}">
                <a16:creationId xmlns:a16="http://schemas.microsoft.com/office/drawing/2014/main" id="{009566A4-02E3-4E3E-895F-08823778F28A}"/>
              </a:ext>
            </a:extLst>
          </p:cNvPr>
          <p:cNvSpPr>
            <a:spLocks xmlns:a="http://schemas.openxmlformats.org/drawingml/2006/main" noGrp="1"/>
          </p:cNvSpPr>
          <p:nvPr/>
        </p:nvSpPr>
        <p:spPr>
          <a:xfrm xmlns:a="http://schemas.openxmlformats.org/drawingml/2006/main">
            <a:off x="685800" y="59245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7E5E8"/>
                </a:solidFill>
              </a:defRPr>
            </a:pPr>
            <a:r>
              <a:rPr sz="1125" b="1">
                <a:solidFill>
                  <a:srgbClr val="D7E5E8"/>
                </a:solidFill>
              </a:rPr>
              <a:t>YEAR 8  •  ENGINEERING TECHNOLOGIES AND SYSTEMS</a:t>
            </a:r>
          </a:p>
        </p:txBody>
      </p:sp>
    </p:spTree>
    <p:extLst>
      <p:ext uri="{BB962C8B-B14F-4D97-AF65-F5344CB8AC3E}">
        <p14:creationId xmlns:p14="http://schemas.microsoft.com/office/powerpoint/2010/main" val="459543510"/>
      </p:ext>
    </p:extLst>
  </p:cSld>
</p:sld>
</file>

<file path=ppt/slides/slide2.xml><?xml version="1.0" encoding="utf-8"?>
<p:sld xmlns:p="http://schemas.openxmlformats.org/presentationml/2006/main">
  <p:cSld>
    <p:bg>
      <p:bgPr>
        <a:solidFill xmlns:a="http://schemas.openxmlformats.org/drawingml/2006/main">
          <a:srgbClr val="F3F6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9205A28-9EC4-44A3-93E9-361D0FA506D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AE4117-8279-4614-A0E5-47EFA5E75971}"/>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10  /  EVALUATION AND CONNECTED SYSTEMS</a:t>
            </a:r>
          </a:p>
        </p:txBody>
      </p:sp>
      <p:sp>
        <p:nvSpPr>
          <p:cNvPr id="3" name="">
            <a:extLst xmlns:a="http://schemas.openxmlformats.org/drawingml/2006/main">
              <a:ext uri="{FF2B5EF4-FFF2-40B4-BE49-F238E27FC236}">
                <a16:creationId xmlns:a16="http://schemas.microsoft.com/office/drawing/2014/main" id="{D286AA52-5120-43B1-8CB3-811F5ABD788C}"/>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The learning question</a:t>
            </a:r>
          </a:p>
        </p:txBody>
      </p:sp>
      <p:sp>
        <p:nvSpPr>
          <p:cNvPr id="4" name="">
            <a:extLst xmlns:a="http://schemas.openxmlformats.org/drawingml/2006/main">
              <a:ext uri="{FF2B5EF4-FFF2-40B4-BE49-F238E27FC236}">
                <a16:creationId xmlns:a16="http://schemas.microsoft.com/office/drawing/2014/main" id="{E4F57835-1435-456A-B47B-1E981B0CDC42}"/>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7F5230F7-CCD7-48DF-9DE2-550F2619A062}"/>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10</a:t>
            </a:r>
          </a:p>
        </p:txBody>
      </p:sp>
      <p:sp>
        <p:nvSpPr>
          <p:cNvPr id="6" name="">
            <a:extLst xmlns:a="http://schemas.openxmlformats.org/drawingml/2006/main">
              <a:ext uri="{FF2B5EF4-FFF2-40B4-BE49-F238E27FC236}">
                <a16:creationId xmlns:a16="http://schemas.microsoft.com/office/drawing/2014/main" id="{B7D8C31D-114D-4063-B90A-48AFDB9D96F6}"/>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02</a:t>
            </a:r>
          </a:p>
        </p:txBody>
      </p:sp>
      <p:sp>
        <p:nvSpPr>
          <p:cNvPr id="7" name="">
            <a:extLst xmlns:a="http://schemas.openxmlformats.org/drawingml/2006/main">
              <a:ext uri="{FF2B5EF4-FFF2-40B4-BE49-F238E27FC236}">
                <a16:creationId xmlns:a16="http://schemas.microsoft.com/office/drawing/2014/main" id="{9286A924-E718-4B43-92E6-4D521F1FA5F9}"/>
              </a:ext>
            </a:extLst>
          </p:cNvPr>
          <p:cNvSpPr>
            <a:spLocks xmlns:a="http://schemas.openxmlformats.org/drawingml/2006/main" noGrp="1"/>
          </p:cNvSpPr>
          <p:nvPr/>
        </p:nvSpPr>
        <p:spPr>
          <a:xfrm xmlns:a="http://schemas.openxmlformats.org/drawingml/2006/main">
            <a:off x="685800" y="1333500"/>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84F5E"/>
                </a:solidFill>
              </a:defRPr>
            </a:pPr>
            <a:r>
              <a:rPr sz="2250" b="1">
                <a:solidFill>
                  <a:srgbClr val="184F5E"/>
                </a:solidFill>
              </a:rPr>
              <a:t>How do we close the design loop with honest evidence and respectful systems thinking?</a:t>
            </a:r>
          </a:p>
        </p:txBody>
      </p:sp>
      <p:sp>
        <p:nvSpPr>
          <p:cNvPr id="8" name="">
            <a:extLst xmlns:a="http://schemas.openxmlformats.org/drawingml/2006/main">
              <a:ext uri="{FF2B5EF4-FFF2-40B4-BE49-F238E27FC236}">
                <a16:creationId xmlns:a16="http://schemas.microsoft.com/office/drawing/2014/main" id="{59BF468D-993F-4285-BFE1-62E490706D6C}"/>
              </a:ext>
            </a:extLst>
          </p:cNvPr>
          <p:cNvSpPr>
            <a:spLocks xmlns:a="http://schemas.openxmlformats.org/drawingml/2006/main" noGrp="1"/>
          </p:cNvSpPr>
          <p:nvPr/>
        </p:nvSpPr>
        <p:spPr>
          <a:xfrm xmlns:a="http://schemas.openxmlformats.org/drawingml/2006/main">
            <a:off x="3543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5FD9F92-40B0-4080-BFF3-10827902E18D}"/>
              </a:ext>
            </a:extLst>
          </p:cNvPr>
          <p:cNvSpPr>
            <a:spLocks xmlns:a="http://schemas.openxmlformats.org/drawingml/2006/main" noGrp="1"/>
          </p:cNvSpPr>
          <p:nvPr/>
        </p:nvSpPr>
        <p:spPr>
          <a:xfrm xmlns:a="http://schemas.openxmlformats.org/drawingml/2006/main">
            <a:off x="6972300" y="3181350"/>
            <a:ext cx="66675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17ADCD-D357-459A-8507-96F702F201B0}"/>
              </a:ext>
            </a:extLst>
          </p:cNvPr>
          <p:cNvSpPr>
            <a:spLocks xmlns:a="http://schemas.openxmlformats.org/drawingml/2006/main" noGrp="1"/>
          </p:cNvSpPr>
          <p:nvPr/>
        </p:nvSpPr>
        <p:spPr>
          <a:xfrm xmlns:a="http://schemas.openxmlformats.org/drawingml/2006/main">
            <a:off x="819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5523BB-92FD-44CB-84DC-D790D32DFCEA}"/>
              </a:ext>
            </a:extLst>
          </p:cNvPr>
          <p:cNvSpPr>
            <a:spLocks xmlns:a="http://schemas.openxmlformats.org/drawingml/2006/main" noGrp="1"/>
          </p:cNvSpPr>
          <p:nvPr/>
        </p:nvSpPr>
        <p:spPr>
          <a:xfrm xmlns:a="http://schemas.openxmlformats.org/drawingml/2006/main">
            <a:off x="819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1</a:t>
            </a:r>
          </a:p>
        </p:txBody>
      </p:sp>
      <p:sp>
        <p:nvSpPr>
          <p:cNvPr id="12" name="">
            <a:extLst xmlns:a="http://schemas.openxmlformats.org/drawingml/2006/main">
              <a:ext uri="{FF2B5EF4-FFF2-40B4-BE49-F238E27FC236}">
                <a16:creationId xmlns:a16="http://schemas.microsoft.com/office/drawing/2014/main" id="{2B922070-EDEC-476A-A4D2-006F3AE6814D}"/>
              </a:ext>
            </a:extLst>
          </p:cNvPr>
          <p:cNvSpPr>
            <a:spLocks xmlns:a="http://schemas.openxmlformats.org/drawingml/2006/main" noGrp="1"/>
          </p:cNvSpPr>
          <p:nvPr/>
        </p:nvSpPr>
        <p:spPr>
          <a:xfrm xmlns:a="http://schemas.openxmlformats.org/drawingml/2006/main">
            <a:off x="1790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Demonstrate through evidence</a:t>
            </a:r>
          </a:p>
        </p:txBody>
      </p:sp>
      <p:sp>
        <p:nvSpPr>
          <p:cNvPr id="13" name="">
            <a:extLst xmlns:a="http://schemas.openxmlformats.org/drawingml/2006/main">
              <a:ext uri="{FF2B5EF4-FFF2-40B4-BE49-F238E27FC236}">
                <a16:creationId xmlns:a16="http://schemas.microsoft.com/office/drawing/2014/main" id="{CB6613FD-51AC-42DE-85FB-AEEDA2D7AD13}"/>
              </a:ext>
            </a:extLst>
          </p:cNvPr>
          <p:cNvSpPr>
            <a:spLocks xmlns:a="http://schemas.openxmlformats.org/drawingml/2006/main" noGrp="1"/>
          </p:cNvSpPr>
          <p:nvPr/>
        </p:nvSpPr>
        <p:spPr>
          <a:xfrm xmlns:a="http://schemas.openxmlformats.org/drawingml/2006/main">
            <a:off x="4248150" y="2743200"/>
            <a:ext cx="819150" cy="81915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4D804D-9FE5-423C-89AC-BE15F39A56B7}"/>
              </a:ext>
            </a:extLst>
          </p:cNvPr>
          <p:cNvSpPr>
            <a:spLocks xmlns:a="http://schemas.openxmlformats.org/drawingml/2006/main" noGrp="1"/>
          </p:cNvSpPr>
          <p:nvPr/>
        </p:nvSpPr>
        <p:spPr>
          <a:xfrm xmlns:a="http://schemas.openxmlformats.org/drawingml/2006/main">
            <a:off x="4248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17232B"/>
                </a:solidFill>
              </a:defRPr>
            </a:pPr>
            <a:r>
              <a:rPr sz="2400" b="1">
                <a:solidFill>
                  <a:srgbClr val="17232B"/>
                </a:solidFill>
              </a:rPr>
              <a:t>2</a:t>
            </a:r>
          </a:p>
        </p:txBody>
      </p:sp>
      <p:sp>
        <p:nvSpPr>
          <p:cNvPr id="15" name="">
            <a:extLst xmlns:a="http://schemas.openxmlformats.org/drawingml/2006/main">
              <a:ext uri="{FF2B5EF4-FFF2-40B4-BE49-F238E27FC236}">
                <a16:creationId xmlns:a16="http://schemas.microsoft.com/office/drawing/2014/main" id="{AF5E2235-CCEE-4A6E-9B3D-42DDF8B46358}"/>
              </a:ext>
            </a:extLst>
          </p:cNvPr>
          <p:cNvSpPr>
            <a:spLocks xmlns:a="http://schemas.openxmlformats.org/drawingml/2006/main" noGrp="1"/>
          </p:cNvSpPr>
          <p:nvPr/>
        </p:nvSpPr>
        <p:spPr>
          <a:xfrm xmlns:a="http://schemas.openxmlformats.org/drawingml/2006/main">
            <a:off x="5219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Evaluate product and process</a:t>
            </a:r>
          </a:p>
        </p:txBody>
      </p:sp>
      <p:sp>
        <p:nvSpPr>
          <p:cNvPr id="16" name="">
            <a:extLst xmlns:a="http://schemas.openxmlformats.org/drawingml/2006/main">
              <a:ext uri="{FF2B5EF4-FFF2-40B4-BE49-F238E27FC236}">
                <a16:creationId xmlns:a16="http://schemas.microsoft.com/office/drawing/2014/main" id="{D386A570-BBBB-45F7-AB30-2CA0EADE5C39}"/>
              </a:ext>
            </a:extLst>
          </p:cNvPr>
          <p:cNvSpPr>
            <a:spLocks xmlns:a="http://schemas.openxmlformats.org/drawingml/2006/main" noGrp="1"/>
          </p:cNvSpPr>
          <p:nvPr/>
        </p:nvSpPr>
        <p:spPr>
          <a:xfrm xmlns:a="http://schemas.openxmlformats.org/drawingml/2006/main">
            <a:off x="7677150" y="2743200"/>
            <a:ext cx="819150" cy="819150"/>
          </a:xfrm>
          <a:prstGeom xmlns:a="http://schemas.openxmlformats.org/drawingml/2006/main" prst="ellipse">
            <a:avLst/>
          </a:prstGeom>
          <a:solidFill xmlns:a="http://schemas.openxmlformats.org/drawingml/2006/main">
            <a:srgbClr val="184F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84BD8C2-C886-4D07-8B45-789B6E6F6B3F}"/>
              </a:ext>
            </a:extLst>
          </p:cNvPr>
          <p:cNvSpPr>
            <a:spLocks xmlns:a="http://schemas.openxmlformats.org/drawingml/2006/main" noGrp="1"/>
          </p:cNvSpPr>
          <p:nvPr/>
        </p:nvSpPr>
        <p:spPr>
          <a:xfrm xmlns:a="http://schemas.openxmlformats.org/drawingml/2006/main">
            <a:off x="7677150" y="2914650"/>
            <a:ext cx="819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FFFFFF"/>
                </a:solidFill>
              </a:defRPr>
            </a:pPr>
            <a:r>
              <a:rPr sz="2400" b="1">
                <a:solidFill>
                  <a:srgbClr val="FFFFFF"/>
                </a:solidFill>
              </a:rPr>
              <a:t>3</a:t>
            </a:r>
          </a:p>
        </p:txBody>
      </p:sp>
      <p:sp>
        <p:nvSpPr>
          <p:cNvPr id="18" name="">
            <a:extLst xmlns:a="http://schemas.openxmlformats.org/drawingml/2006/main">
              <a:ext uri="{FF2B5EF4-FFF2-40B4-BE49-F238E27FC236}">
                <a16:creationId xmlns:a16="http://schemas.microsoft.com/office/drawing/2014/main" id="{BEA2BEFA-26DC-49F1-8285-A72915CDDEB1}"/>
              </a:ext>
            </a:extLst>
          </p:cNvPr>
          <p:cNvSpPr>
            <a:spLocks xmlns:a="http://schemas.openxmlformats.org/drawingml/2006/main" noGrp="1"/>
          </p:cNvSpPr>
          <p:nvPr/>
        </p:nvSpPr>
        <p:spPr>
          <a:xfrm xmlns:a="http://schemas.openxmlformats.org/drawingml/2006/main">
            <a:off x="8648700" y="2781300"/>
            <a:ext cx="2333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7232B"/>
                </a:solidFill>
              </a:defRPr>
            </a:pPr>
            <a:r>
              <a:rPr sz="1725" b="1">
                <a:solidFill>
                  <a:srgbClr val="17232B"/>
                </a:solidFill>
              </a:rPr>
              <a:t>Context before systems comparison</a:t>
            </a:r>
          </a:p>
        </p:txBody>
      </p:sp>
      <p:sp>
        <p:nvSpPr>
          <p:cNvPr id="19" name="">
            <a:extLst xmlns:a="http://schemas.openxmlformats.org/drawingml/2006/main">
              <a:ext uri="{FF2B5EF4-FFF2-40B4-BE49-F238E27FC236}">
                <a16:creationId xmlns:a16="http://schemas.microsoft.com/office/drawing/2014/main" id="{639C2CEA-A84A-40DC-A9B8-5E26F9F34D0D}"/>
              </a:ext>
            </a:extLst>
          </p:cNvPr>
          <p:cNvSpPr>
            <a:spLocks xmlns:a="http://schemas.openxmlformats.org/drawingml/2006/main" noGrp="1"/>
          </p:cNvSpPr>
          <p:nvPr/>
        </p:nvSpPr>
        <p:spPr>
          <a:xfrm xmlns:a="http://schemas.openxmlformats.org/drawingml/2006/main">
            <a:off x="685800" y="4686300"/>
            <a:ext cx="108204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20" name="">
            <a:extLst xmlns:a="http://schemas.openxmlformats.org/drawingml/2006/main">
              <a:ext uri="{FF2B5EF4-FFF2-40B4-BE49-F238E27FC236}">
                <a16:creationId xmlns:a16="http://schemas.microsoft.com/office/drawing/2014/main" id="{91561D59-3E63-49A8-9A66-1C65B41DBF7A}"/>
              </a:ext>
            </a:extLst>
          </p:cNvPr>
          <p:cNvSpPr>
            <a:spLocks xmlns:a="http://schemas.openxmlformats.org/drawingml/2006/main" noGrp="1"/>
          </p:cNvSpPr>
          <p:nvPr/>
        </p:nvSpPr>
        <p:spPr>
          <a:xfrm xmlns:a="http://schemas.openxmlformats.org/drawingml/2006/main">
            <a:off x="933450" y="48958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RETRIEVAL WARM-UP</a:t>
            </a:r>
          </a:p>
        </p:txBody>
      </p:sp>
      <p:sp>
        <p:nvSpPr>
          <p:cNvPr id="21" name="">
            <a:extLst xmlns:a="http://schemas.openxmlformats.org/drawingml/2006/main">
              <a:ext uri="{FF2B5EF4-FFF2-40B4-BE49-F238E27FC236}">
                <a16:creationId xmlns:a16="http://schemas.microsoft.com/office/drawing/2014/main" id="{22BB6ED9-AC37-4DCF-8571-DF17DD6109DF}"/>
              </a:ext>
            </a:extLst>
          </p:cNvPr>
          <p:cNvSpPr>
            <a:spLocks xmlns:a="http://schemas.openxmlformats.org/drawingml/2006/main" noGrp="1"/>
          </p:cNvSpPr>
          <p:nvPr/>
        </p:nvSpPr>
        <p:spPr>
          <a:xfrm xmlns:a="http://schemas.openxmlformats.org/drawingml/2006/main">
            <a:off x="933450" y="52197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Why is maximum performance not automatically the strongest demonstration?</a:t>
            </a:r>
          </a:p>
        </p:txBody>
      </p:sp>
    </p:spTree>
    <p:extLst>
      <p:ext uri="{BB962C8B-B14F-4D97-AF65-F5344CB8AC3E}">
        <p14:creationId xmlns:p14="http://schemas.microsoft.com/office/powerpoint/2010/main" val="4278713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5F03AC2-7CCC-4F0C-BBC8-A8869678B40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4702E8-9126-41B8-8303-EC166BD64477}"/>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10  /  EVALUATION AND CONNECTED SYSTEMS</a:t>
            </a:r>
          </a:p>
        </p:txBody>
      </p:sp>
      <p:sp>
        <p:nvSpPr>
          <p:cNvPr id="3" name="">
            <a:extLst xmlns:a="http://schemas.openxmlformats.org/drawingml/2006/main">
              <a:ext uri="{FF2B5EF4-FFF2-40B4-BE49-F238E27FC236}">
                <a16:creationId xmlns:a16="http://schemas.microsoft.com/office/drawing/2014/main" id="{6E1E5877-9441-4019-B49B-CF1338E6405D}"/>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A demonstration directs attention to evidence</a:t>
            </a:r>
          </a:p>
        </p:txBody>
      </p:sp>
      <p:sp>
        <p:nvSpPr>
          <p:cNvPr id="4" name="">
            <a:extLst xmlns:a="http://schemas.openxmlformats.org/drawingml/2006/main">
              <a:ext uri="{FF2B5EF4-FFF2-40B4-BE49-F238E27FC236}">
                <a16:creationId xmlns:a16="http://schemas.microsoft.com/office/drawing/2014/main" id="{7EE60E44-9C7C-4CB0-960F-65EA743048DA}"/>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B0826F7C-2757-41AB-94EE-6A5BC05CF853}"/>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10</a:t>
            </a:r>
          </a:p>
        </p:txBody>
      </p:sp>
      <p:sp>
        <p:nvSpPr>
          <p:cNvPr id="6" name="">
            <a:extLst xmlns:a="http://schemas.openxmlformats.org/drawingml/2006/main">
              <a:ext uri="{FF2B5EF4-FFF2-40B4-BE49-F238E27FC236}">
                <a16:creationId xmlns:a16="http://schemas.microsoft.com/office/drawing/2014/main" id="{838FB65A-4391-4384-A2FC-B21721A19295}"/>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03</a:t>
            </a:r>
          </a:p>
        </p:txBody>
      </p:sp>
      <p:sp>
        <p:nvSpPr>
          <p:cNvPr id="7" name="">
            <a:extLst xmlns:a="http://schemas.openxmlformats.org/drawingml/2006/main">
              <a:ext uri="{FF2B5EF4-FFF2-40B4-BE49-F238E27FC236}">
                <a16:creationId xmlns:a16="http://schemas.microsoft.com/office/drawing/2014/main" id="{F492B1C4-13CC-48B7-BA02-5E3FFB0CB813}"/>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A demonstration identifies the system purpose, points out key component relationships and makes the evidence visible. Controlled, repeatable behaviour often communicates more engineering knowledge than dramatic motion. Every operating condition remains teacher controlled; student preparation centres on explanation and recording.</a:t>
            </a:r>
          </a:p>
        </p:txBody>
      </p:sp>
      <p:sp>
        <p:nvSpPr>
          <p:cNvPr id="8" name="">
            <a:extLst xmlns:a="http://schemas.openxmlformats.org/drawingml/2006/main">
              <a:ext uri="{FF2B5EF4-FFF2-40B4-BE49-F238E27FC236}">
                <a16:creationId xmlns:a16="http://schemas.microsoft.com/office/drawing/2014/main" id="{84A384AC-3A44-43E2-8E67-B1038E349661}"/>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D4B6D583-4C8C-4E49-AA20-13DA4A77F200}"/>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Communication: decide what the audience should notice and which evidence will connect it to a design decision.</a:t>
            </a:r>
          </a:p>
        </p:txBody>
      </p:sp>
      <p:sp>
        <p:nvSpPr>
          <p:cNvPr id="10" name="">
            <a:extLst xmlns:a="http://schemas.openxmlformats.org/drawingml/2006/main">
              <a:ext uri="{FF2B5EF4-FFF2-40B4-BE49-F238E27FC236}">
                <a16:creationId xmlns:a16="http://schemas.microsoft.com/office/drawing/2014/main" id="{62C71F4E-983A-4B93-A5B6-F3B31AF3811B}"/>
              </a:ext>
            </a:extLst>
          </p:cNvPr>
          <p:cNvSpPr>
            <a:spLocks xmlns:a="http://schemas.openxmlformats.org/drawingml/2006/main" noGrp="1"/>
          </p:cNvSpPr>
          <p:nvPr/>
        </p:nvSpPr>
        <p:spPr>
          <a:xfrm xmlns:a="http://schemas.openxmlformats.org/drawingml/2006/main">
            <a:off x="758190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C1B57BB-6FAA-45B2-B97D-83B00859C399}"/>
              </a:ext>
            </a:extLst>
          </p:cNvPr>
          <p:cNvSpPr>
            <a:spLocks xmlns:a="http://schemas.openxmlformats.org/drawingml/2006/main" noGrp="1"/>
          </p:cNvSpPr>
          <p:nvPr/>
        </p:nvSpPr>
        <p:spPr>
          <a:xfrm xmlns:a="http://schemas.openxmlformats.org/drawingml/2006/main">
            <a:off x="9296400" y="2371725"/>
            <a:ext cx="2667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E6F433-EEA5-4C9A-9B81-02BB1BD53725}"/>
              </a:ext>
            </a:extLst>
          </p:cNvPr>
          <p:cNvSpPr>
            <a:spLocks xmlns:a="http://schemas.openxmlformats.org/drawingml/2006/main" noGrp="1"/>
          </p:cNvSpPr>
          <p:nvPr/>
        </p:nvSpPr>
        <p:spPr>
          <a:xfrm xmlns:a="http://schemas.openxmlformats.org/drawingml/2006/main">
            <a:off x="6191250" y="2076450"/>
            <a:ext cx="1333500" cy="838200"/>
          </a:xfrm>
          <a:prstGeom xmlns:a="http://schemas.openxmlformats.org/drawingml/2006/main" prst="roundRect">
            <a:avLst>
              <a:gd name="adj" fmla="val 909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PURPOSE</a:t>
            </a:r>
          </a:p>
        </p:txBody>
      </p:sp>
      <p:sp>
        <p:nvSpPr>
          <p:cNvPr id="13" name="">
            <a:extLst xmlns:a="http://schemas.openxmlformats.org/drawingml/2006/main">
              <a:ext uri="{FF2B5EF4-FFF2-40B4-BE49-F238E27FC236}">
                <a16:creationId xmlns:a16="http://schemas.microsoft.com/office/drawing/2014/main" id="{2A247E99-F530-4DD5-A9A5-365D31CFD988}"/>
              </a:ext>
            </a:extLst>
          </p:cNvPr>
          <p:cNvSpPr>
            <a:spLocks xmlns:a="http://schemas.openxmlformats.org/drawingml/2006/main" noGrp="1"/>
          </p:cNvSpPr>
          <p:nvPr/>
        </p:nvSpPr>
        <p:spPr>
          <a:xfrm xmlns:a="http://schemas.openxmlformats.org/drawingml/2006/main">
            <a:off x="790575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WHAT TO NOTICE</a:t>
            </a:r>
          </a:p>
        </p:txBody>
      </p:sp>
      <p:sp>
        <p:nvSpPr>
          <p:cNvPr id="14" name="">
            <a:extLst xmlns:a="http://schemas.openxmlformats.org/drawingml/2006/main">
              <a:ext uri="{FF2B5EF4-FFF2-40B4-BE49-F238E27FC236}">
                <a16:creationId xmlns:a16="http://schemas.microsoft.com/office/drawing/2014/main" id="{FC7FBA8A-5A27-4666-803D-32D8DD586A1F}"/>
              </a:ext>
            </a:extLst>
          </p:cNvPr>
          <p:cNvSpPr>
            <a:spLocks xmlns:a="http://schemas.openxmlformats.org/drawingml/2006/main" noGrp="1"/>
          </p:cNvSpPr>
          <p:nvPr/>
        </p:nvSpPr>
        <p:spPr>
          <a:xfrm xmlns:a="http://schemas.openxmlformats.org/drawingml/2006/main">
            <a:off x="9620250" y="2076450"/>
            <a:ext cx="1333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EVIDENCE</a:t>
            </a:r>
          </a:p>
        </p:txBody>
      </p:sp>
      <p:sp>
        <p:nvSpPr>
          <p:cNvPr id="15" name="">
            <a:extLst xmlns:a="http://schemas.openxmlformats.org/drawingml/2006/main">
              <a:ext uri="{FF2B5EF4-FFF2-40B4-BE49-F238E27FC236}">
                <a16:creationId xmlns:a16="http://schemas.microsoft.com/office/drawing/2014/main" id="{237F0885-FB58-46A0-84AF-47D028731FE2}"/>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A truthful explanation remains useful even when the result differs from the prediction.</a:t>
            </a:r>
          </a:p>
        </p:txBody>
      </p:sp>
    </p:spTree>
    <p:extLst>
      <p:ext uri="{BB962C8B-B14F-4D97-AF65-F5344CB8AC3E}">
        <p14:creationId xmlns:p14="http://schemas.microsoft.com/office/powerpoint/2010/main" val="18789821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BDFF9C7-CCEB-47C9-9378-5C1A8575B2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C8A699-C8CF-4109-AD92-6FA5990C028D}"/>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10  /  EVALUATION AND CONNECTED SYSTEMS</a:t>
            </a:r>
          </a:p>
        </p:txBody>
      </p:sp>
      <p:sp>
        <p:nvSpPr>
          <p:cNvPr id="3" name="">
            <a:extLst xmlns:a="http://schemas.openxmlformats.org/drawingml/2006/main">
              <a:ext uri="{FF2B5EF4-FFF2-40B4-BE49-F238E27FC236}">
                <a16:creationId xmlns:a16="http://schemas.microsoft.com/office/drawing/2014/main" id="{50C3E0C2-C605-4375-A9D2-8522BD51B978}"/>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Evaluation links a criterion to a realistic improvement</a:t>
            </a:r>
          </a:p>
        </p:txBody>
      </p:sp>
      <p:sp>
        <p:nvSpPr>
          <p:cNvPr id="4" name="">
            <a:extLst xmlns:a="http://schemas.openxmlformats.org/drawingml/2006/main">
              <a:ext uri="{FF2B5EF4-FFF2-40B4-BE49-F238E27FC236}">
                <a16:creationId xmlns:a16="http://schemas.microsoft.com/office/drawing/2014/main" id="{A5E5A42F-2543-4610-817A-14AAA29B9C8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6C4EADA4-8105-4FD9-A809-C927E6AE68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10</a:t>
            </a:r>
          </a:p>
        </p:txBody>
      </p:sp>
      <p:sp>
        <p:nvSpPr>
          <p:cNvPr id="6" name="">
            <a:extLst xmlns:a="http://schemas.openxmlformats.org/drawingml/2006/main">
              <a:ext uri="{FF2B5EF4-FFF2-40B4-BE49-F238E27FC236}">
                <a16:creationId xmlns:a16="http://schemas.microsoft.com/office/drawing/2014/main" id="{7BE7F1AB-53FF-4237-9917-6ADF660B7BA1}"/>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04</a:t>
            </a:r>
          </a:p>
        </p:txBody>
      </p:sp>
      <p:sp>
        <p:nvSpPr>
          <p:cNvPr id="7" name="">
            <a:extLst xmlns:a="http://schemas.openxmlformats.org/drawingml/2006/main">
              <a:ext uri="{FF2B5EF4-FFF2-40B4-BE49-F238E27FC236}">
                <a16:creationId xmlns:a16="http://schemas.microsoft.com/office/drawing/2014/main" id="{6356407C-17F0-4D35-893F-65BF6B470CFE}"/>
              </a:ext>
            </a:extLst>
          </p:cNvPr>
          <p:cNvSpPr>
            <a:spLocks xmlns:a="http://schemas.openxmlformats.org/drawingml/2006/main" noGrp="1"/>
          </p:cNvSpPr>
          <p:nvPr/>
        </p:nvSpPr>
        <p:spPr>
          <a:xfrm xmlns:a="http://schemas.openxmlformats.org/drawingml/2006/main">
            <a:off x="67056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Product, process, personal and environmental evaluation reveal different parts of the design journey. A strong judgement follows criterion, evidence, judgement and improvement. The proposed improvement addresses a likely cause and considers how the wider system could also change.</a:t>
            </a:r>
          </a:p>
        </p:txBody>
      </p:sp>
      <p:sp>
        <p:nvSpPr>
          <p:cNvPr id="8" name="">
            <a:extLst xmlns:a="http://schemas.openxmlformats.org/drawingml/2006/main">
              <a:ext uri="{FF2B5EF4-FFF2-40B4-BE49-F238E27FC236}">
                <a16:creationId xmlns:a16="http://schemas.microsoft.com/office/drawing/2014/main" id="{6691AD66-0C88-4F6E-B5B9-E40F8B1C7386}"/>
              </a:ext>
            </a:extLst>
          </p:cNvPr>
          <p:cNvSpPr>
            <a:spLocks xmlns:a="http://schemas.openxmlformats.org/drawingml/2006/main" noGrp="1"/>
          </p:cNvSpPr>
          <p:nvPr/>
        </p:nvSpPr>
        <p:spPr>
          <a:xfrm xmlns:a="http://schemas.openxmlformats.org/drawingml/2006/main">
            <a:off x="67056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A4734FD8-1156-4321-B6C9-AEEC16D27C06}"/>
              </a:ext>
            </a:extLst>
          </p:cNvPr>
          <p:cNvSpPr>
            <a:spLocks xmlns:a="http://schemas.openxmlformats.org/drawingml/2006/main" noGrp="1"/>
          </p:cNvSpPr>
          <p:nvPr/>
        </p:nvSpPr>
        <p:spPr>
          <a:xfrm xmlns:a="http://schemas.openxmlformats.org/drawingml/2006/main">
            <a:off x="67056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Evaluate: choose one confirmed criterion and follow it through evidence, judgement and one checkable improvement.</a:t>
            </a:r>
          </a:p>
        </p:txBody>
      </p:sp>
      <p:sp>
        <p:nvSpPr>
          <p:cNvPr id="10" name="">
            <a:extLst xmlns:a="http://schemas.openxmlformats.org/drawingml/2006/main">
              <a:ext uri="{FF2B5EF4-FFF2-40B4-BE49-F238E27FC236}">
                <a16:creationId xmlns:a16="http://schemas.microsoft.com/office/drawing/2014/main" id="{8691F243-9EC4-4D94-BC7A-4F375C71554B}"/>
              </a:ext>
            </a:extLst>
          </p:cNvPr>
          <p:cNvSpPr>
            <a:spLocks xmlns:a="http://schemas.openxmlformats.org/drawingml/2006/main" noGrp="1"/>
          </p:cNvSpPr>
          <p:nvPr/>
        </p:nvSpPr>
        <p:spPr>
          <a:xfrm xmlns:a="http://schemas.openxmlformats.org/drawingml/2006/main" rot="2280000">
            <a:off x="382905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53662E-218C-4E0B-8BDC-D8B38A8BE892}"/>
              </a:ext>
            </a:extLst>
          </p:cNvPr>
          <p:cNvSpPr>
            <a:spLocks xmlns:a="http://schemas.openxmlformats.org/drawingml/2006/main" noGrp="1"/>
          </p:cNvSpPr>
          <p:nvPr/>
        </p:nvSpPr>
        <p:spPr>
          <a:xfrm xmlns:a="http://schemas.openxmlformats.org/drawingml/2006/main" rot="8520000">
            <a:off x="382905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03E0299-ECB8-4A2B-8EDE-ED26A3177529}"/>
              </a:ext>
            </a:extLst>
          </p:cNvPr>
          <p:cNvSpPr>
            <a:spLocks xmlns:a="http://schemas.openxmlformats.org/drawingml/2006/main" noGrp="1"/>
          </p:cNvSpPr>
          <p:nvPr/>
        </p:nvSpPr>
        <p:spPr>
          <a:xfrm xmlns:a="http://schemas.openxmlformats.org/drawingml/2006/main" rot="13080000">
            <a:off x="1428750" y="32956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F5E3FBA-527E-4CCD-B58C-5DA032BB3DD2}"/>
              </a:ext>
            </a:extLst>
          </p:cNvPr>
          <p:cNvSpPr>
            <a:spLocks xmlns:a="http://schemas.openxmlformats.org/drawingml/2006/main" noGrp="1"/>
          </p:cNvSpPr>
          <p:nvPr/>
        </p:nvSpPr>
        <p:spPr>
          <a:xfrm xmlns:a="http://schemas.openxmlformats.org/drawingml/2006/main" rot="19320000">
            <a:off x="1428750" y="2114550"/>
            <a:ext cx="714375"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069C7B7-2A02-4C3F-887C-3F1D947E1AE0}"/>
              </a:ext>
            </a:extLst>
          </p:cNvPr>
          <p:cNvSpPr>
            <a:spLocks xmlns:a="http://schemas.openxmlformats.org/drawingml/2006/main" noGrp="1"/>
          </p:cNvSpPr>
          <p:nvPr/>
        </p:nvSpPr>
        <p:spPr>
          <a:xfrm xmlns:a="http://schemas.openxmlformats.org/drawingml/2006/main">
            <a:off x="2381250" y="1409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CRITERION</a:t>
            </a:r>
          </a:p>
        </p:txBody>
      </p:sp>
      <p:sp>
        <p:nvSpPr>
          <p:cNvPr id="15" name="">
            <a:extLst xmlns:a="http://schemas.openxmlformats.org/drawingml/2006/main">
              <a:ext uri="{FF2B5EF4-FFF2-40B4-BE49-F238E27FC236}">
                <a16:creationId xmlns:a16="http://schemas.microsoft.com/office/drawing/2014/main" id="{93EE67DC-771C-49CE-AA1E-AF5C076BEBCE}"/>
              </a:ext>
            </a:extLst>
          </p:cNvPr>
          <p:cNvSpPr>
            <a:spLocks xmlns:a="http://schemas.openxmlformats.org/drawingml/2006/main" noGrp="1"/>
          </p:cNvSpPr>
          <p:nvPr/>
        </p:nvSpPr>
        <p:spPr>
          <a:xfrm xmlns:a="http://schemas.openxmlformats.org/drawingml/2006/main">
            <a:off x="413385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EVIDENCE</a:t>
            </a:r>
          </a:p>
        </p:txBody>
      </p:sp>
      <p:sp>
        <p:nvSpPr>
          <p:cNvPr id="16" name="">
            <a:extLst xmlns:a="http://schemas.openxmlformats.org/drawingml/2006/main">
              <a:ext uri="{FF2B5EF4-FFF2-40B4-BE49-F238E27FC236}">
                <a16:creationId xmlns:a16="http://schemas.microsoft.com/office/drawing/2014/main" id="{01B36A0E-D120-4654-9B80-1ABE9FBAFE4B}"/>
              </a:ext>
            </a:extLst>
          </p:cNvPr>
          <p:cNvSpPr>
            <a:spLocks xmlns:a="http://schemas.openxmlformats.org/drawingml/2006/main" noGrp="1"/>
          </p:cNvSpPr>
          <p:nvPr/>
        </p:nvSpPr>
        <p:spPr>
          <a:xfrm xmlns:a="http://schemas.openxmlformats.org/drawingml/2006/main">
            <a:off x="2381250" y="3314700"/>
            <a:ext cx="1428750" cy="704850"/>
          </a:xfrm>
          <a:prstGeom xmlns:a="http://schemas.openxmlformats.org/drawingml/2006/main" prst="roundRect">
            <a:avLst>
              <a:gd name="adj" fmla="val 10811"/>
            </a:avLst>
          </a:prstGeom>
          <a:solidFill xmlns:a="http://schemas.openxmlformats.org/drawingml/2006/main">
            <a:srgbClr val="E7EEF0"/>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JUDGEMENT</a:t>
            </a:r>
          </a:p>
        </p:txBody>
      </p:sp>
      <p:sp>
        <p:nvSpPr>
          <p:cNvPr id="17" name="">
            <a:extLst xmlns:a="http://schemas.openxmlformats.org/drawingml/2006/main">
              <a:ext uri="{FF2B5EF4-FFF2-40B4-BE49-F238E27FC236}">
                <a16:creationId xmlns:a16="http://schemas.microsoft.com/office/drawing/2014/main" id="{9DB3791A-E5E8-45A8-A29E-FFEE5028B058}"/>
              </a:ext>
            </a:extLst>
          </p:cNvPr>
          <p:cNvSpPr>
            <a:spLocks xmlns:a="http://schemas.openxmlformats.org/drawingml/2006/main" noGrp="1"/>
          </p:cNvSpPr>
          <p:nvPr/>
        </p:nvSpPr>
        <p:spPr>
          <a:xfrm xmlns:a="http://schemas.openxmlformats.org/drawingml/2006/main">
            <a:off x="628650" y="2362200"/>
            <a:ext cx="1428750" cy="704850"/>
          </a:xfrm>
          <a:prstGeom xmlns:a="http://schemas.openxmlformats.org/drawingml/2006/main" prst="roundRect">
            <a:avLst>
              <a:gd name="adj" fmla="val 10811"/>
            </a:avLst>
          </a:prstGeom>
          <a:solidFill xmlns:a="http://schemas.openxmlformats.org/drawingml/2006/main">
            <a:srgbClr val="FFFFFF"/>
          </a:solidFill>
          <a:ln xmlns:a="http://schemas.openxmlformats.org/drawingml/2006/main" w="9525">
            <a:solidFill>
              <a:srgbClr val="CAD4D8"/>
            </a:solidFill>
            <a:prstDash val="solid"/>
          </a:ln>
        </p:spPr>
        <p:txBody>
          <a:bodyPr xmlns:a="http://schemas.openxmlformats.org/drawingml/2006/main"/>
          <a:lstStyle xmlns:a="http://schemas.openxmlformats.org/drawingml/2006/main"/>
          <a:p xmlns:a="http://schemas.openxmlformats.org/drawingml/2006/main">
            <a:pPr algn="ctr">
              <a:defRPr sz="1200" b="1">
                <a:solidFill>
                  <a:srgbClr val="17232B"/>
                </a:solidFill>
              </a:defRPr>
            </a:pPr>
            <a:r>
              <a:rPr sz="1200" b="1">
                <a:solidFill>
                  <a:srgbClr val="17232B"/>
                </a:solidFill>
              </a:rPr>
              <a:t>IMPROVEMENT</a:t>
            </a:r>
          </a:p>
        </p:txBody>
      </p:sp>
      <p:sp>
        <p:nvSpPr>
          <p:cNvPr id="18" name="">
            <a:extLst xmlns:a="http://schemas.openxmlformats.org/drawingml/2006/main">
              <a:ext uri="{FF2B5EF4-FFF2-40B4-BE49-F238E27FC236}">
                <a16:creationId xmlns:a16="http://schemas.microsoft.com/office/drawing/2014/main" id="{076C4ADE-9AD1-4FC7-94F2-A43396D6FB89}"/>
              </a:ext>
            </a:extLst>
          </p:cNvPr>
          <p:cNvSpPr>
            <a:spLocks xmlns:a="http://schemas.openxmlformats.org/drawingml/2006/main" noGrp="1"/>
          </p:cNvSpPr>
          <p:nvPr/>
        </p:nvSpPr>
        <p:spPr>
          <a:xfrm xmlns:a="http://schemas.openxmlformats.org/drawingml/2006/main">
            <a:off x="68580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Evaluation is a reasoned loop, not a statement of personal preference.</a:t>
            </a:r>
          </a:p>
        </p:txBody>
      </p:sp>
    </p:spTree>
    <p:extLst>
      <p:ext uri="{BB962C8B-B14F-4D97-AF65-F5344CB8AC3E}">
        <p14:creationId xmlns:p14="http://schemas.microsoft.com/office/powerpoint/2010/main" val="17316232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3E82FC-00B2-4AFB-9EDF-719A111CC25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C0E97A-E1A1-4E4E-8B08-139201FA5ABD}"/>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10  /  EVALUATION AND CONNECTED SYSTEMS</a:t>
            </a:r>
          </a:p>
        </p:txBody>
      </p:sp>
      <p:sp>
        <p:nvSpPr>
          <p:cNvPr id="3" name="">
            <a:extLst xmlns:a="http://schemas.openxmlformats.org/drawingml/2006/main">
              <a:ext uri="{FF2B5EF4-FFF2-40B4-BE49-F238E27FC236}">
                <a16:creationId xmlns:a16="http://schemas.microsoft.com/office/drawing/2014/main" id="{1E056537-D48E-417C-AB25-C650C0A21289}"/>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Custodianship and continuing knowledge are part of the system</a:t>
            </a:r>
          </a:p>
        </p:txBody>
      </p:sp>
      <p:sp>
        <p:nvSpPr>
          <p:cNvPr id="4" name="">
            <a:extLst xmlns:a="http://schemas.openxmlformats.org/drawingml/2006/main">
              <a:ext uri="{FF2B5EF4-FFF2-40B4-BE49-F238E27FC236}">
                <a16:creationId xmlns:a16="http://schemas.microsoft.com/office/drawing/2014/main" id="{2FD3E602-B3FC-4042-AD4C-5D5AFB1AADF1}"/>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9334DDF0-E041-4004-8DA5-6799687C93E3}"/>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10</a:t>
            </a:r>
          </a:p>
        </p:txBody>
      </p:sp>
      <p:sp>
        <p:nvSpPr>
          <p:cNvPr id="6" name="">
            <a:extLst xmlns:a="http://schemas.openxmlformats.org/drawingml/2006/main">
              <a:ext uri="{FF2B5EF4-FFF2-40B4-BE49-F238E27FC236}">
                <a16:creationId xmlns:a16="http://schemas.microsoft.com/office/drawing/2014/main" id="{B6750463-58D1-46D3-96E4-38D485D8263B}"/>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05</a:t>
            </a:r>
          </a:p>
        </p:txBody>
      </p:sp>
      <p:sp>
        <p:nvSpPr>
          <p:cNvPr id="7" name="">
            <a:extLst xmlns:a="http://schemas.openxmlformats.org/drawingml/2006/main">
              <a:ext uri="{FF2B5EF4-FFF2-40B4-BE49-F238E27FC236}">
                <a16:creationId xmlns:a16="http://schemas.microsoft.com/office/drawing/2014/main" id="{B7C95A78-C7F3-4322-8DF8-61663E123FC9}"/>
              </a:ext>
            </a:extLst>
          </p:cNvPr>
          <p:cNvSpPr>
            <a:spLocks xmlns:a="http://schemas.openxmlformats.org/drawingml/2006/main" noGrp="1"/>
          </p:cNvSpPr>
          <p:nvPr/>
        </p:nvSpPr>
        <p:spPr>
          <a:xfrm xmlns:a="http://schemas.openxmlformats.org/drawingml/2006/main">
            <a:off x="685800" y="1381125"/>
            <a:ext cx="48006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7232B"/>
                </a:solidFill>
              </a:defRPr>
            </a:pPr>
            <a:r>
              <a:rPr sz="1725" b="0">
                <a:solidFill>
                  <a:srgbClr val="17232B"/>
                </a:solidFill>
              </a:rPr>
              <a:t>Heritage NSW identifies Ngemba people as custodians of Baiame’s Ngunnhu, where dry-stone walls and holding ponds work with changing Barwon River flows. In Gunditjmara Country, Budj Bim connects volcanic landscape, waterways and aquaculture systems with continuing knowledge and care; UNESCO records at least 6,600 years of deliberate management.</a:t>
            </a:r>
          </a:p>
        </p:txBody>
      </p:sp>
      <p:sp>
        <p:nvSpPr>
          <p:cNvPr id="8" name="">
            <a:extLst xmlns:a="http://schemas.openxmlformats.org/drawingml/2006/main">
              <a:ext uri="{FF2B5EF4-FFF2-40B4-BE49-F238E27FC236}">
                <a16:creationId xmlns:a16="http://schemas.microsoft.com/office/drawing/2014/main" id="{23C93B4F-7C14-4200-AE8D-17BE9B6392AE}"/>
              </a:ext>
            </a:extLst>
          </p:cNvPr>
          <p:cNvSpPr>
            <a:spLocks xmlns:a="http://schemas.openxmlformats.org/drawingml/2006/main" noGrp="1"/>
          </p:cNvSpPr>
          <p:nvPr/>
        </p:nvSpPr>
        <p:spPr>
          <a:xfrm xmlns:a="http://schemas.openxmlformats.org/drawingml/2006/main">
            <a:off x="685800" y="3905250"/>
            <a:ext cx="4762500" cy="0"/>
          </a:xfrm>
          <a:prstGeom xmlns:a="http://schemas.openxmlformats.org/drawingml/2006/main" prst="line">
            <a:avLst/>
          </a:prstGeom>
          <a:noFill xmlns:a="http://schemas.openxmlformats.org/drawingml/2006/main"/>
          <a:ln xmlns:a="http://schemas.openxmlformats.org/drawingml/2006/main" w="38100">
            <a:solidFill>
              <a:srgbClr val="F0B84B"/>
            </a:solidFill>
            <a:prstDash val="solid"/>
          </a:ln>
        </p:spPr>
      </p:sp>
      <p:sp>
        <p:nvSpPr>
          <p:cNvPr id="9" name="">
            <a:extLst xmlns:a="http://schemas.openxmlformats.org/drawingml/2006/main">
              <a:ext uri="{FF2B5EF4-FFF2-40B4-BE49-F238E27FC236}">
                <a16:creationId xmlns:a16="http://schemas.microsoft.com/office/drawing/2014/main" id="{3617B0C7-9414-48BF-98D2-9B971CE46F63}"/>
              </a:ext>
            </a:extLst>
          </p:cNvPr>
          <p:cNvSpPr>
            <a:spLocks xmlns:a="http://schemas.openxmlformats.org/drawingml/2006/main" noGrp="1"/>
          </p:cNvSpPr>
          <p:nvPr/>
        </p:nvSpPr>
        <p:spPr>
          <a:xfrm xmlns:a="http://schemas.openxmlformats.org/drawingml/2006/main">
            <a:off x="685800" y="4171950"/>
            <a:ext cx="48006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A94424"/>
                </a:solidFill>
              </a:defRPr>
            </a:pPr>
            <a:r>
              <a:rPr sz="1575" b="1">
                <a:solidFill>
                  <a:srgbClr val="A94424"/>
                </a:solidFill>
              </a:rPr>
              <a:t>Discussion: how do people, knowledge, responsibility and care change a systems explanation of these places?</a:t>
            </a:r>
          </a:p>
        </p:txBody>
      </p:sp>
      <p:sp>
        <p:nvSpPr>
          <p:cNvPr id="10" name="">
            <a:extLst xmlns:a="http://schemas.openxmlformats.org/drawingml/2006/main">
              <a:ext uri="{FF2B5EF4-FFF2-40B4-BE49-F238E27FC236}">
                <a16:creationId xmlns:a16="http://schemas.microsoft.com/office/drawing/2014/main" id="{10ED2317-CE06-4423-94B6-09EE380EEF5A}"/>
              </a:ext>
            </a:extLst>
          </p:cNvPr>
          <p:cNvSpPr>
            <a:spLocks xmlns:a="http://schemas.openxmlformats.org/drawingml/2006/main" noGrp="1"/>
          </p:cNvSpPr>
          <p:nvPr/>
        </p:nvSpPr>
        <p:spPr>
          <a:xfrm xmlns:a="http://schemas.openxmlformats.org/drawingml/2006/main">
            <a:off x="7277100" y="3105150"/>
            <a:ext cx="2590800" cy="647700"/>
          </a:xfrm>
          <a:prstGeom xmlns:a="http://schemas.openxmlformats.org/drawingml/2006/main" prst="rect">
            <a:avLst/>
          </a:prstGeom>
          <a:solidFill xmlns:a="http://schemas.openxmlformats.org/drawingml/2006/main">
            <a:srgbClr val="E7EE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748F9C3-649A-477C-AD8D-2255BCA7A858}"/>
              </a:ext>
            </a:extLst>
          </p:cNvPr>
          <p:cNvSpPr>
            <a:spLocks xmlns:a="http://schemas.openxmlformats.org/drawingml/2006/main" noGrp="1"/>
          </p:cNvSpPr>
          <p:nvPr/>
        </p:nvSpPr>
        <p:spPr>
          <a:xfrm xmlns:a="http://schemas.openxmlformats.org/drawingml/2006/main">
            <a:off x="7419975" y="3295650"/>
            <a:ext cx="2305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7232B"/>
                </a:solidFill>
              </a:defRPr>
            </a:pPr>
            <a:r>
              <a:rPr sz="1500" b="1">
                <a:solidFill>
                  <a:srgbClr val="17232B"/>
                </a:solidFill>
              </a:rPr>
              <a:t>KNOWLEDGE + RESPONSIBILITY</a:t>
            </a:r>
          </a:p>
        </p:txBody>
      </p:sp>
      <p:sp>
        <p:nvSpPr>
          <p:cNvPr id="12" name="">
            <a:extLst xmlns:a="http://schemas.openxmlformats.org/drawingml/2006/main">
              <a:ext uri="{FF2B5EF4-FFF2-40B4-BE49-F238E27FC236}">
                <a16:creationId xmlns:a16="http://schemas.microsoft.com/office/drawing/2014/main" id="{B5FDB3F4-BA12-48AB-98D8-F20D2E3DC479}"/>
              </a:ext>
            </a:extLst>
          </p:cNvPr>
          <p:cNvSpPr>
            <a:spLocks xmlns:a="http://schemas.openxmlformats.org/drawingml/2006/main" noGrp="1"/>
          </p:cNvSpPr>
          <p:nvPr/>
        </p:nvSpPr>
        <p:spPr>
          <a:xfrm xmlns:a="http://schemas.openxmlformats.org/drawingml/2006/main">
            <a:off x="6877050" y="2438400"/>
            <a:ext cx="3390900" cy="647700"/>
          </a:xfrm>
          <a:prstGeom xmlns:a="http://schemas.openxmlformats.org/drawingml/2006/main" prst="rect">
            <a:avLst/>
          </a:prstGeom>
          <a:solidFill xmlns:a="http://schemas.openxmlformats.org/drawingml/2006/main">
            <a:srgbClr val="184F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D8DC7F9-0D1E-4FF7-8491-9516F731D489}"/>
              </a:ext>
            </a:extLst>
          </p:cNvPr>
          <p:cNvSpPr>
            <a:spLocks xmlns:a="http://schemas.openxmlformats.org/drawingml/2006/main" noGrp="1"/>
          </p:cNvSpPr>
          <p:nvPr/>
        </p:nvSpPr>
        <p:spPr>
          <a:xfrm xmlns:a="http://schemas.openxmlformats.org/drawingml/2006/main">
            <a:off x="7019925" y="2628900"/>
            <a:ext cx="3105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LANDSCAPE + MANAGED FLOWS</a:t>
            </a:r>
          </a:p>
        </p:txBody>
      </p:sp>
      <p:sp>
        <p:nvSpPr>
          <p:cNvPr id="14" name="">
            <a:extLst xmlns:a="http://schemas.openxmlformats.org/drawingml/2006/main">
              <a:ext uri="{FF2B5EF4-FFF2-40B4-BE49-F238E27FC236}">
                <a16:creationId xmlns:a16="http://schemas.microsoft.com/office/drawing/2014/main" id="{1C53DD3D-7F63-47CB-88F1-4DAF6C39C3DD}"/>
              </a:ext>
            </a:extLst>
          </p:cNvPr>
          <p:cNvSpPr>
            <a:spLocks xmlns:a="http://schemas.openxmlformats.org/drawingml/2006/main" noGrp="1"/>
          </p:cNvSpPr>
          <p:nvPr/>
        </p:nvSpPr>
        <p:spPr>
          <a:xfrm xmlns:a="http://schemas.openxmlformats.org/drawingml/2006/main">
            <a:off x="6477000" y="1771650"/>
            <a:ext cx="4191000" cy="647700"/>
          </a:xfrm>
          <a:prstGeom xmlns:a="http://schemas.openxmlformats.org/drawingml/2006/main" prst="rect">
            <a:avLst/>
          </a:prstGeom>
          <a:solidFill xmlns:a="http://schemas.openxmlformats.org/drawingml/2006/main">
            <a:srgbClr val="0B354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838730-E977-4D22-B79C-3D1D768ECC21}"/>
              </a:ext>
            </a:extLst>
          </p:cNvPr>
          <p:cNvSpPr>
            <a:spLocks xmlns:a="http://schemas.openxmlformats.org/drawingml/2006/main" noGrp="1"/>
          </p:cNvSpPr>
          <p:nvPr/>
        </p:nvSpPr>
        <p:spPr>
          <a:xfrm xmlns:a="http://schemas.openxmlformats.org/drawingml/2006/main">
            <a:off x="6619875" y="19621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NAMED PEOPLE + COUNTRY</a:t>
            </a:r>
          </a:p>
        </p:txBody>
      </p:sp>
      <p:sp>
        <p:nvSpPr>
          <p:cNvPr id="16" name="">
            <a:extLst xmlns:a="http://schemas.openxmlformats.org/drawingml/2006/main">
              <a:ext uri="{FF2B5EF4-FFF2-40B4-BE49-F238E27FC236}">
                <a16:creationId xmlns:a16="http://schemas.microsoft.com/office/drawing/2014/main" id="{15C85DEF-9489-4B84-B6DC-0B4540F84887}"/>
              </a:ext>
            </a:extLst>
          </p:cNvPr>
          <p:cNvSpPr>
            <a:spLocks xmlns:a="http://schemas.openxmlformats.org/drawingml/2006/main" noGrp="1"/>
          </p:cNvSpPr>
          <p:nvPr/>
        </p:nvSpPr>
        <p:spPr>
          <a:xfrm xmlns:a="http://schemas.openxmlformats.org/drawingml/2006/main">
            <a:off x="6191250" y="4762500"/>
            <a:ext cx="4762500" cy="552450"/>
          </a:xfrm>
          <a:prstGeom xmlns:a="http://schemas.openxmlformats.org/drawingml/2006/main" prst="rect">
            <a:avLst/>
          </a:prstGeom>
          <a:solidFill xmlns:a="http://schemas.openxmlformats.org/drawingml/2006/main">
            <a:srgbClr val="FFF4D8"/>
          </a:solidFill>
          <a:ln xmlns:a="http://schemas.openxmlformats.org/drawingml/2006/main" w="9525">
            <a:solidFill>
              <a:srgbClr val="F0B84B"/>
            </a:solidFill>
            <a:prstDash val="solid"/>
          </a:ln>
        </p:spPr>
        <p:txBody>
          <a:bodyPr xmlns:a="http://schemas.openxmlformats.org/drawingml/2006/main"/>
          <a:lstStyle xmlns:a="http://schemas.openxmlformats.org/drawingml/2006/main"/>
          <a:p xmlns:a="http://schemas.openxmlformats.org/drawingml/2006/main">
            <a:pPr algn="l">
              <a:defRPr sz="1350" b="1">
                <a:solidFill>
                  <a:srgbClr val="184F5E"/>
                </a:solidFill>
              </a:defRPr>
            </a:pPr>
            <a:r>
              <a:rPr sz="1350" b="1">
                <a:solidFill>
                  <a:srgbClr val="184F5E"/>
                </a:solidFill>
              </a:rPr>
              <a:t>NOTICE  Neither place is a Catapult analogy or a generic design template.</a:t>
            </a:r>
          </a:p>
        </p:txBody>
      </p:sp>
    </p:spTree>
    <p:extLst>
      <p:ext uri="{BB962C8B-B14F-4D97-AF65-F5344CB8AC3E}">
        <p14:creationId xmlns:p14="http://schemas.microsoft.com/office/powerpoint/2010/main" val="793394766"/>
      </p:ext>
    </p:extLst>
  </p:cSld>
</p:sld>
</file>

<file path=ppt/slides/slide6.xml><?xml version="1.0" encoding="utf-8"?>
<p:sld xmlns:p="http://schemas.openxmlformats.org/presentationml/2006/main">
  <p:cSld>
    <p:bg>
      <p:bgPr>
        <a:solidFill xmlns:a="http://schemas.openxmlformats.org/drawingml/2006/main">
          <a:srgbClr val="0B354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D38DAA9-C60B-4416-8EDA-4235A123AB4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DB8D61-72E6-4E70-A9D0-19827155A577}"/>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0B84B"/>
                </a:solidFill>
              </a:defRPr>
            </a:pPr>
            <a:r>
              <a:rPr sz="1050" b="1">
                <a:solidFill>
                  <a:srgbClr val="F0B84B"/>
                </a:solidFill>
              </a:rPr>
              <a:t>MODULE 10  /  EVALUATION AND CONNECTED SYSTEMS</a:t>
            </a:r>
          </a:p>
        </p:txBody>
      </p:sp>
      <p:sp>
        <p:nvSpPr>
          <p:cNvPr id="3" name="">
            <a:extLst xmlns:a="http://schemas.openxmlformats.org/drawingml/2006/main">
              <a:ext uri="{FF2B5EF4-FFF2-40B4-BE49-F238E27FC236}">
                <a16:creationId xmlns:a16="http://schemas.microsoft.com/office/drawing/2014/main" id="{CA73EAA5-B663-4784-BBAD-27560B8A313F}"/>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Stop. Think. Explain.</a:t>
            </a:r>
          </a:p>
        </p:txBody>
      </p:sp>
      <p:sp>
        <p:nvSpPr>
          <p:cNvPr id="4" name="">
            <a:extLst xmlns:a="http://schemas.openxmlformats.org/drawingml/2006/main">
              <a:ext uri="{FF2B5EF4-FFF2-40B4-BE49-F238E27FC236}">
                <a16:creationId xmlns:a16="http://schemas.microsoft.com/office/drawing/2014/main" id="{9D2C7217-E514-4830-90E6-7A337F5F4A2E}"/>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5" name="">
            <a:extLst xmlns:a="http://schemas.openxmlformats.org/drawingml/2006/main">
              <a:ext uri="{FF2B5EF4-FFF2-40B4-BE49-F238E27FC236}">
                <a16:creationId xmlns:a16="http://schemas.microsoft.com/office/drawing/2014/main" id="{5B2BD1B3-15D5-4C9B-B3EA-5B4A6BFFFFC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10</a:t>
            </a:r>
          </a:p>
        </p:txBody>
      </p:sp>
      <p:sp>
        <p:nvSpPr>
          <p:cNvPr id="6" name="">
            <a:extLst xmlns:a="http://schemas.openxmlformats.org/drawingml/2006/main">
              <a:ext uri="{FF2B5EF4-FFF2-40B4-BE49-F238E27FC236}">
                <a16:creationId xmlns:a16="http://schemas.microsoft.com/office/drawing/2014/main" id="{0AF8A643-0970-45FB-B3A4-4ECB5788D1B8}"/>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06</a:t>
            </a:r>
          </a:p>
        </p:txBody>
      </p:sp>
      <p:sp>
        <p:nvSpPr>
          <p:cNvPr id="7" name="">
            <a:extLst xmlns:a="http://schemas.openxmlformats.org/drawingml/2006/main">
              <a:ext uri="{FF2B5EF4-FFF2-40B4-BE49-F238E27FC236}">
                <a16:creationId xmlns:a16="http://schemas.microsoft.com/office/drawing/2014/main" id="{254039E8-7E34-4010-B5A6-CE0CE63F97F4}"/>
              </a:ext>
            </a:extLst>
          </p:cNvPr>
          <p:cNvSpPr>
            <a:spLocks xmlns:a="http://schemas.openxmlformats.org/drawingml/2006/main" noGrp="1"/>
          </p:cNvSpPr>
          <p:nvPr/>
        </p:nvSpPr>
        <p:spPr>
          <a:xfrm xmlns:a="http://schemas.openxmlformats.org/drawingml/2006/main">
            <a:off x="685800" y="12192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D7E5E8"/>
                </a:solidFill>
              </a:defRPr>
            </a:pPr>
            <a:r>
              <a:rPr sz="1500" b="0">
                <a:solidFill>
                  <a:srgbClr val="D7E5E8"/>
                </a:solidFill>
              </a:rPr>
              <a:t>Answer silently first. Then justify one answer with a partner.</a:t>
            </a:r>
          </a:p>
        </p:txBody>
      </p:sp>
      <p:sp>
        <p:nvSpPr>
          <p:cNvPr id="8" name="">
            <a:extLst xmlns:a="http://schemas.openxmlformats.org/drawingml/2006/main">
              <a:ext uri="{FF2B5EF4-FFF2-40B4-BE49-F238E27FC236}">
                <a16:creationId xmlns:a16="http://schemas.microsoft.com/office/drawing/2014/main" id="{D5646821-2DDD-4A6D-80CE-5D0371A7F9A5}"/>
              </a:ext>
            </a:extLst>
          </p:cNvPr>
          <p:cNvSpPr>
            <a:spLocks xmlns:a="http://schemas.openxmlformats.org/drawingml/2006/main" noGrp="1"/>
          </p:cNvSpPr>
          <p:nvPr/>
        </p:nvSpPr>
        <p:spPr>
          <a:xfrm xmlns:a="http://schemas.openxmlformats.org/drawingml/2006/main">
            <a:off x="781050" y="193357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1</a:t>
            </a:r>
          </a:p>
        </p:txBody>
      </p:sp>
      <p:sp>
        <p:nvSpPr>
          <p:cNvPr id="9" name="">
            <a:extLst xmlns:a="http://schemas.openxmlformats.org/drawingml/2006/main">
              <a:ext uri="{FF2B5EF4-FFF2-40B4-BE49-F238E27FC236}">
                <a16:creationId xmlns:a16="http://schemas.microsoft.com/office/drawing/2014/main" id="{81950249-902D-4090-8259-734E7832011F}"/>
              </a:ext>
            </a:extLst>
          </p:cNvPr>
          <p:cNvSpPr>
            <a:spLocks xmlns:a="http://schemas.openxmlformats.org/drawingml/2006/main" noGrp="1"/>
          </p:cNvSpPr>
          <p:nvPr/>
        </p:nvSpPr>
        <p:spPr>
          <a:xfrm xmlns:a="http://schemas.openxmlformats.org/drawingml/2006/main">
            <a:off x="1485900" y="184785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makes a demonstration evidence-centred?</a:t>
            </a:r>
          </a:p>
        </p:txBody>
      </p:sp>
      <p:sp>
        <p:nvSpPr>
          <p:cNvPr id="10" name="">
            <a:extLst xmlns:a="http://schemas.openxmlformats.org/drawingml/2006/main">
              <a:ext uri="{FF2B5EF4-FFF2-40B4-BE49-F238E27FC236}">
                <a16:creationId xmlns:a16="http://schemas.microsoft.com/office/drawing/2014/main" id="{9C93152F-F364-4629-AD60-E15C9B59F94C}"/>
              </a:ext>
            </a:extLst>
          </p:cNvPr>
          <p:cNvSpPr>
            <a:spLocks xmlns:a="http://schemas.openxmlformats.org/drawingml/2006/main" noGrp="1"/>
          </p:cNvSpPr>
          <p:nvPr/>
        </p:nvSpPr>
        <p:spPr>
          <a:xfrm xmlns:a="http://schemas.openxmlformats.org/drawingml/2006/main">
            <a:off x="1485900" y="253365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1" name="">
            <a:extLst xmlns:a="http://schemas.openxmlformats.org/drawingml/2006/main">
              <a:ext uri="{FF2B5EF4-FFF2-40B4-BE49-F238E27FC236}">
                <a16:creationId xmlns:a16="http://schemas.microsoft.com/office/drawing/2014/main" id="{8F4BB9D6-9B5E-4E59-81D5-57C51994C39C}"/>
              </a:ext>
            </a:extLst>
          </p:cNvPr>
          <p:cNvSpPr>
            <a:spLocks xmlns:a="http://schemas.openxmlformats.org/drawingml/2006/main" noGrp="1"/>
          </p:cNvSpPr>
          <p:nvPr/>
        </p:nvSpPr>
        <p:spPr>
          <a:xfrm xmlns:a="http://schemas.openxmlformats.org/drawingml/2006/main">
            <a:off x="781050" y="29146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2</a:t>
            </a:r>
          </a:p>
        </p:txBody>
      </p:sp>
      <p:sp>
        <p:nvSpPr>
          <p:cNvPr id="12" name="">
            <a:extLst xmlns:a="http://schemas.openxmlformats.org/drawingml/2006/main">
              <a:ext uri="{FF2B5EF4-FFF2-40B4-BE49-F238E27FC236}">
                <a16:creationId xmlns:a16="http://schemas.microsoft.com/office/drawing/2014/main" id="{C64C6FBC-1B86-4885-8A30-F262221A905A}"/>
              </a:ext>
            </a:extLst>
          </p:cNvPr>
          <p:cNvSpPr>
            <a:spLocks xmlns:a="http://schemas.openxmlformats.org/drawingml/2006/main" noGrp="1"/>
          </p:cNvSpPr>
          <p:nvPr/>
        </p:nvSpPr>
        <p:spPr>
          <a:xfrm xmlns:a="http://schemas.openxmlformats.org/drawingml/2006/main">
            <a:off x="1485900" y="282892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How do product and process evaluation differ?</a:t>
            </a:r>
          </a:p>
        </p:txBody>
      </p:sp>
      <p:sp>
        <p:nvSpPr>
          <p:cNvPr id="13" name="">
            <a:extLst xmlns:a="http://schemas.openxmlformats.org/drawingml/2006/main">
              <a:ext uri="{FF2B5EF4-FFF2-40B4-BE49-F238E27FC236}">
                <a16:creationId xmlns:a16="http://schemas.microsoft.com/office/drawing/2014/main" id="{6758E684-7A5E-4D1C-B0A8-DB593051A9FB}"/>
              </a:ext>
            </a:extLst>
          </p:cNvPr>
          <p:cNvSpPr>
            <a:spLocks xmlns:a="http://schemas.openxmlformats.org/drawingml/2006/main" noGrp="1"/>
          </p:cNvSpPr>
          <p:nvPr/>
        </p:nvSpPr>
        <p:spPr>
          <a:xfrm xmlns:a="http://schemas.openxmlformats.org/drawingml/2006/main">
            <a:off x="1485900" y="3514725"/>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4" name="">
            <a:extLst xmlns:a="http://schemas.openxmlformats.org/drawingml/2006/main">
              <a:ext uri="{FF2B5EF4-FFF2-40B4-BE49-F238E27FC236}">
                <a16:creationId xmlns:a16="http://schemas.microsoft.com/office/drawing/2014/main" id="{463900C1-66EC-4D3B-A435-F92F92464E1D}"/>
              </a:ext>
            </a:extLst>
          </p:cNvPr>
          <p:cNvSpPr>
            <a:spLocks xmlns:a="http://schemas.openxmlformats.org/drawingml/2006/main" noGrp="1"/>
          </p:cNvSpPr>
          <p:nvPr/>
        </p:nvSpPr>
        <p:spPr>
          <a:xfrm xmlns:a="http://schemas.openxmlformats.org/drawingml/2006/main">
            <a:off x="781050" y="3895725"/>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3</a:t>
            </a:r>
          </a:p>
        </p:txBody>
      </p:sp>
      <p:sp>
        <p:nvSpPr>
          <p:cNvPr id="15" name="">
            <a:extLst xmlns:a="http://schemas.openxmlformats.org/drawingml/2006/main">
              <a:ext uri="{FF2B5EF4-FFF2-40B4-BE49-F238E27FC236}">
                <a16:creationId xmlns:a16="http://schemas.microsoft.com/office/drawing/2014/main" id="{69CA8C50-4074-429B-8332-69FC97E1409B}"/>
              </a:ext>
            </a:extLst>
          </p:cNvPr>
          <p:cNvSpPr>
            <a:spLocks xmlns:a="http://schemas.openxmlformats.org/drawingml/2006/main" noGrp="1"/>
          </p:cNvSpPr>
          <p:nvPr/>
        </p:nvSpPr>
        <p:spPr>
          <a:xfrm xmlns:a="http://schemas.openxmlformats.org/drawingml/2006/main">
            <a:off x="1485900" y="38100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four parts build a useful evaluation?</a:t>
            </a:r>
          </a:p>
        </p:txBody>
      </p:sp>
      <p:sp>
        <p:nvSpPr>
          <p:cNvPr id="16" name="">
            <a:extLst xmlns:a="http://schemas.openxmlformats.org/drawingml/2006/main">
              <a:ext uri="{FF2B5EF4-FFF2-40B4-BE49-F238E27FC236}">
                <a16:creationId xmlns:a16="http://schemas.microsoft.com/office/drawing/2014/main" id="{ECBF44EC-122F-48F4-A431-867288A99937}"/>
              </a:ext>
            </a:extLst>
          </p:cNvPr>
          <p:cNvSpPr>
            <a:spLocks xmlns:a="http://schemas.openxmlformats.org/drawingml/2006/main" noGrp="1"/>
          </p:cNvSpPr>
          <p:nvPr/>
        </p:nvSpPr>
        <p:spPr>
          <a:xfrm xmlns:a="http://schemas.openxmlformats.org/drawingml/2006/main">
            <a:off x="1485900" y="4495800"/>
            <a:ext cx="9048750" cy="0"/>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7" name="">
            <a:extLst xmlns:a="http://schemas.openxmlformats.org/drawingml/2006/main">
              <a:ext uri="{FF2B5EF4-FFF2-40B4-BE49-F238E27FC236}">
                <a16:creationId xmlns:a16="http://schemas.microsoft.com/office/drawing/2014/main" id="{CB8DB3C6-F312-4A7F-B570-4A48421708A3}"/>
              </a:ext>
            </a:extLst>
          </p:cNvPr>
          <p:cNvSpPr>
            <a:spLocks xmlns:a="http://schemas.openxmlformats.org/drawingml/2006/main" noGrp="1"/>
          </p:cNvSpPr>
          <p:nvPr/>
        </p:nvSpPr>
        <p:spPr>
          <a:xfrm xmlns:a="http://schemas.openxmlformats.org/drawingml/2006/main">
            <a:off x="781050" y="487680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0B84B"/>
                </a:solidFill>
              </a:defRPr>
            </a:pPr>
            <a:r>
              <a:rPr sz="1800" b="1">
                <a:solidFill>
                  <a:srgbClr val="F0B84B"/>
                </a:solidFill>
              </a:rPr>
              <a:t>4</a:t>
            </a:r>
          </a:p>
        </p:txBody>
      </p:sp>
      <p:sp>
        <p:nvSpPr>
          <p:cNvPr id="18" name="">
            <a:extLst xmlns:a="http://schemas.openxmlformats.org/drawingml/2006/main">
              <a:ext uri="{FF2B5EF4-FFF2-40B4-BE49-F238E27FC236}">
                <a16:creationId xmlns:a16="http://schemas.microsoft.com/office/drawing/2014/main" id="{23E62343-2F5E-4B81-BBA2-8F2B96C5BD44}"/>
              </a:ext>
            </a:extLst>
          </p:cNvPr>
          <p:cNvSpPr>
            <a:spLocks xmlns:a="http://schemas.openxmlformats.org/drawingml/2006/main" noGrp="1"/>
          </p:cNvSpPr>
          <p:nvPr/>
        </p:nvSpPr>
        <p:spPr>
          <a:xfrm xmlns:a="http://schemas.openxmlformats.org/drawingml/2006/main">
            <a:off x="1485900" y="4791075"/>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What must come before systems language in Aboriginal engineering learning?</a:t>
            </a:r>
          </a:p>
        </p:txBody>
      </p:sp>
    </p:spTree>
    <p:extLst>
      <p:ext uri="{BB962C8B-B14F-4D97-AF65-F5344CB8AC3E}">
        <p14:creationId xmlns:p14="http://schemas.microsoft.com/office/powerpoint/2010/main" val="1202241311"/>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BA893F5-968A-470B-AB78-BC160157BAE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0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7B488F-91FD-4519-B2B2-593D5D91C072}"/>
              </a:ext>
            </a:extLst>
          </p:cNvPr>
          <p:cNvSpPr>
            <a:spLocks xmlns:a="http://schemas.openxmlformats.org/drawingml/2006/main" noGrp="1"/>
          </p:cNvSpPr>
          <p:nvPr/>
        </p:nvSpPr>
        <p:spPr>
          <a:xfrm xmlns:a="http://schemas.openxmlformats.org/drawingml/2006/main">
            <a:off x="685800" y="30480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A94424"/>
                </a:solidFill>
              </a:defRPr>
            </a:pPr>
            <a:r>
              <a:rPr sz="1050" b="1">
                <a:solidFill>
                  <a:srgbClr val="A94424"/>
                </a:solidFill>
              </a:rPr>
              <a:t>MODULE 10  /  EVALUATION AND CONNECTED SYSTEMS</a:t>
            </a:r>
          </a:p>
        </p:txBody>
      </p:sp>
      <p:sp>
        <p:nvSpPr>
          <p:cNvPr id="3" name="">
            <a:extLst xmlns:a="http://schemas.openxmlformats.org/drawingml/2006/main">
              <a:ext uri="{FF2B5EF4-FFF2-40B4-BE49-F238E27FC236}">
                <a16:creationId xmlns:a16="http://schemas.microsoft.com/office/drawing/2014/main" id="{BDB8265E-9263-4423-8572-A3A5755FD93E}"/>
              </a:ext>
            </a:extLst>
          </p:cNvPr>
          <p:cNvSpPr>
            <a:spLocks xmlns:a="http://schemas.openxmlformats.org/drawingml/2006/main" noGrp="1"/>
          </p:cNvSpPr>
          <p:nvPr/>
        </p:nvSpPr>
        <p:spPr>
          <a:xfrm xmlns:a="http://schemas.openxmlformats.org/drawingml/2006/main">
            <a:off x="685800" y="619125"/>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7232B"/>
                </a:solidFill>
              </a:defRPr>
            </a:pPr>
            <a:r>
              <a:rPr sz="2850" b="1">
                <a:solidFill>
                  <a:srgbClr val="17232B"/>
                </a:solidFill>
              </a:rPr>
              <a:t>Build the evidence, not just an answer</a:t>
            </a:r>
          </a:p>
        </p:txBody>
      </p:sp>
      <p:sp>
        <p:nvSpPr>
          <p:cNvPr id="4" name="">
            <a:extLst xmlns:a="http://schemas.openxmlformats.org/drawingml/2006/main">
              <a:ext uri="{FF2B5EF4-FFF2-40B4-BE49-F238E27FC236}">
                <a16:creationId xmlns:a16="http://schemas.microsoft.com/office/drawing/2014/main" id="{E3DC9ED0-C0CF-42BF-8790-740ED2ABD386}"/>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CAD4D8"/>
            </a:solidFill>
            <a:prstDash val="solid"/>
          </a:ln>
        </p:spPr>
      </p:sp>
      <p:sp>
        <p:nvSpPr>
          <p:cNvPr id="5" name="">
            <a:extLst xmlns:a="http://schemas.openxmlformats.org/drawingml/2006/main">
              <a:ext uri="{FF2B5EF4-FFF2-40B4-BE49-F238E27FC236}">
                <a16:creationId xmlns:a16="http://schemas.microsoft.com/office/drawing/2014/main" id="{B64532B3-AF4F-410E-8BCE-4ABE9665C777}"/>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53636D"/>
                </a:solidFill>
              </a:defRPr>
            </a:pPr>
            <a:r>
              <a:rPr sz="975" b="1">
                <a:solidFill>
                  <a:srgbClr val="53636D"/>
                </a:solidFill>
              </a:rPr>
              <a:t>YEAR 8 CATAPULT  •  MODULE 10</a:t>
            </a:r>
          </a:p>
        </p:txBody>
      </p:sp>
      <p:sp>
        <p:nvSpPr>
          <p:cNvPr id="6" name="">
            <a:extLst xmlns:a="http://schemas.openxmlformats.org/drawingml/2006/main">
              <a:ext uri="{FF2B5EF4-FFF2-40B4-BE49-F238E27FC236}">
                <a16:creationId xmlns:a16="http://schemas.microsoft.com/office/drawing/2014/main" id="{12CA5737-13A3-46AA-ABAA-0DFE9FDB1AFC}"/>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A94424"/>
                </a:solidFill>
              </a:defRPr>
            </a:pPr>
            <a:r>
              <a:rPr sz="975" b="1">
                <a:solidFill>
                  <a:srgbClr val="A94424"/>
                </a:solidFill>
              </a:rPr>
              <a:t>07</a:t>
            </a:r>
          </a:p>
        </p:txBody>
      </p:sp>
      <p:sp>
        <p:nvSpPr>
          <p:cNvPr id="7" name="">
            <a:extLst xmlns:a="http://schemas.openxmlformats.org/drawingml/2006/main">
              <a:ext uri="{FF2B5EF4-FFF2-40B4-BE49-F238E27FC236}">
                <a16:creationId xmlns:a16="http://schemas.microsoft.com/office/drawing/2014/main" id="{DD984215-1D5E-4B17-A3A5-56C7A2866A5B}"/>
              </a:ext>
            </a:extLst>
          </p:cNvPr>
          <p:cNvSpPr>
            <a:spLocks xmlns:a="http://schemas.openxmlformats.org/drawingml/2006/main" noGrp="1"/>
          </p:cNvSpPr>
          <p:nvPr/>
        </p:nvSpPr>
        <p:spPr>
          <a:xfrm xmlns:a="http://schemas.openxmlformats.org/drawingml/2006/main">
            <a:off x="685800" y="12573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THE QUESTION</a:t>
            </a:r>
          </a:p>
        </p:txBody>
      </p:sp>
      <p:sp>
        <p:nvSpPr>
          <p:cNvPr id="8" name="">
            <a:extLst xmlns:a="http://schemas.openxmlformats.org/drawingml/2006/main">
              <a:ext uri="{FF2B5EF4-FFF2-40B4-BE49-F238E27FC236}">
                <a16:creationId xmlns:a16="http://schemas.microsoft.com/office/drawing/2014/main" id="{4FCA75AD-403E-4EDD-832D-39F615620E79}"/>
              </a:ext>
            </a:extLst>
          </p:cNvPr>
          <p:cNvSpPr>
            <a:spLocks xmlns:a="http://schemas.openxmlformats.org/drawingml/2006/main" noGrp="1"/>
          </p:cNvSpPr>
          <p:nvPr/>
        </p:nvSpPr>
        <p:spPr>
          <a:xfrm xmlns:a="http://schemas.openxmlformats.org/drawingml/2006/main">
            <a:off x="685800" y="1581150"/>
            <a:ext cx="10820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7232B"/>
                </a:solidFill>
              </a:defRPr>
            </a:pPr>
            <a:r>
              <a:rPr sz="1800" b="1">
                <a:solidFill>
                  <a:srgbClr val="17232B"/>
                </a:solidFill>
              </a:rPr>
              <a:t>A system meets one confirmed criterion but falls short on another. Explain the trade-off, recommend one evidence-based improvement and predict how it could affect the wider system.</a:t>
            </a:r>
          </a:p>
        </p:txBody>
      </p:sp>
      <p:sp>
        <p:nvSpPr>
          <p:cNvPr id="9" name="">
            <a:extLst xmlns:a="http://schemas.openxmlformats.org/drawingml/2006/main">
              <a:ext uri="{FF2B5EF4-FFF2-40B4-BE49-F238E27FC236}">
                <a16:creationId xmlns:a16="http://schemas.microsoft.com/office/drawing/2014/main" id="{AF8E4DD7-B6D4-462D-AF1D-172E210D13D0}"/>
              </a:ext>
            </a:extLst>
          </p:cNvPr>
          <p:cNvSpPr>
            <a:spLocks xmlns:a="http://schemas.openxmlformats.org/drawingml/2006/main" noGrp="1"/>
          </p:cNvSpPr>
          <p:nvPr/>
        </p:nvSpPr>
        <p:spPr>
          <a:xfrm xmlns:a="http://schemas.openxmlformats.org/drawingml/2006/main">
            <a:off x="31432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E380A0-CBC9-4324-8465-682A8C694442}"/>
              </a:ext>
            </a:extLst>
          </p:cNvPr>
          <p:cNvSpPr>
            <a:spLocks xmlns:a="http://schemas.openxmlformats.org/drawingml/2006/main" noGrp="1"/>
          </p:cNvSpPr>
          <p:nvPr/>
        </p:nvSpPr>
        <p:spPr>
          <a:xfrm xmlns:a="http://schemas.openxmlformats.org/drawingml/2006/main">
            <a:off x="586740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545FFC7-EF87-4CFA-9DA6-10756AC0EF4B}"/>
              </a:ext>
            </a:extLst>
          </p:cNvPr>
          <p:cNvSpPr>
            <a:spLocks xmlns:a="http://schemas.openxmlformats.org/drawingml/2006/main" noGrp="1"/>
          </p:cNvSpPr>
          <p:nvPr/>
        </p:nvSpPr>
        <p:spPr>
          <a:xfrm xmlns:a="http://schemas.openxmlformats.org/drawingml/2006/main">
            <a:off x="8591550" y="3476625"/>
            <a:ext cx="533400" cy="247650"/>
          </a:xfrm>
          <a:prstGeom xmlns:a="http://schemas.openxmlformats.org/drawingml/2006/main" prst="rightArrow">
            <a:avLst/>
          </a:prstGeom>
          <a:solidFill xmlns:a="http://schemas.openxmlformats.org/drawingml/2006/main">
            <a:srgbClr val="F0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AD8E54A-D616-49EE-8136-04C52A55D632}"/>
              </a:ext>
            </a:extLst>
          </p:cNvPr>
          <p:cNvSpPr>
            <a:spLocks xmlns:a="http://schemas.openxmlformats.org/drawingml/2006/main" noGrp="1"/>
          </p:cNvSpPr>
          <p:nvPr/>
        </p:nvSpPr>
        <p:spPr>
          <a:xfrm xmlns:a="http://schemas.openxmlformats.org/drawingml/2006/main">
            <a:off x="6858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READ</a:t>
            </a:r>
          </a:p>
          <a:p xmlns:a="http://schemas.openxmlformats.org/drawingml/2006/main">
            <a:pPr algn="ctr">
              <a:defRPr sz="1500" b="1">
                <a:solidFill>
                  <a:srgbClr val="184F5E"/>
                </a:solidFill>
              </a:defRPr>
            </a:pPr>
            <a:r>
              <a:rPr sz="1500" b="1">
                <a:solidFill>
                  <a:srgbClr val="184F5E"/>
                </a:solidFill>
              </a:rPr>
              <a:t>Underline the decision</a:t>
            </a:r>
          </a:p>
        </p:txBody>
      </p:sp>
      <p:sp>
        <p:nvSpPr>
          <p:cNvPr id="13" name="">
            <a:extLst xmlns:a="http://schemas.openxmlformats.org/drawingml/2006/main">
              <a:ext uri="{FF2B5EF4-FFF2-40B4-BE49-F238E27FC236}">
                <a16:creationId xmlns:a16="http://schemas.microsoft.com/office/drawing/2014/main" id="{CD267893-5FE8-4D89-BC54-F5DB2318B8EA}"/>
              </a:ext>
            </a:extLst>
          </p:cNvPr>
          <p:cNvSpPr>
            <a:spLocks xmlns:a="http://schemas.openxmlformats.org/drawingml/2006/main" noGrp="1"/>
          </p:cNvSpPr>
          <p:nvPr/>
        </p:nvSpPr>
        <p:spPr>
          <a:xfrm xmlns:a="http://schemas.openxmlformats.org/drawingml/2006/main">
            <a:off x="34099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SELECT</a:t>
            </a:r>
          </a:p>
          <a:p xmlns:a="http://schemas.openxmlformats.org/drawingml/2006/main">
            <a:pPr algn="ctr">
              <a:defRPr sz="1500" b="1">
                <a:solidFill>
                  <a:srgbClr val="A94424"/>
                </a:solidFill>
              </a:defRPr>
            </a:pPr>
            <a:r>
              <a:rPr sz="1500" b="1">
                <a:solidFill>
                  <a:srgbClr val="A94424"/>
                </a:solidFill>
              </a:rPr>
              <a:t>Choose precise evidence</a:t>
            </a:r>
          </a:p>
        </p:txBody>
      </p:sp>
      <p:sp>
        <p:nvSpPr>
          <p:cNvPr id="14" name="">
            <a:extLst xmlns:a="http://schemas.openxmlformats.org/drawingml/2006/main">
              <a:ext uri="{FF2B5EF4-FFF2-40B4-BE49-F238E27FC236}">
                <a16:creationId xmlns:a16="http://schemas.microsoft.com/office/drawing/2014/main" id="{4EFF8D22-14C0-433E-8C58-B133CC1C5054}"/>
              </a:ext>
            </a:extLst>
          </p:cNvPr>
          <p:cNvSpPr>
            <a:spLocks xmlns:a="http://schemas.openxmlformats.org/drawingml/2006/main" noGrp="1"/>
          </p:cNvSpPr>
          <p:nvPr/>
        </p:nvSpPr>
        <p:spPr>
          <a:xfrm xmlns:a="http://schemas.openxmlformats.org/drawingml/2006/main">
            <a:off x="613410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84F5E"/>
                </a:solidFill>
              </a:defRPr>
            </a:pPr>
            <a:r>
              <a:rPr sz="1500" b="1">
                <a:solidFill>
                  <a:srgbClr val="184F5E"/>
                </a:solidFill>
              </a:rPr>
              <a:t>EXPLAIN</a:t>
            </a:r>
          </a:p>
          <a:p xmlns:a="http://schemas.openxmlformats.org/drawingml/2006/main">
            <a:pPr algn="ctr">
              <a:defRPr sz="1500" b="1">
                <a:solidFill>
                  <a:srgbClr val="184F5E"/>
                </a:solidFill>
              </a:defRPr>
            </a:pPr>
            <a:r>
              <a:rPr sz="1500" b="1">
                <a:solidFill>
                  <a:srgbClr val="184F5E"/>
                </a:solidFill>
              </a:rPr>
              <a:t>Connect with theory</a:t>
            </a:r>
          </a:p>
        </p:txBody>
      </p:sp>
      <p:sp>
        <p:nvSpPr>
          <p:cNvPr id="15" name="">
            <a:extLst xmlns:a="http://schemas.openxmlformats.org/drawingml/2006/main">
              <a:ext uri="{FF2B5EF4-FFF2-40B4-BE49-F238E27FC236}">
                <a16:creationId xmlns:a16="http://schemas.microsoft.com/office/drawing/2014/main" id="{1FAB05D3-A489-4E27-BB4A-C03B2A647663}"/>
              </a:ext>
            </a:extLst>
          </p:cNvPr>
          <p:cNvSpPr>
            <a:spLocks xmlns:a="http://schemas.openxmlformats.org/drawingml/2006/main" noGrp="1"/>
          </p:cNvSpPr>
          <p:nvPr/>
        </p:nvSpPr>
        <p:spPr>
          <a:xfrm xmlns:a="http://schemas.openxmlformats.org/drawingml/2006/main">
            <a:off x="8858250" y="3028950"/>
            <a:ext cx="23431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A94424"/>
                </a:solidFill>
              </a:defRPr>
            </a:pPr>
            <a:r>
              <a:rPr sz="1500" b="1">
                <a:solidFill>
                  <a:srgbClr val="A94424"/>
                </a:solidFill>
              </a:rPr>
              <a:t>CHECK</a:t>
            </a:r>
          </a:p>
          <a:p xmlns:a="http://schemas.openxmlformats.org/drawingml/2006/main">
            <a:pPr algn="ctr">
              <a:defRPr sz="1500" b="1">
                <a:solidFill>
                  <a:srgbClr val="A94424"/>
                </a:solidFill>
              </a:defRPr>
            </a:pPr>
            <a:r>
              <a:rPr sz="1500" b="1">
                <a:solidFill>
                  <a:srgbClr val="A94424"/>
                </a:solidFill>
              </a:rPr>
              <a:t>Answer every part</a:t>
            </a:r>
          </a:p>
        </p:txBody>
      </p:sp>
      <p:sp>
        <p:nvSpPr>
          <p:cNvPr id="16" name="">
            <a:extLst xmlns:a="http://schemas.openxmlformats.org/drawingml/2006/main">
              <a:ext uri="{FF2B5EF4-FFF2-40B4-BE49-F238E27FC236}">
                <a16:creationId xmlns:a16="http://schemas.microsoft.com/office/drawing/2014/main" id="{3D2B55DB-7644-4343-BC65-9279904AC2CD}"/>
              </a:ext>
            </a:extLst>
          </p:cNvPr>
          <p:cNvSpPr>
            <a:spLocks xmlns:a="http://schemas.openxmlformats.org/drawingml/2006/main" noGrp="1"/>
          </p:cNvSpPr>
          <p:nvPr/>
        </p:nvSpPr>
        <p:spPr>
          <a:xfrm xmlns:a="http://schemas.openxmlformats.org/drawingml/2006/main">
            <a:off x="685800" y="4476750"/>
            <a:ext cx="10820400"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CAD4D8"/>
            </a:solidFill>
            <a:prstDash val="solid"/>
          </a:ln>
        </p:spPr>
      </p:sp>
      <p:sp>
        <p:nvSpPr>
          <p:cNvPr id="17" name="">
            <a:extLst xmlns:a="http://schemas.openxmlformats.org/drawingml/2006/main">
              <a:ext uri="{FF2B5EF4-FFF2-40B4-BE49-F238E27FC236}">
                <a16:creationId xmlns:a16="http://schemas.microsoft.com/office/drawing/2014/main" id="{BC7563CC-A5D9-4136-B00D-6FE6FF97921D}"/>
              </a:ext>
            </a:extLst>
          </p:cNvPr>
          <p:cNvSpPr>
            <a:spLocks xmlns:a="http://schemas.openxmlformats.org/drawingml/2006/main" noGrp="1"/>
          </p:cNvSpPr>
          <p:nvPr/>
        </p:nvSpPr>
        <p:spPr>
          <a:xfrm xmlns:a="http://schemas.openxmlformats.org/drawingml/2006/main">
            <a:off x="914400" y="4667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A94424"/>
                </a:solidFill>
              </a:defRPr>
            </a:pPr>
            <a:r>
              <a:rPr sz="1200" b="1">
                <a:solidFill>
                  <a:srgbClr val="A94424"/>
                </a:solidFill>
              </a:rPr>
              <a:t>SENTENCE SUPPORT</a:t>
            </a:r>
          </a:p>
        </p:txBody>
      </p:sp>
      <p:sp>
        <p:nvSpPr>
          <p:cNvPr id="18" name="">
            <a:extLst xmlns:a="http://schemas.openxmlformats.org/drawingml/2006/main">
              <a:ext uri="{FF2B5EF4-FFF2-40B4-BE49-F238E27FC236}">
                <a16:creationId xmlns:a16="http://schemas.microsoft.com/office/drawing/2014/main" id="{9864C625-5D7E-45C8-AE64-C67AE2D2C490}"/>
              </a:ext>
            </a:extLst>
          </p:cNvPr>
          <p:cNvSpPr>
            <a:spLocks xmlns:a="http://schemas.openxmlformats.org/drawingml/2006/main" noGrp="1"/>
          </p:cNvSpPr>
          <p:nvPr/>
        </p:nvSpPr>
        <p:spPr>
          <a:xfrm xmlns:a="http://schemas.openxmlformats.org/drawingml/2006/main">
            <a:off x="914400" y="5029200"/>
            <a:ext cx="10144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a:solidFill>
                  <a:srgbClr val="17232B"/>
                </a:solidFill>
              </a:defRPr>
            </a:pPr>
            <a:r>
              <a:rPr sz="1575" b="0">
                <a:solidFill>
                  <a:srgbClr val="17232B"/>
                </a:solidFill>
              </a:rPr>
              <a:t>The system meets … because … It falls short on … The trade-off is … I recommend … and would check …</a:t>
            </a:r>
          </a:p>
        </p:txBody>
      </p:sp>
    </p:spTree>
    <p:extLst>
      <p:ext uri="{BB962C8B-B14F-4D97-AF65-F5344CB8AC3E}">
        <p14:creationId xmlns:p14="http://schemas.microsoft.com/office/powerpoint/2010/main" val="1147259992"/>
      </p:ext>
    </p:extLst>
  </p:cSld>
</p:sld>
</file>

<file path=ppt/slides/slide8.xml><?xml version="1.0" encoding="utf-8"?>
<p:sld xmlns:p="http://schemas.openxmlformats.org/presentationml/2006/main">
  <p:cSld>
    <p:bg>
      <p:bgPr>
        <a:solidFill xmlns:a="http://schemas.openxmlformats.org/drawingml/2006/main">
          <a:srgbClr val="A9442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C5BF61D-0070-4AED-889E-76881887AA29}"/>
              </a:ext>
            </a:extLst>
          </p:cNvPr>
          <p:cNvSpPr>
            <a:spLocks xmlns:a="http://schemas.openxmlformats.org/drawingml/2006/main" noGrp="1"/>
          </p:cNvSpPr>
          <p:nvPr/>
        </p:nvSpPr>
        <p:spPr>
          <a:xfrm xmlns:a="http://schemas.openxmlformats.org/drawingml/2006/main">
            <a:off x="685800" y="552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BEFORE YOU PACK UP …</a:t>
            </a:r>
          </a:p>
        </p:txBody>
      </p:sp>
      <p:sp>
        <p:nvSpPr>
          <p:cNvPr id="2" name="">
            <a:extLst xmlns:a="http://schemas.openxmlformats.org/drawingml/2006/main">
              <a:ext uri="{FF2B5EF4-FFF2-40B4-BE49-F238E27FC236}">
                <a16:creationId xmlns:a16="http://schemas.microsoft.com/office/drawing/2014/main" id="{345BA5B4-F77E-4EA9-8248-D0B5FBFBF1E5}"/>
              </a:ext>
            </a:extLst>
          </p:cNvPr>
          <p:cNvSpPr>
            <a:spLocks xmlns:a="http://schemas.openxmlformats.org/drawingml/2006/main" noGrp="1"/>
          </p:cNvSpPr>
          <p:nvPr/>
        </p:nvSpPr>
        <p:spPr>
          <a:xfrm xmlns:a="http://schemas.openxmlformats.org/drawingml/2006/main">
            <a:off x="685800" y="1066800"/>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Close the design loop</a:t>
            </a:r>
          </a:p>
        </p:txBody>
      </p:sp>
      <p:sp>
        <p:nvSpPr>
          <p:cNvPr id="3" name="">
            <a:extLst xmlns:a="http://schemas.openxmlformats.org/drawingml/2006/main">
              <a:ext uri="{FF2B5EF4-FFF2-40B4-BE49-F238E27FC236}">
                <a16:creationId xmlns:a16="http://schemas.microsoft.com/office/drawing/2014/main" id="{59EA9C1E-D4EC-4B4C-8CC0-AE5431F906F8}"/>
              </a:ext>
            </a:extLst>
          </p:cNvPr>
          <p:cNvSpPr>
            <a:spLocks xmlns:a="http://schemas.openxmlformats.org/drawingml/2006/main" noGrp="1"/>
          </p:cNvSpPr>
          <p:nvPr/>
        </p:nvSpPr>
        <p:spPr>
          <a:xfrm xmlns:a="http://schemas.openxmlformats.org/drawingml/2006/main">
            <a:off x="685800" y="20955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72C628-1918-4516-AB0E-EDEF56488D14}"/>
              </a:ext>
            </a:extLst>
          </p:cNvPr>
          <p:cNvSpPr>
            <a:spLocks xmlns:a="http://schemas.openxmlformats.org/drawingml/2006/main" noGrp="1"/>
          </p:cNvSpPr>
          <p:nvPr/>
        </p:nvSpPr>
        <p:spPr>
          <a:xfrm xmlns:a="http://schemas.openxmlformats.org/drawingml/2006/main">
            <a:off x="933450" y="22669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1. One evidence point I can present clearly …</a:t>
            </a:r>
          </a:p>
        </p:txBody>
      </p:sp>
      <p:sp>
        <p:nvSpPr>
          <p:cNvPr id="5" name="">
            <a:extLst xmlns:a="http://schemas.openxmlformats.org/drawingml/2006/main">
              <a:ext uri="{FF2B5EF4-FFF2-40B4-BE49-F238E27FC236}">
                <a16:creationId xmlns:a16="http://schemas.microsoft.com/office/drawing/2014/main" id="{155714A4-FE44-4BE4-9AD7-D927B13BB743}"/>
              </a:ext>
            </a:extLst>
          </p:cNvPr>
          <p:cNvSpPr>
            <a:spLocks xmlns:a="http://schemas.openxmlformats.org/drawingml/2006/main" noGrp="1"/>
          </p:cNvSpPr>
          <p:nvPr/>
        </p:nvSpPr>
        <p:spPr>
          <a:xfrm xmlns:a="http://schemas.openxmlformats.org/drawingml/2006/main">
            <a:off x="685800" y="302895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AEEDC9-FA64-4046-AE5A-9647ED5DB83B}"/>
              </a:ext>
            </a:extLst>
          </p:cNvPr>
          <p:cNvSpPr>
            <a:spLocks xmlns:a="http://schemas.openxmlformats.org/drawingml/2006/main" noGrp="1"/>
          </p:cNvSpPr>
          <p:nvPr/>
        </p:nvSpPr>
        <p:spPr>
          <a:xfrm xmlns:a="http://schemas.openxmlformats.org/drawingml/2006/main">
            <a:off x="933450" y="32004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2. One balanced judgement I can defend …</a:t>
            </a:r>
          </a:p>
        </p:txBody>
      </p:sp>
      <p:sp>
        <p:nvSpPr>
          <p:cNvPr id="7" name="">
            <a:extLst xmlns:a="http://schemas.openxmlformats.org/drawingml/2006/main">
              <a:ext uri="{FF2B5EF4-FFF2-40B4-BE49-F238E27FC236}">
                <a16:creationId xmlns:a16="http://schemas.microsoft.com/office/drawing/2014/main" id="{5D386F60-262B-4EC4-81FA-2EBB3ED40613}"/>
              </a:ext>
            </a:extLst>
          </p:cNvPr>
          <p:cNvSpPr>
            <a:spLocks xmlns:a="http://schemas.openxmlformats.org/drawingml/2006/main" noGrp="1"/>
          </p:cNvSpPr>
          <p:nvPr/>
        </p:nvSpPr>
        <p:spPr>
          <a:xfrm xmlns:a="http://schemas.openxmlformats.org/drawingml/2006/main">
            <a:off x="685800" y="3962400"/>
            <a:ext cx="80962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C5D7322-4C25-4B76-938F-37D8BC74F0D7}"/>
              </a:ext>
            </a:extLst>
          </p:cNvPr>
          <p:cNvSpPr>
            <a:spLocks xmlns:a="http://schemas.openxmlformats.org/drawingml/2006/main" noGrp="1"/>
          </p:cNvSpPr>
          <p:nvPr/>
        </p:nvSpPr>
        <p:spPr>
          <a:xfrm xmlns:a="http://schemas.openxmlformats.org/drawingml/2006/main">
            <a:off x="933450" y="41338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7232B"/>
                </a:solidFill>
              </a:defRPr>
            </a:pPr>
            <a:r>
              <a:rPr sz="1650" b="1">
                <a:solidFill>
                  <a:srgbClr val="17232B"/>
                </a:solidFill>
              </a:rPr>
              <a:t>3. One way I will keep cultural context first …</a:t>
            </a:r>
          </a:p>
        </p:txBody>
      </p:sp>
      <p:sp>
        <p:nvSpPr>
          <p:cNvPr id="9" name="">
            <a:extLst xmlns:a="http://schemas.openxmlformats.org/drawingml/2006/main">
              <a:ext uri="{FF2B5EF4-FFF2-40B4-BE49-F238E27FC236}">
                <a16:creationId xmlns:a16="http://schemas.microsoft.com/office/drawing/2014/main" id="{9940A18B-55B8-4562-8777-9955C8C64B71}"/>
              </a:ext>
            </a:extLst>
          </p:cNvPr>
          <p:cNvSpPr>
            <a:spLocks xmlns:a="http://schemas.openxmlformats.org/drawingml/2006/main" noGrp="1"/>
          </p:cNvSpPr>
          <p:nvPr/>
        </p:nvSpPr>
        <p:spPr>
          <a:xfrm xmlns:a="http://schemas.openxmlformats.org/drawingml/2006/main">
            <a:off x="9353550" y="2419350"/>
            <a:ext cx="1828800" cy="1828800"/>
          </a:xfrm>
          <a:prstGeom xmlns:a="http://schemas.openxmlformats.org/drawingml/2006/main" prst="ellipse">
            <a:avLst/>
          </a:prstGeom>
          <a:solidFill xmlns:a="http://schemas.openxmlformats.org/drawingml/2006/main">
            <a:srgbClr val="F0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111E762-3C35-4010-BDB7-7E4DA002C4D1}"/>
              </a:ext>
            </a:extLst>
          </p:cNvPr>
          <p:cNvSpPr>
            <a:spLocks xmlns:a="http://schemas.openxmlformats.org/drawingml/2006/main" noGrp="1"/>
          </p:cNvSpPr>
          <p:nvPr/>
        </p:nvSpPr>
        <p:spPr>
          <a:xfrm xmlns:a="http://schemas.openxmlformats.org/drawingml/2006/main">
            <a:off x="9610725" y="2800350"/>
            <a:ext cx="1314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7232B"/>
                </a:solidFill>
              </a:defRPr>
            </a:pPr>
            <a:r>
              <a:rPr sz="1875" b="1">
                <a:solidFill>
                  <a:srgbClr val="17232B"/>
                </a:solidFill>
              </a:rPr>
              <a:t>SAVE</a:t>
            </a:r>
          </a:p>
          <a:p xmlns:a="http://schemas.openxmlformats.org/drawingml/2006/main">
            <a:pPr algn="ctr">
              <a:defRPr sz="1875" b="1">
                <a:solidFill>
                  <a:srgbClr val="17232B"/>
                </a:solidFill>
              </a:defRPr>
            </a:pPr>
            <a:r>
              <a:rPr sz="1875" b="1">
                <a:solidFill>
                  <a:srgbClr val="17232B"/>
                </a:solidFill>
              </a:rPr>
              <a:t>YOUR</a:t>
            </a:r>
          </a:p>
          <a:p xmlns:a="http://schemas.openxmlformats.org/drawingml/2006/main">
            <a:pPr algn="ctr">
              <a:defRPr sz="1875" b="1">
                <a:solidFill>
                  <a:srgbClr val="17232B"/>
                </a:solidFill>
              </a:defRPr>
            </a:pPr>
            <a:r>
              <a:rPr sz="1875" b="1">
                <a:solidFill>
                  <a:srgbClr val="17232B"/>
                </a:solidFill>
              </a:rPr>
              <a:t>EVIDENCE</a:t>
            </a:r>
          </a:p>
        </p:txBody>
      </p:sp>
      <p:sp>
        <p:nvSpPr>
          <p:cNvPr id="11" name="">
            <a:extLst xmlns:a="http://schemas.openxmlformats.org/drawingml/2006/main">
              <a:ext uri="{FF2B5EF4-FFF2-40B4-BE49-F238E27FC236}">
                <a16:creationId xmlns:a16="http://schemas.microsoft.com/office/drawing/2014/main" id="{5AA118FD-1E97-40B4-89C0-1EE628F558E6}"/>
              </a:ext>
            </a:extLst>
          </p:cNvPr>
          <p:cNvSpPr>
            <a:spLocks xmlns:a="http://schemas.openxmlformats.org/drawingml/2006/main" noGrp="1"/>
          </p:cNvSpPr>
          <p:nvPr/>
        </p:nvSpPr>
        <p:spPr>
          <a:xfrm xmlns:a="http://schemas.openxmlformats.org/drawingml/2006/main">
            <a:off x="685800" y="5219700"/>
            <a:ext cx="809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FFFFFF"/>
                </a:solidFill>
              </a:defRPr>
            </a:pPr>
            <a:r>
              <a:rPr sz="1425" b="0">
                <a:solidFill>
                  <a:srgbClr val="FFFFFF"/>
                </a:solidFill>
              </a:rPr>
              <a:t>Evidence destination: your module response and folio where your teacher directs.</a:t>
            </a:r>
          </a:p>
        </p:txBody>
      </p:sp>
      <p:sp>
        <p:nvSpPr>
          <p:cNvPr id="12" name="">
            <a:extLst xmlns:a="http://schemas.openxmlformats.org/drawingml/2006/main">
              <a:ext uri="{FF2B5EF4-FFF2-40B4-BE49-F238E27FC236}">
                <a16:creationId xmlns:a16="http://schemas.microsoft.com/office/drawing/2014/main" id="{7D008B90-2BD1-441C-B2A8-B1C9F1F0DEB3}"/>
              </a:ext>
            </a:extLst>
          </p:cNvPr>
          <p:cNvSpPr>
            <a:spLocks xmlns:a="http://schemas.openxmlformats.org/drawingml/2006/main" noGrp="1"/>
          </p:cNvSpPr>
          <p:nvPr/>
        </p:nvSpPr>
        <p:spPr>
          <a:xfrm xmlns:a="http://schemas.openxmlformats.org/drawingml/2006/main">
            <a:off x="685800" y="588645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0B84B"/>
                </a:solidFill>
              </a:defRPr>
            </a:pPr>
            <a:r>
              <a:rPr sz="1350" b="1">
                <a:solidFill>
                  <a:srgbClr val="F0B84B"/>
                </a:solidFill>
              </a:rPr>
              <a:t>Next: save your evidence and follow the teacher’s directions for the final course hand-in.</a:t>
            </a:r>
          </a:p>
        </p:txBody>
      </p:sp>
      <p:sp>
        <p:nvSpPr>
          <p:cNvPr id="13" name="">
            <a:extLst xmlns:a="http://schemas.openxmlformats.org/drawingml/2006/main">
              <a:ext uri="{FF2B5EF4-FFF2-40B4-BE49-F238E27FC236}">
                <a16:creationId xmlns:a16="http://schemas.microsoft.com/office/drawing/2014/main" id="{127A8081-6125-47DD-91E9-60DE93A6DA61}"/>
              </a:ext>
            </a:extLst>
          </p:cNvPr>
          <p:cNvSpPr>
            <a:spLocks xmlns:a="http://schemas.openxmlformats.org/drawingml/2006/main" noGrp="1"/>
          </p:cNvSpPr>
          <p:nvPr/>
        </p:nvSpPr>
        <p:spPr>
          <a:xfrm xmlns:a="http://schemas.openxmlformats.org/drawingml/2006/main">
            <a:off x="685800" y="6400800"/>
            <a:ext cx="10820400" cy="0"/>
          </a:xfrm>
          <a:prstGeom xmlns:a="http://schemas.openxmlformats.org/drawingml/2006/main" prst="line">
            <a:avLst/>
          </a:prstGeom>
          <a:noFill xmlns:a="http://schemas.openxmlformats.org/drawingml/2006/main"/>
          <a:ln xmlns:a="http://schemas.openxmlformats.org/drawingml/2006/main" w="9525">
            <a:solidFill>
              <a:srgbClr val="FFFFFF">
                <a:alpha val="33333"/>
              </a:srgbClr>
            </a:solidFill>
            <a:prstDash val="solid"/>
          </a:ln>
        </p:spPr>
      </p:sp>
      <p:sp>
        <p:nvSpPr>
          <p:cNvPr id="14" name="">
            <a:extLst xmlns:a="http://schemas.openxmlformats.org/drawingml/2006/main">
              <a:ext uri="{FF2B5EF4-FFF2-40B4-BE49-F238E27FC236}">
                <a16:creationId xmlns:a16="http://schemas.microsoft.com/office/drawing/2014/main" id="{93ADDF62-5DDF-4633-A4C5-1AE4A4041194}"/>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D7E5E8"/>
                </a:solidFill>
              </a:defRPr>
            </a:pPr>
            <a:r>
              <a:rPr sz="975" b="1">
                <a:solidFill>
                  <a:srgbClr val="D7E5E8"/>
                </a:solidFill>
              </a:rPr>
              <a:t>YEAR 8 CATAPULT  •  MODULE 10</a:t>
            </a:r>
          </a:p>
        </p:txBody>
      </p:sp>
      <p:sp>
        <p:nvSpPr>
          <p:cNvPr id="15" name="">
            <a:extLst xmlns:a="http://schemas.openxmlformats.org/drawingml/2006/main">
              <a:ext uri="{FF2B5EF4-FFF2-40B4-BE49-F238E27FC236}">
                <a16:creationId xmlns:a16="http://schemas.microsoft.com/office/drawing/2014/main" id="{A387B5DA-679F-4FD9-8A61-1298C89D163D}"/>
              </a:ext>
            </a:extLst>
          </p:cNvPr>
          <p:cNvSpPr>
            <a:spLocks xmlns:a="http://schemas.openxmlformats.org/drawingml/2006/main" noGrp="1"/>
          </p:cNvSpPr>
          <p:nvPr/>
        </p:nvSpPr>
        <p:spPr>
          <a:xfrm xmlns:a="http://schemas.openxmlformats.org/drawingml/2006/main">
            <a:off x="11049000" y="649605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F0B84B"/>
                </a:solidFill>
              </a:defRPr>
            </a:pPr>
            <a:r>
              <a:rPr sz="975" b="1">
                <a:solidFill>
                  <a:srgbClr val="F0B84B"/>
                </a:solidFill>
              </a:rPr>
              <a:t>08</a:t>
            </a:r>
          </a:p>
        </p:txBody>
      </p:sp>
    </p:spTree>
    <p:extLst>
      <p:ext uri="{BB962C8B-B14F-4D97-AF65-F5344CB8AC3E}">
        <p14:creationId xmlns:p14="http://schemas.microsoft.com/office/powerpoint/2010/main" val="2787656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2026-08-24T03:19:46.1070000Z</dcterms:created>
  <dcterms:modified xsi:type="dcterms:W3CDTF">2026-08-24T03:19:46.1070000Z</dcterms:modified>
</coreProperties>
</file>