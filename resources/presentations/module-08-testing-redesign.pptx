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d2e0ba9fa854de7" /><Relationship Type="http://schemas.openxmlformats.org/officeDocument/2006/relationships/extended-properties" Target="/docProps/app.xml" Id="R6520f2b77c6c414c" /><Relationship Type="http://schemas.openxmlformats.org/officeDocument/2006/relationships/officeDocument" Target="/ppt/presentation.xml" Id="R2e803631b01e4709" /></Relationships>
</file>

<file path=ppt/presentation.xml><?xml version="1.0" encoding="utf-8"?>
<p:presentation xmlns:p="http://schemas.openxmlformats.org/presentationml/2006/main">
  <p:sldMasterIdLst>
    <p:sldMasterId xmlns:r="http://schemas.openxmlformats.org/officeDocument/2006/relationships" id="2147483648" r:id="R6f2eea447ffe46f8"/>
  </p:sldMasterIdLst>
  <p:notesMasterIdLst>
    <p:notesMasterId xmlns:r="http://schemas.openxmlformats.org/officeDocument/2006/relationships" r:id="R3a7e30d8c7994341"/>
  </p:notesMasterIdLst>
  <p:sldIdLst>
    <p:sldId xmlns:r="http://schemas.openxmlformats.org/officeDocument/2006/relationships" id="256" r:id="R05c063164560434e"/>
    <p:sldId xmlns:r="http://schemas.openxmlformats.org/officeDocument/2006/relationships" id="257" r:id="R98166b7782ac49b8"/>
    <p:sldId xmlns:r="http://schemas.openxmlformats.org/officeDocument/2006/relationships" id="258" r:id="Rf962e52a72174962"/>
    <p:sldId xmlns:r="http://schemas.openxmlformats.org/officeDocument/2006/relationships" id="259" r:id="Rd299af7ae1e44634"/>
    <p:sldId xmlns:r="http://schemas.openxmlformats.org/officeDocument/2006/relationships" id="260" r:id="R80f840356f3f4c69"/>
    <p:sldId xmlns:r="http://schemas.openxmlformats.org/officeDocument/2006/relationships" id="261" r:id="R0a010d72d6a84110"/>
    <p:sldId xmlns:r="http://schemas.openxmlformats.org/officeDocument/2006/relationships" id="262" r:id="R4a37171fa1544be4"/>
    <p:sldId xmlns:r="http://schemas.openxmlformats.org/officeDocument/2006/relationships" id="263" r:id="Rb6b7b383b6a346e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f8b76ffde604987" /><Relationship Type="http://schemas.openxmlformats.org/officeDocument/2006/relationships/slideMaster" Target="/ppt/slideMasters/slideMaster1.xml" Id="R6f2eea447ffe46f8" /><Relationship Type="http://schemas.openxmlformats.org/officeDocument/2006/relationships/notesMaster" Target="/ppt/notesMasters/notesMaster1.xml" Id="R3a7e30d8c7994341" /><Relationship Type="http://schemas.openxmlformats.org/officeDocument/2006/relationships/presProps" Target="/ppt/presProps.xml" Id="R36d49aee93234106" /><Relationship Type="http://schemas.openxmlformats.org/officeDocument/2006/relationships/tableStyles" Target="/ppt/tableStyles.xml" Id="R41751edafcd949c9" /><Relationship Type="http://schemas.openxmlformats.org/officeDocument/2006/relationships/slide" Target="/ppt/slides/slide1.xml" Id="R05c063164560434e" /><Relationship Type="http://schemas.openxmlformats.org/officeDocument/2006/relationships/slide" Target="/ppt/slides/slide2.xml" Id="R98166b7782ac49b8" /><Relationship Type="http://schemas.openxmlformats.org/officeDocument/2006/relationships/slide" Target="/ppt/slides/slide3.xml" Id="Rf962e52a72174962" /><Relationship Type="http://schemas.openxmlformats.org/officeDocument/2006/relationships/slide" Target="/ppt/slides/slide4.xml" Id="Rd299af7ae1e44634" /><Relationship Type="http://schemas.openxmlformats.org/officeDocument/2006/relationships/slide" Target="/ppt/slides/slide5.xml" Id="R80f840356f3f4c69" /><Relationship Type="http://schemas.openxmlformats.org/officeDocument/2006/relationships/slide" Target="/ppt/slides/slide6.xml" Id="R0a010d72d6a84110" /><Relationship Type="http://schemas.openxmlformats.org/officeDocument/2006/relationships/slide" Target="/ppt/slides/slide7.xml" Id="R4a37171fa1544be4" /><Relationship Type="http://schemas.openxmlformats.org/officeDocument/2006/relationships/slide" Target="/ppt/slides/slide8.xml" Id="Rb6b7b383b6a346e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199fc180811495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d3f6bd8b72c41a3" /><Relationship Type="http://schemas.openxmlformats.org/officeDocument/2006/relationships/notesMaster" Target="/ppt/notesMasters/notesMaster1.xml" Id="R678fd762438048da" /></Relationships>
</file>

<file path=ppt/notesSlides/_rels/notesSlide2.xml.rels>&#65279;<?xml version="1.0" encoding="utf-8"?><Relationships xmlns="http://schemas.openxmlformats.org/package/2006/relationships"><Relationship Type="http://schemas.openxmlformats.org/officeDocument/2006/relationships/slide" Target="/ppt/slides/slide2.xml" Id="R2193ddaa2b42468d" /><Relationship Type="http://schemas.openxmlformats.org/officeDocument/2006/relationships/notesMaster" Target="/ppt/notesMasters/notesMaster1.xml" Id="Rbc6a2c84599e4a91" /></Relationships>
</file>

<file path=ppt/notesSlides/_rels/notesSlide3.xml.rels>&#65279;<?xml version="1.0" encoding="utf-8"?><Relationships xmlns="http://schemas.openxmlformats.org/package/2006/relationships"><Relationship Type="http://schemas.openxmlformats.org/officeDocument/2006/relationships/slide" Target="/ppt/slides/slide3.xml" Id="R50d638b084cc4645" /><Relationship Type="http://schemas.openxmlformats.org/officeDocument/2006/relationships/notesMaster" Target="/ppt/notesMasters/notesMaster1.xml" Id="R2f52cad906884d20" /></Relationships>
</file>

<file path=ppt/notesSlides/_rels/notesSlide4.xml.rels>&#65279;<?xml version="1.0" encoding="utf-8"?><Relationships xmlns="http://schemas.openxmlformats.org/package/2006/relationships"><Relationship Type="http://schemas.openxmlformats.org/officeDocument/2006/relationships/slide" Target="/ppt/slides/slide4.xml" Id="Ra6c403fdbcf844d4" /><Relationship Type="http://schemas.openxmlformats.org/officeDocument/2006/relationships/notesMaster" Target="/ppt/notesMasters/notesMaster1.xml" Id="Rd5e11bd5d25f4bca" /></Relationships>
</file>

<file path=ppt/notesSlides/_rels/notesSlide5.xml.rels>&#65279;<?xml version="1.0" encoding="utf-8"?><Relationships xmlns="http://schemas.openxmlformats.org/package/2006/relationships"><Relationship Type="http://schemas.openxmlformats.org/officeDocument/2006/relationships/slide" Target="/ppt/slides/slide5.xml" Id="R08aaa10a12294a41" /><Relationship Type="http://schemas.openxmlformats.org/officeDocument/2006/relationships/notesMaster" Target="/ppt/notesMasters/notesMaster1.xml" Id="R1aa00c80ada44c24" /></Relationships>
</file>

<file path=ppt/notesSlides/_rels/notesSlide6.xml.rels>&#65279;<?xml version="1.0" encoding="utf-8"?><Relationships xmlns="http://schemas.openxmlformats.org/package/2006/relationships"><Relationship Type="http://schemas.openxmlformats.org/officeDocument/2006/relationships/slide" Target="/ppt/slides/slide6.xml" Id="R492dc997be8346e6" /><Relationship Type="http://schemas.openxmlformats.org/officeDocument/2006/relationships/notesMaster" Target="/ppt/notesMasters/notesMaster1.xml" Id="R5b5a1fc7aca7487a" /></Relationships>
</file>

<file path=ppt/notesSlides/_rels/notesSlide7.xml.rels>&#65279;<?xml version="1.0" encoding="utf-8"?><Relationships xmlns="http://schemas.openxmlformats.org/package/2006/relationships"><Relationship Type="http://schemas.openxmlformats.org/officeDocument/2006/relationships/slide" Target="/ppt/slides/slide7.xml" Id="Rea5cc0eb70894e32" /><Relationship Type="http://schemas.openxmlformats.org/officeDocument/2006/relationships/notesMaster" Target="/ppt/notesMasters/notesMaster1.xml" Id="R23bc7cbc342a40dc" /></Relationships>
</file>

<file path=ppt/notesSlides/_rels/notesSlide8.xml.rels>&#65279;<?xml version="1.0" encoding="utf-8"?><Relationships xmlns="http://schemas.openxmlformats.org/package/2006/relationships"><Relationship Type="http://schemas.openxmlformats.org/officeDocument/2006/relationships/slide" Target="/ppt/slides/slide8.xml" Id="Rb4c70440d2624911" /><Relationship Type="http://schemas.openxmlformats.org/officeDocument/2006/relationships/notesMaster" Target="/ppt/notesMasters/notesMaster1.xml" Id="Rc7fcdb8b0bbb4cb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State the learning purpose in one sentence.</a:t>
            </a:r>
          </a:p>
          <a:p xmlns:a="http://schemas.openxmlformats.org/drawingml/2006/main">
            <a:r>
              <a:t>- Use the image only as a conceptual project cue; it is not a plan or model specification.</a:t>
            </a:r>
          </a:p>
          <a:p xmlns:a="http://schemas.openxmlformats.org/drawingml/2006/main">
            <a:r>
              <a:t/>
            </a:r>
          </a:p>
          <a:p xmlns:a="http://schemas.openxmlformats.org/drawingml/2006/main">
            <a:r>
              <a:t>Prompt</a:t>
            </a:r>
          </a:p>
          <a:p xmlns:a="http://schemas.openxmlformats.org/drawingml/2006/main">
            <a:r>
              <a:t>- What relationship or evidence do you expect to matter in this module?</a:t>
            </a:r>
          </a:p>
          <a:p xmlns:a="http://schemas.openxmlformats.org/drawingml/2006/main">
            <a:r>
              <a:t/>
            </a:r>
          </a:p>
          <a:p xmlns:a="http://schemas.openxmlformats.org/drawingml/2006/main">
            <a:r>
              <a:t>Likely misconception</a:t>
            </a:r>
          </a:p>
          <a:p xmlns:a="http://schemas.openxmlformats.org/drawingml/2006/main">
            <a:r>
              <a:t>- A realistic image must show the exact project design.</a:t>
            </a:r>
          </a:p>
          <a:p xmlns:a="http://schemas.openxmlformats.org/drawingml/2006/main">
            <a:r>
              <a:t/>
            </a:r>
          </a:p>
          <a:p xmlns:a="http://schemas.openxmlformats.org/drawingml/2006/main">
            <a:r>
              <a:t>Transition</a:t>
            </a:r>
          </a:p>
          <a:p xmlns:a="http://schemas.openxmlformats.org/drawingml/2006/main">
            <a:r>
              <a:t>- Move from the project cue to the three ideas students will learn.</a:t>
            </a:r>
          </a:p>
          <a:p xmlns:a="http://schemas.openxmlformats.org/drawingml/2006/main">
            <a:r>
              <a:t/>
            </a:r>
          </a:p>
          <a:p xmlns:a="http://schemas.openxmlformats.org/drawingml/2006/main">
            <a:r>
              <a:t>[Sources]</a:t>
            </a:r>
          </a:p>
          <a:p xmlns:a="http://schemas.openxmlformats.org/drawingml/2006/main">
            <a:r>
              <a:t>- Year 8 Catapult student theory draft v1.0, module-08, 24 Aug 2026.</a:t>
            </a:r>
          </a:p>
          <a:p xmlns:a="http://schemas.openxmlformats.org/drawingml/2006/main">
            <a:r>
              <a:t>- Teacher unit testing intention; source-map testing boundary; theory draft module-08.</a:t>
            </a:r>
          </a:p>
          <a:p xmlns:a="http://schemas.openxmlformats.org/drawingml/2006/main">
            <a:r>
              <a:t>- OpenAI image generation for this course, 24 Aug 2026, conceptual only; file: catapult-fair-testing-concept.png.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Frame the module as a cumulative learning sequence.</a:t>
            </a:r>
          </a:p>
          <a:p xmlns:a="http://schemas.openxmlformats.org/drawingml/2006/main">
            <a:r>
              <a:t>- Invite a brief retrieval response before introducing new content.</a:t>
            </a:r>
          </a:p>
          <a:p xmlns:a="http://schemas.openxmlformats.org/drawingml/2006/main">
            <a:r>
              <a:t/>
            </a:r>
          </a:p>
          <a:p xmlns:a="http://schemas.openxmlformats.org/drawingml/2006/main">
            <a:r>
              <a:t>Prompt</a:t>
            </a:r>
          </a:p>
          <a:p xmlns:a="http://schemas.openxmlformats.org/drawingml/2006/main">
            <a:r>
              <a:t>- How are distance, accuracy, consistency and stability different measures?</a:t>
            </a:r>
          </a:p>
          <a:p xmlns:a="http://schemas.openxmlformats.org/drawingml/2006/main">
            <a:r>
              <a:t/>
            </a:r>
          </a:p>
          <a:p xmlns:a="http://schemas.openxmlformats.org/drawingml/2006/main">
            <a:r>
              <a:t>Likely misconception</a:t>
            </a:r>
          </a:p>
          <a:p xmlns:a="http://schemas.openxmlformats.org/drawingml/2006/main">
            <a:r>
              <a:t>- The three ideas are separate facts rather than parts of one explanation.</a:t>
            </a:r>
          </a:p>
          <a:p xmlns:a="http://schemas.openxmlformats.org/drawingml/2006/main">
            <a:r>
              <a:t/>
            </a:r>
          </a:p>
          <a:p xmlns:a="http://schemas.openxmlformats.org/drawingml/2006/main">
            <a:r>
              <a:t>Transition</a:t>
            </a:r>
          </a:p>
          <a:p xmlns:a="http://schemas.openxmlformats.org/drawingml/2006/main">
            <a:r>
              <a:t>- Tell students that each theory slide will supply evidence for the final response.</a:t>
            </a:r>
          </a:p>
          <a:p xmlns:a="http://schemas.openxmlformats.org/drawingml/2006/main">
            <a:r>
              <a:t/>
            </a:r>
          </a:p>
          <a:p xmlns:a="http://schemas.openxmlformats.org/drawingml/2006/main">
            <a:r>
              <a:t>[Sources]</a:t>
            </a:r>
          </a:p>
          <a:p xmlns:a="http://schemas.openxmlformats.org/drawingml/2006/main">
            <a:r>
              <a:t>- Year 8 Catapult student theory draft v1.0, module-08, 24 Aug 2026.</a:t>
            </a:r>
          </a:p>
          <a:p xmlns:a="http://schemas.openxmlformats.org/drawingml/2006/main">
            <a:r>
              <a:t>- Teacher unit testing intention; source-map testing boundary; theory draft module-08.</a:t>
            </a:r>
          </a:p>
          <a:p xmlns:a="http://schemas.openxmlformats.org/drawingml/2006/main">
            <a:r>
              <a:t>- Native pathway diagram authored for this deck from the approved module sequence.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The independent variable is the one feature deliberately changed. Dependent data are the observations or measurements that may respond. Controlled variables are kept consistent so the comparison remains meaningful. The teacher sets every operating condition; students focus on the investigation and evidence.</a:t>
            </a:r>
          </a:p>
          <a:p xmlns:a="http://schemas.openxmlformats.org/drawingml/2006/main">
            <a:r>
              <a:t>- Use the visual to emphasise: A fair question makes the comparison clear without inventing test conditions.</a:t>
            </a:r>
          </a:p>
          <a:p xmlns:a="http://schemas.openxmlformats.org/drawingml/2006/main">
            <a:r>
              <a:t/>
            </a:r>
          </a:p>
          <a:p xmlns:a="http://schemas.openxmlformats.org/drawingml/2006/main">
            <a:r>
              <a:t>Prompt</a:t>
            </a:r>
          </a:p>
          <a:p xmlns:a="http://schemas.openxmlformats.org/drawingml/2006/main">
            <a:r>
              <a:t>- Plan: name one changed variable, the data it could affect and two conditions that should remain controlled.</a:t>
            </a:r>
          </a:p>
          <a:p xmlns:a="http://schemas.openxmlformats.org/drawingml/2006/main">
            <a:r>
              <a:t/>
            </a:r>
          </a:p>
          <a:p xmlns:a="http://schemas.openxmlformats.org/drawingml/2006/main">
            <a:r>
              <a:t>Likely misconception</a:t>
            </a:r>
          </a:p>
          <a:p xmlns:a="http://schemas.openxmlformats.org/drawingml/2006/main">
            <a:r>
              <a:t>- Which variable is deliberately changed?</a:t>
            </a:r>
          </a:p>
          <a:p xmlns:a="http://schemas.openxmlformats.org/drawingml/2006/main">
            <a:r>
              <a:t/>
            </a:r>
          </a:p>
          <a:p xmlns:a="http://schemas.openxmlformats.org/drawingml/2006/main">
            <a:r>
              <a:t>Transition</a:t>
            </a:r>
          </a:p>
          <a:p xmlns:a="http://schemas.openxmlformats.org/drawingml/2006/main">
            <a:r>
              <a:t>- Link this idea to the next relationship in the module.</a:t>
            </a:r>
          </a:p>
          <a:p xmlns:a="http://schemas.openxmlformats.org/drawingml/2006/main">
            <a:r>
              <a:t/>
            </a:r>
          </a:p>
          <a:p xmlns:a="http://schemas.openxmlformats.org/drawingml/2006/main">
            <a:r>
              <a:t>[Sources]</a:t>
            </a:r>
          </a:p>
          <a:p xmlns:a="http://schemas.openxmlformats.org/drawingml/2006/main">
            <a:r>
              <a:t>- Year 8 Catapult student theory draft v1.0, module-08, 24 Aug 2026.</a:t>
            </a:r>
          </a:p>
          <a:p xmlns:a="http://schemas.openxmlformats.org/drawingml/2006/main">
            <a:r>
              <a:t>- Teacher unit testing intention; source-map testing boundary; theory draft module-08.</a:t>
            </a:r>
          </a:p>
          <a:p xmlns:a="http://schemas.openxmlformats.org/drawingml/2006/main">
            <a:r>
              <a:t>- Editable native diagram authored for this deck from the approved course theory.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Repeated trials show whether a result is dependable. The mean is the total divided by the number of results and represents the centre of the data. The range is the largest minus the smallest and shows spread. Strong average performance can still sit beside poor consistency.</a:t>
            </a:r>
          </a:p>
          <a:p xmlns:a="http://schemas.openxmlformats.org/drawingml/2006/main">
            <a:r>
              <a:t>- Use the visual to emphasise: Read both centre and spread before judging quality.</a:t>
            </a:r>
          </a:p>
          <a:p xmlns:a="http://schemas.openxmlformats.org/drawingml/2006/main">
            <a:r>
              <a:t/>
            </a:r>
          </a:p>
          <a:p xmlns:a="http://schemas.openxmlformats.org/drawingml/2006/main">
            <a:r>
              <a:t>Prompt</a:t>
            </a:r>
          </a:p>
          <a:p xmlns:a="http://schemas.openxmlformats.org/drawingml/2006/main">
            <a:r>
              <a:t>- Interpret: what would a high mean and a large range suggest about performance and consistency?</a:t>
            </a:r>
          </a:p>
          <a:p xmlns:a="http://schemas.openxmlformats.org/drawingml/2006/main">
            <a:r>
              <a:t/>
            </a:r>
          </a:p>
          <a:p xmlns:a="http://schemas.openxmlformats.org/drawingml/2006/main">
            <a:r>
              <a:t>Likely misconception</a:t>
            </a:r>
          </a:p>
          <a:p xmlns:a="http://schemas.openxmlformats.org/drawingml/2006/main">
            <a:r>
              <a:t>- Why are repeated results stronger than a single best result?</a:t>
            </a:r>
          </a:p>
          <a:p xmlns:a="http://schemas.openxmlformats.org/drawingml/2006/main">
            <a:r>
              <a:t/>
            </a:r>
          </a:p>
          <a:p xmlns:a="http://schemas.openxmlformats.org/drawingml/2006/main">
            <a:r>
              <a:t>Transition</a:t>
            </a:r>
          </a:p>
          <a:p xmlns:a="http://schemas.openxmlformats.org/drawingml/2006/main">
            <a:r>
              <a:t>- Link this idea to the next relationship in the module.</a:t>
            </a:r>
          </a:p>
          <a:p xmlns:a="http://schemas.openxmlformats.org/drawingml/2006/main">
            <a:r>
              <a:t/>
            </a:r>
          </a:p>
          <a:p xmlns:a="http://schemas.openxmlformats.org/drawingml/2006/main">
            <a:r>
              <a:t>[Sources]</a:t>
            </a:r>
          </a:p>
          <a:p xmlns:a="http://schemas.openxmlformats.org/drawingml/2006/main">
            <a:r>
              <a:t>- Year 8 Catapult student theory draft v1.0, module-08, 24 Aug 2026.</a:t>
            </a:r>
          </a:p>
          <a:p xmlns:a="http://schemas.openxmlformats.org/drawingml/2006/main">
            <a:r>
              <a:t>- Teacher unit testing intention; source-map testing boundary; theory draft module-08.</a:t>
            </a:r>
          </a:p>
          <a:p xmlns:a="http://schemas.openxmlformats.org/drawingml/2006/main">
            <a:r>
              <a:t>- Editable native diagram authored for this deck from the approved course theory.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A claim answers the test question. Evidence names the relevant pattern, values or observations. Reasoning connects the evidence to engineering ideas. A controlled redesign changes one feature, predicts an effect and retests under the same teacher-set conditions.</a:t>
            </a:r>
          </a:p>
          <a:p xmlns:a="http://schemas.openxmlformats.org/drawingml/2006/main">
            <a:r>
              <a:t>- Use the visual to emphasise: Data become useful only when reasoning connects them to a decision.</a:t>
            </a:r>
          </a:p>
          <a:p xmlns:a="http://schemas.openxmlformats.org/drawingml/2006/main">
            <a:r>
              <a:t/>
            </a:r>
          </a:p>
          <a:p xmlns:a="http://schemas.openxmlformats.org/drawingml/2006/main">
            <a:r>
              <a:t>Prompt</a:t>
            </a:r>
          </a:p>
          <a:p xmlns:a="http://schemas.openxmlformats.org/drawingml/2006/main">
            <a:r>
              <a:t>- Decision: state the claim, select the strongest evidence and explain why it supports one modification.</a:t>
            </a:r>
          </a:p>
          <a:p xmlns:a="http://schemas.openxmlformats.org/drawingml/2006/main">
            <a:r>
              <a:t/>
            </a:r>
          </a:p>
          <a:p xmlns:a="http://schemas.openxmlformats.org/drawingml/2006/main">
            <a:r>
              <a:t>Likely misconception</a:t>
            </a:r>
          </a:p>
          <a:p xmlns:a="http://schemas.openxmlformats.org/drawingml/2006/main">
            <a:r>
              <a:t>- What does range reveal that mean does not?</a:t>
            </a:r>
          </a:p>
          <a:p xmlns:a="http://schemas.openxmlformats.org/drawingml/2006/main">
            <a:r>
              <a:t/>
            </a:r>
          </a:p>
          <a:p xmlns:a="http://schemas.openxmlformats.org/drawingml/2006/main">
            <a:r>
              <a:t>Transition</a:t>
            </a:r>
          </a:p>
          <a:p xmlns:a="http://schemas.openxmlformats.org/drawingml/2006/main">
            <a:r>
              <a:t>- Prepare students to retrieve and apply all three ideas.</a:t>
            </a:r>
          </a:p>
          <a:p xmlns:a="http://schemas.openxmlformats.org/drawingml/2006/main">
            <a:r>
              <a:t/>
            </a:r>
          </a:p>
          <a:p xmlns:a="http://schemas.openxmlformats.org/drawingml/2006/main">
            <a:r>
              <a:t>[Sources]</a:t>
            </a:r>
          </a:p>
          <a:p xmlns:a="http://schemas.openxmlformats.org/drawingml/2006/main">
            <a:r>
              <a:t>- Year 8 Catapult student theory draft v1.0, module-08, 24 Aug 2026.</a:t>
            </a:r>
          </a:p>
          <a:p xmlns:a="http://schemas.openxmlformats.org/drawingml/2006/main">
            <a:r>
              <a:t>- Teacher unit testing intention; source-map testing boundary; theory draft module-08.</a:t>
            </a:r>
          </a:p>
          <a:p xmlns:a="http://schemas.openxmlformats.org/drawingml/2006/main">
            <a:r>
              <a:t>- Editable native diagram authored for this deck from the approved course theory.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Give individual thinking time before partner discussion.</a:t>
            </a:r>
          </a:p>
          <a:p xmlns:a="http://schemas.openxmlformats.org/drawingml/2006/main">
            <a:r>
              <a:t>- Ask for evidence or a because-clause, not just the answer.</a:t>
            </a:r>
          </a:p>
          <a:p xmlns:a="http://schemas.openxmlformats.org/drawingml/2006/main">
            <a:r>
              <a:t/>
            </a:r>
          </a:p>
          <a:p xmlns:a="http://schemas.openxmlformats.org/drawingml/2006/main">
            <a:r>
              <a:t>Prompt</a:t>
            </a:r>
          </a:p>
          <a:p xmlns:a="http://schemas.openxmlformats.org/drawingml/2006/main">
            <a:r>
              <a:t>- Which answer changed after discussion, and what evidence changed it?</a:t>
            </a:r>
          </a:p>
          <a:p xmlns:a="http://schemas.openxmlformats.org/drawingml/2006/main">
            <a:r>
              <a:t/>
            </a:r>
          </a:p>
          <a:p xmlns:a="http://schemas.openxmlformats.org/drawingml/2006/main">
            <a:r>
              <a:t>Likely misconception</a:t>
            </a:r>
          </a:p>
          <a:p xmlns:a="http://schemas.openxmlformats.org/drawingml/2006/main">
            <a:r>
              <a:t>- Retrieval is a memory race rather than a chance to repair understanding.</a:t>
            </a:r>
          </a:p>
          <a:p xmlns:a="http://schemas.openxmlformats.org/drawingml/2006/main">
            <a:r>
              <a:t/>
            </a:r>
          </a:p>
          <a:p xmlns:a="http://schemas.openxmlformats.org/drawingml/2006/main">
            <a:r>
              <a:t>Transition</a:t>
            </a:r>
          </a:p>
          <a:p xmlns:a="http://schemas.openxmlformats.org/drawingml/2006/main">
            <a:r>
              <a:t>- Use the strongest unresolved question to launch the evidence scaffold.</a:t>
            </a:r>
          </a:p>
          <a:p xmlns:a="http://schemas.openxmlformats.org/drawingml/2006/main">
            <a:r>
              <a:t/>
            </a:r>
          </a:p>
          <a:p xmlns:a="http://schemas.openxmlformats.org/drawingml/2006/main">
            <a:r>
              <a:t>[Sources]</a:t>
            </a:r>
          </a:p>
          <a:p xmlns:a="http://schemas.openxmlformats.org/drawingml/2006/main">
            <a:r>
              <a:t>- Year 8 Catapult student theory draft v1.0, module-08, 24 Aug 2026.</a:t>
            </a:r>
          </a:p>
          <a:p xmlns:a="http://schemas.openxmlformats.org/drawingml/2006/main">
            <a:r>
              <a:t>- Teacher unit testing intention; source-map testing boundary; theory draft module-08.</a:t>
            </a:r>
          </a:p>
          <a:p xmlns:a="http://schemas.openxmlformats.org/drawingml/2006/main">
            <a:r>
              <a:t>- Questions derived from the approved module theory; no external asset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Model how to select evidence before writing the explanation.</a:t>
            </a:r>
          </a:p>
          <a:p xmlns:a="http://schemas.openxmlformats.org/drawingml/2006/main">
            <a:r>
              <a:t>- Read the sentence support aloud, then let students change its wording to suit their evidence.</a:t>
            </a:r>
          </a:p>
          <a:p xmlns:a="http://schemas.openxmlformats.org/drawingml/2006/main">
            <a:r>
              <a:t/>
            </a:r>
          </a:p>
          <a:p xmlns:a="http://schemas.openxmlformats.org/drawingml/2006/main">
            <a:r>
              <a:t>Prompt</a:t>
            </a:r>
          </a:p>
          <a:p xmlns:a="http://schemas.openxmlformats.org/drawingml/2006/main">
            <a:r>
              <a:t>- Design A has a stronger mean; Design B has a smaller range and better stability. Recommend one for a teacher-confirmed purpose, explain the trade-off and name further evidence.</a:t>
            </a:r>
          </a:p>
          <a:p xmlns:a="http://schemas.openxmlformats.org/drawingml/2006/main">
            <a:r>
              <a:t/>
            </a:r>
          </a:p>
          <a:p xmlns:a="http://schemas.openxmlformats.org/drawingml/2006/main">
            <a:r>
              <a:t>Likely misconception</a:t>
            </a:r>
          </a:p>
          <a:p xmlns:a="http://schemas.openxmlformats.org/drawingml/2006/main">
            <a:r>
              <a:t>- Longer writing is automatically stronger evidence.</a:t>
            </a:r>
          </a:p>
          <a:p xmlns:a="http://schemas.openxmlformats.org/drawingml/2006/main">
            <a:r>
              <a:t/>
            </a:r>
          </a:p>
          <a:p xmlns:a="http://schemas.openxmlformats.org/drawingml/2006/main">
            <a:r>
              <a:t>Transition</a:t>
            </a:r>
          </a:p>
          <a:p xmlns:a="http://schemas.openxmlformats.org/drawingml/2006/main">
            <a:r>
              <a:t>- Move from the scaffold to a concise exit ticket and evidence-save action.</a:t>
            </a:r>
          </a:p>
          <a:p xmlns:a="http://schemas.openxmlformats.org/drawingml/2006/main">
            <a:r>
              <a:t/>
            </a:r>
          </a:p>
          <a:p xmlns:a="http://schemas.openxmlformats.org/drawingml/2006/main">
            <a:r>
              <a:t>[Sources]</a:t>
            </a:r>
          </a:p>
          <a:p xmlns:a="http://schemas.openxmlformats.org/drawingml/2006/main">
            <a:r>
              <a:t>- Year 8 Catapult student theory draft v1.0, module-08, 24 Aug 2026.</a:t>
            </a:r>
          </a:p>
          <a:p xmlns:a="http://schemas.openxmlformats.org/drawingml/2006/main">
            <a:r>
              <a:t>- Teacher unit testing intention; source-map testing boundary; theory draft module-08.</a:t>
            </a:r>
          </a:p>
          <a:p xmlns:a="http://schemas.openxmlformats.org/drawingml/2006/main">
            <a:r>
              <a:t>- Read–Select–Explain–Check scaffold follows the TAS course presentation standard.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Collect a short answer to each exit prompt.</a:t>
            </a:r>
          </a:p>
          <a:p xmlns:a="http://schemas.openxmlformats.org/drawingml/2006/main">
            <a:r>
              <a:t>- Make the evidence destination explicit without turning the slide into assessment administration.</a:t>
            </a:r>
          </a:p>
          <a:p xmlns:a="http://schemas.openxmlformats.org/drawingml/2006/main">
            <a:r>
              <a:t/>
            </a:r>
          </a:p>
          <a:p xmlns:a="http://schemas.openxmlformats.org/drawingml/2006/main">
            <a:r>
              <a:t>Prompt</a:t>
            </a:r>
          </a:p>
          <a:p xmlns:a="http://schemas.openxmlformats.org/drawingml/2006/main">
            <a:r>
              <a:t>- Which exit response best shows a changed decision or deeper explanation?</a:t>
            </a:r>
          </a:p>
          <a:p xmlns:a="http://schemas.openxmlformats.org/drawingml/2006/main">
            <a:r>
              <a:t/>
            </a:r>
          </a:p>
          <a:p xmlns:a="http://schemas.openxmlformats.org/drawingml/2006/main">
            <a:r>
              <a:t>Likely misconception</a:t>
            </a:r>
          </a:p>
          <a:p xmlns:a="http://schemas.openxmlformats.org/drawingml/2006/main">
            <a:r>
              <a:t>- The exit ticket is a generic summary with no next evidence action.</a:t>
            </a:r>
          </a:p>
          <a:p xmlns:a="http://schemas.openxmlformats.org/drawingml/2006/main">
            <a:r>
              <a:t/>
            </a:r>
          </a:p>
          <a:p xmlns:a="http://schemas.openxmlformats.org/drawingml/2006/main">
            <a:r>
              <a:t>Transition</a:t>
            </a:r>
          </a:p>
          <a:p xmlns:a="http://schemas.openxmlformats.org/drawingml/2006/main">
            <a:r>
              <a:t>- Next: turn the design journey, testing and sustainability evidence into a concise report.</a:t>
            </a:r>
          </a:p>
          <a:p xmlns:a="http://schemas.openxmlformats.org/drawingml/2006/main">
            <a:r>
              <a:t/>
            </a:r>
          </a:p>
          <a:p xmlns:a="http://schemas.openxmlformats.org/drawingml/2006/main">
            <a:r>
              <a:t>[Sources]</a:t>
            </a:r>
          </a:p>
          <a:p xmlns:a="http://schemas.openxmlformats.org/drawingml/2006/main">
            <a:r>
              <a:t>- Year 8 Catapult student theory draft v1.0, module-08, 24 Aug 2026.</a:t>
            </a:r>
          </a:p>
          <a:p xmlns:a="http://schemas.openxmlformats.org/drawingml/2006/main">
            <a:r>
              <a:t>- Teacher unit testing intention; source-map testing boundary; theory draft module-08.</a:t>
            </a:r>
          </a:p>
          <a:p xmlns:a="http://schemas.openxmlformats.org/drawingml/2006/main">
            <a:r>
              <a:t>- Exit-evidence structure follows the TAS course presentation standard.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96532328ff746d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0d919457e6c45ec" /><Relationship Type="http://schemas.openxmlformats.org/officeDocument/2006/relationships/slideLayout" Target="/ppt/slideLayouts/slideLayout1.xml" Id="Rd089a866e58546d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089a866e58546d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b2bbdc704434a69" /><Relationship Type="http://schemas.openxmlformats.org/officeDocument/2006/relationships/image" Target="/ppt/media/image.png" Id="R1fb1a2c8282c4154" /><Relationship Type="http://schemas.openxmlformats.org/officeDocument/2006/relationships/notesSlide" Target="/ppt/notesSlides/notesSlide1.xml" Id="Rd5e45386380544f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de2952b031b41ef" /><Relationship Type="http://schemas.openxmlformats.org/officeDocument/2006/relationships/notesSlide" Target="/ppt/notesSlides/notesSlide2.xml" Id="Rba6fc86b21d8437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e3c35f0f9c14b0f" /><Relationship Type="http://schemas.openxmlformats.org/officeDocument/2006/relationships/notesSlide" Target="/ppt/notesSlides/notesSlide3.xml" Id="Ra6779e5447724ae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1f71379247d4e66" /><Relationship Type="http://schemas.openxmlformats.org/officeDocument/2006/relationships/notesSlide" Target="/ppt/notesSlides/notesSlide4.xml" Id="R08d23a53dade446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e0e5d610f364000" /><Relationship Type="http://schemas.openxmlformats.org/officeDocument/2006/relationships/notesSlide" Target="/ppt/notesSlides/notesSlide5.xml" Id="R33f4058b9a164b3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ace30a80493497f" /><Relationship Type="http://schemas.openxmlformats.org/officeDocument/2006/relationships/notesSlide" Target="/ppt/notesSlides/notesSlide6.xml" Id="R9c66aaf8f4db4a7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61c0178799c4d94" /><Relationship Type="http://schemas.openxmlformats.org/officeDocument/2006/relationships/notesSlide" Target="/ppt/notesSlides/notesSlide7.xml" Id="R60940b591b6648b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c8bcfd1cb7942df" /><Relationship Type="http://schemas.openxmlformats.org/officeDocument/2006/relationships/notesSlide" Target="/ppt/notesSlides/notesSlide8.xml" Id="Ref22e77c6be64fd9" /></Relationships>
</file>

<file path=ppt/slides/slide1.xml><?xml version="1.0" encoding="utf-8"?>
<p:sld xmlns:p="http://schemas.openxmlformats.org/presentationml/2006/main">
  <p:cSld>
    <p:bg>
      <p:bgPr>
        <a:solidFill xmlns:a="http://schemas.openxmlformats.org/drawingml/2006/main">
          <a:srgbClr val="0B3541"/>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1fb1a2c8282c4154"/>
          <a:srcRect xmlns:a="http://schemas.openxmlformats.org/drawingml/2006/main" l="25926" t="0" r="25926"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9EE25B2-1570-44CE-AA77-E16F2132BD7B}"/>
              </a:ext>
            </a:extLst>
          </p:cNvPr>
          <p:cNvSpPr>
            <a:spLocks xmlns:a="http://schemas.openxmlformats.org/drawingml/2006/main" noGrp="1"/>
          </p:cNvSpPr>
          <p:nvPr/>
        </p:nvSpPr>
        <p:spPr>
          <a:xfrm xmlns:a="http://schemas.openxmlformats.org/drawingml/2006/main">
            <a:off x="7029450" y="0"/>
            <a:ext cx="285750" cy="6858000"/>
          </a:xfrm>
          <a:prstGeom xmlns:a="http://schemas.openxmlformats.org/drawingml/2006/main" prst="rect">
            <a:avLst/>
          </a:prstGeom>
          <a:solidFill xmlns:a="http://schemas.openxmlformats.org/drawingml/2006/main">
            <a:srgbClr val="F0B84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D6FD775-A767-4DA3-B916-834764DCC4DB}"/>
              </a:ext>
            </a:extLst>
          </p:cNvPr>
          <p:cNvSpPr>
            <a:spLocks xmlns:a="http://schemas.openxmlformats.org/drawingml/2006/main" noGrp="1"/>
          </p:cNvSpPr>
          <p:nvPr/>
        </p:nvSpPr>
        <p:spPr>
          <a:xfrm xmlns:a="http://schemas.openxmlformats.org/drawingml/2006/main">
            <a:off x="685800" y="7239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0B84B"/>
                </a:solidFill>
              </a:defRPr>
            </a:pPr>
            <a:r>
              <a:rPr sz="1350" b="1">
                <a:solidFill>
                  <a:srgbClr val="F0B84B"/>
                </a:solidFill>
              </a:rPr>
              <a:t>MODULE 08</a:t>
            </a:r>
          </a:p>
        </p:txBody>
      </p:sp>
      <p:sp>
        <p:nvSpPr>
          <p:cNvPr id="4" name="">
            <a:extLst xmlns:a="http://schemas.openxmlformats.org/drawingml/2006/main">
              <a:ext uri="{FF2B5EF4-FFF2-40B4-BE49-F238E27FC236}">
                <a16:creationId xmlns:a16="http://schemas.microsoft.com/office/drawing/2014/main" id="{1065BB5D-F355-44A1-9C81-571FF687EBAE}"/>
              </a:ext>
            </a:extLst>
          </p:cNvPr>
          <p:cNvSpPr>
            <a:spLocks xmlns:a="http://schemas.openxmlformats.org/drawingml/2006/main" noGrp="1"/>
          </p:cNvSpPr>
          <p:nvPr/>
        </p:nvSpPr>
        <p:spPr>
          <a:xfrm xmlns:a="http://schemas.openxmlformats.org/drawingml/2006/main">
            <a:off x="685800" y="1428750"/>
            <a:ext cx="5810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350" b="1">
                <a:solidFill>
                  <a:srgbClr val="FFFFFF"/>
                </a:solidFill>
              </a:defRPr>
            </a:pPr>
            <a:r>
              <a:rPr sz="4350" b="1">
                <a:solidFill>
                  <a:srgbClr val="FFFFFF"/>
                </a:solidFill>
              </a:rPr>
              <a:t>Testing, Data and Redesign</a:t>
            </a:r>
          </a:p>
        </p:txBody>
      </p:sp>
      <p:sp>
        <p:nvSpPr>
          <p:cNvPr id="5" name="">
            <a:extLst xmlns:a="http://schemas.openxmlformats.org/drawingml/2006/main">
              <a:ext uri="{FF2B5EF4-FFF2-40B4-BE49-F238E27FC236}">
                <a16:creationId xmlns:a16="http://schemas.microsoft.com/office/drawing/2014/main" id="{91A992BA-614C-4BBD-BCEE-A53DAA4CD822}"/>
              </a:ext>
            </a:extLst>
          </p:cNvPr>
          <p:cNvSpPr>
            <a:spLocks xmlns:a="http://schemas.openxmlformats.org/drawingml/2006/main" noGrp="1"/>
          </p:cNvSpPr>
          <p:nvPr/>
        </p:nvSpPr>
        <p:spPr>
          <a:xfrm xmlns:a="http://schemas.openxmlformats.org/drawingml/2006/main">
            <a:off x="685800" y="3943350"/>
            <a:ext cx="5762625"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D7E5E8"/>
                </a:solidFill>
              </a:defRPr>
            </a:pPr>
            <a:r>
              <a:rPr sz="1875" b="0">
                <a:solidFill>
                  <a:srgbClr val="D7E5E8"/>
                </a:solidFill>
              </a:rPr>
              <a:t>Use repeated evidence, mean and range to justify one controlled redesign decision.</a:t>
            </a:r>
          </a:p>
        </p:txBody>
      </p:sp>
      <p:sp>
        <p:nvSpPr>
          <p:cNvPr id="6" name="">
            <a:extLst xmlns:a="http://schemas.openxmlformats.org/drawingml/2006/main">
              <a:ext uri="{FF2B5EF4-FFF2-40B4-BE49-F238E27FC236}">
                <a16:creationId xmlns:a16="http://schemas.microsoft.com/office/drawing/2014/main" id="{50644C5D-A5E6-41F8-9065-2D1DD7437844}"/>
              </a:ext>
            </a:extLst>
          </p:cNvPr>
          <p:cNvSpPr>
            <a:spLocks xmlns:a="http://schemas.openxmlformats.org/drawingml/2006/main" noGrp="1"/>
          </p:cNvSpPr>
          <p:nvPr/>
        </p:nvSpPr>
        <p:spPr>
          <a:xfrm xmlns:a="http://schemas.openxmlformats.org/drawingml/2006/main">
            <a:off x="685800" y="59245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7E5E8"/>
                </a:solidFill>
              </a:defRPr>
            </a:pPr>
            <a:r>
              <a:rPr sz="1125" b="1">
                <a:solidFill>
                  <a:srgbClr val="D7E5E8"/>
                </a:solidFill>
              </a:rPr>
              <a:t>YEAR 8  •  ENGINEERING TECHNOLOGIES AND SYSTEMS</a:t>
            </a:r>
          </a:p>
        </p:txBody>
      </p:sp>
    </p:spTree>
    <p:extLst>
      <p:ext uri="{BB962C8B-B14F-4D97-AF65-F5344CB8AC3E}">
        <p14:creationId xmlns:p14="http://schemas.microsoft.com/office/powerpoint/2010/main" val="1075833672"/>
      </p:ext>
    </p:extLst>
  </p:cSld>
</p:sld>
</file>

<file path=ppt/slides/slide2.xml><?xml version="1.0" encoding="utf-8"?>
<p:sld xmlns:p="http://schemas.openxmlformats.org/presentationml/2006/main">
  <p:cSld>
    <p:bg>
      <p:bgPr>
        <a:solidFill xmlns:a="http://schemas.openxmlformats.org/drawingml/2006/main">
          <a:srgbClr val="F3F6F7"/>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692464AF-05F2-4484-88FA-7E9BAA5AB923}"/>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0B84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1E00DCF-DEA8-49B8-ABF7-E8AA7A6931FF}"/>
              </a:ext>
            </a:extLst>
          </p:cNvPr>
          <p:cNvSpPr>
            <a:spLocks xmlns:a="http://schemas.openxmlformats.org/drawingml/2006/main" noGrp="1"/>
          </p:cNvSpPr>
          <p:nvPr/>
        </p:nvSpPr>
        <p:spPr>
          <a:xfrm xmlns:a="http://schemas.openxmlformats.org/drawingml/2006/main">
            <a:off x="685800" y="3048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A94424"/>
                </a:solidFill>
              </a:defRPr>
            </a:pPr>
            <a:r>
              <a:rPr sz="1050" b="1">
                <a:solidFill>
                  <a:srgbClr val="A94424"/>
                </a:solidFill>
              </a:rPr>
              <a:t>MODULE 08  /  TESTING AND REDESIGN</a:t>
            </a:r>
          </a:p>
        </p:txBody>
      </p:sp>
      <p:sp>
        <p:nvSpPr>
          <p:cNvPr id="3" name="">
            <a:extLst xmlns:a="http://schemas.openxmlformats.org/drawingml/2006/main">
              <a:ext uri="{FF2B5EF4-FFF2-40B4-BE49-F238E27FC236}">
                <a16:creationId xmlns:a16="http://schemas.microsoft.com/office/drawing/2014/main" id="{CDB98D2B-1D2D-4436-978A-D4DA57DE7345}"/>
              </a:ext>
            </a:extLst>
          </p:cNvPr>
          <p:cNvSpPr>
            <a:spLocks xmlns:a="http://schemas.openxmlformats.org/drawingml/2006/main" noGrp="1"/>
          </p:cNvSpPr>
          <p:nvPr/>
        </p:nvSpPr>
        <p:spPr>
          <a:xfrm xmlns:a="http://schemas.openxmlformats.org/drawingml/2006/main">
            <a:off x="685800" y="619125"/>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7232B"/>
                </a:solidFill>
              </a:defRPr>
            </a:pPr>
            <a:r>
              <a:rPr sz="2850" b="1">
                <a:solidFill>
                  <a:srgbClr val="17232B"/>
                </a:solidFill>
              </a:rPr>
              <a:t>The learning question</a:t>
            </a:r>
          </a:p>
        </p:txBody>
      </p:sp>
      <p:sp>
        <p:nvSpPr>
          <p:cNvPr id="4" name="">
            <a:extLst xmlns:a="http://schemas.openxmlformats.org/drawingml/2006/main">
              <a:ext uri="{FF2B5EF4-FFF2-40B4-BE49-F238E27FC236}">
                <a16:creationId xmlns:a16="http://schemas.microsoft.com/office/drawing/2014/main" id="{3ADD0350-BD63-4401-815A-BB154DCA4E69}"/>
              </a:ext>
            </a:extLst>
          </p:cNvPr>
          <p:cNvSpPr>
            <a:spLocks xmlns:a="http://schemas.openxmlformats.org/drawingml/2006/main" noGrp="1"/>
          </p:cNvSpPr>
          <p:nvPr/>
        </p:nvSpPr>
        <p:spPr>
          <a:xfrm xmlns:a="http://schemas.openxmlformats.org/drawingml/2006/main">
            <a:off x="685800" y="6400800"/>
            <a:ext cx="10820400" cy="0"/>
          </a:xfrm>
          <a:prstGeom xmlns:a="http://schemas.openxmlformats.org/drawingml/2006/main" prst="line">
            <a:avLst/>
          </a:prstGeom>
          <a:noFill xmlns:a="http://schemas.openxmlformats.org/drawingml/2006/main"/>
          <a:ln xmlns:a="http://schemas.openxmlformats.org/drawingml/2006/main" w="9525">
            <a:solidFill>
              <a:srgbClr val="CAD4D8"/>
            </a:solidFill>
            <a:prstDash val="solid"/>
          </a:ln>
        </p:spPr>
      </p:sp>
      <p:sp>
        <p:nvSpPr>
          <p:cNvPr id="5" name="">
            <a:extLst xmlns:a="http://schemas.openxmlformats.org/drawingml/2006/main">
              <a:ext uri="{FF2B5EF4-FFF2-40B4-BE49-F238E27FC236}">
                <a16:creationId xmlns:a16="http://schemas.microsoft.com/office/drawing/2014/main" id="{1E6898EA-51CB-41C7-9927-D15F7F533E5D}"/>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3636D"/>
                </a:solidFill>
              </a:defRPr>
            </a:pPr>
            <a:r>
              <a:rPr sz="975" b="1">
                <a:solidFill>
                  <a:srgbClr val="53636D"/>
                </a:solidFill>
              </a:rPr>
              <a:t>YEAR 8 CATAPULT  •  MODULE 08</a:t>
            </a:r>
          </a:p>
        </p:txBody>
      </p:sp>
      <p:sp>
        <p:nvSpPr>
          <p:cNvPr id="6" name="">
            <a:extLst xmlns:a="http://schemas.openxmlformats.org/drawingml/2006/main">
              <a:ext uri="{FF2B5EF4-FFF2-40B4-BE49-F238E27FC236}">
                <a16:creationId xmlns:a16="http://schemas.microsoft.com/office/drawing/2014/main" id="{2F0016F1-2559-471F-8FFA-B0FF124A6E40}"/>
              </a:ext>
            </a:extLst>
          </p:cNvPr>
          <p:cNvSpPr>
            <a:spLocks xmlns:a="http://schemas.openxmlformats.org/drawingml/2006/main" noGrp="1"/>
          </p:cNvSpPr>
          <p:nvPr/>
        </p:nvSpPr>
        <p:spPr>
          <a:xfrm xmlns:a="http://schemas.openxmlformats.org/drawingml/2006/main">
            <a:off x="110490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A94424"/>
                </a:solidFill>
              </a:defRPr>
            </a:pPr>
            <a:r>
              <a:rPr sz="975" b="1">
                <a:solidFill>
                  <a:srgbClr val="A94424"/>
                </a:solidFill>
              </a:rPr>
              <a:t>02</a:t>
            </a:r>
          </a:p>
        </p:txBody>
      </p:sp>
      <p:sp>
        <p:nvSpPr>
          <p:cNvPr id="7" name="">
            <a:extLst xmlns:a="http://schemas.openxmlformats.org/drawingml/2006/main">
              <a:ext uri="{FF2B5EF4-FFF2-40B4-BE49-F238E27FC236}">
                <a16:creationId xmlns:a16="http://schemas.microsoft.com/office/drawing/2014/main" id="{9706ED05-D8F8-42F5-B9F7-E26B4150FBF1}"/>
              </a:ext>
            </a:extLst>
          </p:cNvPr>
          <p:cNvSpPr>
            <a:spLocks xmlns:a="http://schemas.openxmlformats.org/drawingml/2006/main" noGrp="1"/>
          </p:cNvSpPr>
          <p:nvPr/>
        </p:nvSpPr>
        <p:spPr>
          <a:xfrm xmlns:a="http://schemas.openxmlformats.org/drawingml/2006/main">
            <a:off x="685800" y="1333500"/>
            <a:ext cx="1047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84F5E"/>
                </a:solidFill>
              </a:defRPr>
            </a:pPr>
            <a:r>
              <a:rPr sz="2250" b="1">
                <a:solidFill>
                  <a:srgbClr val="184F5E"/>
                </a:solidFill>
              </a:rPr>
              <a:t>How do repeated results turn an observation into a defensible design decision?</a:t>
            </a:r>
          </a:p>
        </p:txBody>
      </p:sp>
      <p:sp>
        <p:nvSpPr>
          <p:cNvPr id="8" name="">
            <a:extLst xmlns:a="http://schemas.openxmlformats.org/drawingml/2006/main">
              <a:ext uri="{FF2B5EF4-FFF2-40B4-BE49-F238E27FC236}">
                <a16:creationId xmlns:a16="http://schemas.microsoft.com/office/drawing/2014/main" id="{09FE0EED-C038-4351-93A9-98683BC4B779}"/>
              </a:ext>
            </a:extLst>
          </p:cNvPr>
          <p:cNvSpPr>
            <a:spLocks xmlns:a="http://schemas.openxmlformats.org/drawingml/2006/main" noGrp="1"/>
          </p:cNvSpPr>
          <p:nvPr/>
        </p:nvSpPr>
        <p:spPr>
          <a:xfrm xmlns:a="http://schemas.openxmlformats.org/drawingml/2006/main">
            <a:off x="3543300" y="3181350"/>
            <a:ext cx="666750"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E4BA923-D474-4BCF-9B0D-B6DBC13BF7F3}"/>
              </a:ext>
            </a:extLst>
          </p:cNvPr>
          <p:cNvSpPr>
            <a:spLocks xmlns:a="http://schemas.openxmlformats.org/drawingml/2006/main" noGrp="1"/>
          </p:cNvSpPr>
          <p:nvPr/>
        </p:nvSpPr>
        <p:spPr>
          <a:xfrm xmlns:a="http://schemas.openxmlformats.org/drawingml/2006/main">
            <a:off x="6972300" y="3181350"/>
            <a:ext cx="666750"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2B3B7CA-9351-40D8-BEEC-979B7E5B3903}"/>
              </a:ext>
            </a:extLst>
          </p:cNvPr>
          <p:cNvSpPr>
            <a:spLocks xmlns:a="http://schemas.openxmlformats.org/drawingml/2006/main" noGrp="1"/>
          </p:cNvSpPr>
          <p:nvPr/>
        </p:nvSpPr>
        <p:spPr>
          <a:xfrm xmlns:a="http://schemas.openxmlformats.org/drawingml/2006/main">
            <a:off x="819150" y="2743200"/>
            <a:ext cx="819150" cy="819150"/>
          </a:xfrm>
          <a:prstGeom xmlns:a="http://schemas.openxmlformats.org/drawingml/2006/main" prst="ellipse">
            <a:avLst/>
          </a:prstGeom>
          <a:solidFill xmlns:a="http://schemas.openxmlformats.org/drawingml/2006/main">
            <a:srgbClr val="184F5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5C6EE60-CE14-4A07-9B32-8FCC6266A191}"/>
              </a:ext>
            </a:extLst>
          </p:cNvPr>
          <p:cNvSpPr>
            <a:spLocks xmlns:a="http://schemas.openxmlformats.org/drawingml/2006/main" noGrp="1"/>
          </p:cNvSpPr>
          <p:nvPr/>
        </p:nvSpPr>
        <p:spPr>
          <a:xfrm xmlns:a="http://schemas.openxmlformats.org/drawingml/2006/main">
            <a:off x="819150" y="2914650"/>
            <a:ext cx="819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FFFFFF"/>
                </a:solidFill>
              </a:defRPr>
            </a:pPr>
            <a:r>
              <a:rPr sz="2400" b="1">
                <a:solidFill>
                  <a:srgbClr val="FFFFFF"/>
                </a:solidFill>
              </a:rPr>
              <a:t>1</a:t>
            </a:r>
          </a:p>
        </p:txBody>
      </p:sp>
      <p:sp>
        <p:nvSpPr>
          <p:cNvPr id="12" name="">
            <a:extLst xmlns:a="http://schemas.openxmlformats.org/drawingml/2006/main">
              <a:ext uri="{FF2B5EF4-FFF2-40B4-BE49-F238E27FC236}">
                <a16:creationId xmlns:a16="http://schemas.microsoft.com/office/drawing/2014/main" id="{91C8D36C-46D5-40D9-9B48-243669DA0336}"/>
              </a:ext>
            </a:extLst>
          </p:cNvPr>
          <p:cNvSpPr>
            <a:spLocks xmlns:a="http://schemas.openxmlformats.org/drawingml/2006/main" noGrp="1"/>
          </p:cNvSpPr>
          <p:nvPr/>
        </p:nvSpPr>
        <p:spPr>
          <a:xfrm xmlns:a="http://schemas.openxmlformats.org/drawingml/2006/main">
            <a:off x="1790700" y="2781300"/>
            <a:ext cx="23336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7232B"/>
                </a:solidFill>
              </a:defRPr>
            </a:pPr>
            <a:r>
              <a:rPr sz="1725" b="1">
                <a:solidFill>
                  <a:srgbClr val="17232B"/>
                </a:solidFill>
              </a:rPr>
              <a:t>Ask a testable question</a:t>
            </a:r>
          </a:p>
        </p:txBody>
      </p:sp>
      <p:sp>
        <p:nvSpPr>
          <p:cNvPr id="13" name="">
            <a:extLst xmlns:a="http://schemas.openxmlformats.org/drawingml/2006/main">
              <a:ext uri="{FF2B5EF4-FFF2-40B4-BE49-F238E27FC236}">
                <a16:creationId xmlns:a16="http://schemas.microsoft.com/office/drawing/2014/main" id="{46DDDD68-B782-41ED-A2A7-A1E5DB40D472}"/>
              </a:ext>
            </a:extLst>
          </p:cNvPr>
          <p:cNvSpPr>
            <a:spLocks xmlns:a="http://schemas.openxmlformats.org/drawingml/2006/main" noGrp="1"/>
          </p:cNvSpPr>
          <p:nvPr/>
        </p:nvSpPr>
        <p:spPr>
          <a:xfrm xmlns:a="http://schemas.openxmlformats.org/drawingml/2006/main">
            <a:off x="4248150" y="2743200"/>
            <a:ext cx="819150" cy="819150"/>
          </a:xfrm>
          <a:prstGeom xmlns:a="http://schemas.openxmlformats.org/drawingml/2006/main" prst="ellipse">
            <a:avLst/>
          </a:prstGeom>
          <a:solidFill xmlns:a="http://schemas.openxmlformats.org/drawingml/2006/main">
            <a:srgbClr val="F0B84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7D475F1-D3F1-4ABC-9E25-41DD00A24D49}"/>
              </a:ext>
            </a:extLst>
          </p:cNvPr>
          <p:cNvSpPr>
            <a:spLocks xmlns:a="http://schemas.openxmlformats.org/drawingml/2006/main" noGrp="1"/>
          </p:cNvSpPr>
          <p:nvPr/>
        </p:nvSpPr>
        <p:spPr>
          <a:xfrm xmlns:a="http://schemas.openxmlformats.org/drawingml/2006/main">
            <a:off x="4248150" y="2914650"/>
            <a:ext cx="819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17232B"/>
                </a:solidFill>
              </a:defRPr>
            </a:pPr>
            <a:r>
              <a:rPr sz="2400" b="1">
                <a:solidFill>
                  <a:srgbClr val="17232B"/>
                </a:solidFill>
              </a:rPr>
              <a:t>2</a:t>
            </a:r>
          </a:p>
        </p:txBody>
      </p:sp>
      <p:sp>
        <p:nvSpPr>
          <p:cNvPr id="15" name="">
            <a:extLst xmlns:a="http://schemas.openxmlformats.org/drawingml/2006/main">
              <a:ext uri="{FF2B5EF4-FFF2-40B4-BE49-F238E27FC236}">
                <a16:creationId xmlns:a16="http://schemas.microsoft.com/office/drawing/2014/main" id="{8D94AA3C-C779-4A92-A928-0572121C313C}"/>
              </a:ext>
            </a:extLst>
          </p:cNvPr>
          <p:cNvSpPr>
            <a:spLocks xmlns:a="http://schemas.openxmlformats.org/drawingml/2006/main" noGrp="1"/>
          </p:cNvSpPr>
          <p:nvPr/>
        </p:nvSpPr>
        <p:spPr>
          <a:xfrm xmlns:a="http://schemas.openxmlformats.org/drawingml/2006/main">
            <a:off x="5219700" y="2781300"/>
            <a:ext cx="23336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7232B"/>
                </a:solidFill>
              </a:defRPr>
            </a:pPr>
            <a:r>
              <a:rPr sz="1725" b="1">
                <a:solidFill>
                  <a:srgbClr val="17232B"/>
                </a:solidFill>
              </a:rPr>
              <a:t>Read mean and range</a:t>
            </a:r>
          </a:p>
        </p:txBody>
      </p:sp>
      <p:sp>
        <p:nvSpPr>
          <p:cNvPr id="16" name="">
            <a:extLst xmlns:a="http://schemas.openxmlformats.org/drawingml/2006/main">
              <a:ext uri="{FF2B5EF4-FFF2-40B4-BE49-F238E27FC236}">
                <a16:creationId xmlns:a16="http://schemas.microsoft.com/office/drawing/2014/main" id="{D4EA8B92-6522-4EC5-8A3F-07FC624D71CA}"/>
              </a:ext>
            </a:extLst>
          </p:cNvPr>
          <p:cNvSpPr>
            <a:spLocks xmlns:a="http://schemas.openxmlformats.org/drawingml/2006/main" noGrp="1"/>
          </p:cNvSpPr>
          <p:nvPr/>
        </p:nvSpPr>
        <p:spPr>
          <a:xfrm xmlns:a="http://schemas.openxmlformats.org/drawingml/2006/main">
            <a:off x="7677150" y="2743200"/>
            <a:ext cx="819150" cy="819150"/>
          </a:xfrm>
          <a:prstGeom xmlns:a="http://schemas.openxmlformats.org/drawingml/2006/main" prst="ellipse">
            <a:avLst/>
          </a:prstGeom>
          <a:solidFill xmlns:a="http://schemas.openxmlformats.org/drawingml/2006/main">
            <a:srgbClr val="184F5E"/>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22B5EFF-550D-4B57-96F3-732838578679}"/>
              </a:ext>
            </a:extLst>
          </p:cNvPr>
          <p:cNvSpPr>
            <a:spLocks xmlns:a="http://schemas.openxmlformats.org/drawingml/2006/main" noGrp="1"/>
          </p:cNvSpPr>
          <p:nvPr/>
        </p:nvSpPr>
        <p:spPr>
          <a:xfrm xmlns:a="http://schemas.openxmlformats.org/drawingml/2006/main">
            <a:off x="7677150" y="2914650"/>
            <a:ext cx="819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FFFFFF"/>
                </a:solidFill>
              </a:defRPr>
            </a:pPr>
            <a:r>
              <a:rPr sz="2400" b="1">
                <a:solidFill>
                  <a:srgbClr val="FFFFFF"/>
                </a:solidFill>
              </a:rPr>
              <a:t>3</a:t>
            </a:r>
          </a:p>
        </p:txBody>
      </p:sp>
      <p:sp>
        <p:nvSpPr>
          <p:cNvPr id="18" name="">
            <a:extLst xmlns:a="http://schemas.openxmlformats.org/drawingml/2006/main">
              <a:ext uri="{FF2B5EF4-FFF2-40B4-BE49-F238E27FC236}">
                <a16:creationId xmlns:a16="http://schemas.microsoft.com/office/drawing/2014/main" id="{7AFA399B-2A11-43A0-8C47-73127971342B}"/>
              </a:ext>
            </a:extLst>
          </p:cNvPr>
          <p:cNvSpPr>
            <a:spLocks xmlns:a="http://schemas.openxmlformats.org/drawingml/2006/main" noGrp="1"/>
          </p:cNvSpPr>
          <p:nvPr/>
        </p:nvSpPr>
        <p:spPr>
          <a:xfrm xmlns:a="http://schemas.openxmlformats.org/drawingml/2006/main">
            <a:off x="8648700" y="2781300"/>
            <a:ext cx="23336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7232B"/>
                </a:solidFill>
              </a:defRPr>
            </a:pPr>
            <a:r>
              <a:rPr sz="1725" b="1">
                <a:solidFill>
                  <a:srgbClr val="17232B"/>
                </a:solidFill>
              </a:rPr>
              <a:t>Claim, evidence, reasoning</a:t>
            </a:r>
          </a:p>
        </p:txBody>
      </p:sp>
      <p:sp>
        <p:nvSpPr>
          <p:cNvPr id="19" name="">
            <a:extLst xmlns:a="http://schemas.openxmlformats.org/drawingml/2006/main">
              <a:ext uri="{FF2B5EF4-FFF2-40B4-BE49-F238E27FC236}">
                <a16:creationId xmlns:a16="http://schemas.microsoft.com/office/drawing/2014/main" id="{A4037CAD-AC0F-46AF-AF44-F213856C60D2}"/>
              </a:ext>
            </a:extLst>
          </p:cNvPr>
          <p:cNvSpPr>
            <a:spLocks xmlns:a="http://schemas.openxmlformats.org/drawingml/2006/main" noGrp="1"/>
          </p:cNvSpPr>
          <p:nvPr/>
        </p:nvSpPr>
        <p:spPr>
          <a:xfrm xmlns:a="http://schemas.openxmlformats.org/drawingml/2006/main">
            <a:off x="685800" y="4686300"/>
            <a:ext cx="10820400" cy="1047750"/>
          </a:xfrm>
          <a:prstGeom xmlns:a="http://schemas.openxmlformats.org/drawingml/2006/main" prst="rect">
            <a:avLst/>
          </a:prstGeom>
          <a:solidFill xmlns:a="http://schemas.openxmlformats.org/drawingml/2006/main">
            <a:srgbClr val="FFFFFF"/>
          </a:solidFill>
          <a:ln xmlns:a="http://schemas.openxmlformats.org/drawingml/2006/main" w="9525">
            <a:solidFill>
              <a:srgbClr val="CAD4D8"/>
            </a:solidFill>
            <a:prstDash val="solid"/>
          </a:ln>
        </p:spPr>
      </p:sp>
      <p:sp>
        <p:nvSpPr>
          <p:cNvPr id="20" name="">
            <a:extLst xmlns:a="http://schemas.openxmlformats.org/drawingml/2006/main">
              <a:ext uri="{FF2B5EF4-FFF2-40B4-BE49-F238E27FC236}">
                <a16:creationId xmlns:a16="http://schemas.microsoft.com/office/drawing/2014/main" id="{9C3BEEC5-65F3-4A3A-AD92-504AEC553925}"/>
              </a:ext>
            </a:extLst>
          </p:cNvPr>
          <p:cNvSpPr>
            <a:spLocks xmlns:a="http://schemas.openxmlformats.org/drawingml/2006/main" noGrp="1"/>
          </p:cNvSpPr>
          <p:nvPr/>
        </p:nvSpPr>
        <p:spPr>
          <a:xfrm xmlns:a="http://schemas.openxmlformats.org/drawingml/2006/main">
            <a:off x="933450" y="489585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A94424"/>
                </a:solidFill>
              </a:defRPr>
            </a:pPr>
            <a:r>
              <a:rPr sz="1200" b="1">
                <a:solidFill>
                  <a:srgbClr val="A94424"/>
                </a:solidFill>
              </a:rPr>
              <a:t>RETRIEVAL WARM-UP</a:t>
            </a:r>
          </a:p>
        </p:txBody>
      </p:sp>
      <p:sp>
        <p:nvSpPr>
          <p:cNvPr id="21" name="">
            <a:extLst xmlns:a="http://schemas.openxmlformats.org/drawingml/2006/main">
              <a:ext uri="{FF2B5EF4-FFF2-40B4-BE49-F238E27FC236}">
                <a16:creationId xmlns:a16="http://schemas.microsoft.com/office/drawing/2014/main" id="{C639AEB9-16F8-452D-99AA-6FE9DC0A6BF8}"/>
              </a:ext>
            </a:extLst>
          </p:cNvPr>
          <p:cNvSpPr>
            <a:spLocks xmlns:a="http://schemas.openxmlformats.org/drawingml/2006/main" noGrp="1"/>
          </p:cNvSpPr>
          <p:nvPr/>
        </p:nvSpPr>
        <p:spPr>
          <a:xfrm xmlns:a="http://schemas.openxmlformats.org/drawingml/2006/main">
            <a:off x="933450" y="5219700"/>
            <a:ext cx="1009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7232B"/>
                </a:solidFill>
              </a:defRPr>
            </a:pPr>
            <a:r>
              <a:rPr sz="1650" b="1">
                <a:solidFill>
                  <a:srgbClr val="17232B"/>
                </a:solidFill>
              </a:rPr>
              <a:t>How are distance, accuracy, consistency and stability different measures?</a:t>
            </a:r>
          </a:p>
        </p:txBody>
      </p:sp>
    </p:spTree>
    <p:extLst>
      <p:ext uri="{BB962C8B-B14F-4D97-AF65-F5344CB8AC3E}">
        <p14:creationId xmlns:p14="http://schemas.microsoft.com/office/powerpoint/2010/main" val="48349233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6886D21-DF41-4B42-8140-AFFD9105ADF1}"/>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0B84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7799AE4-6D01-41C4-8E17-76836226C525}"/>
              </a:ext>
            </a:extLst>
          </p:cNvPr>
          <p:cNvSpPr>
            <a:spLocks xmlns:a="http://schemas.openxmlformats.org/drawingml/2006/main" noGrp="1"/>
          </p:cNvSpPr>
          <p:nvPr/>
        </p:nvSpPr>
        <p:spPr>
          <a:xfrm xmlns:a="http://schemas.openxmlformats.org/drawingml/2006/main">
            <a:off x="685800" y="3048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A94424"/>
                </a:solidFill>
              </a:defRPr>
            </a:pPr>
            <a:r>
              <a:rPr sz="1050" b="1">
                <a:solidFill>
                  <a:srgbClr val="A94424"/>
                </a:solidFill>
              </a:rPr>
              <a:t>MODULE 08  /  TESTING AND REDESIGN</a:t>
            </a:r>
          </a:p>
        </p:txBody>
      </p:sp>
      <p:sp>
        <p:nvSpPr>
          <p:cNvPr id="3" name="">
            <a:extLst xmlns:a="http://schemas.openxmlformats.org/drawingml/2006/main">
              <a:ext uri="{FF2B5EF4-FFF2-40B4-BE49-F238E27FC236}">
                <a16:creationId xmlns:a16="http://schemas.microsoft.com/office/drawing/2014/main" id="{4A01708A-A423-40CC-AF30-96B4A9A037AE}"/>
              </a:ext>
            </a:extLst>
          </p:cNvPr>
          <p:cNvSpPr>
            <a:spLocks xmlns:a="http://schemas.openxmlformats.org/drawingml/2006/main" noGrp="1"/>
          </p:cNvSpPr>
          <p:nvPr/>
        </p:nvSpPr>
        <p:spPr>
          <a:xfrm xmlns:a="http://schemas.openxmlformats.org/drawingml/2006/main">
            <a:off x="685800" y="619125"/>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7232B"/>
                </a:solidFill>
              </a:defRPr>
            </a:pPr>
            <a:r>
              <a:rPr sz="2850" b="1">
                <a:solidFill>
                  <a:srgbClr val="17232B"/>
                </a:solidFill>
              </a:rPr>
              <a:t>A testable question separates the variables</a:t>
            </a:r>
          </a:p>
        </p:txBody>
      </p:sp>
      <p:sp>
        <p:nvSpPr>
          <p:cNvPr id="4" name="">
            <a:extLst xmlns:a="http://schemas.openxmlformats.org/drawingml/2006/main">
              <a:ext uri="{FF2B5EF4-FFF2-40B4-BE49-F238E27FC236}">
                <a16:creationId xmlns:a16="http://schemas.microsoft.com/office/drawing/2014/main" id="{71DC2139-B051-4397-A90A-34D638607666}"/>
              </a:ext>
            </a:extLst>
          </p:cNvPr>
          <p:cNvSpPr>
            <a:spLocks xmlns:a="http://schemas.openxmlformats.org/drawingml/2006/main" noGrp="1"/>
          </p:cNvSpPr>
          <p:nvPr/>
        </p:nvSpPr>
        <p:spPr>
          <a:xfrm xmlns:a="http://schemas.openxmlformats.org/drawingml/2006/main">
            <a:off x="685800" y="6400800"/>
            <a:ext cx="10820400" cy="0"/>
          </a:xfrm>
          <a:prstGeom xmlns:a="http://schemas.openxmlformats.org/drawingml/2006/main" prst="line">
            <a:avLst/>
          </a:prstGeom>
          <a:noFill xmlns:a="http://schemas.openxmlformats.org/drawingml/2006/main"/>
          <a:ln xmlns:a="http://schemas.openxmlformats.org/drawingml/2006/main" w="9525">
            <a:solidFill>
              <a:srgbClr val="CAD4D8"/>
            </a:solidFill>
            <a:prstDash val="solid"/>
          </a:ln>
        </p:spPr>
      </p:sp>
      <p:sp>
        <p:nvSpPr>
          <p:cNvPr id="5" name="">
            <a:extLst xmlns:a="http://schemas.openxmlformats.org/drawingml/2006/main">
              <a:ext uri="{FF2B5EF4-FFF2-40B4-BE49-F238E27FC236}">
                <a16:creationId xmlns:a16="http://schemas.microsoft.com/office/drawing/2014/main" id="{D4A974BE-F816-4F22-B091-1E9C207507CB}"/>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3636D"/>
                </a:solidFill>
              </a:defRPr>
            </a:pPr>
            <a:r>
              <a:rPr sz="975" b="1">
                <a:solidFill>
                  <a:srgbClr val="53636D"/>
                </a:solidFill>
              </a:rPr>
              <a:t>YEAR 8 CATAPULT  •  MODULE 08</a:t>
            </a:r>
          </a:p>
        </p:txBody>
      </p:sp>
      <p:sp>
        <p:nvSpPr>
          <p:cNvPr id="6" name="">
            <a:extLst xmlns:a="http://schemas.openxmlformats.org/drawingml/2006/main">
              <a:ext uri="{FF2B5EF4-FFF2-40B4-BE49-F238E27FC236}">
                <a16:creationId xmlns:a16="http://schemas.microsoft.com/office/drawing/2014/main" id="{978195DD-027E-4380-A4BE-B008B6352A0E}"/>
              </a:ext>
            </a:extLst>
          </p:cNvPr>
          <p:cNvSpPr>
            <a:spLocks xmlns:a="http://schemas.openxmlformats.org/drawingml/2006/main" noGrp="1"/>
          </p:cNvSpPr>
          <p:nvPr/>
        </p:nvSpPr>
        <p:spPr>
          <a:xfrm xmlns:a="http://schemas.openxmlformats.org/drawingml/2006/main">
            <a:off x="110490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A94424"/>
                </a:solidFill>
              </a:defRPr>
            </a:pPr>
            <a:r>
              <a:rPr sz="975" b="1">
                <a:solidFill>
                  <a:srgbClr val="A94424"/>
                </a:solidFill>
              </a:rPr>
              <a:t>03</a:t>
            </a:r>
          </a:p>
        </p:txBody>
      </p:sp>
      <p:sp>
        <p:nvSpPr>
          <p:cNvPr id="7" name="">
            <a:extLst xmlns:a="http://schemas.openxmlformats.org/drawingml/2006/main">
              <a:ext uri="{FF2B5EF4-FFF2-40B4-BE49-F238E27FC236}">
                <a16:creationId xmlns:a16="http://schemas.microsoft.com/office/drawing/2014/main" id="{2C63A113-9498-4C6D-86FC-FC4D916B5052}"/>
              </a:ext>
            </a:extLst>
          </p:cNvPr>
          <p:cNvSpPr>
            <a:spLocks xmlns:a="http://schemas.openxmlformats.org/drawingml/2006/main" noGrp="1"/>
          </p:cNvSpPr>
          <p:nvPr/>
        </p:nvSpPr>
        <p:spPr>
          <a:xfrm xmlns:a="http://schemas.openxmlformats.org/drawingml/2006/main">
            <a:off x="685800" y="1381125"/>
            <a:ext cx="480060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7232B"/>
                </a:solidFill>
              </a:defRPr>
            </a:pPr>
            <a:r>
              <a:rPr sz="1725" b="0">
                <a:solidFill>
                  <a:srgbClr val="17232B"/>
                </a:solidFill>
              </a:rPr>
              <a:t>The independent variable is the one feature deliberately changed. Dependent data are the observations or measurements that may respond. Controlled variables are kept consistent so the comparison remains meaningful. The teacher sets every operating condition; students focus on the investigation and evidence.</a:t>
            </a:r>
          </a:p>
        </p:txBody>
      </p:sp>
      <p:sp>
        <p:nvSpPr>
          <p:cNvPr id="8" name="">
            <a:extLst xmlns:a="http://schemas.openxmlformats.org/drawingml/2006/main">
              <a:ext uri="{FF2B5EF4-FFF2-40B4-BE49-F238E27FC236}">
                <a16:creationId xmlns:a16="http://schemas.microsoft.com/office/drawing/2014/main" id="{819DDA13-2950-4F74-936A-A48DFD11E010}"/>
              </a:ext>
            </a:extLst>
          </p:cNvPr>
          <p:cNvSpPr>
            <a:spLocks xmlns:a="http://schemas.openxmlformats.org/drawingml/2006/main" noGrp="1"/>
          </p:cNvSpPr>
          <p:nvPr/>
        </p:nvSpPr>
        <p:spPr>
          <a:xfrm xmlns:a="http://schemas.openxmlformats.org/drawingml/2006/main">
            <a:off x="685800" y="3905250"/>
            <a:ext cx="4762500" cy="0"/>
          </a:xfrm>
          <a:prstGeom xmlns:a="http://schemas.openxmlformats.org/drawingml/2006/main" prst="line">
            <a:avLst/>
          </a:prstGeom>
          <a:noFill xmlns:a="http://schemas.openxmlformats.org/drawingml/2006/main"/>
          <a:ln xmlns:a="http://schemas.openxmlformats.org/drawingml/2006/main" w="38100">
            <a:solidFill>
              <a:srgbClr val="F0B84B"/>
            </a:solidFill>
            <a:prstDash val="solid"/>
          </a:ln>
        </p:spPr>
      </p:sp>
      <p:sp>
        <p:nvSpPr>
          <p:cNvPr id="9" name="">
            <a:extLst xmlns:a="http://schemas.openxmlformats.org/drawingml/2006/main">
              <a:ext uri="{FF2B5EF4-FFF2-40B4-BE49-F238E27FC236}">
                <a16:creationId xmlns:a16="http://schemas.microsoft.com/office/drawing/2014/main" id="{54A3F481-FEB6-4953-B3CB-E3EEBEB3366F}"/>
              </a:ext>
            </a:extLst>
          </p:cNvPr>
          <p:cNvSpPr>
            <a:spLocks xmlns:a="http://schemas.openxmlformats.org/drawingml/2006/main" noGrp="1"/>
          </p:cNvSpPr>
          <p:nvPr/>
        </p:nvSpPr>
        <p:spPr>
          <a:xfrm xmlns:a="http://schemas.openxmlformats.org/drawingml/2006/main">
            <a:off x="685800" y="4171950"/>
            <a:ext cx="48006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A94424"/>
                </a:solidFill>
              </a:defRPr>
            </a:pPr>
            <a:r>
              <a:rPr sz="1575" b="1">
                <a:solidFill>
                  <a:srgbClr val="A94424"/>
                </a:solidFill>
              </a:rPr>
              <a:t>Plan: name one changed variable, the data it could affect and two conditions that should remain controlled.</a:t>
            </a:r>
          </a:p>
        </p:txBody>
      </p:sp>
      <p:sp>
        <p:nvSpPr>
          <p:cNvPr id="10" name="">
            <a:extLst xmlns:a="http://schemas.openxmlformats.org/drawingml/2006/main">
              <a:ext uri="{FF2B5EF4-FFF2-40B4-BE49-F238E27FC236}">
                <a16:creationId xmlns:a16="http://schemas.microsoft.com/office/drawing/2014/main" id="{08EFD3FD-9E0B-4DDE-AA58-0CEAC40075A7}"/>
              </a:ext>
            </a:extLst>
          </p:cNvPr>
          <p:cNvSpPr>
            <a:spLocks xmlns:a="http://schemas.openxmlformats.org/drawingml/2006/main" noGrp="1"/>
          </p:cNvSpPr>
          <p:nvPr/>
        </p:nvSpPr>
        <p:spPr>
          <a:xfrm xmlns:a="http://schemas.openxmlformats.org/drawingml/2006/main">
            <a:off x="7581900" y="2371725"/>
            <a:ext cx="266700"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2B484A8-34E9-4176-8933-A834A0F14105}"/>
              </a:ext>
            </a:extLst>
          </p:cNvPr>
          <p:cNvSpPr>
            <a:spLocks xmlns:a="http://schemas.openxmlformats.org/drawingml/2006/main" noGrp="1"/>
          </p:cNvSpPr>
          <p:nvPr/>
        </p:nvSpPr>
        <p:spPr>
          <a:xfrm xmlns:a="http://schemas.openxmlformats.org/drawingml/2006/main">
            <a:off x="9296400" y="2371725"/>
            <a:ext cx="266700"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1D5C0FA-2681-4F20-8203-58BF5A2E3272}"/>
              </a:ext>
            </a:extLst>
          </p:cNvPr>
          <p:cNvSpPr>
            <a:spLocks xmlns:a="http://schemas.openxmlformats.org/drawingml/2006/main" noGrp="1"/>
          </p:cNvSpPr>
          <p:nvPr/>
        </p:nvSpPr>
        <p:spPr>
          <a:xfrm xmlns:a="http://schemas.openxmlformats.org/drawingml/2006/main">
            <a:off x="6191250" y="2076450"/>
            <a:ext cx="1333500" cy="838200"/>
          </a:xfrm>
          <a:prstGeom xmlns:a="http://schemas.openxmlformats.org/drawingml/2006/main" prst="roundRect">
            <a:avLst>
              <a:gd name="adj" fmla="val 9091"/>
            </a:avLst>
          </a:prstGeom>
          <a:solidFill xmlns:a="http://schemas.openxmlformats.org/drawingml/2006/main">
            <a:srgbClr val="E7EEF0"/>
          </a:solidFill>
          <a:ln xmlns:a="http://schemas.openxmlformats.org/drawingml/2006/main" w="9525">
            <a:solidFill>
              <a:srgbClr val="CAD4D8"/>
            </a:solidFill>
            <a:prstDash val="solid"/>
          </a:ln>
        </p:spPr>
        <p:txBody>
          <a:bodyPr xmlns:a="http://schemas.openxmlformats.org/drawingml/2006/main"/>
          <a:lstStyle xmlns:a="http://schemas.openxmlformats.org/drawingml/2006/main"/>
          <a:p xmlns:a="http://schemas.openxmlformats.org/drawingml/2006/main">
            <a:pPr algn="ctr">
              <a:defRPr sz="1200" b="1">
                <a:solidFill>
                  <a:srgbClr val="17232B"/>
                </a:solidFill>
              </a:defRPr>
            </a:pPr>
            <a:r>
              <a:rPr sz="1200" b="1">
                <a:solidFill>
                  <a:srgbClr val="17232B"/>
                </a:solidFill>
              </a:rPr>
              <a:t>ONE CHANGE</a:t>
            </a:r>
          </a:p>
        </p:txBody>
      </p:sp>
      <p:sp>
        <p:nvSpPr>
          <p:cNvPr id="13" name="">
            <a:extLst xmlns:a="http://schemas.openxmlformats.org/drawingml/2006/main">
              <a:ext uri="{FF2B5EF4-FFF2-40B4-BE49-F238E27FC236}">
                <a16:creationId xmlns:a16="http://schemas.microsoft.com/office/drawing/2014/main" id="{0E49E625-2C51-4192-8EBF-5C28CFCA38A9}"/>
              </a:ext>
            </a:extLst>
          </p:cNvPr>
          <p:cNvSpPr>
            <a:spLocks xmlns:a="http://schemas.openxmlformats.org/drawingml/2006/main" noGrp="1"/>
          </p:cNvSpPr>
          <p:nvPr/>
        </p:nvSpPr>
        <p:spPr>
          <a:xfrm xmlns:a="http://schemas.openxmlformats.org/drawingml/2006/main">
            <a:off x="7905750" y="2076450"/>
            <a:ext cx="133350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CAD4D8"/>
            </a:solidFill>
            <a:prstDash val="solid"/>
          </a:ln>
        </p:spPr>
        <p:txBody>
          <a:bodyPr xmlns:a="http://schemas.openxmlformats.org/drawingml/2006/main"/>
          <a:lstStyle xmlns:a="http://schemas.openxmlformats.org/drawingml/2006/main"/>
          <a:p xmlns:a="http://schemas.openxmlformats.org/drawingml/2006/main">
            <a:pPr algn="ctr">
              <a:defRPr sz="1200" b="1">
                <a:solidFill>
                  <a:srgbClr val="17232B"/>
                </a:solidFill>
              </a:defRPr>
            </a:pPr>
            <a:r>
              <a:rPr sz="1200" b="1">
                <a:solidFill>
                  <a:srgbClr val="17232B"/>
                </a:solidFill>
              </a:rPr>
              <a:t>MEASURE RESPONSE</a:t>
            </a:r>
          </a:p>
        </p:txBody>
      </p:sp>
      <p:sp>
        <p:nvSpPr>
          <p:cNvPr id="14" name="">
            <a:extLst xmlns:a="http://schemas.openxmlformats.org/drawingml/2006/main">
              <a:ext uri="{FF2B5EF4-FFF2-40B4-BE49-F238E27FC236}">
                <a16:creationId xmlns:a16="http://schemas.microsoft.com/office/drawing/2014/main" id="{6071CBF2-16B8-4065-A618-1A02C480B474}"/>
              </a:ext>
            </a:extLst>
          </p:cNvPr>
          <p:cNvSpPr>
            <a:spLocks xmlns:a="http://schemas.openxmlformats.org/drawingml/2006/main" noGrp="1"/>
          </p:cNvSpPr>
          <p:nvPr/>
        </p:nvSpPr>
        <p:spPr>
          <a:xfrm xmlns:a="http://schemas.openxmlformats.org/drawingml/2006/main">
            <a:off x="9620250" y="2076450"/>
            <a:ext cx="133350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CAD4D8"/>
            </a:solidFill>
            <a:prstDash val="solid"/>
          </a:ln>
        </p:spPr>
        <p:txBody>
          <a:bodyPr xmlns:a="http://schemas.openxmlformats.org/drawingml/2006/main"/>
          <a:lstStyle xmlns:a="http://schemas.openxmlformats.org/drawingml/2006/main"/>
          <a:p xmlns:a="http://schemas.openxmlformats.org/drawingml/2006/main">
            <a:pPr algn="ctr">
              <a:defRPr sz="1200" b="1">
                <a:solidFill>
                  <a:srgbClr val="17232B"/>
                </a:solidFill>
              </a:defRPr>
            </a:pPr>
            <a:r>
              <a:rPr sz="1200" b="1">
                <a:solidFill>
                  <a:srgbClr val="17232B"/>
                </a:solidFill>
              </a:rPr>
              <a:t>KEEP CONTROLS</a:t>
            </a:r>
          </a:p>
        </p:txBody>
      </p:sp>
      <p:sp>
        <p:nvSpPr>
          <p:cNvPr id="15" name="">
            <a:extLst xmlns:a="http://schemas.openxmlformats.org/drawingml/2006/main">
              <a:ext uri="{FF2B5EF4-FFF2-40B4-BE49-F238E27FC236}">
                <a16:creationId xmlns:a16="http://schemas.microsoft.com/office/drawing/2014/main" id="{631AA2E2-A3D9-4063-85CB-8AE9A30AD606}"/>
              </a:ext>
            </a:extLst>
          </p:cNvPr>
          <p:cNvSpPr>
            <a:spLocks xmlns:a="http://schemas.openxmlformats.org/drawingml/2006/main" noGrp="1"/>
          </p:cNvSpPr>
          <p:nvPr/>
        </p:nvSpPr>
        <p:spPr>
          <a:xfrm xmlns:a="http://schemas.openxmlformats.org/drawingml/2006/main">
            <a:off x="6191250" y="4762500"/>
            <a:ext cx="4762500" cy="552450"/>
          </a:xfrm>
          <a:prstGeom xmlns:a="http://schemas.openxmlformats.org/drawingml/2006/main" prst="rect">
            <a:avLst/>
          </a:prstGeom>
          <a:solidFill xmlns:a="http://schemas.openxmlformats.org/drawingml/2006/main">
            <a:srgbClr val="FFF4D8"/>
          </a:solidFill>
          <a:ln xmlns:a="http://schemas.openxmlformats.org/drawingml/2006/main" w="9525">
            <a:solidFill>
              <a:srgbClr val="F0B84B"/>
            </a:solidFill>
            <a:prstDash val="solid"/>
          </a:ln>
        </p:spPr>
        <p:txBody>
          <a:bodyPr xmlns:a="http://schemas.openxmlformats.org/drawingml/2006/main"/>
          <a:lstStyle xmlns:a="http://schemas.openxmlformats.org/drawingml/2006/main"/>
          <a:p xmlns:a="http://schemas.openxmlformats.org/drawingml/2006/main">
            <a:pPr algn="l">
              <a:defRPr sz="1350" b="1">
                <a:solidFill>
                  <a:srgbClr val="184F5E"/>
                </a:solidFill>
              </a:defRPr>
            </a:pPr>
            <a:r>
              <a:rPr sz="1350" b="1">
                <a:solidFill>
                  <a:srgbClr val="184F5E"/>
                </a:solidFill>
              </a:rPr>
              <a:t>NOTICE  A fair question makes the comparison clear without inventing test conditions.</a:t>
            </a:r>
          </a:p>
        </p:txBody>
      </p:sp>
    </p:spTree>
    <p:extLst>
      <p:ext uri="{BB962C8B-B14F-4D97-AF65-F5344CB8AC3E}">
        <p14:creationId xmlns:p14="http://schemas.microsoft.com/office/powerpoint/2010/main" val="164079730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F4E3F2A-A784-4499-846A-2123F43C709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0B84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FE0222A-7222-4996-A2DF-BEDAADBE1D18}"/>
              </a:ext>
            </a:extLst>
          </p:cNvPr>
          <p:cNvSpPr>
            <a:spLocks xmlns:a="http://schemas.openxmlformats.org/drawingml/2006/main" noGrp="1"/>
          </p:cNvSpPr>
          <p:nvPr/>
        </p:nvSpPr>
        <p:spPr>
          <a:xfrm xmlns:a="http://schemas.openxmlformats.org/drawingml/2006/main">
            <a:off x="685800" y="3048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A94424"/>
                </a:solidFill>
              </a:defRPr>
            </a:pPr>
            <a:r>
              <a:rPr sz="1050" b="1">
                <a:solidFill>
                  <a:srgbClr val="A94424"/>
                </a:solidFill>
              </a:rPr>
              <a:t>MODULE 08  /  TESTING AND REDESIGN</a:t>
            </a:r>
          </a:p>
        </p:txBody>
      </p:sp>
      <p:sp>
        <p:nvSpPr>
          <p:cNvPr id="3" name="">
            <a:extLst xmlns:a="http://schemas.openxmlformats.org/drawingml/2006/main">
              <a:ext uri="{FF2B5EF4-FFF2-40B4-BE49-F238E27FC236}">
                <a16:creationId xmlns:a16="http://schemas.microsoft.com/office/drawing/2014/main" id="{EB68316D-F485-4963-8C10-68CAB8092EAE}"/>
              </a:ext>
            </a:extLst>
          </p:cNvPr>
          <p:cNvSpPr>
            <a:spLocks xmlns:a="http://schemas.openxmlformats.org/drawingml/2006/main" noGrp="1"/>
          </p:cNvSpPr>
          <p:nvPr/>
        </p:nvSpPr>
        <p:spPr>
          <a:xfrm xmlns:a="http://schemas.openxmlformats.org/drawingml/2006/main">
            <a:off x="685800" y="619125"/>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7232B"/>
                </a:solidFill>
              </a:defRPr>
            </a:pPr>
            <a:r>
              <a:rPr sz="2850" b="1">
                <a:solidFill>
                  <a:srgbClr val="17232B"/>
                </a:solidFill>
              </a:rPr>
              <a:t>Mean and range answer different questions</a:t>
            </a:r>
          </a:p>
        </p:txBody>
      </p:sp>
      <p:sp>
        <p:nvSpPr>
          <p:cNvPr id="4" name="">
            <a:extLst xmlns:a="http://schemas.openxmlformats.org/drawingml/2006/main">
              <a:ext uri="{FF2B5EF4-FFF2-40B4-BE49-F238E27FC236}">
                <a16:creationId xmlns:a16="http://schemas.microsoft.com/office/drawing/2014/main" id="{95789A23-9737-44A5-95D4-3CD6178FF6D6}"/>
              </a:ext>
            </a:extLst>
          </p:cNvPr>
          <p:cNvSpPr>
            <a:spLocks xmlns:a="http://schemas.openxmlformats.org/drawingml/2006/main" noGrp="1"/>
          </p:cNvSpPr>
          <p:nvPr/>
        </p:nvSpPr>
        <p:spPr>
          <a:xfrm xmlns:a="http://schemas.openxmlformats.org/drawingml/2006/main">
            <a:off x="685800" y="6400800"/>
            <a:ext cx="10820400" cy="0"/>
          </a:xfrm>
          <a:prstGeom xmlns:a="http://schemas.openxmlformats.org/drawingml/2006/main" prst="line">
            <a:avLst/>
          </a:prstGeom>
          <a:noFill xmlns:a="http://schemas.openxmlformats.org/drawingml/2006/main"/>
          <a:ln xmlns:a="http://schemas.openxmlformats.org/drawingml/2006/main" w="9525">
            <a:solidFill>
              <a:srgbClr val="CAD4D8"/>
            </a:solidFill>
            <a:prstDash val="solid"/>
          </a:ln>
        </p:spPr>
      </p:sp>
      <p:sp>
        <p:nvSpPr>
          <p:cNvPr id="5" name="">
            <a:extLst xmlns:a="http://schemas.openxmlformats.org/drawingml/2006/main">
              <a:ext uri="{FF2B5EF4-FFF2-40B4-BE49-F238E27FC236}">
                <a16:creationId xmlns:a16="http://schemas.microsoft.com/office/drawing/2014/main" id="{F3300F07-9EB7-47BB-B404-C62DAC5650A7}"/>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3636D"/>
                </a:solidFill>
              </a:defRPr>
            </a:pPr>
            <a:r>
              <a:rPr sz="975" b="1">
                <a:solidFill>
                  <a:srgbClr val="53636D"/>
                </a:solidFill>
              </a:rPr>
              <a:t>YEAR 8 CATAPULT  •  MODULE 08</a:t>
            </a:r>
          </a:p>
        </p:txBody>
      </p:sp>
      <p:sp>
        <p:nvSpPr>
          <p:cNvPr id="6" name="">
            <a:extLst xmlns:a="http://schemas.openxmlformats.org/drawingml/2006/main">
              <a:ext uri="{FF2B5EF4-FFF2-40B4-BE49-F238E27FC236}">
                <a16:creationId xmlns:a16="http://schemas.microsoft.com/office/drawing/2014/main" id="{939B3392-2EFB-4056-B43C-5343D177E139}"/>
              </a:ext>
            </a:extLst>
          </p:cNvPr>
          <p:cNvSpPr>
            <a:spLocks xmlns:a="http://schemas.openxmlformats.org/drawingml/2006/main" noGrp="1"/>
          </p:cNvSpPr>
          <p:nvPr/>
        </p:nvSpPr>
        <p:spPr>
          <a:xfrm xmlns:a="http://schemas.openxmlformats.org/drawingml/2006/main">
            <a:off x="110490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A94424"/>
                </a:solidFill>
              </a:defRPr>
            </a:pPr>
            <a:r>
              <a:rPr sz="975" b="1">
                <a:solidFill>
                  <a:srgbClr val="A94424"/>
                </a:solidFill>
              </a:rPr>
              <a:t>04</a:t>
            </a:r>
          </a:p>
        </p:txBody>
      </p:sp>
      <p:sp>
        <p:nvSpPr>
          <p:cNvPr id="7" name="">
            <a:extLst xmlns:a="http://schemas.openxmlformats.org/drawingml/2006/main">
              <a:ext uri="{FF2B5EF4-FFF2-40B4-BE49-F238E27FC236}">
                <a16:creationId xmlns:a16="http://schemas.microsoft.com/office/drawing/2014/main" id="{591CBDCA-F21E-487A-A2FB-F0751A631651}"/>
              </a:ext>
            </a:extLst>
          </p:cNvPr>
          <p:cNvSpPr>
            <a:spLocks xmlns:a="http://schemas.openxmlformats.org/drawingml/2006/main" noGrp="1"/>
          </p:cNvSpPr>
          <p:nvPr/>
        </p:nvSpPr>
        <p:spPr>
          <a:xfrm xmlns:a="http://schemas.openxmlformats.org/drawingml/2006/main">
            <a:off x="6705600" y="1381125"/>
            <a:ext cx="480060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7232B"/>
                </a:solidFill>
              </a:defRPr>
            </a:pPr>
            <a:r>
              <a:rPr sz="1725" b="0">
                <a:solidFill>
                  <a:srgbClr val="17232B"/>
                </a:solidFill>
              </a:rPr>
              <a:t>Repeated trials show whether a result is dependable. The mean is the total divided by the number of results and represents the centre of the data. The range is the largest minus the smallest and shows spread. Strong average performance can still sit beside poor consistency.</a:t>
            </a:r>
          </a:p>
        </p:txBody>
      </p:sp>
      <p:sp>
        <p:nvSpPr>
          <p:cNvPr id="8" name="">
            <a:extLst xmlns:a="http://schemas.openxmlformats.org/drawingml/2006/main">
              <a:ext uri="{FF2B5EF4-FFF2-40B4-BE49-F238E27FC236}">
                <a16:creationId xmlns:a16="http://schemas.microsoft.com/office/drawing/2014/main" id="{55F20F3B-864F-463D-8AD4-B951EFCE3620}"/>
              </a:ext>
            </a:extLst>
          </p:cNvPr>
          <p:cNvSpPr>
            <a:spLocks xmlns:a="http://schemas.openxmlformats.org/drawingml/2006/main" noGrp="1"/>
          </p:cNvSpPr>
          <p:nvPr/>
        </p:nvSpPr>
        <p:spPr>
          <a:xfrm xmlns:a="http://schemas.openxmlformats.org/drawingml/2006/main">
            <a:off x="6705600" y="3905250"/>
            <a:ext cx="4762500" cy="0"/>
          </a:xfrm>
          <a:prstGeom xmlns:a="http://schemas.openxmlformats.org/drawingml/2006/main" prst="line">
            <a:avLst/>
          </a:prstGeom>
          <a:noFill xmlns:a="http://schemas.openxmlformats.org/drawingml/2006/main"/>
          <a:ln xmlns:a="http://schemas.openxmlformats.org/drawingml/2006/main" w="38100">
            <a:solidFill>
              <a:srgbClr val="F0B84B"/>
            </a:solidFill>
            <a:prstDash val="solid"/>
          </a:ln>
        </p:spPr>
      </p:sp>
      <p:sp>
        <p:nvSpPr>
          <p:cNvPr id="9" name="">
            <a:extLst xmlns:a="http://schemas.openxmlformats.org/drawingml/2006/main">
              <a:ext uri="{FF2B5EF4-FFF2-40B4-BE49-F238E27FC236}">
                <a16:creationId xmlns:a16="http://schemas.microsoft.com/office/drawing/2014/main" id="{35F541B3-9819-456B-AC04-C6D15EBAA72E}"/>
              </a:ext>
            </a:extLst>
          </p:cNvPr>
          <p:cNvSpPr>
            <a:spLocks xmlns:a="http://schemas.openxmlformats.org/drawingml/2006/main" noGrp="1"/>
          </p:cNvSpPr>
          <p:nvPr/>
        </p:nvSpPr>
        <p:spPr>
          <a:xfrm xmlns:a="http://schemas.openxmlformats.org/drawingml/2006/main">
            <a:off x="6705600" y="4171950"/>
            <a:ext cx="48006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A94424"/>
                </a:solidFill>
              </a:defRPr>
            </a:pPr>
            <a:r>
              <a:rPr sz="1575" b="1">
                <a:solidFill>
                  <a:srgbClr val="A94424"/>
                </a:solidFill>
              </a:rPr>
              <a:t>Interpret: what would a high mean and a large range suggest about performance and consistency?</a:t>
            </a:r>
          </a:p>
        </p:txBody>
      </p:sp>
      <p:sp>
        <p:nvSpPr>
          <p:cNvPr id="10" name="">
            <a:extLst xmlns:a="http://schemas.openxmlformats.org/drawingml/2006/main">
              <a:ext uri="{FF2B5EF4-FFF2-40B4-BE49-F238E27FC236}">
                <a16:creationId xmlns:a16="http://schemas.microsoft.com/office/drawing/2014/main" id="{88BA8442-CBB1-44C7-8271-2E439D30F3F4}"/>
              </a:ext>
            </a:extLst>
          </p:cNvPr>
          <p:cNvSpPr>
            <a:spLocks xmlns:a="http://schemas.openxmlformats.org/drawingml/2006/main" noGrp="1"/>
          </p:cNvSpPr>
          <p:nvPr/>
        </p:nvSpPr>
        <p:spPr>
          <a:xfrm xmlns:a="http://schemas.openxmlformats.org/drawingml/2006/main">
            <a:off x="685800" y="1819275"/>
            <a:ext cx="4762500" cy="1571625"/>
          </a:xfrm>
          <a:prstGeom xmlns:a="http://schemas.openxmlformats.org/drawingml/2006/main" prst="rect">
            <a:avLst/>
          </a:prstGeom>
          <a:solidFill xmlns:a="http://schemas.openxmlformats.org/drawingml/2006/main">
            <a:srgbClr val="0B3541"/>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4462221-4CC7-41FC-9E24-368B28225640}"/>
              </a:ext>
            </a:extLst>
          </p:cNvPr>
          <p:cNvSpPr>
            <a:spLocks xmlns:a="http://schemas.openxmlformats.org/drawingml/2006/main" noGrp="1"/>
          </p:cNvSpPr>
          <p:nvPr/>
        </p:nvSpPr>
        <p:spPr>
          <a:xfrm xmlns:a="http://schemas.openxmlformats.org/drawingml/2006/main">
            <a:off x="1009650" y="2076450"/>
            <a:ext cx="4114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F0B84B"/>
                </a:solidFill>
              </a:defRPr>
            </a:pPr>
            <a:r>
              <a:rPr sz="1650" b="1">
                <a:solidFill>
                  <a:srgbClr val="F0B84B"/>
                </a:solidFill>
              </a:rPr>
              <a:t>MEAN</a:t>
            </a:r>
          </a:p>
        </p:txBody>
      </p:sp>
      <p:sp>
        <p:nvSpPr>
          <p:cNvPr id="12" name="">
            <a:extLst xmlns:a="http://schemas.openxmlformats.org/drawingml/2006/main">
              <a:ext uri="{FF2B5EF4-FFF2-40B4-BE49-F238E27FC236}">
                <a16:creationId xmlns:a16="http://schemas.microsoft.com/office/drawing/2014/main" id="{E1AFD561-6999-4190-9816-39FBD0606C04}"/>
              </a:ext>
            </a:extLst>
          </p:cNvPr>
          <p:cNvSpPr>
            <a:spLocks xmlns:a="http://schemas.openxmlformats.org/drawingml/2006/main" noGrp="1"/>
          </p:cNvSpPr>
          <p:nvPr/>
        </p:nvSpPr>
        <p:spPr>
          <a:xfrm xmlns:a="http://schemas.openxmlformats.org/drawingml/2006/main">
            <a:off x="1009650" y="2495550"/>
            <a:ext cx="4114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FFFFFF"/>
                </a:solidFill>
              </a:defRPr>
            </a:pPr>
            <a:r>
              <a:rPr sz="2400" b="1">
                <a:solidFill>
                  <a:srgbClr val="FFFFFF"/>
                </a:solidFill>
              </a:rPr>
              <a:t>RANGE</a:t>
            </a:r>
          </a:p>
        </p:txBody>
      </p:sp>
      <p:sp>
        <p:nvSpPr>
          <p:cNvPr id="13" name="">
            <a:extLst xmlns:a="http://schemas.openxmlformats.org/drawingml/2006/main">
              <a:ext uri="{FF2B5EF4-FFF2-40B4-BE49-F238E27FC236}">
                <a16:creationId xmlns:a16="http://schemas.microsoft.com/office/drawing/2014/main" id="{DB186320-6A8D-455D-83A0-EFB12993A7A2}"/>
              </a:ext>
            </a:extLst>
          </p:cNvPr>
          <p:cNvSpPr>
            <a:spLocks xmlns:a="http://schemas.openxmlformats.org/drawingml/2006/main" noGrp="1"/>
          </p:cNvSpPr>
          <p:nvPr/>
        </p:nvSpPr>
        <p:spPr>
          <a:xfrm xmlns:a="http://schemas.openxmlformats.org/drawingml/2006/main">
            <a:off x="1009650" y="3505200"/>
            <a:ext cx="4114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a:solidFill>
                  <a:srgbClr val="53636D"/>
                </a:solidFill>
              </a:defRPr>
            </a:pPr>
            <a:r>
              <a:rPr sz="1350" b="0">
                <a:solidFill>
                  <a:srgbClr val="53636D"/>
                </a:solidFill>
              </a:rPr>
              <a:t>total ÷ number of results   •   largest − smallest</a:t>
            </a:r>
          </a:p>
        </p:txBody>
      </p:sp>
      <p:sp>
        <p:nvSpPr>
          <p:cNvPr id="14" name="">
            <a:extLst xmlns:a="http://schemas.openxmlformats.org/drawingml/2006/main">
              <a:ext uri="{FF2B5EF4-FFF2-40B4-BE49-F238E27FC236}">
                <a16:creationId xmlns:a16="http://schemas.microsoft.com/office/drawing/2014/main" id="{1D3B523F-3619-409E-8796-BAF42738761D}"/>
              </a:ext>
            </a:extLst>
          </p:cNvPr>
          <p:cNvSpPr>
            <a:spLocks xmlns:a="http://schemas.openxmlformats.org/drawingml/2006/main" noGrp="1"/>
          </p:cNvSpPr>
          <p:nvPr/>
        </p:nvSpPr>
        <p:spPr>
          <a:xfrm xmlns:a="http://schemas.openxmlformats.org/drawingml/2006/main">
            <a:off x="685800" y="4762500"/>
            <a:ext cx="4762500" cy="552450"/>
          </a:xfrm>
          <a:prstGeom xmlns:a="http://schemas.openxmlformats.org/drawingml/2006/main" prst="rect">
            <a:avLst/>
          </a:prstGeom>
          <a:solidFill xmlns:a="http://schemas.openxmlformats.org/drawingml/2006/main">
            <a:srgbClr val="FFF4D8"/>
          </a:solidFill>
          <a:ln xmlns:a="http://schemas.openxmlformats.org/drawingml/2006/main" w="9525">
            <a:solidFill>
              <a:srgbClr val="F0B84B"/>
            </a:solidFill>
            <a:prstDash val="solid"/>
          </a:ln>
        </p:spPr>
        <p:txBody>
          <a:bodyPr xmlns:a="http://schemas.openxmlformats.org/drawingml/2006/main"/>
          <a:lstStyle xmlns:a="http://schemas.openxmlformats.org/drawingml/2006/main"/>
          <a:p xmlns:a="http://schemas.openxmlformats.org/drawingml/2006/main">
            <a:pPr algn="l">
              <a:defRPr sz="1350" b="1">
                <a:solidFill>
                  <a:srgbClr val="184F5E"/>
                </a:solidFill>
              </a:defRPr>
            </a:pPr>
            <a:r>
              <a:rPr sz="1350" b="1">
                <a:solidFill>
                  <a:srgbClr val="184F5E"/>
                </a:solidFill>
              </a:rPr>
              <a:t>NOTICE  Read both centre and spread before judging quality.</a:t>
            </a:r>
          </a:p>
        </p:txBody>
      </p:sp>
    </p:spTree>
    <p:extLst>
      <p:ext uri="{BB962C8B-B14F-4D97-AF65-F5344CB8AC3E}">
        <p14:creationId xmlns:p14="http://schemas.microsoft.com/office/powerpoint/2010/main" val="76929040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A5A73F7-C4D3-434D-BC63-361A24FFE14D}"/>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0B84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A645509-F506-4E61-A520-CC38615CC610}"/>
              </a:ext>
            </a:extLst>
          </p:cNvPr>
          <p:cNvSpPr>
            <a:spLocks xmlns:a="http://schemas.openxmlformats.org/drawingml/2006/main" noGrp="1"/>
          </p:cNvSpPr>
          <p:nvPr/>
        </p:nvSpPr>
        <p:spPr>
          <a:xfrm xmlns:a="http://schemas.openxmlformats.org/drawingml/2006/main">
            <a:off x="685800" y="3048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A94424"/>
                </a:solidFill>
              </a:defRPr>
            </a:pPr>
            <a:r>
              <a:rPr sz="1050" b="1">
                <a:solidFill>
                  <a:srgbClr val="A94424"/>
                </a:solidFill>
              </a:rPr>
              <a:t>MODULE 08  /  TESTING AND REDESIGN</a:t>
            </a:r>
          </a:p>
        </p:txBody>
      </p:sp>
      <p:sp>
        <p:nvSpPr>
          <p:cNvPr id="3" name="">
            <a:extLst xmlns:a="http://schemas.openxmlformats.org/drawingml/2006/main">
              <a:ext uri="{FF2B5EF4-FFF2-40B4-BE49-F238E27FC236}">
                <a16:creationId xmlns:a16="http://schemas.microsoft.com/office/drawing/2014/main" id="{A40FC780-BFA9-4CBA-8E93-A7EC338F99B0}"/>
              </a:ext>
            </a:extLst>
          </p:cNvPr>
          <p:cNvSpPr>
            <a:spLocks xmlns:a="http://schemas.openxmlformats.org/drawingml/2006/main" noGrp="1"/>
          </p:cNvSpPr>
          <p:nvPr/>
        </p:nvSpPr>
        <p:spPr>
          <a:xfrm xmlns:a="http://schemas.openxmlformats.org/drawingml/2006/main">
            <a:off x="685800" y="619125"/>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7232B"/>
                </a:solidFill>
              </a:defRPr>
            </a:pPr>
            <a:r>
              <a:rPr sz="2850" b="1">
                <a:solidFill>
                  <a:srgbClr val="17232B"/>
                </a:solidFill>
              </a:rPr>
              <a:t>Redesign is a claim tested against evidence</a:t>
            </a:r>
          </a:p>
        </p:txBody>
      </p:sp>
      <p:sp>
        <p:nvSpPr>
          <p:cNvPr id="4" name="">
            <a:extLst xmlns:a="http://schemas.openxmlformats.org/drawingml/2006/main">
              <a:ext uri="{FF2B5EF4-FFF2-40B4-BE49-F238E27FC236}">
                <a16:creationId xmlns:a16="http://schemas.microsoft.com/office/drawing/2014/main" id="{60CB5546-6372-4B78-A3AD-6A11B142FAF1}"/>
              </a:ext>
            </a:extLst>
          </p:cNvPr>
          <p:cNvSpPr>
            <a:spLocks xmlns:a="http://schemas.openxmlformats.org/drawingml/2006/main" noGrp="1"/>
          </p:cNvSpPr>
          <p:nvPr/>
        </p:nvSpPr>
        <p:spPr>
          <a:xfrm xmlns:a="http://schemas.openxmlformats.org/drawingml/2006/main">
            <a:off x="685800" y="6400800"/>
            <a:ext cx="10820400" cy="0"/>
          </a:xfrm>
          <a:prstGeom xmlns:a="http://schemas.openxmlformats.org/drawingml/2006/main" prst="line">
            <a:avLst/>
          </a:prstGeom>
          <a:noFill xmlns:a="http://schemas.openxmlformats.org/drawingml/2006/main"/>
          <a:ln xmlns:a="http://schemas.openxmlformats.org/drawingml/2006/main" w="9525">
            <a:solidFill>
              <a:srgbClr val="CAD4D8"/>
            </a:solidFill>
            <a:prstDash val="solid"/>
          </a:ln>
        </p:spPr>
      </p:sp>
      <p:sp>
        <p:nvSpPr>
          <p:cNvPr id="5" name="">
            <a:extLst xmlns:a="http://schemas.openxmlformats.org/drawingml/2006/main">
              <a:ext uri="{FF2B5EF4-FFF2-40B4-BE49-F238E27FC236}">
                <a16:creationId xmlns:a16="http://schemas.microsoft.com/office/drawing/2014/main" id="{6C6295C8-A49C-4D0D-A5F6-B146AD4D5D12}"/>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3636D"/>
                </a:solidFill>
              </a:defRPr>
            </a:pPr>
            <a:r>
              <a:rPr sz="975" b="1">
                <a:solidFill>
                  <a:srgbClr val="53636D"/>
                </a:solidFill>
              </a:rPr>
              <a:t>YEAR 8 CATAPULT  •  MODULE 08</a:t>
            </a:r>
          </a:p>
        </p:txBody>
      </p:sp>
      <p:sp>
        <p:nvSpPr>
          <p:cNvPr id="6" name="">
            <a:extLst xmlns:a="http://schemas.openxmlformats.org/drawingml/2006/main">
              <a:ext uri="{FF2B5EF4-FFF2-40B4-BE49-F238E27FC236}">
                <a16:creationId xmlns:a16="http://schemas.microsoft.com/office/drawing/2014/main" id="{D8A617A1-BBEE-4858-A9C1-3B880AEA3FE3}"/>
              </a:ext>
            </a:extLst>
          </p:cNvPr>
          <p:cNvSpPr>
            <a:spLocks xmlns:a="http://schemas.openxmlformats.org/drawingml/2006/main" noGrp="1"/>
          </p:cNvSpPr>
          <p:nvPr/>
        </p:nvSpPr>
        <p:spPr>
          <a:xfrm xmlns:a="http://schemas.openxmlformats.org/drawingml/2006/main">
            <a:off x="110490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A94424"/>
                </a:solidFill>
              </a:defRPr>
            </a:pPr>
            <a:r>
              <a:rPr sz="975" b="1">
                <a:solidFill>
                  <a:srgbClr val="A94424"/>
                </a:solidFill>
              </a:rPr>
              <a:t>05</a:t>
            </a:r>
          </a:p>
        </p:txBody>
      </p:sp>
      <p:sp>
        <p:nvSpPr>
          <p:cNvPr id="7" name="">
            <a:extLst xmlns:a="http://schemas.openxmlformats.org/drawingml/2006/main">
              <a:ext uri="{FF2B5EF4-FFF2-40B4-BE49-F238E27FC236}">
                <a16:creationId xmlns:a16="http://schemas.microsoft.com/office/drawing/2014/main" id="{58E09B76-A983-42D8-836B-1A4A7124ECBD}"/>
              </a:ext>
            </a:extLst>
          </p:cNvPr>
          <p:cNvSpPr>
            <a:spLocks xmlns:a="http://schemas.openxmlformats.org/drawingml/2006/main" noGrp="1"/>
          </p:cNvSpPr>
          <p:nvPr/>
        </p:nvSpPr>
        <p:spPr>
          <a:xfrm xmlns:a="http://schemas.openxmlformats.org/drawingml/2006/main">
            <a:off x="685800" y="1381125"/>
            <a:ext cx="480060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7232B"/>
                </a:solidFill>
              </a:defRPr>
            </a:pPr>
            <a:r>
              <a:rPr sz="1725" b="0">
                <a:solidFill>
                  <a:srgbClr val="17232B"/>
                </a:solidFill>
              </a:rPr>
              <a:t>A claim answers the test question. Evidence names the relevant pattern, values or observations. Reasoning connects the evidence to engineering ideas. A controlled redesign changes one feature, predicts an effect and retests under the same teacher-set conditions.</a:t>
            </a:r>
          </a:p>
        </p:txBody>
      </p:sp>
      <p:sp>
        <p:nvSpPr>
          <p:cNvPr id="8" name="">
            <a:extLst xmlns:a="http://schemas.openxmlformats.org/drawingml/2006/main">
              <a:ext uri="{FF2B5EF4-FFF2-40B4-BE49-F238E27FC236}">
                <a16:creationId xmlns:a16="http://schemas.microsoft.com/office/drawing/2014/main" id="{C3BD7947-65AB-4076-A620-ECC6C7CF814C}"/>
              </a:ext>
            </a:extLst>
          </p:cNvPr>
          <p:cNvSpPr>
            <a:spLocks xmlns:a="http://schemas.openxmlformats.org/drawingml/2006/main" noGrp="1"/>
          </p:cNvSpPr>
          <p:nvPr/>
        </p:nvSpPr>
        <p:spPr>
          <a:xfrm xmlns:a="http://schemas.openxmlformats.org/drawingml/2006/main">
            <a:off x="685800" y="3905250"/>
            <a:ext cx="4762500" cy="0"/>
          </a:xfrm>
          <a:prstGeom xmlns:a="http://schemas.openxmlformats.org/drawingml/2006/main" prst="line">
            <a:avLst/>
          </a:prstGeom>
          <a:noFill xmlns:a="http://schemas.openxmlformats.org/drawingml/2006/main"/>
          <a:ln xmlns:a="http://schemas.openxmlformats.org/drawingml/2006/main" w="38100">
            <a:solidFill>
              <a:srgbClr val="F0B84B"/>
            </a:solidFill>
            <a:prstDash val="solid"/>
          </a:ln>
        </p:spPr>
      </p:sp>
      <p:sp>
        <p:nvSpPr>
          <p:cNvPr id="9" name="">
            <a:extLst xmlns:a="http://schemas.openxmlformats.org/drawingml/2006/main">
              <a:ext uri="{FF2B5EF4-FFF2-40B4-BE49-F238E27FC236}">
                <a16:creationId xmlns:a16="http://schemas.microsoft.com/office/drawing/2014/main" id="{1BF11D55-D7F9-4051-9295-FE7294BD17FC}"/>
              </a:ext>
            </a:extLst>
          </p:cNvPr>
          <p:cNvSpPr>
            <a:spLocks xmlns:a="http://schemas.openxmlformats.org/drawingml/2006/main" noGrp="1"/>
          </p:cNvSpPr>
          <p:nvPr/>
        </p:nvSpPr>
        <p:spPr>
          <a:xfrm xmlns:a="http://schemas.openxmlformats.org/drawingml/2006/main">
            <a:off x="685800" y="4171950"/>
            <a:ext cx="48006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A94424"/>
                </a:solidFill>
              </a:defRPr>
            </a:pPr>
            <a:r>
              <a:rPr sz="1575" b="1">
                <a:solidFill>
                  <a:srgbClr val="A94424"/>
                </a:solidFill>
              </a:rPr>
              <a:t>Decision: state the claim, select the strongest evidence and explain why it supports one modification.</a:t>
            </a:r>
          </a:p>
        </p:txBody>
      </p:sp>
      <p:sp>
        <p:nvSpPr>
          <p:cNvPr id="10" name="">
            <a:extLst xmlns:a="http://schemas.openxmlformats.org/drawingml/2006/main">
              <a:ext uri="{FF2B5EF4-FFF2-40B4-BE49-F238E27FC236}">
                <a16:creationId xmlns:a16="http://schemas.microsoft.com/office/drawing/2014/main" id="{3A0D5EF9-83BA-4D24-B13E-7FC2706C65FD}"/>
              </a:ext>
            </a:extLst>
          </p:cNvPr>
          <p:cNvSpPr>
            <a:spLocks xmlns:a="http://schemas.openxmlformats.org/drawingml/2006/main" noGrp="1"/>
          </p:cNvSpPr>
          <p:nvPr/>
        </p:nvSpPr>
        <p:spPr>
          <a:xfrm xmlns:a="http://schemas.openxmlformats.org/drawingml/2006/main" rot="2280000">
            <a:off x="9334500" y="2114550"/>
            <a:ext cx="714375"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906E876-C8B8-4D87-AFB9-274692D93177}"/>
              </a:ext>
            </a:extLst>
          </p:cNvPr>
          <p:cNvSpPr>
            <a:spLocks xmlns:a="http://schemas.openxmlformats.org/drawingml/2006/main" noGrp="1"/>
          </p:cNvSpPr>
          <p:nvPr/>
        </p:nvSpPr>
        <p:spPr>
          <a:xfrm xmlns:a="http://schemas.openxmlformats.org/drawingml/2006/main" rot="8520000">
            <a:off x="9334500" y="3295650"/>
            <a:ext cx="714375"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67BE80D-4DD4-452D-AAF0-41A4D6C0A2A7}"/>
              </a:ext>
            </a:extLst>
          </p:cNvPr>
          <p:cNvSpPr>
            <a:spLocks xmlns:a="http://schemas.openxmlformats.org/drawingml/2006/main" noGrp="1"/>
          </p:cNvSpPr>
          <p:nvPr/>
        </p:nvSpPr>
        <p:spPr>
          <a:xfrm xmlns:a="http://schemas.openxmlformats.org/drawingml/2006/main" rot="13080000">
            <a:off x="6934200" y="3295650"/>
            <a:ext cx="714375"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FD0F02D-C2EC-491A-8C69-C19710E908F7}"/>
              </a:ext>
            </a:extLst>
          </p:cNvPr>
          <p:cNvSpPr>
            <a:spLocks xmlns:a="http://schemas.openxmlformats.org/drawingml/2006/main" noGrp="1"/>
          </p:cNvSpPr>
          <p:nvPr/>
        </p:nvSpPr>
        <p:spPr>
          <a:xfrm xmlns:a="http://schemas.openxmlformats.org/drawingml/2006/main" rot="19320000">
            <a:off x="6934200" y="2114550"/>
            <a:ext cx="714375"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AACB994-9472-4E0B-8DC3-141149224726}"/>
              </a:ext>
            </a:extLst>
          </p:cNvPr>
          <p:cNvSpPr>
            <a:spLocks xmlns:a="http://schemas.openxmlformats.org/drawingml/2006/main" noGrp="1"/>
          </p:cNvSpPr>
          <p:nvPr/>
        </p:nvSpPr>
        <p:spPr>
          <a:xfrm xmlns:a="http://schemas.openxmlformats.org/drawingml/2006/main">
            <a:off x="7886700" y="1409700"/>
            <a:ext cx="1428750" cy="704850"/>
          </a:xfrm>
          <a:prstGeom xmlns:a="http://schemas.openxmlformats.org/drawingml/2006/main" prst="roundRect">
            <a:avLst>
              <a:gd name="adj" fmla="val 10811"/>
            </a:avLst>
          </a:prstGeom>
          <a:solidFill xmlns:a="http://schemas.openxmlformats.org/drawingml/2006/main">
            <a:srgbClr val="E7EEF0"/>
          </a:solidFill>
          <a:ln xmlns:a="http://schemas.openxmlformats.org/drawingml/2006/main" w="9525">
            <a:solidFill>
              <a:srgbClr val="CAD4D8"/>
            </a:solidFill>
            <a:prstDash val="solid"/>
          </a:ln>
        </p:spPr>
        <p:txBody>
          <a:bodyPr xmlns:a="http://schemas.openxmlformats.org/drawingml/2006/main"/>
          <a:lstStyle xmlns:a="http://schemas.openxmlformats.org/drawingml/2006/main"/>
          <a:p xmlns:a="http://schemas.openxmlformats.org/drawingml/2006/main">
            <a:pPr algn="ctr">
              <a:defRPr sz="1200" b="1">
                <a:solidFill>
                  <a:srgbClr val="17232B"/>
                </a:solidFill>
              </a:defRPr>
            </a:pPr>
            <a:r>
              <a:rPr sz="1200" b="1">
                <a:solidFill>
                  <a:srgbClr val="17232B"/>
                </a:solidFill>
              </a:rPr>
              <a:t>CLAIM</a:t>
            </a:r>
          </a:p>
        </p:txBody>
      </p:sp>
      <p:sp>
        <p:nvSpPr>
          <p:cNvPr id="15" name="">
            <a:extLst xmlns:a="http://schemas.openxmlformats.org/drawingml/2006/main">
              <a:ext uri="{FF2B5EF4-FFF2-40B4-BE49-F238E27FC236}">
                <a16:creationId xmlns:a16="http://schemas.microsoft.com/office/drawing/2014/main" id="{1EFBC3FE-9E90-4AD0-8B98-3A5E6B60B5EF}"/>
              </a:ext>
            </a:extLst>
          </p:cNvPr>
          <p:cNvSpPr>
            <a:spLocks xmlns:a="http://schemas.openxmlformats.org/drawingml/2006/main" noGrp="1"/>
          </p:cNvSpPr>
          <p:nvPr/>
        </p:nvSpPr>
        <p:spPr>
          <a:xfrm xmlns:a="http://schemas.openxmlformats.org/drawingml/2006/main">
            <a:off x="9639300" y="2362200"/>
            <a:ext cx="1428750" cy="70485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9525">
            <a:solidFill>
              <a:srgbClr val="CAD4D8"/>
            </a:solidFill>
            <a:prstDash val="solid"/>
          </a:ln>
        </p:spPr>
        <p:txBody>
          <a:bodyPr xmlns:a="http://schemas.openxmlformats.org/drawingml/2006/main"/>
          <a:lstStyle xmlns:a="http://schemas.openxmlformats.org/drawingml/2006/main"/>
          <a:p xmlns:a="http://schemas.openxmlformats.org/drawingml/2006/main">
            <a:pPr algn="ctr">
              <a:defRPr sz="1200" b="1">
                <a:solidFill>
                  <a:srgbClr val="17232B"/>
                </a:solidFill>
              </a:defRPr>
            </a:pPr>
            <a:r>
              <a:rPr sz="1200" b="1">
                <a:solidFill>
                  <a:srgbClr val="17232B"/>
                </a:solidFill>
              </a:rPr>
              <a:t>EVIDENCE</a:t>
            </a:r>
          </a:p>
        </p:txBody>
      </p:sp>
      <p:sp>
        <p:nvSpPr>
          <p:cNvPr id="16" name="">
            <a:extLst xmlns:a="http://schemas.openxmlformats.org/drawingml/2006/main">
              <a:ext uri="{FF2B5EF4-FFF2-40B4-BE49-F238E27FC236}">
                <a16:creationId xmlns:a16="http://schemas.microsoft.com/office/drawing/2014/main" id="{E9F78C1E-1398-4C68-8448-5BFF3CBAB7DB}"/>
              </a:ext>
            </a:extLst>
          </p:cNvPr>
          <p:cNvSpPr>
            <a:spLocks xmlns:a="http://schemas.openxmlformats.org/drawingml/2006/main" noGrp="1"/>
          </p:cNvSpPr>
          <p:nvPr/>
        </p:nvSpPr>
        <p:spPr>
          <a:xfrm xmlns:a="http://schemas.openxmlformats.org/drawingml/2006/main">
            <a:off x="7886700" y="3314700"/>
            <a:ext cx="1428750" cy="704850"/>
          </a:xfrm>
          <a:prstGeom xmlns:a="http://schemas.openxmlformats.org/drawingml/2006/main" prst="roundRect">
            <a:avLst>
              <a:gd name="adj" fmla="val 10811"/>
            </a:avLst>
          </a:prstGeom>
          <a:solidFill xmlns:a="http://schemas.openxmlformats.org/drawingml/2006/main">
            <a:srgbClr val="E7EEF0"/>
          </a:solidFill>
          <a:ln xmlns:a="http://schemas.openxmlformats.org/drawingml/2006/main" w="9525">
            <a:solidFill>
              <a:srgbClr val="CAD4D8"/>
            </a:solidFill>
            <a:prstDash val="solid"/>
          </a:ln>
        </p:spPr>
        <p:txBody>
          <a:bodyPr xmlns:a="http://schemas.openxmlformats.org/drawingml/2006/main"/>
          <a:lstStyle xmlns:a="http://schemas.openxmlformats.org/drawingml/2006/main"/>
          <a:p xmlns:a="http://schemas.openxmlformats.org/drawingml/2006/main">
            <a:pPr algn="ctr">
              <a:defRPr sz="1200" b="1">
                <a:solidFill>
                  <a:srgbClr val="17232B"/>
                </a:solidFill>
              </a:defRPr>
            </a:pPr>
            <a:r>
              <a:rPr sz="1200" b="1">
                <a:solidFill>
                  <a:srgbClr val="17232B"/>
                </a:solidFill>
              </a:rPr>
              <a:t>REASONING</a:t>
            </a:r>
          </a:p>
        </p:txBody>
      </p:sp>
      <p:sp>
        <p:nvSpPr>
          <p:cNvPr id="17" name="">
            <a:extLst xmlns:a="http://schemas.openxmlformats.org/drawingml/2006/main">
              <a:ext uri="{FF2B5EF4-FFF2-40B4-BE49-F238E27FC236}">
                <a16:creationId xmlns:a16="http://schemas.microsoft.com/office/drawing/2014/main" id="{22132B91-32A3-4833-BEE6-DB9CA57087BD}"/>
              </a:ext>
            </a:extLst>
          </p:cNvPr>
          <p:cNvSpPr>
            <a:spLocks xmlns:a="http://schemas.openxmlformats.org/drawingml/2006/main" noGrp="1"/>
          </p:cNvSpPr>
          <p:nvPr/>
        </p:nvSpPr>
        <p:spPr>
          <a:xfrm xmlns:a="http://schemas.openxmlformats.org/drawingml/2006/main">
            <a:off x="6134100" y="2362200"/>
            <a:ext cx="1428750" cy="70485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9525">
            <a:solidFill>
              <a:srgbClr val="CAD4D8"/>
            </a:solidFill>
            <a:prstDash val="solid"/>
          </a:ln>
        </p:spPr>
        <p:txBody>
          <a:bodyPr xmlns:a="http://schemas.openxmlformats.org/drawingml/2006/main"/>
          <a:lstStyle xmlns:a="http://schemas.openxmlformats.org/drawingml/2006/main"/>
          <a:p xmlns:a="http://schemas.openxmlformats.org/drawingml/2006/main">
            <a:pPr algn="ctr">
              <a:defRPr sz="1200" b="1">
                <a:solidFill>
                  <a:srgbClr val="17232B"/>
                </a:solidFill>
              </a:defRPr>
            </a:pPr>
            <a:r>
              <a:rPr sz="1200" b="1">
                <a:solidFill>
                  <a:srgbClr val="17232B"/>
                </a:solidFill>
              </a:rPr>
              <a:t>REDESIGN</a:t>
            </a:r>
          </a:p>
        </p:txBody>
      </p:sp>
      <p:sp>
        <p:nvSpPr>
          <p:cNvPr id="18" name="">
            <a:extLst xmlns:a="http://schemas.openxmlformats.org/drawingml/2006/main">
              <a:ext uri="{FF2B5EF4-FFF2-40B4-BE49-F238E27FC236}">
                <a16:creationId xmlns:a16="http://schemas.microsoft.com/office/drawing/2014/main" id="{14E5C941-B414-43F6-A09E-DA3A39B3BA7E}"/>
              </a:ext>
            </a:extLst>
          </p:cNvPr>
          <p:cNvSpPr>
            <a:spLocks xmlns:a="http://schemas.openxmlformats.org/drawingml/2006/main" noGrp="1"/>
          </p:cNvSpPr>
          <p:nvPr/>
        </p:nvSpPr>
        <p:spPr>
          <a:xfrm xmlns:a="http://schemas.openxmlformats.org/drawingml/2006/main">
            <a:off x="6191250" y="4762500"/>
            <a:ext cx="4762500" cy="552450"/>
          </a:xfrm>
          <a:prstGeom xmlns:a="http://schemas.openxmlformats.org/drawingml/2006/main" prst="rect">
            <a:avLst/>
          </a:prstGeom>
          <a:solidFill xmlns:a="http://schemas.openxmlformats.org/drawingml/2006/main">
            <a:srgbClr val="FFF4D8"/>
          </a:solidFill>
          <a:ln xmlns:a="http://schemas.openxmlformats.org/drawingml/2006/main" w="9525">
            <a:solidFill>
              <a:srgbClr val="F0B84B"/>
            </a:solidFill>
            <a:prstDash val="solid"/>
          </a:ln>
        </p:spPr>
        <p:txBody>
          <a:bodyPr xmlns:a="http://schemas.openxmlformats.org/drawingml/2006/main"/>
          <a:lstStyle xmlns:a="http://schemas.openxmlformats.org/drawingml/2006/main"/>
          <a:p xmlns:a="http://schemas.openxmlformats.org/drawingml/2006/main">
            <a:pPr algn="l">
              <a:defRPr sz="1350" b="1">
                <a:solidFill>
                  <a:srgbClr val="184F5E"/>
                </a:solidFill>
              </a:defRPr>
            </a:pPr>
            <a:r>
              <a:rPr sz="1350" b="1">
                <a:solidFill>
                  <a:srgbClr val="184F5E"/>
                </a:solidFill>
              </a:rPr>
              <a:t>NOTICE  Data become useful only when reasoning connects them to a decision.</a:t>
            </a:r>
          </a:p>
        </p:txBody>
      </p:sp>
    </p:spTree>
    <p:extLst>
      <p:ext uri="{BB962C8B-B14F-4D97-AF65-F5344CB8AC3E}">
        <p14:creationId xmlns:p14="http://schemas.microsoft.com/office/powerpoint/2010/main" val="1471820086"/>
      </p:ext>
    </p:extLst>
  </p:cSld>
</p:sld>
</file>

<file path=ppt/slides/slide6.xml><?xml version="1.0" encoding="utf-8"?>
<p:sld xmlns:p="http://schemas.openxmlformats.org/presentationml/2006/main">
  <p:cSld>
    <p:bg>
      <p:bgPr>
        <a:solidFill xmlns:a="http://schemas.openxmlformats.org/drawingml/2006/main">
          <a:srgbClr val="0B3541"/>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A74FC0B-2104-49C2-A400-A91B5CA06082}"/>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0B84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D5656F0-C572-4D3A-B211-A4193762937D}"/>
              </a:ext>
            </a:extLst>
          </p:cNvPr>
          <p:cNvSpPr>
            <a:spLocks xmlns:a="http://schemas.openxmlformats.org/drawingml/2006/main" noGrp="1"/>
          </p:cNvSpPr>
          <p:nvPr/>
        </p:nvSpPr>
        <p:spPr>
          <a:xfrm xmlns:a="http://schemas.openxmlformats.org/drawingml/2006/main">
            <a:off x="685800" y="3048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F0B84B"/>
                </a:solidFill>
              </a:defRPr>
            </a:pPr>
            <a:r>
              <a:rPr sz="1050" b="1">
                <a:solidFill>
                  <a:srgbClr val="F0B84B"/>
                </a:solidFill>
              </a:rPr>
              <a:t>MODULE 08  /  TESTING AND REDESIGN</a:t>
            </a:r>
          </a:p>
        </p:txBody>
      </p:sp>
      <p:sp>
        <p:nvSpPr>
          <p:cNvPr id="3" name="">
            <a:extLst xmlns:a="http://schemas.openxmlformats.org/drawingml/2006/main">
              <a:ext uri="{FF2B5EF4-FFF2-40B4-BE49-F238E27FC236}">
                <a16:creationId xmlns:a16="http://schemas.microsoft.com/office/drawing/2014/main" id="{48647E50-8378-43FC-99EE-EE8A5C312642}"/>
              </a:ext>
            </a:extLst>
          </p:cNvPr>
          <p:cNvSpPr>
            <a:spLocks xmlns:a="http://schemas.openxmlformats.org/drawingml/2006/main" noGrp="1"/>
          </p:cNvSpPr>
          <p:nvPr/>
        </p:nvSpPr>
        <p:spPr>
          <a:xfrm xmlns:a="http://schemas.openxmlformats.org/drawingml/2006/main">
            <a:off x="685800" y="619125"/>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FFFFF"/>
                </a:solidFill>
              </a:defRPr>
            </a:pPr>
            <a:r>
              <a:rPr sz="2850" b="1">
                <a:solidFill>
                  <a:srgbClr val="FFFFFF"/>
                </a:solidFill>
              </a:rPr>
              <a:t>Stop. Think. Explain.</a:t>
            </a:r>
          </a:p>
        </p:txBody>
      </p:sp>
      <p:sp>
        <p:nvSpPr>
          <p:cNvPr id="4" name="">
            <a:extLst xmlns:a="http://schemas.openxmlformats.org/drawingml/2006/main">
              <a:ext uri="{FF2B5EF4-FFF2-40B4-BE49-F238E27FC236}">
                <a16:creationId xmlns:a16="http://schemas.microsoft.com/office/drawing/2014/main" id="{D0BE25C7-D0F5-44D0-B7C3-1BCC74618A00}"/>
              </a:ext>
            </a:extLst>
          </p:cNvPr>
          <p:cNvSpPr>
            <a:spLocks xmlns:a="http://schemas.openxmlformats.org/drawingml/2006/main" noGrp="1"/>
          </p:cNvSpPr>
          <p:nvPr/>
        </p:nvSpPr>
        <p:spPr>
          <a:xfrm xmlns:a="http://schemas.openxmlformats.org/drawingml/2006/main">
            <a:off x="685800" y="6400800"/>
            <a:ext cx="10820400" cy="0"/>
          </a:xfrm>
          <a:prstGeom xmlns:a="http://schemas.openxmlformats.org/drawingml/2006/main" prst="line">
            <a:avLst/>
          </a:prstGeom>
          <a:noFill xmlns:a="http://schemas.openxmlformats.org/drawingml/2006/main"/>
          <a:ln xmlns:a="http://schemas.openxmlformats.org/drawingml/2006/main" w="9525">
            <a:solidFill>
              <a:srgbClr val="FFFFFF">
                <a:alpha val="33333"/>
              </a:srgbClr>
            </a:solidFill>
            <a:prstDash val="solid"/>
          </a:ln>
        </p:spPr>
      </p:sp>
      <p:sp>
        <p:nvSpPr>
          <p:cNvPr id="5" name="">
            <a:extLst xmlns:a="http://schemas.openxmlformats.org/drawingml/2006/main">
              <a:ext uri="{FF2B5EF4-FFF2-40B4-BE49-F238E27FC236}">
                <a16:creationId xmlns:a16="http://schemas.microsoft.com/office/drawing/2014/main" id="{5910C6D5-2237-41D6-96D8-BABEEEED66AE}"/>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D7E5E8"/>
                </a:solidFill>
              </a:defRPr>
            </a:pPr>
            <a:r>
              <a:rPr sz="975" b="1">
                <a:solidFill>
                  <a:srgbClr val="D7E5E8"/>
                </a:solidFill>
              </a:rPr>
              <a:t>YEAR 8 CATAPULT  •  MODULE 08</a:t>
            </a:r>
          </a:p>
        </p:txBody>
      </p:sp>
      <p:sp>
        <p:nvSpPr>
          <p:cNvPr id="6" name="">
            <a:extLst xmlns:a="http://schemas.openxmlformats.org/drawingml/2006/main">
              <a:ext uri="{FF2B5EF4-FFF2-40B4-BE49-F238E27FC236}">
                <a16:creationId xmlns:a16="http://schemas.microsoft.com/office/drawing/2014/main" id="{5FE03F14-CD2F-4F2A-BA91-115652C87194}"/>
              </a:ext>
            </a:extLst>
          </p:cNvPr>
          <p:cNvSpPr>
            <a:spLocks xmlns:a="http://schemas.openxmlformats.org/drawingml/2006/main" noGrp="1"/>
          </p:cNvSpPr>
          <p:nvPr/>
        </p:nvSpPr>
        <p:spPr>
          <a:xfrm xmlns:a="http://schemas.openxmlformats.org/drawingml/2006/main">
            <a:off x="110490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F0B84B"/>
                </a:solidFill>
              </a:defRPr>
            </a:pPr>
            <a:r>
              <a:rPr sz="975" b="1">
                <a:solidFill>
                  <a:srgbClr val="F0B84B"/>
                </a:solidFill>
              </a:rPr>
              <a:t>06</a:t>
            </a:r>
          </a:p>
        </p:txBody>
      </p:sp>
      <p:sp>
        <p:nvSpPr>
          <p:cNvPr id="7" name="">
            <a:extLst xmlns:a="http://schemas.openxmlformats.org/drawingml/2006/main">
              <a:ext uri="{FF2B5EF4-FFF2-40B4-BE49-F238E27FC236}">
                <a16:creationId xmlns:a16="http://schemas.microsoft.com/office/drawing/2014/main" id="{04579B05-F2D1-45A5-8B4D-42A8EF837B20}"/>
              </a:ext>
            </a:extLst>
          </p:cNvPr>
          <p:cNvSpPr>
            <a:spLocks xmlns:a="http://schemas.openxmlformats.org/drawingml/2006/main" noGrp="1"/>
          </p:cNvSpPr>
          <p:nvPr/>
        </p:nvSpPr>
        <p:spPr>
          <a:xfrm xmlns:a="http://schemas.openxmlformats.org/drawingml/2006/main">
            <a:off x="685800" y="1219200"/>
            <a:ext cx="981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D7E5E8"/>
                </a:solidFill>
              </a:defRPr>
            </a:pPr>
            <a:r>
              <a:rPr sz="1500" b="0">
                <a:solidFill>
                  <a:srgbClr val="D7E5E8"/>
                </a:solidFill>
              </a:rPr>
              <a:t>Answer silently first. Then justify one answer with a partner.</a:t>
            </a:r>
          </a:p>
        </p:txBody>
      </p:sp>
      <p:sp>
        <p:nvSpPr>
          <p:cNvPr id="8" name="">
            <a:extLst xmlns:a="http://schemas.openxmlformats.org/drawingml/2006/main">
              <a:ext uri="{FF2B5EF4-FFF2-40B4-BE49-F238E27FC236}">
                <a16:creationId xmlns:a16="http://schemas.microsoft.com/office/drawing/2014/main" id="{77D83827-1C87-4242-A149-3E443CF0046B}"/>
              </a:ext>
            </a:extLst>
          </p:cNvPr>
          <p:cNvSpPr>
            <a:spLocks xmlns:a="http://schemas.openxmlformats.org/drawingml/2006/main" noGrp="1"/>
          </p:cNvSpPr>
          <p:nvPr/>
        </p:nvSpPr>
        <p:spPr>
          <a:xfrm xmlns:a="http://schemas.openxmlformats.org/drawingml/2006/main">
            <a:off x="781050" y="1933575"/>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0B84B"/>
                </a:solidFill>
              </a:defRPr>
            </a:pPr>
            <a:r>
              <a:rPr sz="1800" b="1">
                <a:solidFill>
                  <a:srgbClr val="F0B84B"/>
                </a:solidFill>
              </a:rPr>
              <a:t>1</a:t>
            </a:r>
          </a:p>
        </p:txBody>
      </p:sp>
      <p:sp>
        <p:nvSpPr>
          <p:cNvPr id="9" name="">
            <a:extLst xmlns:a="http://schemas.openxmlformats.org/drawingml/2006/main">
              <a:ext uri="{FF2B5EF4-FFF2-40B4-BE49-F238E27FC236}">
                <a16:creationId xmlns:a16="http://schemas.microsoft.com/office/drawing/2014/main" id="{55373102-8C27-4BE4-8DB6-177DB479BE78}"/>
              </a:ext>
            </a:extLst>
          </p:cNvPr>
          <p:cNvSpPr>
            <a:spLocks xmlns:a="http://schemas.openxmlformats.org/drawingml/2006/main" noGrp="1"/>
          </p:cNvSpPr>
          <p:nvPr/>
        </p:nvSpPr>
        <p:spPr>
          <a:xfrm xmlns:a="http://schemas.openxmlformats.org/drawingml/2006/main">
            <a:off x="1485900" y="1847850"/>
            <a:ext cx="933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Which variable is deliberately changed?</a:t>
            </a:r>
          </a:p>
        </p:txBody>
      </p:sp>
      <p:sp>
        <p:nvSpPr>
          <p:cNvPr id="10" name="">
            <a:extLst xmlns:a="http://schemas.openxmlformats.org/drawingml/2006/main">
              <a:ext uri="{FF2B5EF4-FFF2-40B4-BE49-F238E27FC236}">
                <a16:creationId xmlns:a16="http://schemas.microsoft.com/office/drawing/2014/main" id="{5753C58C-25C3-4024-9DFC-66DA780787D6}"/>
              </a:ext>
            </a:extLst>
          </p:cNvPr>
          <p:cNvSpPr>
            <a:spLocks xmlns:a="http://schemas.openxmlformats.org/drawingml/2006/main" noGrp="1"/>
          </p:cNvSpPr>
          <p:nvPr/>
        </p:nvSpPr>
        <p:spPr>
          <a:xfrm xmlns:a="http://schemas.openxmlformats.org/drawingml/2006/main">
            <a:off x="1485900" y="2533650"/>
            <a:ext cx="9048750" cy="0"/>
          </a:xfrm>
          <a:prstGeom xmlns:a="http://schemas.openxmlformats.org/drawingml/2006/main" prst="line">
            <a:avLst/>
          </a:prstGeom>
          <a:noFill xmlns:a="http://schemas.openxmlformats.org/drawingml/2006/main"/>
          <a:ln xmlns:a="http://schemas.openxmlformats.org/drawingml/2006/main" w="9525">
            <a:solidFill>
              <a:srgbClr val="FFFFFF">
                <a:alpha val="20000"/>
              </a:srgbClr>
            </a:solidFill>
            <a:prstDash val="solid"/>
          </a:ln>
        </p:spPr>
      </p:sp>
      <p:sp>
        <p:nvSpPr>
          <p:cNvPr id="11" name="">
            <a:extLst xmlns:a="http://schemas.openxmlformats.org/drawingml/2006/main">
              <a:ext uri="{FF2B5EF4-FFF2-40B4-BE49-F238E27FC236}">
                <a16:creationId xmlns:a16="http://schemas.microsoft.com/office/drawing/2014/main" id="{4A7B25BD-7340-4718-85E0-3666FBA7F78C}"/>
              </a:ext>
            </a:extLst>
          </p:cNvPr>
          <p:cNvSpPr>
            <a:spLocks xmlns:a="http://schemas.openxmlformats.org/drawingml/2006/main" noGrp="1"/>
          </p:cNvSpPr>
          <p:nvPr/>
        </p:nvSpPr>
        <p:spPr>
          <a:xfrm xmlns:a="http://schemas.openxmlformats.org/drawingml/2006/main">
            <a:off x="781050" y="291465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0B84B"/>
                </a:solidFill>
              </a:defRPr>
            </a:pPr>
            <a:r>
              <a:rPr sz="1800" b="1">
                <a:solidFill>
                  <a:srgbClr val="F0B84B"/>
                </a:solidFill>
              </a:rPr>
              <a:t>2</a:t>
            </a:r>
          </a:p>
        </p:txBody>
      </p:sp>
      <p:sp>
        <p:nvSpPr>
          <p:cNvPr id="12" name="">
            <a:extLst xmlns:a="http://schemas.openxmlformats.org/drawingml/2006/main">
              <a:ext uri="{FF2B5EF4-FFF2-40B4-BE49-F238E27FC236}">
                <a16:creationId xmlns:a16="http://schemas.microsoft.com/office/drawing/2014/main" id="{FEF0E062-99BD-49F6-98FD-6AD8DE91E987}"/>
              </a:ext>
            </a:extLst>
          </p:cNvPr>
          <p:cNvSpPr>
            <a:spLocks xmlns:a="http://schemas.openxmlformats.org/drawingml/2006/main" noGrp="1"/>
          </p:cNvSpPr>
          <p:nvPr/>
        </p:nvSpPr>
        <p:spPr>
          <a:xfrm xmlns:a="http://schemas.openxmlformats.org/drawingml/2006/main">
            <a:off x="1485900" y="2828925"/>
            <a:ext cx="933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Why are repeated results stronger than a single best result?</a:t>
            </a:r>
          </a:p>
        </p:txBody>
      </p:sp>
      <p:sp>
        <p:nvSpPr>
          <p:cNvPr id="13" name="">
            <a:extLst xmlns:a="http://schemas.openxmlformats.org/drawingml/2006/main">
              <a:ext uri="{FF2B5EF4-FFF2-40B4-BE49-F238E27FC236}">
                <a16:creationId xmlns:a16="http://schemas.microsoft.com/office/drawing/2014/main" id="{33DEF2F8-ACA4-446B-9F4A-87EC5FE9F2E9}"/>
              </a:ext>
            </a:extLst>
          </p:cNvPr>
          <p:cNvSpPr>
            <a:spLocks xmlns:a="http://schemas.openxmlformats.org/drawingml/2006/main" noGrp="1"/>
          </p:cNvSpPr>
          <p:nvPr/>
        </p:nvSpPr>
        <p:spPr>
          <a:xfrm xmlns:a="http://schemas.openxmlformats.org/drawingml/2006/main">
            <a:off x="1485900" y="3514725"/>
            <a:ext cx="9048750" cy="0"/>
          </a:xfrm>
          <a:prstGeom xmlns:a="http://schemas.openxmlformats.org/drawingml/2006/main" prst="line">
            <a:avLst/>
          </a:prstGeom>
          <a:noFill xmlns:a="http://schemas.openxmlformats.org/drawingml/2006/main"/>
          <a:ln xmlns:a="http://schemas.openxmlformats.org/drawingml/2006/main" w="9525">
            <a:solidFill>
              <a:srgbClr val="FFFFFF">
                <a:alpha val="20000"/>
              </a:srgbClr>
            </a:solidFill>
            <a:prstDash val="solid"/>
          </a:ln>
        </p:spPr>
      </p:sp>
      <p:sp>
        <p:nvSpPr>
          <p:cNvPr id="14" name="">
            <a:extLst xmlns:a="http://schemas.openxmlformats.org/drawingml/2006/main">
              <a:ext uri="{FF2B5EF4-FFF2-40B4-BE49-F238E27FC236}">
                <a16:creationId xmlns:a16="http://schemas.microsoft.com/office/drawing/2014/main" id="{0FBFA3D6-DB99-4ED6-8373-3B98E27C2EC5}"/>
              </a:ext>
            </a:extLst>
          </p:cNvPr>
          <p:cNvSpPr>
            <a:spLocks xmlns:a="http://schemas.openxmlformats.org/drawingml/2006/main" noGrp="1"/>
          </p:cNvSpPr>
          <p:nvPr/>
        </p:nvSpPr>
        <p:spPr>
          <a:xfrm xmlns:a="http://schemas.openxmlformats.org/drawingml/2006/main">
            <a:off x="781050" y="3895725"/>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0B84B"/>
                </a:solidFill>
              </a:defRPr>
            </a:pPr>
            <a:r>
              <a:rPr sz="1800" b="1">
                <a:solidFill>
                  <a:srgbClr val="F0B84B"/>
                </a:solidFill>
              </a:rPr>
              <a:t>3</a:t>
            </a:r>
          </a:p>
        </p:txBody>
      </p:sp>
      <p:sp>
        <p:nvSpPr>
          <p:cNvPr id="15" name="">
            <a:extLst xmlns:a="http://schemas.openxmlformats.org/drawingml/2006/main">
              <a:ext uri="{FF2B5EF4-FFF2-40B4-BE49-F238E27FC236}">
                <a16:creationId xmlns:a16="http://schemas.microsoft.com/office/drawing/2014/main" id="{29717C89-9811-45DF-B21E-641767E93340}"/>
              </a:ext>
            </a:extLst>
          </p:cNvPr>
          <p:cNvSpPr>
            <a:spLocks xmlns:a="http://schemas.openxmlformats.org/drawingml/2006/main" noGrp="1"/>
          </p:cNvSpPr>
          <p:nvPr/>
        </p:nvSpPr>
        <p:spPr>
          <a:xfrm xmlns:a="http://schemas.openxmlformats.org/drawingml/2006/main">
            <a:off x="1485900" y="3810000"/>
            <a:ext cx="933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What does range reveal that mean does not?</a:t>
            </a:r>
          </a:p>
        </p:txBody>
      </p:sp>
      <p:sp>
        <p:nvSpPr>
          <p:cNvPr id="16" name="">
            <a:extLst xmlns:a="http://schemas.openxmlformats.org/drawingml/2006/main">
              <a:ext uri="{FF2B5EF4-FFF2-40B4-BE49-F238E27FC236}">
                <a16:creationId xmlns:a16="http://schemas.microsoft.com/office/drawing/2014/main" id="{73E73483-97EB-4051-A7D6-087747384DE6}"/>
              </a:ext>
            </a:extLst>
          </p:cNvPr>
          <p:cNvSpPr>
            <a:spLocks xmlns:a="http://schemas.openxmlformats.org/drawingml/2006/main" noGrp="1"/>
          </p:cNvSpPr>
          <p:nvPr/>
        </p:nvSpPr>
        <p:spPr>
          <a:xfrm xmlns:a="http://schemas.openxmlformats.org/drawingml/2006/main">
            <a:off x="1485900" y="4495800"/>
            <a:ext cx="9048750" cy="0"/>
          </a:xfrm>
          <a:prstGeom xmlns:a="http://schemas.openxmlformats.org/drawingml/2006/main" prst="line">
            <a:avLst/>
          </a:prstGeom>
          <a:noFill xmlns:a="http://schemas.openxmlformats.org/drawingml/2006/main"/>
          <a:ln xmlns:a="http://schemas.openxmlformats.org/drawingml/2006/main" w="9525">
            <a:solidFill>
              <a:srgbClr val="FFFFFF">
                <a:alpha val="20000"/>
              </a:srgbClr>
            </a:solidFill>
            <a:prstDash val="solid"/>
          </a:ln>
        </p:spPr>
      </p:sp>
      <p:sp>
        <p:nvSpPr>
          <p:cNvPr id="17" name="">
            <a:extLst xmlns:a="http://schemas.openxmlformats.org/drawingml/2006/main">
              <a:ext uri="{FF2B5EF4-FFF2-40B4-BE49-F238E27FC236}">
                <a16:creationId xmlns:a16="http://schemas.microsoft.com/office/drawing/2014/main" id="{9777AB7C-8349-4BEC-890B-80AB0D90CC72}"/>
              </a:ext>
            </a:extLst>
          </p:cNvPr>
          <p:cNvSpPr>
            <a:spLocks xmlns:a="http://schemas.openxmlformats.org/drawingml/2006/main" noGrp="1"/>
          </p:cNvSpPr>
          <p:nvPr/>
        </p:nvSpPr>
        <p:spPr>
          <a:xfrm xmlns:a="http://schemas.openxmlformats.org/drawingml/2006/main">
            <a:off x="781050" y="487680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0B84B"/>
                </a:solidFill>
              </a:defRPr>
            </a:pPr>
            <a:r>
              <a:rPr sz="1800" b="1">
                <a:solidFill>
                  <a:srgbClr val="F0B84B"/>
                </a:solidFill>
              </a:rPr>
              <a:t>4</a:t>
            </a:r>
          </a:p>
        </p:txBody>
      </p:sp>
      <p:sp>
        <p:nvSpPr>
          <p:cNvPr id="18" name="">
            <a:extLst xmlns:a="http://schemas.openxmlformats.org/drawingml/2006/main">
              <a:ext uri="{FF2B5EF4-FFF2-40B4-BE49-F238E27FC236}">
                <a16:creationId xmlns:a16="http://schemas.microsoft.com/office/drawing/2014/main" id="{EF2C7BDA-37B9-4781-9FFB-F0E89FA6F01F}"/>
              </a:ext>
            </a:extLst>
          </p:cNvPr>
          <p:cNvSpPr>
            <a:spLocks xmlns:a="http://schemas.openxmlformats.org/drawingml/2006/main" noGrp="1"/>
          </p:cNvSpPr>
          <p:nvPr/>
        </p:nvSpPr>
        <p:spPr>
          <a:xfrm xmlns:a="http://schemas.openxmlformats.org/drawingml/2006/main">
            <a:off x="1485900" y="4791075"/>
            <a:ext cx="933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What turns data into an engineering explanation?</a:t>
            </a:r>
          </a:p>
        </p:txBody>
      </p:sp>
    </p:spTree>
    <p:extLst>
      <p:ext uri="{BB962C8B-B14F-4D97-AF65-F5344CB8AC3E}">
        <p14:creationId xmlns:p14="http://schemas.microsoft.com/office/powerpoint/2010/main" val="1988247064"/>
      </p:ext>
    </p:extLst>
  </p:cSld>
</p:sld>
</file>

<file path=ppt/slides/slide7.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DE70617-FA36-4AF3-938D-D93F038AF6A3}"/>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0B84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0430D60-DB29-49D8-B408-3543C795368D}"/>
              </a:ext>
            </a:extLst>
          </p:cNvPr>
          <p:cNvSpPr>
            <a:spLocks xmlns:a="http://schemas.openxmlformats.org/drawingml/2006/main" noGrp="1"/>
          </p:cNvSpPr>
          <p:nvPr/>
        </p:nvSpPr>
        <p:spPr>
          <a:xfrm xmlns:a="http://schemas.openxmlformats.org/drawingml/2006/main">
            <a:off x="685800" y="3048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A94424"/>
                </a:solidFill>
              </a:defRPr>
            </a:pPr>
            <a:r>
              <a:rPr sz="1050" b="1">
                <a:solidFill>
                  <a:srgbClr val="A94424"/>
                </a:solidFill>
              </a:rPr>
              <a:t>MODULE 08  /  TESTING AND REDESIGN</a:t>
            </a:r>
          </a:p>
        </p:txBody>
      </p:sp>
      <p:sp>
        <p:nvSpPr>
          <p:cNvPr id="3" name="">
            <a:extLst xmlns:a="http://schemas.openxmlformats.org/drawingml/2006/main">
              <a:ext uri="{FF2B5EF4-FFF2-40B4-BE49-F238E27FC236}">
                <a16:creationId xmlns:a16="http://schemas.microsoft.com/office/drawing/2014/main" id="{23110C1B-EB9D-4535-8E1B-4A2D00B04655}"/>
              </a:ext>
            </a:extLst>
          </p:cNvPr>
          <p:cNvSpPr>
            <a:spLocks xmlns:a="http://schemas.openxmlformats.org/drawingml/2006/main" noGrp="1"/>
          </p:cNvSpPr>
          <p:nvPr/>
        </p:nvSpPr>
        <p:spPr>
          <a:xfrm xmlns:a="http://schemas.openxmlformats.org/drawingml/2006/main">
            <a:off x="685800" y="619125"/>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7232B"/>
                </a:solidFill>
              </a:defRPr>
            </a:pPr>
            <a:r>
              <a:rPr sz="2850" b="1">
                <a:solidFill>
                  <a:srgbClr val="17232B"/>
                </a:solidFill>
              </a:rPr>
              <a:t>Build the evidence, not just an answer</a:t>
            </a:r>
          </a:p>
        </p:txBody>
      </p:sp>
      <p:sp>
        <p:nvSpPr>
          <p:cNvPr id="4" name="">
            <a:extLst xmlns:a="http://schemas.openxmlformats.org/drawingml/2006/main">
              <a:ext uri="{FF2B5EF4-FFF2-40B4-BE49-F238E27FC236}">
                <a16:creationId xmlns:a16="http://schemas.microsoft.com/office/drawing/2014/main" id="{D0B4B8A7-3239-4641-A3A1-392E07B69FE3}"/>
              </a:ext>
            </a:extLst>
          </p:cNvPr>
          <p:cNvSpPr>
            <a:spLocks xmlns:a="http://schemas.openxmlformats.org/drawingml/2006/main" noGrp="1"/>
          </p:cNvSpPr>
          <p:nvPr/>
        </p:nvSpPr>
        <p:spPr>
          <a:xfrm xmlns:a="http://schemas.openxmlformats.org/drawingml/2006/main">
            <a:off x="685800" y="6400800"/>
            <a:ext cx="10820400" cy="0"/>
          </a:xfrm>
          <a:prstGeom xmlns:a="http://schemas.openxmlformats.org/drawingml/2006/main" prst="line">
            <a:avLst/>
          </a:prstGeom>
          <a:noFill xmlns:a="http://schemas.openxmlformats.org/drawingml/2006/main"/>
          <a:ln xmlns:a="http://schemas.openxmlformats.org/drawingml/2006/main" w="9525">
            <a:solidFill>
              <a:srgbClr val="CAD4D8"/>
            </a:solidFill>
            <a:prstDash val="solid"/>
          </a:ln>
        </p:spPr>
      </p:sp>
      <p:sp>
        <p:nvSpPr>
          <p:cNvPr id="5" name="">
            <a:extLst xmlns:a="http://schemas.openxmlformats.org/drawingml/2006/main">
              <a:ext uri="{FF2B5EF4-FFF2-40B4-BE49-F238E27FC236}">
                <a16:creationId xmlns:a16="http://schemas.microsoft.com/office/drawing/2014/main" id="{A5FF8F84-5F0B-456B-B4CB-3B278DCC0A6F}"/>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3636D"/>
                </a:solidFill>
              </a:defRPr>
            </a:pPr>
            <a:r>
              <a:rPr sz="975" b="1">
                <a:solidFill>
                  <a:srgbClr val="53636D"/>
                </a:solidFill>
              </a:rPr>
              <a:t>YEAR 8 CATAPULT  •  MODULE 08</a:t>
            </a:r>
          </a:p>
        </p:txBody>
      </p:sp>
      <p:sp>
        <p:nvSpPr>
          <p:cNvPr id="6" name="">
            <a:extLst xmlns:a="http://schemas.openxmlformats.org/drawingml/2006/main">
              <a:ext uri="{FF2B5EF4-FFF2-40B4-BE49-F238E27FC236}">
                <a16:creationId xmlns:a16="http://schemas.microsoft.com/office/drawing/2014/main" id="{211E6973-ABC1-40CE-B2B9-FA332AB9EC7B}"/>
              </a:ext>
            </a:extLst>
          </p:cNvPr>
          <p:cNvSpPr>
            <a:spLocks xmlns:a="http://schemas.openxmlformats.org/drawingml/2006/main" noGrp="1"/>
          </p:cNvSpPr>
          <p:nvPr/>
        </p:nvSpPr>
        <p:spPr>
          <a:xfrm xmlns:a="http://schemas.openxmlformats.org/drawingml/2006/main">
            <a:off x="110490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A94424"/>
                </a:solidFill>
              </a:defRPr>
            </a:pPr>
            <a:r>
              <a:rPr sz="975" b="1">
                <a:solidFill>
                  <a:srgbClr val="A94424"/>
                </a:solidFill>
              </a:rPr>
              <a:t>07</a:t>
            </a:r>
          </a:p>
        </p:txBody>
      </p:sp>
      <p:sp>
        <p:nvSpPr>
          <p:cNvPr id="7" name="">
            <a:extLst xmlns:a="http://schemas.openxmlformats.org/drawingml/2006/main">
              <a:ext uri="{FF2B5EF4-FFF2-40B4-BE49-F238E27FC236}">
                <a16:creationId xmlns:a16="http://schemas.microsoft.com/office/drawing/2014/main" id="{5D3F85EF-0DA9-443A-B4BB-7A34A00EAE4E}"/>
              </a:ext>
            </a:extLst>
          </p:cNvPr>
          <p:cNvSpPr>
            <a:spLocks xmlns:a="http://schemas.openxmlformats.org/drawingml/2006/main" noGrp="1"/>
          </p:cNvSpPr>
          <p:nvPr/>
        </p:nvSpPr>
        <p:spPr>
          <a:xfrm xmlns:a="http://schemas.openxmlformats.org/drawingml/2006/main">
            <a:off x="685800" y="12573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A94424"/>
                </a:solidFill>
              </a:defRPr>
            </a:pPr>
            <a:r>
              <a:rPr sz="1200" b="1">
                <a:solidFill>
                  <a:srgbClr val="A94424"/>
                </a:solidFill>
              </a:rPr>
              <a:t>THE QUESTION</a:t>
            </a:r>
          </a:p>
        </p:txBody>
      </p:sp>
      <p:sp>
        <p:nvSpPr>
          <p:cNvPr id="8" name="">
            <a:extLst xmlns:a="http://schemas.openxmlformats.org/drawingml/2006/main">
              <a:ext uri="{FF2B5EF4-FFF2-40B4-BE49-F238E27FC236}">
                <a16:creationId xmlns:a16="http://schemas.microsoft.com/office/drawing/2014/main" id="{5B40B6EF-3474-4A18-8869-4D391A5CEF4A}"/>
              </a:ext>
            </a:extLst>
          </p:cNvPr>
          <p:cNvSpPr>
            <a:spLocks xmlns:a="http://schemas.openxmlformats.org/drawingml/2006/main" noGrp="1"/>
          </p:cNvSpPr>
          <p:nvPr/>
        </p:nvSpPr>
        <p:spPr>
          <a:xfrm xmlns:a="http://schemas.openxmlformats.org/drawingml/2006/main">
            <a:off x="685800" y="1581150"/>
            <a:ext cx="108204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7232B"/>
                </a:solidFill>
              </a:defRPr>
            </a:pPr>
            <a:r>
              <a:rPr sz="1800" b="1">
                <a:solidFill>
                  <a:srgbClr val="17232B"/>
                </a:solidFill>
              </a:rPr>
              <a:t>Design A has a stronger mean; Design B has a smaller range and better stability. Recommend one for a teacher-confirmed purpose, explain the trade-off and name further evidence.</a:t>
            </a:r>
          </a:p>
        </p:txBody>
      </p:sp>
      <p:sp>
        <p:nvSpPr>
          <p:cNvPr id="9" name="">
            <a:extLst xmlns:a="http://schemas.openxmlformats.org/drawingml/2006/main">
              <a:ext uri="{FF2B5EF4-FFF2-40B4-BE49-F238E27FC236}">
                <a16:creationId xmlns:a16="http://schemas.microsoft.com/office/drawing/2014/main" id="{34C2BEDD-4ADC-4346-9DDD-490D4BD27566}"/>
              </a:ext>
            </a:extLst>
          </p:cNvPr>
          <p:cNvSpPr>
            <a:spLocks xmlns:a="http://schemas.openxmlformats.org/drawingml/2006/main" noGrp="1"/>
          </p:cNvSpPr>
          <p:nvPr/>
        </p:nvSpPr>
        <p:spPr>
          <a:xfrm xmlns:a="http://schemas.openxmlformats.org/drawingml/2006/main">
            <a:off x="3143250" y="3476625"/>
            <a:ext cx="533400"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1C7A974-D59B-4EAF-8825-3DE9D4A22E4A}"/>
              </a:ext>
            </a:extLst>
          </p:cNvPr>
          <p:cNvSpPr>
            <a:spLocks xmlns:a="http://schemas.openxmlformats.org/drawingml/2006/main" noGrp="1"/>
          </p:cNvSpPr>
          <p:nvPr/>
        </p:nvSpPr>
        <p:spPr>
          <a:xfrm xmlns:a="http://schemas.openxmlformats.org/drawingml/2006/main">
            <a:off x="5867400" y="3476625"/>
            <a:ext cx="533400"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F4ED519-62F2-402B-9E4E-64DAF7299A10}"/>
              </a:ext>
            </a:extLst>
          </p:cNvPr>
          <p:cNvSpPr>
            <a:spLocks xmlns:a="http://schemas.openxmlformats.org/drawingml/2006/main" noGrp="1"/>
          </p:cNvSpPr>
          <p:nvPr/>
        </p:nvSpPr>
        <p:spPr>
          <a:xfrm xmlns:a="http://schemas.openxmlformats.org/drawingml/2006/main">
            <a:off x="8591550" y="3476625"/>
            <a:ext cx="533400"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18A4128-C05F-453F-9802-98E9E8F286C6}"/>
              </a:ext>
            </a:extLst>
          </p:cNvPr>
          <p:cNvSpPr>
            <a:spLocks xmlns:a="http://schemas.openxmlformats.org/drawingml/2006/main" noGrp="1"/>
          </p:cNvSpPr>
          <p:nvPr/>
        </p:nvSpPr>
        <p:spPr>
          <a:xfrm xmlns:a="http://schemas.openxmlformats.org/drawingml/2006/main">
            <a:off x="685800" y="3028950"/>
            <a:ext cx="23431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84F5E"/>
                </a:solidFill>
              </a:defRPr>
            </a:pPr>
            <a:r>
              <a:rPr sz="1500" b="1">
                <a:solidFill>
                  <a:srgbClr val="184F5E"/>
                </a:solidFill>
              </a:rPr>
              <a:t>READ</a:t>
            </a:r>
          </a:p>
          <a:p xmlns:a="http://schemas.openxmlformats.org/drawingml/2006/main">
            <a:pPr algn="ctr">
              <a:defRPr sz="1500" b="1">
                <a:solidFill>
                  <a:srgbClr val="184F5E"/>
                </a:solidFill>
              </a:defRPr>
            </a:pPr>
            <a:r>
              <a:rPr sz="1500" b="1">
                <a:solidFill>
                  <a:srgbClr val="184F5E"/>
                </a:solidFill>
              </a:rPr>
              <a:t>Underline the decision</a:t>
            </a:r>
          </a:p>
        </p:txBody>
      </p:sp>
      <p:sp>
        <p:nvSpPr>
          <p:cNvPr id="13" name="">
            <a:extLst xmlns:a="http://schemas.openxmlformats.org/drawingml/2006/main">
              <a:ext uri="{FF2B5EF4-FFF2-40B4-BE49-F238E27FC236}">
                <a16:creationId xmlns:a16="http://schemas.microsoft.com/office/drawing/2014/main" id="{6C0C1A10-1F76-4565-86FE-9BAAFA0C7B34}"/>
              </a:ext>
            </a:extLst>
          </p:cNvPr>
          <p:cNvSpPr>
            <a:spLocks xmlns:a="http://schemas.openxmlformats.org/drawingml/2006/main" noGrp="1"/>
          </p:cNvSpPr>
          <p:nvPr/>
        </p:nvSpPr>
        <p:spPr>
          <a:xfrm xmlns:a="http://schemas.openxmlformats.org/drawingml/2006/main">
            <a:off x="3409950" y="3028950"/>
            <a:ext cx="23431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A94424"/>
                </a:solidFill>
              </a:defRPr>
            </a:pPr>
            <a:r>
              <a:rPr sz="1500" b="1">
                <a:solidFill>
                  <a:srgbClr val="A94424"/>
                </a:solidFill>
              </a:rPr>
              <a:t>SELECT</a:t>
            </a:r>
          </a:p>
          <a:p xmlns:a="http://schemas.openxmlformats.org/drawingml/2006/main">
            <a:pPr algn="ctr">
              <a:defRPr sz="1500" b="1">
                <a:solidFill>
                  <a:srgbClr val="A94424"/>
                </a:solidFill>
              </a:defRPr>
            </a:pPr>
            <a:r>
              <a:rPr sz="1500" b="1">
                <a:solidFill>
                  <a:srgbClr val="A94424"/>
                </a:solidFill>
              </a:rPr>
              <a:t>Choose precise evidence</a:t>
            </a:r>
          </a:p>
        </p:txBody>
      </p:sp>
      <p:sp>
        <p:nvSpPr>
          <p:cNvPr id="14" name="">
            <a:extLst xmlns:a="http://schemas.openxmlformats.org/drawingml/2006/main">
              <a:ext uri="{FF2B5EF4-FFF2-40B4-BE49-F238E27FC236}">
                <a16:creationId xmlns:a16="http://schemas.microsoft.com/office/drawing/2014/main" id="{79B8E68A-E691-42E1-8257-0D0BA208E5D2}"/>
              </a:ext>
            </a:extLst>
          </p:cNvPr>
          <p:cNvSpPr>
            <a:spLocks xmlns:a="http://schemas.openxmlformats.org/drawingml/2006/main" noGrp="1"/>
          </p:cNvSpPr>
          <p:nvPr/>
        </p:nvSpPr>
        <p:spPr>
          <a:xfrm xmlns:a="http://schemas.openxmlformats.org/drawingml/2006/main">
            <a:off x="6134100" y="3028950"/>
            <a:ext cx="23431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84F5E"/>
                </a:solidFill>
              </a:defRPr>
            </a:pPr>
            <a:r>
              <a:rPr sz="1500" b="1">
                <a:solidFill>
                  <a:srgbClr val="184F5E"/>
                </a:solidFill>
              </a:rPr>
              <a:t>EXPLAIN</a:t>
            </a:r>
          </a:p>
          <a:p xmlns:a="http://schemas.openxmlformats.org/drawingml/2006/main">
            <a:pPr algn="ctr">
              <a:defRPr sz="1500" b="1">
                <a:solidFill>
                  <a:srgbClr val="184F5E"/>
                </a:solidFill>
              </a:defRPr>
            </a:pPr>
            <a:r>
              <a:rPr sz="1500" b="1">
                <a:solidFill>
                  <a:srgbClr val="184F5E"/>
                </a:solidFill>
              </a:rPr>
              <a:t>Connect with theory</a:t>
            </a:r>
          </a:p>
        </p:txBody>
      </p:sp>
      <p:sp>
        <p:nvSpPr>
          <p:cNvPr id="15" name="">
            <a:extLst xmlns:a="http://schemas.openxmlformats.org/drawingml/2006/main">
              <a:ext uri="{FF2B5EF4-FFF2-40B4-BE49-F238E27FC236}">
                <a16:creationId xmlns:a16="http://schemas.microsoft.com/office/drawing/2014/main" id="{30AF47CF-514A-4955-995A-4A8970835749}"/>
              </a:ext>
            </a:extLst>
          </p:cNvPr>
          <p:cNvSpPr>
            <a:spLocks xmlns:a="http://schemas.openxmlformats.org/drawingml/2006/main" noGrp="1"/>
          </p:cNvSpPr>
          <p:nvPr/>
        </p:nvSpPr>
        <p:spPr>
          <a:xfrm xmlns:a="http://schemas.openxmlformats.org/drawingml/2006/main">
            <a:off x="8858250" y="3028950"/>
            <a:ext cx="23431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A94424"/>
                </a:solidFill>
              </a:defRPr>
            </a:pPr>
            <a:r>
              <a:rPr sz="1500" b="1">
                <a:solidFill>
                  <a:srgbClr val="A94424"/>
                </a:solidFill>
              </a:rPr>
              <a:t>CHECK</a:t>
            </a:r>
          </a:p>
          <a:p xmlns:a="http://schemas.openxmlformats.org/drawingml/2006/main">
            <a:pPr algn="ctr">
              <a:defRPr sz="1500" b="1">
                <a:solidFill>
                  <a:srgbClr val="A94424"/>
                </a:solidFill>
              </a:defRPr>
            </a:pPr>
            <a:r>
              <a:rPr sz="1500" b="1">
                <a:solidFill>
                  <a:srgbClr val="A94424"/>
                </a:solidFill>
              </a:rPr>
              <a:t>Answer every part</a:t>
            </a:r>
          </a:p>
        </p:txBody>
      </p:sp>
      <p:sp>
        <p:nvSpPr>
          <p:cNvPr id="16" name="">
            <a:extLst xmlns:a="http://schemas.openxmlformats.org/drawingml/2006/main">
              <a:ext uri="{FF2B5EF4-FFF2-40B4-BE49-F238E27FC236}">
                <a16:creationId xmlns:a16="http://schemas.microsoft.com/office/drawing/2014/main" id="{1DE84546-9909-455A-B57B-2A55F154D92C}"/>
              </a:ext>
            </a:extLst>
          </p:cNvPr>
          <p:cNvSpPr>
            <a:spLocks xmlns:a="http://schemas.openxmlformats.org/drawingml/2006/main" noGrp="1"/>
          </p:cNvSpPr>
          <p:nvPr/>
        </p:nvSpPr>
        <p:spPr>
          <a:xfrm xmlns:a="http://schemas.openxmlformats.org/drawingml/2006/main">
            <a:off x="685800" y="4476750"/>
            <a:ext cx="10820400" cy="1219200"/>
          </a:xfrm>
          <a:prstGeom xmlns:a="http://schemas.openxmlformats.org/drawingml/2006/main" prst="rect">
            <a:avLst/>
          </a:prstGeom>
          <a:solidFill xmlns:a="http://schemas.openxmlformats.org/drawingml/2006/main">
            <a:srgbClr val="FFFFFF"/>
          </a:solidFill>
          <a:ln xmlns:a="http://schemas.openxmlformats.org/drawingml/2006/main" w="9525">
            <a:solidFill>
              <a:srgbClr val="CAD4D8"/>
            </a:solidFill>
            <a:prstDash val="solid"/>
          </a:ln>
        </p:spPr>
      </p:sp>
      <p:sp>
        <p:nvSpPr>
          <p:cNvPr id="17" name="">
            <a:extLst xmlns:a="http://schemas.openxmlformats.org/drawingml/2006/main">
              <a:ext uri="{FF2B5EF4-FFF2-40B4-BE49-F238E27FC236}">
                <a16:creationId xmlns:a16="http://schemas.microsoft.com/office/drawing/2014/main" id="{9F479D1A-566A-48DC-94EF-5E1E1C59E6D6}"/>
              </a:ext>
            </a:extLst>
          </p:cNvPr>
          <p:cNvSpPr>
            <a:spLocks xmlns:a="http://schemas.openxmlformats.org/drawingml/2006/main" noGrp="1"/>
          </p:cNvSpPr>
          <p:nvPr/>
        </p:nvSpPr>
        <p:spPr>
          <a:xfrm xmlns:a="http://schemas.openxmlformats.org/drawingml/2006/main">
            <a:off x="914400" y="46672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A94424"/>
                </a:solidFill>
              </a:defRPr>
            </a:pPr>
            <a:r>
              <a:rPr sz="1200" b="1">
                <a:solidFill>
                  <a:srgbClr val="A94424"/>
                </a:solidFill>
              </a:rPr>
              <a:t>SENTENCE SUPPORT</a:t>
            </a:r>
          </a:p>
        </p:txBody>
      </p:sp>
      <p:sp>
        <p:nvSpPr>
          <p:cNvPr id="18" name="">
            <a:extLst xmlns:a="http://schemas.openxmlformats.org/drawingml/2006/main">
              <a:ext uri="{FF2B5EF4-FFF2-40B4-BE49-F238E27FC236}">
                <a16:creationId xmlns:a16="http://schemas.microsoft.com/office/drawing/2014/main" id="{F6F51816-9605-4345-8BBA-1BC41E02FFBD}"/>
              </a:ext>
            </a:extLst>
          </p:cNvPr>
          <p:cNvSpPr>
            <a:spLocks xmlns:a="http://schemas.openxmlformats.org/drawingml/2006/main" noGrp="1"/>
          </p:cNvSpPr>
          <p:nvPr/>
        </p:nvSpPr>
        <p:spPr>
          <a:xfrm xmlns:a="http://schemas.openxmlformats.org/drawingml/2006/main">
            <a:off x="914400" y="5029200"/>
            <a:ext cx="10144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17232B"/>
                </a:solidFill>
              </a:defRPr>
            </a:pPr>
            <a:r>
              <a:rPr sz="1575" b="0">
                <a:solidFill>
                  <a:srgbClr val="17232B"/>
                </a:solidFill>
              </a:rPr>
              <a:t>For the purpose of … I recommend Design … because … The trade-off is … More confidence would require …</a:t>
            </a:r>
          </a:p>
        </p:txBody>
      </p:sp>
    </p:spTree>
    <p:extLst>
      <p:ext uri="{BB962C8B-B14F-4D97-AF65-F5344CB8AC3E}">
        <p14:creationId xmlns:p14="http://schemas.microsoft.com/office/powerpoint/2010/main" val="1383662309"/>
      </p:ext>
    </p:extLst>
  </p:cSld>
</p:sld>
</file>

<file path=ppt/slides/slide8.xml><?xml version="1.0" encoding="utf-8"?>
<p:sld xmlns:p="http://schemas.openxmlformats.org/presentationml/2006/main">
  <p:cSld>
    <p:bg>
      <p:bgPr>
        <a:solidFill xmlns:a="http://schemas.openxmlformats.org/drawingml/2006/main">
          <a:srgbClr val="A94424"/>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E2A4C89-DD1E-4E3C-B918-20E5701756E8}"/>
              </a:ext>
            </a:extLst>
          </p:cNvPr>
          <p:cNvSpPr>
            <a:spLocks xmlns:a="http://schemas.openxmlformats.org/drawingml/2006/main" noGrp="1"/>
          </p:cNvSpPr>
          <p:nvPr/>
        </p:nvSpPr>
        <p:spPr>
          <a:xfrm xmlns:a="http://schemas.openxmlformats.org/drawingml/2006/main">
            <a:off x="685800" y="552450"/>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0B84B"/>
                </a:solidFill>
              </a:defRPr>
            </a:pPr>
            <a:r>
              <a:rPr sz="1350" b="1">
                <a:solidFill>
                  <a:srgbClr val="F0B84B"/>
                </a:solidFill>
              </a:rPr>
              <a:t>BEFORE YOU PACK UP …</a:t>
            </a:r>
          </a:p>
        </p:txBody>
      </p:sp>
      <p:sp>
        <p:nvSpPr>
          <p:cNvPr id="2" name="">
            <a:extLst xmlns:a="http://schemas.openxmlformats.org/drawingml/2006/main">
              <a:ext uri="{FF2B5EF4-FFF2-40B4-BE49-F238E27FC236}">
                <a16:creationId xmlns:a16="http://schemas.microsoft.com/office/drawing/2014/main" id="{44849EB7-DD85-4E75-ADEF-FF272F7B87DE}"/>
              </a:ext>
            </a:extLst>
          </p:cNvPr>
          <p:cNvSpPr>
            <a:spLocks xmlns:a="http://schemas.openxmlformats.org/drawingml/2006/main" noGrp="1"/>
          </p:cNvSpPr>
          <p:nvPr/>
        </p:nvSpPr>
        <p:spPr>
          <a:xfrm xmlns:a="http://schemas.openxmlformats.org/drawingml/2006/main">
            <a:off x="685800" y="1066800"/>
            <a:ext cx="8001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Close the design loop</a:t>
            </a:r>
          </a:p>
        </p:txBody>
      </p:sp>
      <p:sp>
        <p:nvSpPr>
          <p:cNvPr id="3" name="">
            <a:extLst xmlns:a="http://schemas.openxmlformats.org/drawingml/2006/main">
              <a:ext uri="{FF2B5EF4-FFF2-40B4-BE49-F238E27FC236}">
                <a16:creationId xmlns:a16="http://schemas.microsoft.com/office/drawing/2014/main" id="{8B671125-0E51-4F78-AF9A-BDE4E50739BF}"/>
              </a:ext>
            </a:extLst>
          </p:cNvPr>
          <p:cNvSpPr>
            <a:spLocks xmlns:a="http://schemas.openxmlformats.org/drawingml/2006/main" noGrp="1"/>
          </p:cNvSpPr>
          <p:nvPr/>
        </p:nvSpPr>
        <p:spPr>
          <a:xfrm xmlns:a="http://schemas.openxmlformats.org/drawingml/2006/main">
            <a:off x="685800" y="2095500"/>
            <a:ext cx="8096250" cy="6667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6BDC16B-9D41-4A87-91AA-89824EE95251}"/>
              </a:ext>
            </a:extLst>
          </p:cNvPr>
          <p:cNvSpPr>
            <a:spLocks xmlns:a="http://schemas.openxmlformats.org/drawingml/2006/main" noGrp="1"/>
          </p:cNvSpPr>
          <p:nvPr/>
        </p:nvSpPr>
        <p:spPr>
          <a:xfrm xmlns:a="http://schemas.openxmlformats.org/drawingml/2006/main">
            <a:off x="933450" y="22669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7232B"/>
                </a:solidFill>
              </a:defRPr>
            </a:pPr>
            <a:r>
              <a:rPr sz="1650" b="1">
                <a:solidFill>
                  <a:srgbClr val="17232B"/>
                </a:solidFill>
              </a:rPr>
              <a:t>1. One variable I can classify …</a:t>
            </a:r>
          </a:p>
        </p:txBody>
      </p:sp>
      <p:sp>
        <p:nvSpPr>
          <p:cNvPr id="5" name="">
            <a:extLst xmlns:a="http://schemas.openxmlformats.org/drawingml/2006/main">
              <a:ext uri="{FF2B5EF4-FFF2-40B4-BE49-F238E27FC236}">
                <a16:creationId xmlns:a16="http://schemas.microsoft.com/office/drawing/2014/main" id="{D76DD10D-783D-4272-89B4-46E74214FA8A}"/>
              </a:ext>
            </a:extLst>
          </p:cNvPr>
          <p:cNvSpPr>
            <a:spLocks xmlns:a="http://schemas.openxmlformats.org/drawingml/2006/main" noGrp="1"/>
          </p:cNvSpPr>
          <p:nvPr/>
        </p:nvSpPr>
        <p:spPr>
          <a:xfrm xmlns:a="http://schemas.openxmlformats.org/drawingml/2006/main">
            <a:off x="685800" y="3028950"/>
            <a:ext cx="8096250" cy="6667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4974691-6035-4D71-A6CC-373EB577FA27}"/>
              </a:ext>
            </a:extLst>
          </p:cNvPr>
          <p:cNvSpPr>
            <a:spLocks xmlns:a="http://schemas.openxmlformats.org/drawingml/2006/main" noGrp="1"/>
          </p:cNvSpPr>
          <p:nvPr/>
        </p:nvSpPr>
        <p:spPr>
          <a:xfrm xmlns:a="http://schemas.openxmlformats.org/drawingml/2006/main">
            <a:off x="933450" y="32004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7232B"/>
                </a:solidFill>
              </a:defRPr>
            </a:pPr>
            <a:r>
              <a:rPr sz="1650" b="1">
                <a:solidFill>
                  <a:srgbClr val="17232B"/>
                </a:solidFill>
              </a:rPr>
              <a:t>2. One data pattern I can interpret …</a:t>
            </a:r>
          </a:p>
        </p:txBody>
      </p:sp>
      <p:sp>
        <p:nvSpPr>
          <p:cNvPr id="7" name="">
            <a:extLst xmlns:a="http://schemas.openxmlformats.org/drawingml/2006/main">
              <a:ext uri="{FF2B5EF4-FFF2-40B4-BE49-F238E27FC236}">
                <a16:creationId xmlns:a16="http://schemas.microsoft.com/office/drawing/2014/main" id="{D6698ECD-4CCE-402F-A506-186D854524AC}"/>
              </a:ext>
            </a:extLst>
          </p:cNvPr>
          <p:cNvSpPr>
            <a:spLocks xmlns:a="http://schemas.openxmlformats.org/drawingml/2006/main" noGrp="1"/>
          </p:cNvSpPr>
          <p:nvPr/>
        </p:nvSpPr>
        <p:spPr>
          <a:xfrm xmlns:a="http://schemas.openxmlformats.org/drawingml/2006/main">
            <a:off x="685800" y="3962400"/>
            <a:ext cx="8096250" cy="6667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C388FAC-569B-453E-AAC7-095489535C75}"/>
              </a:ext>
            </a:extLst>
          </p:cNvPr>
          <p:cNvSpPr>
            <a:spLocks xmlns:a="http://schemas.openxmlformats.org/drawingml/2006/main" noGrp="1"/>
          </p:cNvSpPr>
          <p:nvPr/>
        </p:nvSpPr>
        <p:spPr>
          <a:xfrm xmlns:a="http://schemas.openxmlformats.org/drawingml/2006/main">
            <a:off x="933450" y="41338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7232B"/>
                </a:solidFill>
              </a:defRPr>
            </a:pPr>
            <a:r>
              <a:rPr sz="1650" b="1">
                <a:solidFill>
                  <a:srgbClr val="17232B"/>
                </a:solidFill>
              </a:rPr>
              <a:t>3. One redesign decision I can justify …</a:t>
            </a:r>
          </a:p>
        </p:txBody>
      </p:sp>
      <p:sp>
        <p:nvSpPr>
          <p:cNvPr id="9" name="">
            <a:extLst xmlns:a="http://schemas.openxmlformats.org/drawingml/2006/main">
              <a:ext uri="{FF2B5EF4-FFF2-40B4-BE49-F238E27FC236}">
                <a16:creationId xmlns:a16="http://schemas.microsoft.com/office/drawing/2014/main" id="{207EB82C-715E-42A9-A7C0-4BAB06F7B6B8}"/>
              </a:ext>
            </a:extLst>
          </p:cNvPr>
          <p:cNvSpPr>
            <a:spLocks xmlns:a="http://schemas.openxmlformats.org/drawingml/2006/main" noGrp="1"/>
          </p:cNvSpPr>
          <p:nvPr/>
        </p:nvSpPr>
        <p:spPr>
          <a:xfrm xmlns:a="http://schemas.openxmlformats.org/drawingml/2006/main">
            <a:off x="9353550" y="2419350"/>
            <a:ext cx="1828800" cy="1828800"/>
          </a:xfrm>
          <a:prstGeom xmlns:a="http://schemas.openxmlformats.org/drawingml/2006/main" prst="ellipse">
            <a:avLst/>
          </a:prstGeom>
          <a:solidFill xmlns:a="http://schemas.openxmlformats.org/drawingml/2006/main">
            <a:srgbClr val="F0B84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43A83C8-08D5-432B-B6FA-B5034D53D917}"/>
              </a:ext>
            </a:extLst>
          </p:cNvPr>
          <p:cNvSpPr>
            <a:spLocks xmlns:a="http://schemas.openxmlformats.org/drawingml/2006/main" noGrp="1"/>
          </p:cNvSpPr>
          <p:nvPr/>
        </p:nvSpPr>
        <p:spPr>
          <a:xfrm xmlns:a="http://schemas.openxmlformats.org/drawingml/2006/main">
            <a:off x="9610725" y="2800350"/>
            <a:ext cx="13144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7232B"/>
                </a:solidFill>
              </a:defRPr>
            </a:pPr>
            <a:r>
              <a:rPr sz="1875" b="1">
                <a:solidFill>
                  <a:srgbClr val="17232B"/>
                </a:solidFill>
              </a:rPr>
              <a:t>SAVE</a:t>
            </a:r>
          </a:p>
          <a:p xmlns:a="http://schemas.openxmlformats.org/drawingml/2006/main">
            <a:pPr algn="ctr">
              <a:defRPr sz="1875" b="1">
                <a:solidFill>
                  <a:srgbClr val="17232B"/>
                </a:solidFill>
              </a:defRPr>
            </a:pPr>
            <a:r>
              <a:rPr sz="1875" b="1">
                <a:solidFill>
                  <a:srgbClr val="17232B"/>
                </a:solidFill>
              </a:rPr>
              <a:t>YOUR</a:t>
            </a:r>
          </a:p>
          <a:p xmlns:a="http://schemas.openxmlformats.org/drawingml/2006/main">
            <a:pPr algn="ctr">
              <a:defRPr sz="1875" b="1">
                <a:solidFill>
                  <a:srgbClr val="17232B"/>
                </a:solidFill>
              </a:defRPr>
            </a:pPr>
            <a:r>
              <a:rPr sz="1875" b="1">
                <a:solidFill>
                  <a:srgbClr val="17232B"/>
                </a:solidFill>
              </a:rPr>
              <a:t>EVIDENCE</a:t>
            </a:r>
          </a:p>
        </p:txBody>
      </p:sp>
      <p:sp>
        <p:nvSpPr>
          <p:cNvPr id="11" name="">
            <a:extLst xmlns:a="http://schemas.openxmlformats.org/drawingml/2006/main">
              <a:ext uri="{FF2B5EF4-FFF2-40B4-BE49-F238E27FC236}">
                <a16:creationId xmlns:a16="http://schemas.microsoft.com/office/drawing/2014/main" id="{B5F6A733-5CD2-4D13-B28C-F3F7513C03BE}"/>
              </a:ext>
            </a:extLst>
          </p:cNvPr>
          <p:cNvSpPr>
            <a:spLocks xmlns:a="http://schemas.openxmlformats.org/drawingml/2006/main" noGrp="1"/>
          </p:cNvSpPr>
          <p:nvPr/>
        </p:nvSpPr>
        <p:spPr>
          <a:xfrm xmlns:a="http://schemas.openxmlformats.org/drawingml/2006/main">
            <a:off x="685800" y="5219700"/>
            <a:ext cx="809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FFFFFF"/>
                </a:solidFill>
              </a:defRPr>
            </a:pPr>
            <a:r>
              <a:rPr sz="1425" b="0">
                <a:solidFill>
                  <a:srgbClr val="FFFFFF"/>
                </a:solidFill>
              </a:rPr>
              <a:t>Evidence destination: your module response and folio where your teacher directs.</a:t>
            </a:r>
          </a:p>
        </p:txBody>
      </p:sp>
      <p:sp>
        <p:nvSpPr>
          <p:cNvPr id="12" name="">
            <a:extLst xmlns:a="http://schemas.openxmlformats.org/drawingml/2006/main">
              <a:ext uri="{FF2B5EF4-FFF2-40B4-BE49-F238E27FC236}">
                <a16:creationId xmlns:a16="http://schemas.microsoft.com/office/drawing/2014/main" id="{DAF3EA17-18D6-4B53-8F51-F7D84881B3E2}"/>
              </a:ext>
            </a:extLst>
          </p:cNvPr>
          <p:cNvSpPr>
            <a:spLocks xmlns:a="http://schemas.openxmlformats.org/drawingml/2006/main" noGrp="1"/>
          </p:cNvSpPr>
          <p:nvPr/>
        </p:nvSpPr>
        <p:spPr>
          <a:xfrm xmlns:a="http://schemas.openxmlformats.org/drawingml/2006/main">
            <a:off x="685800" y="5886450"/>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0B84B"/>
                </a:solidFill>
              </a:defRPr>
            </a:pPr>
            <a:r>
              <a:rPr sz="1350" b="1">
                <a:solidFill>
                  <a:srgbClr val="F0B84B"/>
                </a:solidFill>
              </a:rPr>
              <a:t>Next: turn the design journey, testing and sustainability evidence into a concise report.</a:t>
            </a:r>
          </a:p>
        </p:txBody>
      </p:sp>
      <p:sp>
        <p:nvSpPr>
          <p:cNvPr id="13" name="">
            <a:extLst xmlns:a="http://schemas.openxmlformats.org/drawingml/2006/main">
              <a:ext uri="{FF2B5EF4-FFF2-40B4-BE49-F238E27FC236}">
                <a16:creationId xmlns:a16="http://schemas.microsoft.com/office/drawing/2014/main" id="{6B92E501-904F-4606-9F00-7CC66AAB0594}"/>
              </a:ext>
            </a:extLst>
          </p:cNvPr>
          <p:cNvSpPr>
            <a:spLocks xmlns:a="http://schemas.openxmlformats.org/drawingml/2006/main" noGrp="1"/>
          </p:cNvSpPr>
          <p:nvPr/>
        </p:nvSpPr>
        <p:spPr>
          <a:xfrm xmlns:a="http://schemas.openxmlformats.org/drawingml/2006/main">
            <a:off x="685800" y="6400800"/>
            <a:ext cx="10820400" cy="0"/>
          </a:xfrm>
          <a:prstGeom xmlns:a="http://schemas.openxmlformats.org/drawingml/2006/main" prst="line">
            <a:avLst/>
          </a:prstGeom>
          <a:noFill xmlns:a="http://schemas.openxmlformats.org/drawingml/2006/main"/>
          <a:ln xmlns:a="http://schemas.openxmlformats.org/drawingml/2006/main" w="9525">
            <a:solidFill>
              <a:srgbClr val="FFFFFF">
                <a:alpha val="33333"/>
              </a:srgbClr>
            </a:solidFill>
            <a:prstDash val="solid"/>
          </a:ln>
        </p:spPr>
      </p:sp>
      <p:sp>
        <p:nvSpPr>
          <p:cNvPr id="14" name="">
            <a:extLst xmlns:a="http://schemas.openxmlformats.org/drawingml/2006/main">
              <a:ext uri="{FF2B5EF4-FFF2-40B4-BE49-F238E27FC236}">
                <a16:creationId xmlns:a16="http://schemas.microsoft.com/office/drawing/2014/main" id="{9C136AAD-4DD9-434A-9E2A-3A0291F2A9AD}"/>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D7E5E8"/>
                </a:solidFill>
              </a:defRPr>
            </a:pPr>
            <a:r>
              <a:rPr sz="975" b="1">
                <a:solidFill>
                  <a:srgbClr val="D7E5E8"/>
                </a:solidFill>
              </a:rPr>
              <a:t>YEAR 8 CATAPULT  •  MODULE 08</a:t>
            </a:r>
          </a:p>
        </p:txBody>
      </p:sp>
      <p:sp>
        <p:nvSpPr>
          <p:cNvPr id="15" name="">
            <a:extLst xmlns:a="http://schemas.openxmlformats.org/drawingml/2006/main">
              <a:ext uri="{FF2B5EF4-FFF2-40B4-BE49-F238E27FC236}">
                <a16:creationId xmlns:a16="http://schemas.microsoft.com/office/drawing/2014/main" id="{250EA17E-809A-445D-BE12-11D5359A0591}"/>
              </a:ext>
            </a:extLst>
          </p:cNvPr>
          <p:cNvSpPr>
            <a:spLocks xmlns:a="http://schemas.openxmlformats.org/drawingml/2006/main" noGrp="1"/>
          </p:cNvSpPr>
          <p:nvPr/>
        </p:nvSpPr>
        <p:spPr>
          <a:xfrm xmlns:a="http://schemas.openxmlformats.org/drawingml/2006/main">
            <a:off x="110490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F0B84B"/>
                </a:solidFill>
              </a:defRPr>
            </a:pPr>
            <a:r>
              <a:rPr sz="975" b="1">
                <a:solidFill>
                  <a:srgbClr val="F0B84B"/>
                </a:solidFill>
              </a:rPr>
              <a:t>08</a:t>
            </a:r>
          </a:p>
        </p:txBody>
      </p:sp>
    </p:spTree>
    <p:extLst>
      <p:ext uri="{BB962C8B-B14F-4D97-AF65-F5344CB8AC3E}">
        <p14:creationId xmlns:p14="http://schemas.microsoft.com/office/powerpoint/2010/main" val="204654712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2026-08-24T03:19:43.4420000Z</dcterms:created>
  <dcterms:modified xsi:type="dcterms:W3CDTF">2026-08-24T03:19:43.4420000Z</dcterms:modified>
</coreProperties>
</file>