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f26ec3c0d84f8a" /><Relationship Type="http://schemas.openxmlformats.org/officeDocument/2006/relationships/extended-properties" Target="/docProps/app.xml" Id="R97e582e5bfe44061" /><Relationship Type="http://schemas.openxmlformats.org/officeDocument/2006/relationships/officeDocument" Target="/ppt/presentation.xml" Id="R18270f1cb8734d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18d056ebb941e1"/>
  </p:sldMasterIdLst>
  <p:notesMasterIdLst>
    <p:notesMasterId xmlns:r="http://schemas.openxmlformats.org/officeDocument/2006/relationships" r:id="R360219871f944053"/>
  </p:notesMasterIdLst>
  <p:sldIdLst>
    <p:sldId xmlns:r="http://schemas.openxmlformats.org/officeDocument/2006/relationships" id="256" r:id="Rb533eb1dc430409c"/>
    <p:sldId xmlns:r="http://schemas.openxmlformats.org/officeDocument/2006/relationships" id="257" r:id="Re05f2c7238964e01"/>
    <p:sldId xmlns:r="http://schemas.openxmlformats.org/officeDocument/2006/relationships" id="258" r:id="R4eb1c58574f548e7"/>
    <p:sldId xmlns:r="http://schemas.openxmlformats.org/officeDocument/2006/relationships" id="259" r:id="Rdcaee3d0650c42fd"/>
    <p:sldId xmlns:r="http://schemas.openxmlformats.org/officeDocument/2006/relationships" id="260" r:id="R3c261e3695bf45cb"/>
    <p:sldId xmlns:r="http://schemas.openxmlformats.org/officeDocument/2006/relationships" id="261" r:id="R03520a05783b499b"/>
    <p:sldId xmlns:r="http://schemas.openxmlformats.org/officeDocument/2006/relationships" id="262" r:id="Ra6298933958f4b9e"/>
    <p:sldId xmlns:r="http://schemas.openxmlformats.org/officeDocument/2006/relationships" id="263" r:id="R889eb2a9752f44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f44e52e6fa44a9" /><Relationship Type="http://schemas.openxmlformats.org/officeDocument/2006/relationships/slideMaster" Target="/ppt/slideMasters/slideMaster1.xml" Id="R3f18d056ebb941e1" /><Relationship Type="http://schemas.openxmlformats.org/officeDocument/2006/relationships/notesMaster" Target="/ppt/notesMasters/notesMaster1.xml" Id="R360219871f944053" /><Relationship Type="http://schemas.openxmlformats.org/officeDocument/2006/relationships/presProps" Target="/ppt/presProps.xml" Id="Rc52b6c4177454149" /><Relationship Type="http://schemas.openxmlformats.org/officeDocument/2006/relationships/tableStyles" Target="/ppt/tableStyles.xml" Id="Rc3c87a418c334ad7" /><Relationship Type="http://schemas.openxmlformats.org/officeDocument/2006/relationships/slide" Target="/ppt/slides/slide1.xml" Id="Rb533eb1dc430409c" /><Relationship Type="http://schemas.openxmlformats.org/officeDocument/2006/relationships/slide" Target="/ppt/slides/slide2.xml" Id="Re05f2c7238964e01" /><Relationship Type="http://schemas.openxmlformats.org/officeDocument/2006/relationships/slide" Target="/ppt/slides/slide3.xml" Id="R4eb1c58574f548e7" /><Relationship Type="http://schemas.openxmlformats.org/officeDocument/2006/relationships/slide" Target="/ppt/slides/slide4.xml" Id="Rdcaee3d0650c42fd" /><Relationship Type="http://schemas.openxmlformats.org/officeDocument/2006/relationships/slide" Target="/ppt/slides/slide5.xml" Id="R3c261e3695bf45cb" /><Relationship Type="http://schemas.openxmlformats.org/officeDocument/2006/relationships/slide" Target="/ppt/slides/slide6.xml" Id="R03520a05783b499b" /><Relationship Type="http://schemas.openxmlformats.org/officeDocument/2006/relationships/slide" Target="/ppt/slides/slide7.xml" Id="Ra6298933958f4b9e" /><Relationship Type="http://schemas.openxmlformats.org/officeDocument/2006/relationships/slide" Target="/ppt/slides/slide8.xml" Id="R889eb2a9752f44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ee8e0d96049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44454001ec48c3" /><Relationship Type="http://schemas.openxmlformats.org/officeDocument/2006/relationships/notesMaster" Target="/ppt/notesMasters/notesMaster1.xml" Id="Rf5d3509cda2d4b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b60c642d0a4e4e" /><Relationship Type="http://schemas.openxmlformats.org/officeDocument/2006/relationships/notesMaster" Target="/ppt/notesMasters/notesMaster1.xml" Id="R08af055e34ec43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dce318baf94d57" /><Relationship Type="http://schemas.openxmlformats.org/officeDocument/2006/relationships/notesMaster" Target="/ppt/notesMasters/notesMaster1.xml" Id="R614b9858efce4e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7d01700b634e21" /><Relationship Type="http://schemas.openxmlformats.org/officeDocument/2006/relationships/notesMaster" Target="/ppt/notesMasters/notesMaster1.xml" Id="Rf2ff181a4bf940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a5ff3587b64c2c" /><Relationship Type="http://schemas.openxmlformats.org/officeDocument/2006/relationships/notesMaster" Target="/ppt/notesMasters/notesMaster1.xml" Id="Redcbc2dad54044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d2216f12124b15" /><Relationship Type="http://schemas.openxmlformats.org/officeDocument/2006/relationships/notesMaster" Target="/ppt/notesMasters/notesMaster1.xml" Id="R5714a4fd58b445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108bdc61b946d6" /><Relationship Type="http://schemas.openxmlformats.org/officeDocument/2006/relationships/notesMaster" Target="/ppt/notesMasters/notesMaster1.xml" Id="R2abbdc68d5d44b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826b8a61374e12" /><Relationship Type="http://schemas.openxmlformats.org/officeDocument/2006/relationships/notesMaster" Target="/ppt/notesMasters/notesMaster1.xml" Id="Ra6db3998cbda4f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State the learning purpose in one sentence.</a:t>
            </a:r>
          </a:p>
          <a:p xmlns:a="http://schemas.openxmlformats.org/drawingml/2006/main">
            <a:r>
              <a:t>- Use the image only as a conceptual project cue; it is not a plan or model specification.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What relationship or evidence do you expect to matter in this module?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A realistic image must show the exact project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Move from the project cue to the three ideas students will learn.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module-07, 24 Aug 2026.</a:t>
            </a:r>
          </a:p>
          <a:p xmlns:a="http://schemas.openxmlformats.org/drawingml/2006/main">
            <a:r>
              <a:t>- Teacher unit sequence; core artefact manifest v1.0; theory draft module-07.</a:t>
            </a:r>
          </a:p>
          <a:p xmlns:a="http://schemas.openxmlformats.org/drawingml/2006/main">
            <a:r>
              <a:t>- OpenAI image generation for this course, 24 Aug 2026, conceptual only; file: catapult-assembly-quality.png.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Frame the module as a cumulative learning sequence.</a:t>
            </a:r>
          </a:p>
          <a:p xmlns:a="http://schemas.openxmlformats.org/drawingml/2006/main">
            <a:r>
              <a:t>- Invite a brief retrieval response before introducing new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If a pivot position changes, what other relationships may also change?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The three ideas are separate facts rather than parts of one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Tell students that each theory slide will supply evidence for the final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module-07, 24 Aug 2026.</a:t>
            </a:r>
          </a:p>
          <a:p xmlns:a="http://schemas.openxmlformats.org/drawingml/2006/main">
            <a:r>
              <a:t>- Teacher unit sequence; core artefact manifest v1.0; theory draft module-07.</a:t>
            </a:r>
          </a:p>
          <a:p xmlns:a="http://schemas.openxmlformats.org/drawingml/2006/main">
            <a:r>
              <a:t>- Native pathway diagram authored for this deck from the approved module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The base and frame support and locate parts; a pivot permits rotation; a lever carries motion; an energy store supplies energy; and fasteners connect components. These are functions, not a prescribed design. The key is predicting how one relationship affects the rest.</a:t>
            </a:r>
          </a:p>
          <a:p xmlns:a="http://schemas.openxmlformats.org/drawingml/2006/main">
            <a:r>
              <a:t>- Use the visual to emphasise: Assembly is a connected interaction chain, not a bag of separate jobs.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System map: choose one component change and draw arrows to every relationship that should be rechecked.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Why is a component list not yet an interaction map?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Link this idea to the next relationship in the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module-07, 24 Aug 2026.</a:t>
            </a:r>
          </a:p>
          <a:p xmlns:a="http://schemas.openxmlformats.org/drawingml/2006/main">
            <a:r>
              <a:t>- Teacher unit sequence; core artefact manifest v1.0; theory draft module-07.</a:t>
            </a:r>
          </a:p>
          <a:p xmlns:a="http://schemas.openxmlformats.org/drawingml/2006/main">
            <a:r>
              <a:t>- Editable native diagram authored for this deck from the approved course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Poor alignment can create rubbing, unwanted sideways forces and inconsistent movement. Friction can be useful where a fastener must hold yet wasteful where a moving relationship should travel freely. Play, stiffness, fastening and clearance must be judged together.</a:t>
            </a:r>
          </a:p>
          <a:p xmlns:a="http://schemas.openxmlformats.org/drawingml/2006/main">
            <a:r>
              <a:t>- Use the visual to emphasise: The decision depends on function and location, not a rule that all friction is bad.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Compare: where is friction helpful in the system, and where could it interfere with the intended function?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Where might friction be useful?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Link this idea to the next relationship in the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module-07, 24 Aug 2026.</a:t>
            </a:r>
          </a:p>
          <a:p xmlns:a="http://schemas.openxmlformats.org/drawingml/2006/main">
            <a:r>
              <a:t>- Teacher unit sequence; core artefact manifest v1.0; theory draft module-07.</a:t>
            </a:r>
          </a:p>
          <a:p xmlns:a="http://schemas.openxmlformats.org/drawingml/2006/main">
            <a:r>
              <a:t>- Editable native diagram authored for this deck from the approved course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Stop at the observed behaviour, identify a likely cause and predict what one teacher-approved adjustment should change. Repeat the same relevant check and compare the new evidence. Several simultaneous changes hide which one mattered and weaken the explanation.</a:t>
            </a:r>
          </a:p>
          <a:p xmlns:a="http://schemas.openxmlformats.org/drawingml/2006/main">
            <a:r>
              <a:t>- Use the visual to emphasise: A controlled loop makes the quality decision traceable rather than random.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Evidence move: write the reason, one change, predicted effect and before-and-after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How can excess play affect consistency?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Prepare students to retrieve and apply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module-07, 24 Aug 2026.</a:t>
            </a:r>
          </a:p>
          <a:p xmlns:a="http://schemas.openxmlformats.org/drawingml/2006/main">
            <a:r>
              <a:t>- Teacher unit sequence; core artefact manifest v1.0; theory draft module-07.</a:t>
            </a:r>
          </a:p>
          <a:p xmlns:a="http://schemas.openxmlformats.org/drawingml/2006/main">
            <a:r>
              <a:t>- Editable native diagram authored for this deck from the approved course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Give individual thinking time before partner discussion.</a:t>
            </a:r>
          </a:p>
          <a:p xmlns:a="http://schemas.openxmlformats.org/drawingml/2006/main">
            <a:r>
              <a:t>- Ask for evidence or a because-clause, not just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Which answer changed after discussion, and what evidence changed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Retrieval is a memory race rather than a chance to repair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Use the strongest unresolved question to launch the evidence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module-07, 24 Aug 2026.</a:t>
            </a:r>
          </a:p>
          <a:p xmlns:a="http://schemas.openxmlformats.org/drawingml/2006/main">
            <a:r>
              <a:t>- Teacher unit sequence; core artefact manifest v1.0; theory draft module-07.</a:t>
            </a:r>
          </a:p>
          <a:p xmlns:a="http://schemas.openxmlformats.org/drawingml/2006/main">
            <a:r>
              <a:t>- Questions derived from the approved module theory; no external asset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Model how to select evidence before writing the explanation.</a:t>
            </a:r>
          </a:p>
          <a:p xmlns:a="http://schemas.openxmlformats.org/drawingml/2006/main">
            <a:r>
              <a:t>- Read the sentence support aloud, then let students change its wording to suit their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One adjustment reduces friction but increases sideways movement. Explain the system trade-off and identify the evidence required before accepting the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Longer writing is automatically stronger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Move from the scaffold to a concise exit ticket and evidence-save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module-07, 24 Aug 2026.</a:t>
            </a:r>
          </a:p>
          <a:p xmlns:a="http://schemas.openxmlformats.org/drawingml/2006/main">
            <a:r>
              <a:t>- Teacher unit sequence; core artefact manifest v1.0; theory draft module-07.</a:t>
            </a:r>
          </a:p>
          <a:p xmlns:a="http://schemas.openxmlformats.org/drawingml/2006/main">
            <a:r>
              <a:t>- Read–Select–Explain–Check scaffold follows the TAS course presentation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points</a:t>
            </a:r>
          </a:p>
          <a:p xmlns:a="http://schemas.openxmlformats.org/drawingml/2006/main">
            <a:r>
              <a:t>- Collect a short answer to each exit prompt.</a:t>
            </a:r>
          </a:p>
          <a:p xmlns:a="http://schemas.openxmlformats.org/drawingml/2006/main">
            <a:r>
              <a:t>- Make the evidence destination explicit without turning the slide into assessment administration.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</a:t>
            </a:r>
          </a:p>
          <a:p xmlns:a="http://schemas.openxmlformats.org/drawingml/2006/main">
            <a:r>
              <a:t>- Which exit response best shows a changed decision or deeper explanation?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</a:t>
            </a:r>
          </a:p>
          <a:p xmlns:a="http://schemas.openxmlformats.org/drawingml/2006/main">
            <a:r>
              <a:t>- The exit ticket is a generic summary with no next evidence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</a:t>
            </a:r>
          </a:p>
          <a:p xmlns:a="http://schemas.openxmlformats.org/drawingml/2006/main">
            <a:r>
              <a:t>- Next: use repeated data and controlled redesign to make a defensible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Year 8 Catapult student theory draft v1.0, module-07, 24 Aug 2026.</a:t>
            </a:r>
          </a:p>
          <a:p xmlns:a="http://schemas.openxmlformats.org/drawingml/2006/main">
            <a:r>
              <a:t>- Teacher unit sequence; core artefact manifest v1.0; theory draft module-07.</a:t>
            </a:r>
          </a:p>
          <a:p xmlns:a="http://schemas.openxmlformats.org/drawingml/2006/main">
            <a:r>
              <a:t>- Exit-evidence structure follows the TAS course presentation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b9a31d46847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51bed110b46d9" /><Relationship Type="http://schemas.openxmlformats.org/officeDocument/2006/relationships/slideLayout" Target="/ppt/slideLayouts/slideLayout1.xml" Id="R4df20fc4e02b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f20fc4e02b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3ca3031a049e6" /><Relationship Type="http://schemas.openxmlformats.org/officeDocument/2006/relationships/image" Target="/ppt/media/image.png" Id="Re702fb0b866b4b90" /><Relationship Type="http://schemas.openxmlformats.org/officeDocument/2006/relationships/notesSlide" Target="/ppt/notesSlides/notesSlide1.xml" Id="Rdc25c3f8567e4b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c9a10aa99478c" /><Relationship Type="http://schemas.openxmlformats.org/officeDocument/2006/relationships/notesSlide" Target="/ppt/notesSlides/notesSlide2.xml" Id="Rb80ea0c47c594a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1203c30fb4673" /><Relationship Type="http://schemas.openxmlformats.org/officeDocument/2006/relationships/notesSlide" Target="/ppt/notesSlides/notesSlide3.xml" Id="R65cdef7f5c7e44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7e6c068ab41c5" /><Relationship Type="http://schemas.openxmlformats.org/officeDocument/2006/relationships/notesSlide" Target="/ppt/notesSlides/notesSlide4.xml" Id="Re6fd715ac5f74c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c5d458d3f4e57" /><Relationship Type="http://schemas.openxmlformats.org/officeDocument/2006/relationships/notesSlide" Target="/ppt/notesSlides/notesSlide5.xml" Id="Ra26d99315da247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d55cdd3344249" /><Relationship Type="http://schemas.openxmlformats.org/officeDocument/2006/relationships/notesSlide" Target="/ppt/notesSlides/notesSlide6.xml" Id="Radf78cf359584f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143f211ef457f" /><Relationship Type="http://schemas.openxmlformats.org/officeDocument/2006/relationships/notesSlide" Target="/ppt/notesSlides/notesSlide7.xml" Id="R23c9f51a432843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53812c2de4253" /><Relationship Type="http://schemas.openxmlformats.org/officeDocument/2006/relationships/notesSlide" Target="/ppt/notesSlides/notesSlide8.xml" Id="Rc32ee55dfe7443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5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2fb0b866b4b90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0239F-0712-482F-8FC0-D763BC94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095E9-AE21-4003-812E-25F01044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84B"/>
                </a:solidFill>
              </a:defRPr>
            </a:pPr>
            <a:r>
              <a:rPr sz="1350" b="1">
                <a:solidFill>
                  <a:srgbClr val="F0B84B"/>
                </a:solidFill>
              </a:rPr>
              <a:t>MODULE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177A7-933A-45A2-9B5B-40670A5C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81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Components, Assembly and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A8081-5728-4A24-982B-4EE8A88E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762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5E8"/>
                </a:solidFill>
              </a:defRPr>
            </a:pPr>
            <a:r>
              <a:rPr sz="1875" b="0">
                <a:solidFill>
                  <a:srgbClr val="D7E5E8"/>
                </a:solidFill>
              </a:rPr>
              <a:t>Trace component interactions and use a controlled adjustment loop to improve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6CB6F-EF2E-44DE-BB0C-FF43FDBB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E5E8"/>
                </a:solidFill>
              </a:defRPr>
            </a:pPr>
            <a:r>
              <a:rPr sz="1125" b="1">
                <a:solidFill>
                  <a:srgbClr val="D7E5E8"/>
                </a:solidFill>
              </a:rPr>
              <a:t>YEAR 8  •  ENGINEERING TECHNOLOGIES AND SYSTEMS</a:t>
            </a:r>
          </a:p>
        </p:txBody>
      </p:sp>
    </p:spTree>
    <p:extLst>
      <p:ext uri="{BB962C8B-B14F-4D97-AF65-F5344CB8AC3E}">
        <p14:creationId xmlns:p14="http://schemas.microsoft.com/office/powerpoint/2010/main" val="2080069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44160-49C0-4E4A-996B-CA136F4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4EC79-61B5-4554-9660-C79584CF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424"/>
                </a:solidFill>
              </a:defRPr>
            </a:pPr>
            <a:r>
              <a:rPr sz="1050" b="1">
                <a:solidFill>
                  <a:srgbClr val="A94424"/>
                </a:solidFill>
              </a:rPr>
              <a:t>MODULE 07  /  ASSEMBLY AND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2196C-8ECA-46D8-BCEE-3A853258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B"/>
                </a:solidFill>
              </a:defRPr>
            </a:pPr>
            <a:r>
              <a:rPr sz="2850" b="1">
                <a:solidFill>
                  <a:srgbClr val="17232B"/>
                </a:solidFill>
              </a:rPr>
              <a:t>The learning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51700-C1C5-4996-BDB5-B5560231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9D81B-7BC7-47A0-8F0B-5AF1C719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36D"/>
                </a:solidFill>
              </a:defRPr>
            </a:pPr>
            <a:r>
              <a:rPr sz="975" b="1">
                <a:solidFill>
                  <a:srgbClr val="53636D"/>
                </a:solidFill>
              </a:rPr>
              <a:t>YEAR 8 CATAPULT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A7B2D-192C-4E64-A21E-FDDBE7DA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4424"/>
                </a:solidFill>
              </a:defRPr>
            </a:pPr>
            <a:r>
              <a:rPr sz="975" b="1">
                <a:solidFill>
                  <a:srgbClr val="A94424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19A5C-7DC3-4CA0-A60C-EF24FC35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4F5E"/>
                </a:solidFill>
              </a:defRPr>
            </a:pPr>
            <a:r>
              <a:rPr sz="2250" b="1">
                <a:solidFill>
                  <a:srgbClr val="184F5E"/>
                </a:solidFill>
              </a:rPr>
              <a:t>Why can one small assembly change affect several parts of the system?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42CA1-4F38-4E2B-98A1-47A6FEC2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1738B-7B94-4A04-AD16-35FF09A0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666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FE818-CADA-41CF-BB51-4A621B5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4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36AC9-8FED-4FF8-B036-3B32A6E1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81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66CAA-A55A-4114-A5E3-069B0368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8130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Components form a chain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E336D-2F76-4F3D-B984-2979E1C8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91FC0-82B6-40F2-AE15-69A675C9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81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32B"/>
                </a:solidFill>
              </a:defRPr>
            </a:pPr>
            <a:r>
              <a:rPr sz="2400" b="1">
                <a:solidFill>
                  <a:srgbClr val="17232B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23690-0A99-474E-BDE1-D72AEA62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Fit changes motion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86A83-BB4E-433B-9CA7-09AFECAB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4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0E1D6-722C-4C83-985A-55D9F5D4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14650"/>
            <a:ext cx="81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ADE2A-B490-4486-B2F5-15A507D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333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2B"/>
                </a:solidFill>
              </a:defRPr>
            </a:pPr>
            <a:r>
              <a:rPr sz="1725" b="1">
                <a:solidFill>
                  <a:srgbClr val="17232B"/>
                </a:solidFill>
              </a:rPr>
              <a:t>Adjust one cause at a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BC9FD-7BED-4949-88DC-3C54E51C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8E4D6-D695-4163-8D7E-384C07DE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4424"/>
                </a:solidFill>
              </a:defRPr>
            </a:pPr>
            <a:r>
              <a:rPr sz="1200" b="1">
                <a:solidFill>
                  <a:srgbClr val="A94424"/>
                </a:solidFill>
              </a:rPr>
              <a:t>RETRIEVAL WARM-UP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D63A2-A821-483D-8328-A7A2E96B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B"/>
                </a:solidFill>
              </a:defRPr>
            </a:pPr>
            <a:r>
              <a:rPr sz="1650" b="1">
                <a:solidFill>
                  <a:srgbClr val="17232B"/>
                </a:solidFill>
              </a:rPr>
              <a:t>If a pivot position changes, what other relationships may also change?</a:t>
            </a:r>
          </a:p>
        </p:txBody>
      </p:sp>
    </p:spTree>
    <p:extLst>
      <p:ext uri="{BB962C8B-B14F-4D97-AF65-F5344CB8AC3E}">
        <p14:creationId xmlns:p14="http://schemas.microsoft.com/office/powerpoint/2010/main" val="270504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2DCF7-4214-4108-9FF4-B05C476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FD478-DC4E-4AAA-949E-CE2BFE8B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424"/>
                </a:solidFill>
              </a:defRPr>
            </a:pPr>
            <a:r>
              <a:rPr sz="1050" b="1">
                <a:solidFill>
                  <a:srgbClr val="A94424"/>
                </a:solidFill>
              </a:rPr>
              <a:t>MODULE 07  /  ASSEMBLY AND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33F16-42CA-482E-B5C4-6AC7A485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B"/>
                </a:solidFill>
              </a:defRPr>
            </a:pPr>
            <a:r>
              <a:rPr sz="2850" b="1">
                <a:solidFill>
                  <a:srgbClr val="17232B"/>
                </a:solidFill>
              </a:rPr>
              <a:t>Component functions form an interaction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80948-3FD2-4D8F-B23B-6D90211C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F1119-AFB4-4FFB-983A-56022EF1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36D"/>
                </a:solidFill>
              </a:defRPr>
            </a:pPr>
            <a:r>
              <a:rPr sz="975" b="1">
                <a:solidFill>
                  <a:srgbClr val="53636D"/>
                </a:solidFill>
              </a:rPr>
              <a:t>YEAR 8 CATAPULT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7ECA3-B69C-4584-88E4-7C2432A4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4424"/>
                </a:solidFill>
              </a:defRPr>
            </a:pPr>
            <a:r>
              <a:rPr sz="975" b="1">
                <a:solidFill>
                  <a:srgbClr val="A94424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686B0-0E57-411C-AC1C-32BE59BF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8006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B"/>
                </a:solidFill>
              </a:defRPr>
            </a:pPr>
            <a:r>
              <a:rPr sz="1725" b="0">
                <a:solidFill>
                  <a:srgbClr val="17232B"/>
                </a:solidFill>
              </a:rPr>
              <a:t>The base and frame support and locate parts; a pivot permits rotation; a lever carries motion; an energy store supplies energy; and fasteners connect components. These are functions, not a prescribed design. The key is predicting how one relationship affects the rest.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EF8C5-80E2-4A52-82ED-563BB465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4CDC3-9095-471F-84CD-9710ED2F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800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94424"/>
                </a:solidFill>
              </a:defRPr>
            </a:pPr>
            <a:r>
              <a:rPr sz="1575" b="1">
                <a:solidFill>
                  <a:srgbClr val="A94424"/>
                </a:solidFill>
              </a:rPr>
              <a:t>System map: choose one component change and draw arrows to every relationship that should be rechecked.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A527B-64AE-450B-A8CC-0C71B09D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71725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B8D43-924B-4A63-AB40-238E3274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71725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971C1-AF57-41D4-8770-68CC34DA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371725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19F5F-5A62-478F-BB9C-7214B97B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904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B"/>
                </a:solidFill>
              </a:defRPr>
            </a:pPr>
            <a:r>
              <a:rPr sz="1200" b="1">
                <a:solidFill>
                  <a:srgbClr val="17232B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F2FCB-8944-4C7E-BCE0-5BC564A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76450"/>
            <a:ext cx="904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B"/>
                </a:solidFill>
              </a:defRPr>
            </a:pPr>
            <a:r>
              <a:rPr sz="1200" b="1">
                <a:solidFill>
                  <a:srgbClr val="17232B"/>
                </a:solidFill>
              </a:rPr>
              <a:t>ROTATION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D35B4-69D0-4F8C-9449-2C7C6BA6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76450"/>
            <a:ext cx="904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B"/>
                </a:solidFill>
              </a:defRPr>
            </a:pPr>
            <a:r>
              <a:rPr sz="1200" b="1">
                <a:solidFill>
                  <a:srgbClr val="17232B"/>
                </a:solidFill>
              </a:rPr>
              <a:t>MOTION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EFE8F-871C-4A01-9349-CED0B70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76450"/>
            <a:ext cx="9048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B"/>
                </a:solidFill>
              </a:defRPr>
            </a:pPr>
            <a:r>
              <a:rPr sz="1200" b="1">
                <a:solidFill>
                  <a:srgbClr val="17232B"/>
                </a:solidFill>
              </a:rPr>
              <a:t>ENERGY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65B1A-8F10-4E8A-A521-E8E6BC1C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B8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4F5E"/>
                </a:solidFill>
              </a:defRPr>
            </a:pPr>
            <a:r>
              <a:rPr sz="1350" b="1">
                <a:solidFill>
                  <a:srgbClr val="184F5E"/>
                </a:solidFill>
              </a:rPr>
              <a:t>NOTICE  Assembly is a connected interaction chain, not a bag of separate jobs.</a:t>
            </a:r>
          </a:p>
        </p:txBody>
      </p:sp>
    </p:spTree>
    <p:extLst>
      <p:ext uri="{BB962C8B-B14F-4D97-AF65-F5344CB8AC3E}">
        <p14:creationId xmlns:p14="http://schemas.microsoft.com/office/powerpoint/2010/main" val="1258637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39C70-BD43-42E7-A162-61AEA035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D204C-5B2B-411C-BF09-B782B03D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424"/>
                </a:solidFill>
              </a:defRPr>
            </a:pPr>
            <a:r>
              <a:rPr sz="1050" b="1">
                <a:solidFill>
                  <a:srgbClr val="A94424"/>
                </a:solidFill>
              </a:rPr>
              <a:t>MODULE 07  /  ASSEMBLY AND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14912-D950-45A0-8718-05CF5A0C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B"/>
                </a:solidFill>
              </a:defRPr>
            </a:pPr>
            <a:r>
              <a:rPr sz="2850" b="1">
                <a:solidFill>
                  <a:srgbClr val="17232B"/>
                </a:solidFill>
              </a:rPr>
              <a:t>Alignment, fit and friction shape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BC643-817D-40D3-8059-5DCFD9F8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47442-CFED-4880-A834-6CFA60B8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36D"/>
                </a:solidFill>
              </a:defRPr>
            </a:pPr>
            <a:r>
              <a:rPr sz="975" b="1">
                <a:solidFill>
                  <a:srgbClr val="53636D"/>
                </a:solidFill>
              </a:rPr>
              <a:t>YEAR 8 CATAPULT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D9B2B-2F02-4C3E-ACA2-F4D1BDC3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4424"/>
                </a:solidFill>
              </a:defRPr>
            </a:pPr>
            <a:r>
              <a:rPr sz="975" b="1">
                <a:solidFill>
                  <a:srgbClr val="A94424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3EA4D-0C2C-466F-965D-EA226A49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81125"/>
            <a:ext cx="48006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B"/>
                </a:solidFill>
              </a:defRPr>
            </a:pPr>
            <a:r>
              <a:rPr sz="1725" b="0">
                <a:solidFill>
                  <a:srgbClr val="17232B"/>
                </a:solidFill>
              </a:rPr>
              <a:t>Poor alignment can create rubbing, unwanted sideways forces and inconsistent movement. Friction can be useful where a fastener must hold yet wasteful where a moving relationship should travel freely. Play, stiffness, fastening and clearance must be judged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0280F-932B-42E2-BFE7-48F5FC37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7389F-ACB6-407E-B119-B9B22632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4800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94424"/>
                </a:solidFill>
              </a:defRPr>
            </a:pPr>
            <a:r>
              <a:rPr sz="1575" b="1">
                <a:solidFill>
                  <a:srgbClr val="A94424"/>
                </a:solidFill>
              </a:rPr>
              <a:t>Compare: where is friction helpful in the system, and where could it interfere with the intended function?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A3C2C-12C2-44D7-A2FA-D0CAE1F6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52600"/>
            <a:ext cx="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0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1983C-54B4-4C7E-81F1-99BF83A6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4F5E"/>
                </a:solidFill>
              </a:defRPr>
            </a:pPr>
            <a:r>
              <a:rPr sz="1800" b="1">
                <a:solidFill>
                  <a:srgbClr val="184F5E"/>
                </a:solidFill>
              </a:rPr>
              <a:t>USEFUL FRICTION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2AEFD-F164-42CD-9A8F-7AB3B4F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4424"/>
                </a:solidFill>
              </a:defRPr>
            </a:pPr>
            <a:r>
              <a:rPr sz="1800" b="1">
                <a:solidFill>
                  <a:srgbClr val="A94424"/>
                </a:solidFill>
              </a:rPr>
              <a:t>UNWANTED FRICTION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E9A1C-292E-4173-AA1F-A8365572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32B"/>
                </a:solidFill>
              </a:defRPr>
            </a:pPr>
            <a:r>
              <a:rPr sz="1575" b="0">
                <a:solidFill>
                  <a:srgbClr val="17232B"/>
                </a:solidFill>
              </a:rPr>
              <a:t>Helps a connection 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CC113-10CD-4897-902E-7F209E0C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86025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32B"/>
                </a:solidFill>
              </a:defRPr>
            </a:pPr>
            <a:r>
              <a:rPr sz="1575" b="0">
                <a:solidFill>
                  <a:srgbClr val="17232B"/>
                </a:solidFill>
              </a:rPr>
              <a:t>Resists intended movement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121FE-817D-4AB9-93B2-1F7DD302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B8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4F5E"/>
                </a:solidFill>
              </a:defRPr>
            </a:pPr>
            <a:r>
              <a:rPr sz="1350" b="1">
                <a:solidFill>
                  <a:srgbClr val="184F5E"/>
                </a:solidFill>
              </a:rPr>
              <a:t>NOTICE  The decision depends on function and location, not a rule that all friction is bad.</a:t>
            </a:r>
          </a:p>
        </p:txBody>
      </p:sp>
    </p:spTree>
    <p:extLst>
      <p:ext uri="{BB962C8B-B14F-4D97-AF65-F5344CB8AC3E}">
        <p14:creationId xmlns:p14="http://schemas.microsoft.com/office/powerpoint/2010/main" val="776193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0872BF-B3F5-4645-B9BB-8A821751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1747F-0A7B-47C7-ADC8-E4B2DB31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424"/>
                </a:solidFill>
              </a:defRPr>
            </a:pPr>
            <a:r>
              <a:rPr sz="1050" b="1">
                <a:solidFill>
                  <a:srgbClr val="A94424"/>
                </a:solidFill>
              </a:rPr>
              <a:t>MODULE 07  /  ASSEMBLY AND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D0443-461C-4713-8183-15BF9BB6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B"/>
                </a:solidFill>
              </a:defRPr>
            </a:pPr>
            <a:r>
              <a:rPr sz="2850" b="1">
                <a:solidFill>
                  <a:srgbClr val="17232B"/>
                </a:solidFill>
              </a:rPr>
              <a:t>One controlled adjustment protects cause and effect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EA59A-64D7-46F8-AFD3-282718C6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BF6A4-BD36-4C12-8D80-00A6BDC5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36D"/>
                </a:solidFill>
              </a:defRPr>
            </a:pPr>
            <a:r>
              <a:rPr sz="975" b="1">
                <a:solidFill>
                  <a:srgbClr val="53636D"/>
                </a:solidFill>
              </a:rPr>
              <a:t>YEAR 8 CATAPULT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B2060-C2D9-49DE-8902-EFFBF92E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4424"/>
                </a:solidFill>
              </a:defRPr>
            </a:pPr>
            <a:r>
              <a:rPr sz="975" b="1">
                <a:solidFill>
                  <a:srgbClr val="A94424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CA6DE-BC3E-46FF-BA58-04CBE7B1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8006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32B"/>
                </a:solidFill>
              </a:defRPr>
            </a:pPr>
            <a:r>
              <a:rPr sz="1725" b="0">
                <a:solidFill>
                  <a:srgbClr val="17232B"/>
                </a:solidFill>
              </a:rPr>
              <a:t>Stop at the observed behaviour, identify a likely cause and predict what one teacher-approved adjustment should change. Repeat the same relevant check and compare the new evidence. Several simultaneous changes hide which one mattered and weaken the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DF8A8-3FB1-4F26-A332-94D5BC9C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35BF2-CFCF-4229-9DAC-491F418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800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94424"/>
                </a:solidFill>
              </a:defRPr>
            </a:pPr>
            <a:r>
              <a:rPr sz="1575" b="1">
                <a:solidFill>
                  <a:srgbClr val="A94424"/>
                </a:solidFill>
              </a:rPr>
              <a:t>Evidence move: write the reason, one change, predicted effect and before-and-after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3B395-A38E-4E85-8DD9-F7630C53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80000">
            <a:off x="9334500" y="2114550"/>
            <a:ext cx="7143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141C9-F56C-4C15-BAE7-0E79D7C7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20000">
            <a:off x="9334500" y="3295650"/>
            <a:ext cx="7143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5940F-BE1B-4937-96BE-D7F40409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080000">
            <a:off x="6934200" y="3295650"/>
            <a:ext cx="7143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5F98F-F50E-41B8-83D1-5A7602E1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320000">
            <a:off x="6934200" y="2114550"/>
            <a:ext cx="7143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BF226-8FF6-42DA-B7B5-35C62BCB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097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B"/>
                </a:solidFill>
              </a:defRPr>
            </a:pPr>
            <a:r>
              <a:rPr sz="1200" b="1">
                <a:solidFill>
                  <a:srgbClr val="17232B"/>
                </a:solidFill>
              </a:rPr>
              <a:t>OBSERVE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9AC0B-48C9-4D17-AA47-FDE593BC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B"/>
                </a:solidFill>
              </a:defRPr>
            </a:pPr>
            <a:r>
              <a:rPr sz="1200" b="1">
                <a:solidFill>
                  <a:srgbClr val="17232B"/>
                </a:solidFill>
              </a:rPr>
              <a:t>PREDICT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B4296-B803-4090-A6E9-54730DD2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B"/>
                </a:solidFill>
              </a:defRPr>
            </a:pPr>
            <a:r>
              <a:rPr sz="1200" b="1">
                <a:solidFill>
                  <a:srgbClr val="17232B"/>
                </a:solidFill>
              </a:rPr>
              <a:t>ONE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674E9-AC55-4BD3-8152-754D54DE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32B"/>
                </a:solidFill>
              </a:defRPr>
            </a:pPr>
            <a:r>
              <a:rPr sz="1200" b="1">
                <a:solidFill>
                  <a:srgbClr val="17232B"/>
                </a:solidFill>
              </a:rPr>
              <a:t>RECHECK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10541-BC79-442D-9871-F00EA6D2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0B8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4F5E"/>
                </a:solidFill>
              </a:defRPr>
            </a:pPr>
            <a:r>
              <a:rPr sz="1350" b="1">
                <a:solidFill>
                  <a:srgbClr val="184F5E"/>
                </a:solidFill>
              </a:rPr>
              <a:t>NOTICE  A controlled loop makes the quality decision traceable rather than random.</a:t>
            </a:r>
          </a:p>
        </p:txBody>
      </p:sp>
    </p:spTree>
    <p:extLst>
      <p:ext uri="{BB962C8B-B14F-4D97-AF65-F5344CB8AC3E}">
        <p14:creationId xmlns:p14="http://schemas.microsoft.com/office/powerpoint/2010/main" val="457351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35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1DBBA-30D3-45CF-B90F-3D650606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0B88A-C56B-444B-9134-3EF6BF7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B84B"/>
                </a:solidFill>
              </a:defRPr>
            </a:pPr>
            <a:r>
              <a:rPr sz="1050" b="1">
                <a:solidFill>
                  <a:srgbClr val="F0B84B"/>
                </a:solidFill>
              </a:rPr>
              <a:t>MODULE 07  /  ASSEMBLY AND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B9D8D-682A-487F-8E5C-0D423183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79C5F-B52E-4D55-816B-3EAB7067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28281-0CFA-4672-8DB8-9550F8D2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E5E8"/>
                </a:solidFill>
              </a:defRPr>
            </a:pPr>
            <a:r>
              <a:rPr sz="975" b="1">
                <a:solidFill>
                  <a:srgbClr val="D7E5E8"/>
                </a:solidFill>
              </a:rPr>
              <a:t>YEAR 8 CATAPULT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468E9-6D8F-4FD5-B1A4-6606E5F7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0B84B"/>
                </a:solidFill>
              </a:defRPr>
            </a:pPr>
            <a:r>
              <a:rPr sz="975" b="1">
                <a:solidFill>
                  <a:srgbClr val="F0B84B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2725A-D0E1-4A6D-88BD-1DC9C244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E8"/>
                </a:solidFill>
              </a:defRPr>
            </a:pPr>
            <a:r>
              <a:rPr sz="1500" b="0">
                <a:solidFill>
                  <a:srgbClr val="D7E5E8"/>
                </a:solidFill>
              </a:rPr>
              <a:t>Answer silently first. Then justify one answer with a partner.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A1F01-19B2-496B-BA29-B39A5144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84B"/>
                </a:solidFill>
              </a:defRPr>
            </a:pPr>
            <a:r>
              <a:rPr sz="1800" b="1">
                <a:solidFill>
                  <a:srgbClr val="F0B84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BDD6F-FFB3-4FF1-A9A9-595C9145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Why is a component list not yet an interaction map?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73814-A7EA-4C71-87FB-362FD20B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336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8E76F-93CD-45A1-817E-7DFB6761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84B"/>
                </a:solidFill>
              </a:defRPr>
            </a:pPr>
            <a:r>
              <a:rPr sz="1800" b="1">
                <a:solidFill>
                  <a:srgbClr val="F0B84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EF3BF-67E1-4C54-A69B-7BBBD70D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28925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Where might friction be useful?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A4F22-D324-4755-8080-77AEB277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147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B65C5-A327-4F00-B269-77A219CB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84B"/>
                </a:solidFill>
              </a:defRPr>
            </a:pPr>
            <a:r>
              <a:rPr sz="1800" b="1">
                <a:solidFill>
                  <a:srgbClr val="F0B84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52B99-09DD-4F51-9507-AE29F171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10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How can excess play affect consistency?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BE0E5-6C29-4E1F-9F2B-2A3D283B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ABF93-92E1-4BC0-B18C-DA45853F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84B"/>
                </a:solidFill>
              </a:defRPr>
            </a:pPr>
            <a:r>
              <a:rPr sz="1800" b="1">
                <a:solidFill>
                  <a:srgbClr val="F0B84B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6B1B4-3DB9-420E-B757-E1F35C00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91075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Why should several features not change at once?</a:t>
            </a:r>
          </a:p>
        </p:txBody>
      </p:sp>
    </p:spTree>
    <p:extLst>
      <p:ext uri="{BB962C8B-B14F-4D97-AF65-F5344CB8AC3E}">
        <p14:creationId xmlns:p14="http://schemas.microsoft.com/office/powerpoint/2010/main" val="15840631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6909F-B0F9-493E-B495-583DA0EE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42333-2894-4F0A-BA4A-C402C244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4424"/>
                </a:solidFill>
              </a:defRPr>
            </a:pPr>
            <a:r>
              <a:rPr sz="1050" b="1">
                <a:solidFill>
                  <a:srgbClr val="A94424"/>
                </a:solidFill>
              </a:rPr>
              <a:t>MODULE 07  /  ASSEMBLY AND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6242F-1004-4F65-97A2-C9832776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2B"/>
                </a:solidFill>
              </a:defRPr>
            </a:pPr>
            <a:r>
              <a:rPr sz="2850" b="1">
                <a:solidFill>
                  <a:srgbClr val="17232B"/>
                </a:solidFill>
              </a:rPr>
              <a:t>Build the evidence, not just an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609D8-FED1-4B0C-81E3-A3912B26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9369B-2E60-42A4-BC54-14188DC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36D"/>
                </a:solidFill>
              </a:defRPr>
            </a:pPr>
            <a:r>
              <a:rPr sz="975" b="1">
                <a:solidFill>
                  <a:srgbClr val="53636D"/>
                </a:solidFill>
              </a:rPr>
              <a:t>YEAR 8 CATAPULT  •  MODULE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3202D-1FEA-4910-A9CA-E372B40E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4424"/>
                </a:solidFill>
              </a:defRPr>
            </a:pPr>
            <a:r>
              <a:rPr sz="975" b="1">
                <a:solidFill>
                  <a:srgbClr val="A94424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1DCCC-723D-456F-A70A-F7B9A798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4424"/>
                </a:solidFill>
              </a:defRPr>
            </a:pPr>
            <a:r>
              <a:rPr sz="1200" b="1">
                <a:solidFill>
                  <a:srgbClr val="A94424"/>
                </a:solidFill>
              </a:rPr>
              <a:t>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ADD86-1410-44FB-9F8C-6C097094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2B"/>
                </a:solidFill>
              </a:defRPr>
            </a:pPr>
            <a:r>
              <a:rPr sz="1800" b="1">
                <a:solidFill>
                  <a:srgbClr val="17232B"/>
                </a:solidFill>
              </a:rPr>
              <a:t>One adjustment reduces friction but increases sideways movement. Explain the system trade-off and identify the evidence required before accepting the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FCFB6-65AF-4D26-A016-BF433FDE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DE959-7146-4987-9464-939DB21D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22368-BCCA-4E07-A15D-E433E50E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766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06824-FF38-48A3-8B7E-8DB7A2E2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4F5E"/>
                </a:solidFill>
              </a:defRPr>
            </a:pPr>
            <a:r>
              <a:rPr sz="1500" b="1">
                <a:solidFill>
                  <a:srgbClr val="184F5E"/>
                </a:solidFill>
              </a:rPr>
              <a:t>READ</a:t>
            </a:r>
          </a:p>
          <a:p xmlns:a="http://schemas.openxmlformats.org/drawingml/2006/main">
            <a:pPr algn="ctr">
              <a:defRPr sz="1500" b="1">
                <a:solidFill>
                  <a:srgbClr val="184F5E"/>
                </a:solidFill>
              </a:defRPr>
            </a:pPr>
            <a:r>
              <a:rPr sz="1500" b="1">
                <a:solidFill>
                  <a:srgbClr val="184F5E"/>
                </a:solidFill>
              </a:rPr>
              <a:t>Underline the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B22ED-9778-406D-AD3D-79B4C3C8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4424"/>
                </a:solidFill>
              </a:defRPr>
            </a:pPr>
            <a:r>
              <a:rPr sz="1500" b="1">
                <a:solidFill>
                  <a:srgbClr val="A94424"/>
                </a:solidFill>
              </a:rPr>
              <a:t>SELECT</a:t>
            </a:r>
          </a:p>
          <a:p xmlns:a="http://schemas.openxmlformats.org/drawingml/2006/main">
            <a:pPr algn="ctr">
              <a:defRPr sz="1500" b="1">
                <a:solidFill>
                  <a:srgbClr val="A94424"/>
                </a:solidFill>
              </a:defRPr>
            </a:pPr>
            <a:r>
              <a:rPr sz="1500" b="1">
                <a:solidFill>
                  <a:srgbClr val="A94424"/>
                </a:solidFill>
              </a:rPr>
              <a:t>Choose precise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4B351-B9B7-4540-AF01-CF5CEC18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4F5E"/>
                </a:solidFill>
              </a:defRPr>
            </a:pPr>
            <a:r>
              <a:rPr sz="1500" b="1">
                <a:solidFill>
                  <a:srgbClr val="184F5E"/>
                </a:solidFill>
              </a:rPr>
              <a:t>EXPLAIN</a:t>
            </a:r>
          </a:p>
          <a:p xmlns:a="http://schemas.openxmlformats.org/drawingml/2006/main">
            <a:pPr algn="ctr">
              <a:defRPr sz="1500" b="1">
                <a:solidFill>
                  <a:srgbClr val="184F5E"/>
                </a:solidFill>
              </a:defRPr>
            </a:pPr>
            <a:r>
              <a:rPr sz="1500" b="1">
                <a:solidFill>
                  <a:srgbClr val="184F5E"/>
                </a:solidFill>
              </a:rPr>
              <a:t>Connect with theory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1ABCE-6695-42FA-B5EF-05C9434D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343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4424"/>
                </a:solidFill>
              </a:defRPr>
            </a:pPr>
            <a:r>
              <a:rPr sz="1500" b="1">
                <a:solidFill>
                  <a:srgbClr val="A94424"/>
                </a:solidFill>
              </a:rPr>
              <a:t>CHECK</a:t>
            </a:r>
          </a:p>
          <a:p xmlns:a="http://schemas.openxmlformats.org/drawingml/2006/main">
            <a:pPr algn="ctr">
              <a:defRPr sz="1500" b="1">
                <a:solidFill>
                  <a:srgbClr val="A94424"/>
                </a:solidFill>
              </a:defRPr>
            </a:pPr>
            <a:r>
              <a:rPr sz="1500" b="1">
                <a:solidFill>
                  <a:srgbClr val="A94424"/>
                </a:solidFill>
              </a:rPr>
              <a:t>Answer every part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FB125-1E3A-41A6-BB7A-50B33DB8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2FDEF-A244-4F3D-AA00-D62B4C9F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4424"/>
                </a:solidFill>
              </a:defRPr>
            </a:pPr>
            <a:r>
              <a:rPr sz="1200" b="1">
                <a:solidFill>
                  <a:srgbClr val="A94424"/>
                </a:solidFill>
              </a:rPr>
              <a:t>SENTENCE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814AE-FFAD-4B08-810D-85FECF8B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14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2B"/>
                </a:solidFill>
              </a:defRPr>
            </a:pPr>
            <a:r>
              <a:rPr sz="1575" b="0">
                <a:solidFill>
                  <a:srgbClr val="17232B"/>
                </a:solidFill>
              </a:rPr>
              <a:t>The adjustment improves … but it also changes … This trade-off matters because … I would accept it only if the evidence shows …</a:t>
            </a:r>
          </a:p>
        </p:txBody>
      </p:sp>
    </p:spTree>
    <p:extLst>
      <p:ext uri="{BB962C8B-B14F-4D97-AF65-F5344CB8AC3E}">
        <p14:creationId xmlns:p14="http://schemas.microsoft.com/office/powerpoint/2010/main" val="1320744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A94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F303B-18FB-4049-802D-B5BF2C80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84B"/>
                </a:solidFill>
              </a:defRPr>
            </a:pPr>
            <a:r>
              <a:rPr sz="1350" b="1">
                <a:solidFill>
                  <a:srgbClr val="F0B84B"/>
                </a:solidFill>
              </a:rPr>
              <a:t>BEFORE YOU PACK UP 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5AC9E-02A1-4FA0-974A-7CCA93D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Close the design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FB25D-3C75-42F9-AD1A-4E8E30DA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162D3-3831-476E-A6B2-23C30011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B"/>
                </a:solidFill>
              </a:defRPr>
            </a:pPr>
            <a:r>
              <a:rPr sz="1650" b="1">
                <a:solidFill>
                  <a:srgbClr val="17232B"/>
                </a:solidFill>
              </a:rPr>
              <a:t>1. One interaction I can map 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47474-4363-455A-9445-0AC74287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E4459-3C88-4686-AEA6-7AD1E911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B"/>
                </a:solidFill>
              </a:defRPr>
            </a:pPr>
            <a:r>
              <a:rPr sz="1650" b="1">
                <a:solidFill>
                  <a:srgbClr val="17232B"/>
                </a:solidFill>
              </a:rPr>
              <a:t>2. One quality check linked to function 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15219-6E68-4BA4-A727-EA99A18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0F977-192D-4F8A-957B-A88013A7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2B"/>
                </a:solidFill>
              </a:defRPr>
            </a:pPr>
            <a:r>
              <a:rPr sz="1650" b="1">
                <a:solidFill>
                  <a:srgbClr val="17232B"/>
                </a:solidFill>
              </a:rPr>
              <a:t>3. One adjustment I can explain with cause and effect 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40B4D-EB3E-4676-BF77-3DFC9C2B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1935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AC8B6-DD9C-4A56-967E-AFEB37B9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00350"/>
            <a:ext cx="131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32B"/>
                </a:solidFill>
              </a:defRPr>
            </a:pPr>
            <a:r>
              <a:rPr sz="1875" b="1">
                <a:solidFill>
                  <a:srgbClr val="17232B"/>
                </a:solidFill>
              </a:rPr>
              <a:t>SAVE</a:t>
            </a:r>
          </a:p>
          <a:p xmlns:a="http://schemas.openxmlformats.org/drawingml/2006/main">
            <a:pPr algn="ctr">
              <a:defRPr sz="1875" b="1">
                <a:solidFill>
                  <a:srgbClr val="17232B"/>
                </a:solidFill>
              </a:defRPr>
            </a:pPr>
            <a:r>
              <a:rPr sz="1875" b="1">
                <a:solidFill>
                  <a:srgbClr val="17232B"/>
                </a:solidFill>
              </a:rPr>
              <a:t>YOUR</a:t>
            </a:r>
          </a:p>
          <a:p xmlns:a="http://schemas.openxmlformats.org/drawingml/2006/main">
            <a:pPr algn="ctr">
              <a:defRPr sz="1875" b="1">
                <a:solidFill>
                  <a:srgbClr val="17232B"/>
                </a:solidFill>
              </a:defRPr>
            </a:pPr>
            <a:r>
              <a:rPr sz="1875" b="1">
                <a:solidFill>
                  <a:srgbClr val="17232B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519FB-9070-4FA4-8C09-F3BE56CC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Evidence destination: your module response and folio where your teacher directs.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5809C-5E8C-47B6-B455-A746C2C0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84B"/>
                </a:solidFill>
              </a:defRPr>
            </a:pPr>
            <a:r>
              <a:rPr sz="1350" b="1">
                <a:solidFill>
                  <a:srgbClr val="F0B84B"/>
                </a:solidFill>
              </a:rPr>
              <a:t>Next: use repeated data and controlled redesign to make a defensible recommendation.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930AA-CAAD-4C32-A7A4-6FA4AF97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CF260-C77F-44DF-8EEE-3FF780F3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E5E8"/>
                </a:solidFill>
              </a:defRPr>
            </a:pPr>
            <a:r>
              <a:rPr sz="975" b="1">
                <a:solidFill>
                  <a:srgbClr val="D7E5E8"/>
                </a:solidFill>
              </a:rPr>
              <a:t>YEAR 8 CATAPULT  •  MODULE 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2ABA0-F151-476D-9E24-0C963C40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0B84B"/>
                </a:solidFill>
              </a:defRPr>
            </a:pPr>
            <a:r>
              <a:rPr sz="975" b="1">
                <a:solidFill>
                  <a:srgbClr val="F0B84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1331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2026-08-24T03:19:42.0950000Z</dcterms:created>
  <dcterms:modified xsi:type="dcterms:W3CDTF">2026-08-24T03:19:42.0950000Z</dcterms:modified>
</coreProperties>
</file>