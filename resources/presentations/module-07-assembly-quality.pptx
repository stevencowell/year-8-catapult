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4f7b88daae4632" /><Relationship Type="http://schemas.openxmlformats.org/officeDocument/2006/relationships/extended-properties" Target="/docProps/app.xml" Id="R1e96348213924dc7" /><Relationship Type="http://schemas.openxmlformats.org/officeDocument/2006/relationships/officeDocument" Target="/ppt/presentation.xml" Id="R2b5c62b88fbf47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7f86c356c94a92"/>
  </p:sldMasterIdLst>
  <p:notesMasterIdLst>
    <p:notesMasterId xmlns:r="http://schemas.openxmlformats.org/officeDocument/2006/relationships" r:id="Rf395e1bbc1414200"/>
  </p:notesMasterIdLst>
  <p:sldIdLst>
    <p:sldId xmlns:r="http://schemas.openxmlformats.org/officeDocument/2006/relationships" id="256" r:id="R4706d2d9675c447b"/>
    <p:sldId xmlns:r="http://schemas.openxmlformats.org/officeDocument/2006/relationships" id="257" r:id="R074c9abaf9b942c0"/>
    <p:sldId xmlns:r="http://schemas.openxmlformats.org/officeDocument/2006/relationships" id="258" r:id="Rd612c5cc70714a30"/>
    <p:sldId xmlns:r="http://schemas.openxmlformats.org/officeDocument/2006/relationships" id="259" r:id="R787b510dcb0d4058"/>
    <p:sldId xmlns:r="http://schemas.openxmlformats.org/officeDocument/2006/relationships" id="260" r:id="R563169a63ec4462b"/>
    <p:sldId xmlns:r="http://schemas.openxmlformats.org/officeDocument/2006/relationships" id="261" r:id="R70d99f97ddc74bf8"/>
    <p:sldId xmlns:r="http://schemas.openxmlformats.org/officeDocument/2006/relationships" id="262" r:id="Rc5d8f512c3ec4cd8"/>
    <p:sldId xmlns:r="http://schemas.openxmlformats.org/officeDocument/2006/relationships" id="263" r:id="Re767c617e09345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bd46ee78c64f10" /><Relationship Type="http://schemas.openxmlformats.org/officeDocument/2006/relationships/slideMaster" Target="/ppt/slideMasters/slideMaster1.xml" Id="Raf7f86c356c94a92" /><Relationship Type="http://schemas.openxmlformats.org/officeDocument/2006/relationships/notesMaster" Target="/ppt/notesMasters/notesMaster1.xml" Id="Rf395e1bbc1414200" /><Relationship Type="http://schemas.openxmlformats.org/officeDocument/2006/relationships/presProps" Target="/ppt/presProps.xml" Id="R3ee49ed6c8d64291" /><Relationship Type="http://schemas.openxmlformats.org/officeDocument/2006/relationships/tableStyles" Target="/ppt/tableStyles.xml" Id="Rd10dcc16a01b4bc3" /><Relationship Type="http://schemas.openxmlformats.org/officeDocument/2006/relationships/slide" Target="/ppt/slides/slide1.xml" Id="R4706d2d9675c447b" /><Relationship Type="http://schemas.openxmlformats.org/officeDocument/2006/relationships/slide" Target="/ppt/slides/slide2.xml" Id="R074c9abaf9b942c0" /><Relationship Type="http://schemas.openxmlformats.org/officeDocument/2006/relationships/slide" Target="/ppt/slides/slide3.xml" Id="Rd612c5cc70714a30" /><Relationship Type="http://schemas.openxmlformats.org/officeDocument/2006/relationships/slide" Target="/ppt/slides/slide4.xml" Id="R787b510dcb0d4058" /><Relationship Type="http://schemas.openxmlformats.org/officeDocument/2006/relationships/slide" Target="/ppt/slides/slide5.xml" Id="R563169a63ec4462b" /><Relationship Type="http://schemas.openxmlformats.org/officeDocument/2006/relationships/slide" Target="/ppt/slides/slide6.xml" Id="R70d99f97ddc74bf8" /><Relationship Type="http://schemas.openxmlformats.org/officeDocument/2006/relationships/slide" Target="/ppt/slides/slide7.xml" Id="Rc5d8f512c3ec4cd8" /><Relationship Type="http://schemas.openxmlformats.org/officeDocument/2006/relationships/slide" Target="/ppt/slides/slide8.xml" Id="Re767c617e09345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3f01e866b34c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fb88501784409d" /><Relationship Type="http://schemas.openxmlformats.org/officeDocument/2006/relationships/notesMaster" Target="/ppt/notesMasters/notesMaster1.xml" Id="Rf9957f58ce5342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23a343ce0e4fd0" /><Relationship Type="http://schemas.openxmlformats.org/officeDocument/2006/relationships/notesMaster" Target="/ppt/notesMasters/notesMaster1.xml" Id="R151681dacd0440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301fdde1474840" /><Relationship Type="http://schemas.openxmlformats.org/officeDocument/2006/relationships/notesMaster" Target="/ppt/notesMasters/notesMaster1.xml" Id="R24dbf1ea9fbf46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4f26cde3f44b4d" /><Relationship Type="http://schemas.openxmlformats.org/officeDocument/2006/relationships/notesMaster" Target="/ppt/notesMasters/notesMaster1.xml" Id="R6cfffd116c6848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dad90b61434c8f" /><Relationship Type="http://schemas.openxmlformats.org/officeDocument/2006/relationships/notesMaster" Target="/ppt/notesMasters/notesMaster1.xml" Id="R4eac1f4295e84c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e03b260fc64efb" /><Relationship Type="http://schemas.openxmlformats.org/officeDocument/2006/relationships/notesMaster" Target="/ppt/notesMasters/notesMaster1.xml" Id="R149773c76d484d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5f2d845db846eb" /><Relationship Type="http://schemas.openxmlformats.org/officeDocument/2006/relationships/notesMaster" Target="/ppt/notesMasters/notesMaster1.xml" Id="Rde4841ba7b5743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9b3cdfd34c4a8d" /><Relationship Type="http://schemas.openxmlformats.org/officeDocument/2006/relationships/notesMaster" Target="/ppt/notesMasters/notesMaster1.xml" Id="R676926554a9e41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State the learning purpose in one sentence.</a:t>
            </a:r>
          </a:p>
          <a:p xmlns:a="http://schemas.openxmlformats.org/drawingml/2006/main">
            <a:r>
              <a:t>- Use the image only as a conceptual project cue; it is not a plan or model specification.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What relationship or evidence do you expect to matter in this module?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A realistic image must show the exact project design.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Move from the project cue to the three ideas students will learn.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module-07, 24 Aug 2026.</a:t>
            </a:r>
          </a:p>
          <a:p xmlns:a="http://schemas.openxmlformats.org/drawingml/2006/main">
            <a:r>
              <a:t>- Teacher unit sequence; core artefact manifest v1.0; theory draft module-07.</a:t>
            </a:r>
          </a:p>
          <a:p xmlns:a="http://schemas.openxmlformats.org/drawingml/2006/main">
            <a:r>
              <a:t>- OpenAI image generation for this course, 24 Aug 2026, conceptual only; file: catapult-assembly-quality.png.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Frame the module as a cumulative learning sequence.</a:t>
            </a:r>
          </a:p>
          <a:p xmlns:a="http://schemas.openxmlformats.org/drawingml/2006/main">
            <a:r>
              <a:t>- Invite a brief retrieval response before introducing new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If a pivot position changes, what other relationships may also change?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The three ideas are separate facts rather than parts of one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Tell students that each theory slide will supply evidence for the final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module-07, 24 Aug 2026.</a:t>
            </a:r>
          </a:p>
          <a:p xmlns:a="http://schemas.openxmlformats.org/drawingml/2006/main">
            <a:r>
              <a:t>- Teacher unit sequence; core artefact manifest v1.0; theory draft module-07.</a:t>
            </a:r>
          </a:p>
          <a:p xmlns:a="http://schemas.openxmlformats.org/drawingml/2006/main">
            <a:r>
              <a:t>- Native pathway diagram authored for this deck from the approved module sequence.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The base and frame support and locate parts; a pivot permits rotation; a lever carries motion; an energy store supplies energy; and fasteners connect components. These are functions, not a prescribed design. The key is predicting how one relationship affects the rest.</a:t>
            </a:r>
          </a:p>
          <a:p xmlns:a="http://schemas.openxmlformats.org/drawingml/2006/main">
            <a:r>
              <a:t>- Use the visual to emphasise: Trace the chain from support to pivot to motion without treating the close-up as a build instruction.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System map: choose one component change and draw arrows to every relationship that should be rechecked.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Why is a component list not yet an interaction map?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Link this idea to the next relationship in the module.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module-07, 24 Aug 2026.</a:t>
            </a:r>
          </a:p>
          <a:p xmlns:a="http://schemas.openxmlformats.org/drawingml/2006/main">
            <a:r>
              <a:t>- Teacher unit sequence; core artefact manifest v1.0; theory draft module-07.</a:t>
            </a:r>
          </a:p>
          <a:p xmlns:a="http://schemas.openxmlformats.org/drawingml/2006/main">
            <a:r>
              <a:t>- Teaching visual: assets/visuals/theory/m07-component-interaction.png.</a:t>
            </a:r>
          </a:p>
          <a:p xmlns:a="http://schemas.openxmlformats.org/drawingml/2006/main">
            <a:r>
              <a:t>- OpenAI image generation for this course, 24 Aug 2026; conceptual teaching still life; final prompt: Tight macro of an incomplete support, dowel and short lever relationship with a separate elastic loop; cropped, inactive and non-prescriptive.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Poor alignment can create rubbing, unwanted sideways forces and inconsistent movement. Friction can be useful where a fastener must hold yet wasteful where a moving relationship should travel freely. Play, stiffness, fastening and clearance must be judged together.</a:t>
            </a:r>
          </a:p>
          <a:p xmlns:a="http://schemas.openxmlformats.org/drawingml/2006/main">
            <a:r>
              <a:t>- Use the visual to emphasise: Compare centrelines, clearance and contact; do not judge quality from neat appearance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Compare: where is friction helpful in the system, and where could it interfere with the intended function?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Where might friction be useful?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Link this idea to the next relationship in the module.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module-07, 24 Aug 2026.</a:t>
            </a:r>
          </a:p>
          <a:p xmlns:a="http://schemas.openxmlformats.org/drawingml/2006/main">
            <a:r>
              <a:t>- Teacher unit sequence; core artefact manifest v1.0; theory draft module-07.</a:t>
            </a:r>
          </a:p>
          <a:p xmlns:a="http://schemas.openxmlformats.org/drawingml/2006/main">
            <a:r>
              <a:t>- Teaching visual: assets/visuals/theory/m07-alignment-comparison.png.</a:t>
            </a:r>
          </a:p>
          <a:p xmlns:a="http://schemas.openxmlformats.org/drawingml/2006/main">
            <a:r>
              <a:t>- OpenAI image generation for this course, 24 Aug 2026; conceptual teaching still life; final prompt: Split photographic comparison of two abstract paired-support models, one aligned and one misaligned; no tolerances or adjustment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Stop at the observed behaviour, identify a likely cause and predict what one teacher-approved adjustment should change. Repeat the same relevant check and compare the new evidence. Several simultaneous changes hide which one mattered and weaken the explanation.</a:t>
            </a:r>
          </a:p>
          <a:p xmlns:a="http://schemas.openxmlformats.org/drawingml/2006/main">
            <a:r>
              <a:t>- Use the visual to emphasise: Find the single visible change and identify what should be rechecked before making another.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Evidence move: write the reason, one change, predicted effect and before-and-after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How can excess play affect consistency?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Prepare students to retrieve and apply all three ideas.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module-07, 24 Aug 2026.</a:t>
            </a:r>
          </a:p>
          <a:p xmlns:a="http://schemas.openxmlformats.org/drawingml/2006/main">
            <a:r>
              <a:t>- Teacher unit sequence; core artefact manifest v1.0; theory draft module-07.</a:t>
            </a:r>
          </a:p>
          <a:p xmlns:a="http://schemas.openxmlformats.org/drawingml/2006/main">
            <a:r>
              <a:t>- Teaching visual: assets/visuals/theory/m07-one-controlled-change.png.</a:t>
            </a:r>
          </a:p>
          <a:p xmlns:a="http://schemas.openxmlformats.org/drawingml/2006/main">
            <a:r>
              <a:t>- OpenAI image generation for this course, 24 Aug 2026; conceptual teaching still life; final prompt: Photographic diptych of the same abstract interface with one spacer repositioned and everything else unchanged; no result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Give individual thinking time before partner discussion.</a:t>
            </a:r>
          </a:p>
          <a:p xmlns:a="http://schemas.openxmlformats.org/drawingml/2006/main">
            <a:r>
              <a:t>- Ask for evidence or a because-clause, not just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Which answer changed after discussion, and what evidence changed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Retrieval is a memory race rather than a chance to repair understanding.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Use the strongest unresolved question to launch the evidence scaffold.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module-07, 24 Aug 2026.</a:t>
            </a:r>
          </a:p>
          <a:p xmlns:a="http://schemas.openxmlformats.org/drawingml/2006/main">
            <a:r>
              <a:t>- Teacher unit sequence; core artefact manifest v1.0; theory draft module-07.</a:t>
            </a:r>
          </a:p>
          <a:p xmlns:a="http://schemas.openxmlformats.org/drawingml/2006/main">
            <a:r>
              <a:t>- Questions derived from the approved module theory; no external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Model how to select evidence before writing the explanation.</a:t>
            </a:r>
          </a:p>
          <a:p xmlns:a="http://schemas.openxmlformats.org/drawingml/2006/main">
            <a:r>
              <a:t>- Read the sentence support aloud, then let students change its wording to suit their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One adjustment reduces friction but increases sideways movement. Explain the system trade-off and identify the evidence required before accepting the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Longer writing is automatically stronger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Move from the scaffold to a concise exit ticket and evidence-save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module-07, 24 Aug 2026.</a:t>
            </a:r>
          </a:p>
          <a:p xmlns:a="http://schemas.openxmlformats.org/drawingml/2006/main">
            <a:r>
              <a:t>- Teacher unit sequence; core artefact manifest v1.0; theory draft module-07.</a:t>
            </a:r>
          </a:p>
          <a:p xmlns:a="http://schemas.openxmlformats.org/drawingml/2006/main">
            <a:r>
              <a:t>- Read–Select–Explain–Check scaffold follows the TAS course presentation standard.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Collect a short answer to each exit prompt.</a:t>
            </a:r>
          </a:p>
          <a:p xmlns:a="http://schemas.openxmlformats.org/drawingml/2006/main">
            <a:r>
              <a:t>- Make the evidence destination explicit without turning the slide into assessment administration.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Which exit response best shows a changed decision or deeper explanation?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The exit ticket is a generic summary with no next evidence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Next: use repeated data and controlled redesign to make a defensible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module-07, 24 Aug 2026.</a:t>
            </a:r>
          </a:p>
          <a:p xmlns:a="http://schemas.openxmlformats.org/drawingml/2006/main">
            <a:r>
              <a:t>- Teacher unit sequence; core artefact manifest v1.0; theory draft module-07.</a:t>
            </a:r>
          </a:p>
          <a:p xmlns:a="http://schemas.openxmlformats.org/drawingml/2006/main">
            <a:r>
              <a:t>- Exit-evidence structure follows the TAS course presentation standard.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b5833e0b9640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13ed7cd6d14af8" /><Relationship Type="http://schemas.openxmlformats.org/officeDocument/2006/relationships/slideLayout" Target="/ppt/slideLayouts/slideLayout1.xml" Id="R0fff528fb6f4441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ff528fb6f444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33ba3f19048bc" /><Relationship Type="http://schemas.openxmlformats.org/officeDocument/2006/relationships/image" Target="/ppt/media/image.png" Id="R4bfd685af2ba4fe2" /><Relationship Type="http://schemas.openxmlformats.org/officeDocument/2006/relationships/notesSlide" Target="/ppt/notesSlides/notesSlide1.xml" Id="Rdfec6ba6f35248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d98cd05324a4b" /><Relationship Type="http://schemas.openxmlformats.org/officeDocument/2006/relationships/notesSlide" Target="/ppt/notesSlides/notesSlide2.xml" Id="R196e4f9a41544e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1af397c4a646f7" /><Relationship Type="http://schemas.openxmlformats.org/officeDocument/2006/relationships/image" Target="/ppt/media/image2.png" Id="R90763f17d5b04870" /><Relationship Type="http://schemas.openxmlformats.org/officeDocument/2006/relationships/notesSlide" Target="/ppt/notesSlides/notesSlide3.xml" Id="R2af5f11c1bb547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ec5aefde6442c" /><Relationship Type="http://schemas.openxmlformats.org/officeDocument/2006/relationships/image" Target="/ppt/media/image3.png" Id="R20a673888aea4366" /><Relationship Type="http://schemas.openxmlformats.org/officeDocument/2006/relationships/notesSlide" Target="/ppt/notesSlides/notesSlide4.xml" Id="Rafa36572e80f41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a3b94b5ce4cae" /><Relationship Type="http://schemas.openxmlformats.org/officeDocument/2006/relationships/image" Target="/ppt/media/image4.png" Id="Rd05e590a3e0441f4" /><Relationship Type="http://schemas.openxmlformats.org/officeDocument/2006/relationships/notesSlide" Target="/ppt/notesSlides/notesSlide5.xml" Id="R18c298ff9dfc49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57ae242374f52" /><Relationship Type="http://schemas.openxmlformats.org/officeDocument/2006/relationships/notesSlide" Target="/ppt/notesSlides/notesSlide6.xml" Id="R1b0236bdbb4947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26ed6f7d5405f" /><Relationship Type="http://schemas.openxmlformats.org/officeDocument/2006/relationships/notesSlide" Target="/ppt/notesSlides/notesSlide7.xml" Id="Rcb8e4c33498e4f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2e5671bc5410d" /><Relationship Type="http://schemas.openxmlformats.org/officeDocument/2006/relationships/notesSlide" Target="/ppt/notesSlides/notesSlide8.xml" Id="R234d7de73a8e4f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35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d685af2ba4fe2"/>
          <a:srcRect xmlns:a="http://schemas.openxmlformats.org/drawingml/2006/main" l="25926" t="0" r="2592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B44F1-E282-4D6E-80D2-F6DC1B74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3EFA3-513C-4185-9F8B-DBFB66F0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B84B"/>
                </a:solidFill>
              </a:defRPr>
            </a:pPr>
            <a:r>
              <a:rPr sz="1350" b="1">
                <a:solidFill>
                  <a:srgbClr val="F0B84B"/>
                </a:solidFill>
              </a:rPr>
              <a:t>MODULE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947F8-D74E-4F0E-A10C-34918AA0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810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Components, Assembly and Quality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091926-EAA6-4D2C-BC3C-3FDF15FD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57626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7E5E8"/>
                </a:solidFill>
              </a:defRPr>
            </a:pPr>
            <a:r>
              <a:rPr sz="1875" b="0">
                <a:solidFill>
                  <a:srgbClr val="D7E5E8"/>
                </a:solidFill>
              </a:rPr>
              <a:t>Trace component interactions and use a controlled adjustment loop to improve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B7ECE-F77D-4C21-B37D-5F801EB4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7E5E8"/>
                </a:solidFill>
              </a:defRPr>
            </a:pPr>
            <a:r>
              <a:rPr sz="1125" b="1">
                <a:solidFill>
                  <a:srgbClr val="D7E5E8"/>
                </a:solidFill>
              </a:rPr>
              <a:t>YEAR 8  •  ENGINEERING TECHNOLOGIES AND SYSTEMS</a:t>
            </a:r>
          </a:p>
        </p:txBody>
      </p:sp>
    </p:spTree>
    <p:extLst>
      <p:ext uri="{BB962C8B-B14F-4D97-AF65-F5344CB8AC3E}">
        <p14:creationId xmlns:p14="http://schemas.microsoft.com/office/powerpoint/2010/main" val="15653234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4C4B94-A951-457F-A6D0-D31E3121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7D79F-8E87-4B5C-8CCE-9021F51F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07  /  ASSEMBLY AND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547971-E531-4CE8-A409-69D194F6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The learning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3AB17-E382-4EDA-A479-AC8571D2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D01FD7-4062-4013-A636-768E56E9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05D61-3C97-466B-BDDA-82BAAE36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5B4B2-5DE0-44D9-9166-9CACBF06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4F5E"/>
                </a:solidFill>
              </a:defRPr>
            </a:pPr>
            <a:r>
              <a:rPr sz="2250" b="1">
                <a:solidFill>
                  <a:srgbClr val="184F5E"/>
                </a:solidFill>
              </a:rPr>
              <a:t>Why can one small assembly change affect several parts of the system?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2B9819-B07A-4D63-A33B-C6D60599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81350"/>
            <a:ext cx="666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BD6E7-31A6-4E02-8943-DC40B2F9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666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208B0-969B-4A5C-9F6A-68DA2951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4F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626D2C-D110-4EAE-9AAD-7E53AC88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81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465EE7-00D8-4576-8F7B-6217B39F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81300"/>
            <a:ext cx="2333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32B"/>
                </a:solidFill>
              </a:defRPr>
            </a:pPr>
            <a:r>
              <a:rPr sz="1725" b="1">
                <a:solidFill>
                  <a:srgbClr val="17232B"/>
                </a:solidFill>
              </a:rPr>
              <a:t>Components form a chain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A26D72-3F6D-4790-8723-E3F3A865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432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A1C71A-39C2-4801-AE66-342CEAE6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14650"/>
            <a:ext cx="81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32B"/>
                </a:solidFill>
              </a:defRPr>
            </a:pPr>
            <a:r>
              <a:rPr sz="2400" b="1">
                <a:solidFill>
                  <a:srgbClr val="17232B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6814BB-36DD-4E28-8738-B3AAF6E1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81300"/>
            <a:ext cx="2333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32B"/>
                </a:solidFill>
              </a:defRPr>
            </a:pPr>
            <a:r>
              <a:rPr sz="1725" b="1">
                <a:solidFill>
                  <a:srgbClr val="17232B"/>
                </a:solidFill>
              </a:rPr>
              <a:t>Fit changes motion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159B71-6BB2-44FB-BD63-FDFCE047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432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4F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C3B67-B101-4FF3-96C3-1BA98F16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14650"/>
            <a:ext cx="81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987C6-4907-4301-814E-D28A39C9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81300"/>
            <a:ext cx="2333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32B"/>
                </a:solidFill>
              </a:defRPr>
            </a:pPr>
            <a:r>
              <a:rPr sz="1725" b="1">
                <a:solidFill>
                  <a:srgbClr val="17232B"/>
                </a:solidFill>
              </a:rPr>
              <a:t>Adjust one cause at a 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EC3FFD-B2BD-4EA2-AA6B-D6166469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77D194-6004-4E2E-A851-1CAF80E6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958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4424"/>
                </a:solidFill>
              </a:defRPr>
            </a:pPr>
            <a:r>
              <a:rPr sz="1200" b="1">
                <a:solidFill>
                  <a:srgbClr val="A94424"/>
                </a:solidFill>
              </a:rPr>
              <a:t>RETRIEVAL WARM-UP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DF768D-E386-41F1-8904-6E776D52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197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32B"/>
                </a:solidFill>
              </a:defRPr>
            </a:pPr>
            <a:r>
              <a:rPr sz="1650" b="1">
                <a:solidFill>
                  <a:srgbClr val="17232B"/>
                </a:solidFill>
              </a:rPr>
              <a:t>If a pivot position changes, what other relationships may also change?</a:t>
            </a:r>
          </a:p>
        </p:txBody>
      </p:sp>
    </p:spTree>
    <p:extLst>
      <p:ext uri="{BB962C8B-B14F-4D97-AF65-F5344CB8AC3E}">
        <p14:creationId xmlns:p14="http://schemas.microsoft.com/office/powerpoint/2010/main" val="14672564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FE5E5E-7F69-4167-B4E9-1BAE8162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490E08-E210-4A54-B112-8560049A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07  /  ASSEMBLY AND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70332-BFE3-4BC5-A334-66EF64F3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Component functions form an interaction chain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8357E-50ED-4918-9730-F143537D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85850-933D-4C33-87EA-1F36D314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6527F-4744-4D17-9CB7-20290EC8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EAB63C-B893-4940-BC69-58967109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8006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32B"/>
                </a:solidFill>
              </a:defRPr>
            </a:pPr>
            <a:r>
              <a:rPr sz="1725" b="0">
                <a:solidFill>
                  <a:srgbClr val="17232B"/>
                </a:solidFill>
              </a:rPr>
              <a:t>The base and frame support and locate parts; a pivot permits rotation; a lever carries motion; an energy store supplies energy; and fasteners connect components. These are functions, not a prescribed design. The key is predicting how one relationship affects the rest.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F00CD-6075-4070-8212-8BF503DE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B8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06143-D69C-4AB1-A46A-5CC5FA22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48006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94424"/>
                </a:solidFill>
              </a:defRPr>
            </a:pPr>
            <a:r>
              <a:rPr sz="1575" b="1">
                <a:solidFill>
                  <a:srgbClr val="A94424"/>
                </a:solidFill>
              </a:rPr>
              <a:t>System map: choose one component change and draw arrows to every relationship that should be rechecked.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FCF28D-40A2-4C0B-9DA0-BE97BA68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95400"/>
            <a:ext cx="4762500" cy="2676525"/>
          </a:xfrm>
          <a:prstGeom xmlns:a="http://schemas.openxmlformats.org/drawingml/2006/main" prst="roundRect">
            <a:avLst>
              <a:gd name="adj" fmla="val 28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63f17d5b04870"/>
          <a:srcRect xmlns:a="http://schemas.openxmlformats.org/drawingml/2006/main" l="0" t="71" r="0" b="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295400"/>
            <a:ext cx="4762500" cy="2676525"/>
          </a:xfrm>
          <a:prstGeom xmlns:a="http://schemas.openxmlformats.org/drawingml/2006/main" prst="roundRect">
            <a:avLst>
              <a:gd name="adj" fmla="val 427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77A5F9-586F-4FD0-AE4B-11968A11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576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32B"/>
                </a:solidFill>
              </a:defRPr>
            </a:pPr>
            <a:r>
              <a:rPr sz="1125" b="1">
                <a:solidFill>
                  <a:srgbClr val="17232B"/>
                </a:solidFill>
              </a:rPr>
              <a:t>Changing one interface can alter alignment, clearance, friction and forces elsewhere.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B2479-437F-4C37-96D2-5063E483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0100"/>
            <a:ext cx="4762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9525">
            <a:solidFill>
              <a:srgbClr val="F0B8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4F5E"/>
                </a:solidFill>
              </a:defRPr>
            </a:pPr>
            <a:r>
              <a:rPr sz="1125" b="1">
                <a:solidFill>
                  <a:srgbClr val="184F5E"/>
                </a:solidFill>
              </a:rPr>
              <a:t>NOTICE  Trace the chain from support to pivot to motion without treating the close-up as a build instruction.</a:t>
            </a:r>
          </a:p>
        </p:txBody>
      </p:sp>
    </p:spTree>
    <p:extLst>
      <p:ext uri="{BB962C8B-B14F-4D97-AF65-F5344CB8AC3E}">
        <p14:creationId xmlns:p14="http://schemas.microsoft.com/office/powerpoint/2010/main" val="15076107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B212F-EC73-4A49-B2CD-726DBC40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08201-8030-4715-B9B3-A7E04060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07  /  ASSEMBLY AND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652D5-CCB0-4664-BA33-A18D8A26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Alignment, fit and friction shape quality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7D776-610D-473F-9521-B566ECF3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42072-4E42-4589-854F-9C3CFE00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57C01C-47FF-456C-B03D-3CB0CC28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E961F-5A88-42D2-94C0-0C187ACC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381125"/>
            <a:ext cx="48006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32B"/>
                </a:solidFill>
              </a:defRPr>
            </a:pPr>
            <a:r>
              <a:rPr sz="1725" b="0">
                <a:solidFill>
                  <a:srgbClr val="17232B"/>
                </a:solidFill>
              </a:rPr>
              <a:t>Poor alignment can create rubbing, unwanted sideways forces and inconsistent movement. Friction can be useful where a fastener must hold yet wasteful where a moving relationship should travel freely. Play, stiffness, fastening and clearance must be judged together.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BA162-5EE5-4D73-95B1-A3AFB5B5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052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B8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31749E-525D-4C77-87A5-93873CF6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71950"/>
            <a:ext cx="48006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94424"/>
                </a:solidFill>
              </a:defRPr>
            </a:pPr>
            <a:r>
              <a:rPr sz="1575" b="1">
                <a:solidFill>
                  <a:srgbClr val="A94424"/>
                </a:solidFill>
              </a:rPr>
              <a:t>Compare: where is friction helpful in the system, and where could it interfere with the intended function?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073D80-3977-4C22-9785-6CD5ADB5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4762500" cy="2676525"/>
          </a:xfrm>
          <a:prstGeom xmlns:a="http://schemas.openxmlformats.org/drawingml/2006/main" prst="roundRect">
            <a:avLst>
              <a:gd name="adj" fmla="val 28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673888aea4366"/>
          <a:srcRect xmlns:a="http://schemas.openxmlformats.org/drawingml/2006/main" l="0" t="71" r="0" b="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295400"/>
            <a:ext cx="4762500" cy="2676525"/>
          </a:xfrm>
          <a:prstGeom xmlns:a="http://schemas.openxmlformats.org/drawingml/2006/main" prst="roundRect">
            <a:avLst>
              <a:gd name="adj" fmla="val 427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4AE6CA-07D2-4156-B31A-30C93DE2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32B"/>
                </a:solidFill>
              </a:defRPr>
            </a:pPr>
            <a:r>
              <a:rPr sz="1125" b="1">
                <a:solidFill>
                  <a:srgbClr val="17232B"/>
                </a:solidFill>
              </a:rPr>
              <a:t>Alignment and fit shape movement; friction may be useful or unwanted depending on function.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00F0D-AE63-4EE9-8938-D7E5B124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762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9525">
            <a:solidFill>
              <a:srgbClr val="F0B8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4F5E"/>
                </a:solidFill>
              </a:defRPr>
            </a:pPr>
            <a:r>
              <a:rPr sz="1125" b="1">
                <a:solidFill>
                  <a:srgbClr val="184F5E"/>
                </a:solidFill>
              </a:rPr>
              <a:t>NOTICE  Compare centrelines, clearance and contact; do not judge quality from neat appearance alone.</a:t>
            </a:r>
          </a:p>
        </p:txBody>
      </p:sp>
    </p:spTree>
    <p:extLst>
      <p:ext uri="{BB962C8B-B14F-4D97-AF65-F5344CB8AC3E}">
        <p14:creationId xmlns:p14="http://schemas.microsoft.com/office/powerpoint/2010/main" val="18003268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310D3-6F7A-4CBE-85A1-198292C7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BA7AB6-6F1B-497C-A4BE-39EFCB0D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07  /  ASSEMBLY AND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0B62E-A42F-4325-B386-59096722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One controlled adjustment protects cause and effect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D3108-ED6A-48E9-93C9-30A41499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18B96-6140-4C4B-AFD0-2933F73E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2A0EE-E984-4F42-8C18-C8739CAB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3A1B9D-F13B-4DA1-B825-BDEABDBC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8006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32B"/>
                </a:solidFill>
              </a:defRPr>
            </a:pPr>
            <a:r>
              <a:rPr sz="1725" b="0">
                <a:solidFill>
                  <a:srgbClr val="17232B"/>
                </a:solidFill>
              </a:rPr>
              <a:t>Stop at the observed behaviour, identify a likely cause and predict what one teacher-approved adjustment should change. Repeat the same relevant check and compare the new evidence. Several simultaneous changes hide which one mattered and weaken the explanation.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2AE11C-E4CB-4884-9A6B-818DA71E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B8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F8DBE2-D304-45C4-BB96-A4D9AD9D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48006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94424"/>
                </a:solidFill>
              </a:defRPr>
            </a:pPr>
            <a:r>
              <a:rPr sz="1575" b="1">
                <a:solidFill>
                  <a:srgbClr val="A94424"/>
                </a:solidFill>
              </a:rPr>
              <a:t>Evidence move: write the reason, one change, predicted effect and before-and-after comparison.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A5062-5B53-4599-B4F6-5518ECA5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95400"/>
            <a:ext cx="4762500" cy="2676525"/>
          </a:xfrm>
          <a:prstGeom xmlns:a="http://schemas.openxmlformats.org/drawingml/2006/main" prst="roundRect">
            <a:avLst>
              <a:gd name="adj" fmla="val 28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e590a3e0441f4"/>
          <a:srcRect xmlns:a="http://schemas.openxmlformats.org/drawingml/2006/main" l="0" t="71" r="0" b="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295400"/>
            <a:ext cx="4762500" cy="2676525"/>
          </a:xfrm>
          <a:prstGeom xmlns:a="http://schemas.openxmlformats.org/drawingml/2006/main" prst="roundRect">
            <a:avLst>
              <a:gd name="adj" fmla="val 427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3182CC-6A59-4752-9531-9E9601CA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576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32B"/>
                </a:solidFill>
              </a:defRPr>
            </a:pPr>
            <a:r>
              <a:rPr sz="1125" b="1">
                <a:solidFill>
                  <a:srgbClr val="17232B"/>
                </a:solidFill>
              </a:rPr>
              <a:t>One controlled adjustment preserves cause-and-effect evidence.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465798-7922-4D97-85FA-D19D0D95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0100"/>
            <a:ext cx="4762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9525">
            <a:solidFill>
              <a:srgbClr val="F0B8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4F5E"/>
                </a:solidFill>
              </a:defRPr>
            </a:pPr>
            <a:r>
              <a:rPr sz="1125" b="1">
                <a:solidFill>
                  <a:srgbClr val="184F5E"/>
                </a:solidFill>
              </a:rPr>
              <a:t>NOTICE  Find the single visible change and identify what should be rechecked before making another.</a:t>
            </a:r>
          </a:p>
        </p:txBody>
      </p:sp>
    </p:spTree>
    <p:extLst>
      <p:ext uri="{BB962C8B-B14F-4D97-AF65-F5344CB8AC3E}">
        <p14:creationId xmlns:p14="http://schemas.microsoft.com/office/powerpoint/2010/main" val="3049014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35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740B1E-A4F7-4A25-91C6-DEEAF293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9B9CE-5D93-4A54-A0DA-0D06A75D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B84B"/>
                </a:solidFill>
              </a:defRPr>
            </a:pPr>
            <a:r>
              <a:rPr sz="1050" b="1">
                <a:solidFill>
                  <a:srgbClr val="F0B84B"/>
                </a:solidFill>
              </a:rPr>
              <a:t>MODULE 07  /  ASSEMBLY AND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597B3-2EB2-4776-8EFB-5EB78EE4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Stop. Think. Explain.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C6901-F5F0-4664-9ECE-29962DFD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E480B-D242-4F0F-88E3-54CEBA56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E5E8"/>
                </a:solidFill>
              </a:defRPr>
            </a:pPr>
            <a:r>
              <a:rPr sz="975" b="1">
                <a:solidFill>
                  <a:srgbClr val="D7E5E8"/>
                </a:solidFill>
              </a:rPr>
              <a:t>YEAR 8 CATAPULT  •  MODULE 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6FD259-0CC0-4593-B061-D5790F09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0B84B"/>
                </a:solidFill>
              </a:defRPr>
            </a:pPr>
            <a:r>
              <a:rPr sz="975" b="1">
                <a:solidFill>
                  <a:srgbClr val="F0B84B"/>
                </a:solidFill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0B6FA-4B8F-45B7-976E-76688C84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E5E8"/>
                </a:solidFill>
              </a:defRPr>
            </a:pPr>
            <a:r>
              <a:rPr sz="1500" b="0">
                <a:solidFill>
                  <a:srgbClr val="D7E5E8"/>
                </a:solidFill>
              </a:rPr>
              <a:t>Answer silently first. Then justify one answer with a partner.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33B7B-867A-4436-A48E-77C711E5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33575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84B"/>
                </a:solidFill>
              </a:defRPr>
            </a:pPr>
            <a:r>
              <a:rPr sz="1800" b="1">
                <a:solidFill>
                  <a:srgbClr val="F0B84B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CC10D-C14A-4595-B28E-B1AAE930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Why is a component list not yet an interaction map?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B4C5F-0B7F-4DB3-9B5A-E26BBCCD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3365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DC15A-0450-4C02-AE06-DF090759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84B"/>
                </a:solidFill>
              </a:defRPr>
            </a:pPr>
            <a:r>
              <a:rPr sz="1800" b="1">
                <a:solidFill>
                  <a:srgbClr val="F0B84B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048238-BE3C-4231-9BEE-8A763D8F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28925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Where might friction be useful?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FF4461-628E-4161-BC66-51D7D730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51472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E88387-BBEC-41D5-979B-EAFE96A9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95725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84B"/>
                </a:solidFill>
              </a:defRPr>
            </a:pPr>
            <a:r>
              <a:rPr sz="1800" b="1">
                <a:solidFill>
                  <a:srgbClr val="F0B84B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34014-FC34-4E30-BC50-B96D03F1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10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How can excess play affect consistency?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F88BC5-EF39-4C6B-84BC-5C4B3872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9580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E2C95-1490-4768-ADB8-3127FBC7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84B"/>
                </a:solidFill>
              </a:defRPr>
            </a:pPr>
            <a:r>
              <a:rPr sz="1800" b="1">
                <a:solidFill>
                  <a:srgbClr val="F0B84B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5BB04C-0F5A-4D1B-8A28-8374C004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91075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Why should several features not change at once?</a:t>
            </a:r>
          </a:p>
        </p:txBody>
      </p:sp>
    </p:spTree>
    <p:extLst>
      <p:ext uri="{BB962C8B-B14F-4D97-AF65-F5344CB8AC3E}">
        <p14:creationId xmlns:p14="http://schemas.microsoft.com/office/powerpoint/2010/main" val="15161098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C93653-DA70-4468-A9AB-3EDF6038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182B7F-2CA8-4C56-94F1-A4969348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07  /  ASSEMBLY AND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90B1F-BBD1-4E23-B019-D6BB167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Build the evidence, not just an answer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BC003-AD4A-4255-8204-40DD2566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7F1D5-1C07-4ADB-9388-248D7454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44494B-82A0-42B6-972F-9D20C93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BF0CB-CDE9-4F30-B5C6-7DEAE87D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4424"/>
                </a:solidFill>
              </a:defRPr>
            </a:pPr>
            <a:r>
              <a:rPr sz="1200" b="1">
                <a:solidFill>
                  <a:srgbClr val="A94424"/>
                </a:solidFill>
              </a:rPr>
              <a:t>THE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9D2C24-A823-4138-813D-861FDA9B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32B"/>
                </a:solidFill>
              </a:defRPr>
            </a:pPr>
            <a:r>
              <a:rPr sz="1800" b="1">
                <a:solidFill>
                  <a:srgbClr val="17232B"/>
                </a:solidFill>
              </a:rPr>
              <a:t>One adjustment reduces friction but increases sideways movement. Explain the system trade-off and identify the evidence required before accepting the change.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484CB-F1C1-4815-98F6-AF278BAE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0FEE7-86B6-4078-97A7-06122508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476625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91DBC-1268-4456-A9AB-0E4A6E68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76625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7D3F5F-499F-4920-A3A6-41B2D54E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343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4F5E"/>
                </a:solidFill>
              </a:defRPr>
            </a:pPr>
            <a:r>
              <a:rPr sz="1500" b="1">
                <a:solidFill>
                  <a:srgbClr val="184F5E"/>
                </a:solidFill>
              </a:rPr>
              <a:t>READ</a:t>
            </a:r>
          </a:p>
          <a:p xmlns:a="http://schemas.openxmlformats.org/drawingml/2006/main">
            <a:pPr algn="ctr">
              <a:defRPr sz="1500" b="1">
                <a:solidFill>
                  <a:srgbClr val="184F5E"/>
                </a:solidFill>
              </a:defRPr>
            </a:pPr>
            <a:r>
              <a:rPr sz="1500" b="1">
                <a:solidFill>
                  <a:srgbClr val="184F5E"/>
                </a:solidFill>
              </a:rPr>
              <a:t>Underline the decision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F854E1-5CF1-473B-8A7D-3FBEC174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28950"/>
            <a:ext cx="2343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94424"/>
                </a:solidFill>
              </a:defRPr>
            </a:pPr>
            <a:r>
              <a:rPr sz="1500" b="1">
                <a:solidFill>
                  <a:srgbClr val="A94424"/>
                </a:solidFill>
              </a:rPr>
              <a:t>SELECT</a:t>
            </a:r>
          </a:p>
          <a:p xmlns:a="http://schemas.openxmlformats.org/drawingml/2006/main">
            <a:pPr algn="ctr">
              <a:defRPr sz="1500" b="1">
                <a:solidFill>
                  <a:srgbClr val="A94424"/>
                </a:solidFill>
              </a:defRPr>
            </a:pPr>
            <a:r>
              <a:rPr sz="1500" b="1">
                <a:solidFill>
                  <a:srgbClr val="A94424"/>
                </a:solidFill>
              </a:rPr>
              <a:t>Choose precise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75E4E-8026-4AED-BCD9-B5FBDF04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28950"/>
            <a:ext cx="2343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4F5E"/>
                </a:solidFill>
              </a:defRPr>
            </a:pPr>
            <a:r>
              <a:rPr sz="1500" b="1">
                <a:solidFill>
                  <a:srgbClr val="184F5E"/>
                </a:solidFill>
              </a:rPr>
              <a:t>EXPLAIN</a:t>
            </a:r>
          </a:p>
          <a:p xmlns:a="http://schemas.openxmlformats.org/drawingml/2006/main">
            <a:pPr algn="ctr">
              <a:defRPr sz="1500" b="1">
                <a:solidFill>
                  <a:srgbClr val="184F5E"/>
                </a:solidFill>
              </a:defRPr>
            </a:pPr>
            <a:r>
              <a:rPr sz="1500" b="1">
                <a:solidFill>
                  <a:srgbClr val="184F5E"/>
                </a:solidFill>
              </a:rPr>
              <a:t>Connect with theory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DF9BDD-9E1E-41E7-82BB-55B16A97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28950"/>
            <a:ext cx="2343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94424"/>
                </a:solidFill>
              </a:defRPr>
            </a:pPr>
            <a:r>
              <a:rPr sz="1500" b="1">
                <a:solidFill>
                  <a:srgbClr val="A94424"/>
                </a:solidFill>
              </a:rPr>
              <a:t>CHECK</a:t>
            </a:r>
          </a:p>
          <a:p xmlns:a="http://schemas.openxmlformats.org/drawingml/2006/main">
            <a:pPr algn="ctr">
              <a:defRPr sz="1500" b="1">
                <a:solidFill>
                  <a:srgbClr val="A94424"/>
                </a:solidFill>
              </a:defRPr>
            </a:pPr>
            <a:r>
              <a:rPr sz="1500" b="1">
                <a:solidFill>
                  <a:srgbClr val="A94424"/>
                </a:solidFill>
              </a:rPr>
              <a:t>Answer every part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1610DA-3A3A-4F4E-AD7E-8338679D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6DF8DD-FDC8-4F9E-A985-FF00DB13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4424"/>
                </a:solidFill>
              </a:defRPr>
            </a:pPr>
            <a:r>
              <a:rPr sz="1200" b="1">
                <a:solidFill>
                  <a:srgbClr val="A94424"/>
                </a:solidFill>
              </a:rPr>
              <a:t>SENTENCE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0F4F88-CD0B-4E5F-B547-4230C7BD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0144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32B"/>
                </a:solidFill>
              </a:defRPr>
            </a:pPr>
            <a:r>
              <a:rPr sz="1575" b="0">
                <a:solidFill>
                  <a:srgbClr val="17232B"/>
                </a:solidFill>
              </a:rPr>
              <a:t>The adjustment improves … but it also changes … This trade-off matters because … I would accept it only if the evidence shows …</a:t>
            </a:r>
          </a:p>
        </p:txBody>
      </p:sp>
    </p:spTree>
    <p:extLst>
      <p:ext uri="{BB962C8B-B14F-4D97-AF65-F5344CB8AC3E}">
        <p14:creationId xmlns:p14="http://schemas.microsoft.com/office/powerpoint/2010/main" val="12962421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A944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94E012-79AC-4F88-BBEB-7A8BA6DA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B84B"/>
                </a:solidFill>
              </a:defRPr>
            </a:pPr>
            <a:r>
              <a:rPr sz="1350" b="1">
                <a:solidFill>
                  <a:srgbClr val="F0B84B"/>
                </a:solidFill>
              </a:rPr>
              <a:t>BEFORE YOU PACK UP 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D843C-3609-4308-BEF2-22335999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Close the design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AD4F1-7D5C-4573-B509-FFF3BE24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1A8BE-D9F9-467D-89DB-D69E2AFE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32B"/>
                </a:solidFill>
              </a:defRPr>
            </a:pPr>
            <a:r>
              <a:rPr sz="1650" b="1">
                <a:solidFill>
                  <a:srgbClr val="17232B"/>
                </a:solidFill>
              </a:rPr>
              <a:t>1. One interaction I can map 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78230-FFF6-46BC-AD2E-BBF2C2F4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8BB49-4876-476E-A710-669AC51F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040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32B"/>
                </a:solidFill>
              </a:defRPr>
            </a:pPr>
            <a:r>
              <a:rPr sz="1650" b="1">
                <a:solidFill>
                  <a:srgbClr val="17232B"/>
                </a:solidFill>
              </a:rPr>
              <a:t>2. One quality check linked to function 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C7210-92E2-42BC-841E-1FAEBBE5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E625D-8CC8-433B-B55B-588844A7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32B"/>
                </a:solidFill>
              </a:defRPr>
            </a:pPr>
            <a:r>
              <a:rPr sz="1650" b="1">
                <a:solidFill>
                  <a:srgbClr val="17232B"/>
                </a:solidFill>
              </a:rPr>
              <a:t>3. One adjustment I can explain with cause and effect 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4F3A5-49B6-4B14-B842-C3582939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19350"/>
            <a:ext cx="1828800" cy="1828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F8A7A-912B-4B0B-BA6A-91FDC335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800350"/>
            <a:ext cx="13144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32B"/>
                </a:solidFill>
              </a:defRPr>
            </a:pPr>
            <a:r>
              <a:rPr sz="1875" b="1">
                <a:solidFill>
                  <a:srgbClr val="17232B"/>
                </a:solidFill>
              </a:rPr>
              <a:t>SAVE</a:t>
            </a:r>
          </a:p>
          <a:p xmlns:a="http://schemas.openxmlformats.org/drawingml/2006/main">
            <a:pPr algn="ctr">
              <a:defRPr sz="1875" b="1">
                <a:solidFill>
                  <a:srgbClr val="17232B"/>
                </a:solidFill>
              </a:defRPr>
            </a:pPr>
            <a:r>
              <a:rPr sz="1875" b="1">
                <a:solidFill>
                  <a:srgbClr val="17232B"/>
                </a:solidFill>
              </a:rPr>
              <a:t>YOUR</a:t>
            </a:r>
          </a:p>
          <a:p xmlns:a="http://schemas.openxmlformats.org/drawingml/2006/main">
            <a:pPr algn="ctr">
              <a:defRPr sz="1875" b="1">
                <a:solidFill>
                  <a:srgbClr val="17232B"/>
                </a:solidFill>
              </a:defRPr>
            </a:pPr>
            <a:r>
              <a:rPr sz="1875" b="1">
                <a:solidFill>
                  <a:srgbClr val="17232B"/>
                </a:solidFill>
              </a:rPr>
              <a:t>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19C8E-19B3-473D-83D0-10B6B961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Evidence destination: your module response and folio where your teacher directs.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9C4FD6-4877-471C-82E0-35B1DCFC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B84B"/>
                </a:solidFill>
              </a:defRPr>
            </a:pPr>
            <a:r>
              <a:rPr sz="1350" b="1">
                <a:solidFill>
                  <a:srgbClr val="F0B84B"/>
                </a:solidFill>
              </a:rPr>
              <a:t>Next: use repeated data and controlled redesign to make a defensible recommendation.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60798-CAA1-4D44-AC0F-B77BEE84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9FF259-46EF-4107-B4E0-92587F89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E5E8"/>
                </a:solidFill>
              </a:defRPr>
            </a:pPr>
            <a:r>
              <a:rPr sz="975" b="1">
                <a:solidFill>
                  <a:srgbClr val="D7E5E8"/>
                </a:solidFill>
              </a:rPr>
              <a:t>YEAR 8 CATAPULT  •  MODULE 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B8BEA-032F-4500-9A37-4011E435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0B84B"/>
                </a:solidFill>
              </a:defRPr>
            </a:pPr>
            <a:r>
              <a:rPr sz="975" b="1">
                <a:solidFill>
                  <a:srgbClr val="F0B84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78241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2026-08-24T09:20:29.6520000Z</dcterms:created>
  <dcterms:modified xsi:type="dcterms:W3CDTF">2026-08-24T09:20:29.6520000Z</dcterms:modified>
</coreProperties>
</file>