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12aec262c44063" /><Relationship Type="http://schemas.openxmlformats.org/officeDocument/2006/relationships/extended-properties" Target="/docProps/app.xml" Id="R8effcc38d4764c18" /><Relationship Type="http://schemas.openxmlformats.org/officeDocument/2006/relationships/officeDocument" Target="/ppt/presentation.xml" Id="Re8669db20f9048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b471c7c2cc44a5"/>
  </p:sldMasterIdLst>
  <p:notesMasterIdLst>
    <p:notesMasterId xmlns:r="http://schemas.openxmlformats.org/officeDocument/2006/relationships" r:id="R2a415d3b12ac4d8b"/>
  </p:notesMasterIdLst>
  <p:sldIdLst>
    <p:sldId xmlns:r="http://schemas.openxmlformats.org/officeDocument/2006/relationships" id="256" r:id="R3dfc34bf958d40d6"/>
    <p:sldId xmlns:r="http://schemas.openxmlformats.org/officeDocument/2006/relationships" id="257" r:id="R1770edfa014943a4"/>
    <p:sldId xmlns:r="http://schemas.openxmlformats.org/officeDocument/2006/relationships" id="258" r:id="R5f93d24ed5ba41d5"/>
    <p:sldId xmlns:r="http://schemas.openxmlformats.org/officeDocument/2006/relationships" id="259" r:id="R77f81a429a214a01"/>
    <p:sldId xmlns:r="http://schemas.openxmlformats.org/officeDocument/2006/relationships" id="260" r:id="R14cbcac16df64bd7"/>
    <p:sldId xmlns:r="http://schemas.openxmlformats.org/officeDocument/2006/relationships" id="261" r:id="Re26fbbf77ffa47a5"/>
    <p:sldId xmlns:r="http://schemas.openxmlformats.org/officeDocument/2006/relationships" id="262" r:id="R4fc7f7d9b34c4e8e"/>
    <p:sldId xmlns:r="http://schemas.openxmlformats.org/officeDocument/2006/relationships" id="263" r:id="R1bcc5d2e57ca4e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28cb8e89c04c20" /><Relationship Type="http://schemas.openxmlformats.org/officeDocument/2006/relationships/slideMaster" Target="/ppt/slideMasters/slideMaster1.xml" Id="R90b471c7c2cc44a5" /><Relationship Type="http://schemas.openxmlformats.org/officeDocument/2006/relationships/notesMaster" Target="/ppt/notesMasters/notesMaster1.xml" Id="R2a415d3b12ac4d8b" /><Relationship Type="http://schemas.openxmlformats.org/officeDocument/2006/relationships/presProps" Target="/ppt/presProps.xml" Id="R0a878c21fdf44d0c" /><Relationship Type="http://schemas.openxmlformats.org/officeDocument/2006/relationships/tableStyles" Target="/ppt/tableStyles.xml" Id="Rc3f6b0ef27484d12" /><Relationship Type="http://schemas.openxmlformats.org/officeDocument/2006/relationships/slide" Target="/ppt/slides/slide1.xml" Id="R3dfc34bf958d40d6" /><Relationship Type="http://schemas.openxmlformats.org/officeDocument/2006/relationships/slide" Target="/ppt/slides/slide2.xml" Id="R1770edfa014943a4" /><Relationship Type="http://schemas.openxmlformats.org/officeDocument/2006/relationships/slide" Target="/ppt/slides/slide3.xml" Id="R5f93d24ed5ba41d5" /><Relationship Type="http://schemas.openxmlformats.org/officeDocument/2006/relationships/slide" Target="/ppt/slides/slide4.xml" Id="R77f81a429a214a01" /><Relationship Type="http://schemas.openxmlformats.org/officeDocument/2006/relationships/slide" Target="/ppt/slides/slide5.xml" Id="R14cbcac16df64bd7" /><Relationship Type="http://schemas.openxmlformats.org/officeDocument/2006/relationships/slide" Target="/ppt/slides/slide6.xml" Id="Re26fbbf77ffa47a5" /><Relationship Type="http://schemas.openxmlformats.org/officeDocument/2006/relationships/slide" Target="/ppt/slides/slide7.xml" Id="R4fc7f7d9b34c4e8e" /><Relationship Type="http://schemas.openxmlformats.org/officeDocument/2006/relationships/slide" Target="/ppt/slides/slide8.xml" Id="R1bcc5d2e57ca4e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82c420cb3b4a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e34ce01cc34706" /><Relationship Type="http://schemas.openxmlformats.org/officeDocument/2006/relationships/notesMaster" Target="/ppt/notesMasters/notesMaster1.xml" Id="R1950dd20bb914c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ac485e10464f49" /><Relationship Type="http://schemas.openxmlformats.org/officeDocument/2006/relationships/notesMaster" Target="/ppt/notesMasters/notesMaster1.xml" Id="R0fe2401d12374e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2bad90ba0f41df" /><Relationship Type="http://schemas.openxmlformats.org/officeDocument/2006/relationships/notesMaster" Target="/ppt/notesMasters/notesMaster1.xml" Id="Rca5757bd09e442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8630e29e0047eb" /><Relationship Type="http://schemas.openxmlformats.org/officeDocument/2006/relationships/notesMaster" Target="/ppt/notesMasters/notesMaster1.xml" Id="R84d8b8cdbd424e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7309ade4bd4988" /><Relationship Type="http://schemas.openxmlformats.org/officeDocument/2006/relationships/notesMaster" Target="/ppt/notesMasters/notesMaster1.xml" Id="R22dc4bdeadd644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204732484b40c4" /><Relationship Type="http://schemas.openxmlformats.org/officeDocument/2006/relationships/notesMaster" Target="/ppt/notesMasters/notesMaster1.xml" Id="R9da1d6d3be4345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d4111f5eff402a" /><Relationship Type="http://schemas.openxmlformats.org/officeDocument/2006/relationships/notesMaster" Target="/ppt/notesMasters/notesMaster1.xml" Id="R42c665024a944e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c5e96231824dee" /><Relationship Type="http://schemas.openxmlformats.org/officeDocument/2006/relationships/notesMaster" Target="/ppt/notesMasters/notesMaster1.xml" Id="R55d09653f1c043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State the learning purpose in one sentence.</a:t>
            </a:r>
          </a:p>
          <a:p xmlns:a="http://schemas.openxmlformats.org/drawingml/2006/main">
            <a:r>
              <a:t>- Use the image only as a conceptual project cue; it is not a plan or model specification.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What relationship or evidence do you expect to matter in this module?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A realistic image must show the exact project design.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Move from the project cue to the three ideas students will learn.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OpenAI image generation for this course, 24 Aug 2026, conceptual only; file: catapult-materials-workshop.png.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Frame the module as a cumulative learning sequence.</a:t>
            </a:r>
          </a:p>
          <a:p xmlns:a="http://schemas.openxmlformats.org/drawingml/2006/main">
            <a:r>
              <a:t>- Invite a brief retrieval response before introducing new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What is the difference between a tool category and an approved operating procedure?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The three ideas are separate facts rather than parts of one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Tell students that each theory slide will supply evidence for the final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Native pathway diagram authored for this deck from the approved module sequence.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A hazard has the potential to cause harm. Risk considers how likely and how serious that harm could be in a particular situation. The material, task, equipment, people and controls all matter, so a general presentation cannot replace teacher demonstration or local workshop procedures.</a:t>
            </a:r>
          </a:p>
          <a:p xmlns:a="http://schemas.openxmlformats.org/drawingml/2006/main">
            <a:r>
              <a:t>- Use the visual to emphasise: The approved control must fit the actual task and workshop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Explain: why can the same hazard create different levels of risk in different contexts?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How is a hazard different from risk?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Link this idea to the next relationship in the module.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Editable native diagram authored for this deck from the approved course theory.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Measuring, holding, cutting, shaping, drilling and joining are process functions. Tool choice also depends on the material, required accuracy, access, finish and teacher-approved method. A familiar or powerful tool is not automatically the best fit.</a:t>
            </a:r>
          </a:p>
          <a:p xmlns:a="http://schemas.openxmlformats.org/drawingml/2006/main">
            <a:r>
              <a:t>- Use the visual to emphasise: Start with the job the process must perform; the equipment decision follows.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Application: name the required function before naming any tool, then identify the evidence of a suitable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Why should the required function be named before the tool?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Link this idea to the next relationship in the module.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Editable native diagram authored for this deck from the approved course theory.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Pine varies with grain direction, knots, moisture and condition. Elastic materials can deform temporarily and return towards their earlier shape, but may deform permanently or fail beyond a suitable range. Engineers inspect the actual material and work only within teacher-set limits.</a:t>
            </a:r>
          </a:p>
          <a:p xmlns:a="http://schemas.openxmlformats.org/drawingml/2006/main">
            <a:r>
              <a:t>- Use the visual to emphasise: Material names are not enough; inspect behaviour and condition.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Evidence move: record one visible material feature and explain how it could affect a later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Which properties of an actual pine piece could affect production?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Prepare students to retrieve and apply all three ideas.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Editable native diagram authored for this deck from the approved course theory.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Give individual thinking time before partner discussion.</a:t>
            </a:r>
          </a:p>
          <a:p xmlns:a="http://schemas.openxmlformats.org/drawingml/2006/main">
            <a:r>
              <a:t>- Ask for evidence or a because-clause, not just the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Which answer changed after discussion, and what evidence changed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Retrieval is a memory race rather than a chance to repair understanding.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Use the strongest unresolved question to launch the evidence scaffold.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Questions derived from the approved module theory; no external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Model how to select evidence before writing the explanation.</a:t>
            </a:r>
          </a:p>
          <a:p xmlns:a="http://schemas.openxmlformats.org/drawingml/2006/main">
            <a:r>
              <a:t>- Read the sentence support aloud, then let students change its wording to suit their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Two teacher-approved processes could complete the same function. Compare them for material suitability, accuracy, finish, waste and risk before recommending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Longer writing is automatically stronger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Move from the scaffold to a concise exit ticket and evidence-save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Read–Select–Explain–Check scaffold follows the TAS course presentation standard.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points</a:t>
            </a:r>
          </a:p>
          <a:p xmlns:a="http://schemas.openxmlformats.org/drawingml/2006/main">
            <a:r>
              <a:t>- Collect a short answer to each exit prompt.</a:t>
            </a:r>
          </a:p>
          <a:p xmlns:a="http://schemas.openxmlformats.org/drawingml/2006/main">
            <a:r>
              <a:t>- Make the evidence destination explicit without turning the slide into assessment administration.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Prompt</a:t>
            </a:r>
          </a:p>
          <a:p xmlns:a="http://schemas.openxmlformats.org/drawingml/2006/main">
            <a:r>
              <a:t>- Which exit response best shows a changed decision or deeper explanation?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Likely misconception</a:t>
            </a:r>
          </a:p>
          <a:p xmlns:a="http://schemas.openxmlformats.org/drawingml/2006/main">
            <a:r>
              <a:t>- The exit ticket is a generic summary with no next evidence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</a:t>
            </a:r>
          </a:p>
          <a:p xmlns:a="http://schemas.openxmlformats.org/drawingml/2006/main">
            <a:r>
              <a:t>- Next: compare different energy stores and lever trade-offs across engineered systems.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Year 8 Catapult student theory draft v1.0, module-02, 24 Aug 2026.</a:t>
            </a:r>
          </a:p>
          <a:p xmlns:a="http://schemas.openxmlformats.org/drawingml/2006/main">
            <a:r>
              <a:t>- Catapult Booklet 2026.pdf, pp. 3–7; core artefact manifest v1.0; theory draft module-02.</a:t>
            </a:r>
          </a:p>
          <a:p xmlns:a="http://schemas.openxmlformats.org/drawingml/2006/main">
            <a:r>
              <a:t>- Exit-evidence structure follows the TAS course presentation standard.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17c75b062f4c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7a0a76f9bd461d" /><Relationship Type="http://schemas.openxmlformats.org/officeDocument/2006/relationships/slideLayout" Target="/ppt/slideLayouts/slideLayout1.xml" Id="Rfc5473a603ae4d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5473a603ae4d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4e29495cf4958" /><Relationship Type="http://schemas.openxmlformats.org/officeDocument/2006/relationships/image" Target="/ppt/media/image.png" Id="Rff9cfbf6dbbd4a23" /><Relationship Type="http://schemas.openxmlformats.org/officeDocument/2006/relationships/notesSlide" Target="/ppt/notesSlides/notesSlide1.xml" Id="Rc691835c9ecc42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6f3df7b054795" /><Relationship Type="http://schemas.openxmlformats.org/officeDocument/2006/relationships/notesSlide" Target="/ppt/notesSlides/notesSlide2.xml" Id="R0351956bec0744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9e6ad921243f1" /><Relationship Type="http://schemas.openxmlformats.org/officeDocument/2006/relationships/notesSlide" Target="/ppt/notesSlides/notesSlide3.xml" Id="R7e3cd18b3d6a48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f483d67964624" /><Relationship Type="http://schemas.openxmlformats.org/officeDocument/2006/relationships/notesSlide" Target="/ppt/notesSlides/notesSlide4.xml" Id="Raf50c12726e34a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161b8618a4f5f" /><Relationship Type="http://schemas.openxmlformats.org/officeDocument/2006/relationships/notesSlide" Target="/ppt/notesSlides/notesSlide5.xml" Id="R683281ffa2bb42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0c042c76049c3" /><Relationship Type="http://schemas.openxmlformats.org/officeDocument/2006/relationships/notesSlide" Target="/ppt/notesSlides/notesSlide6.xml" Id="R2f50f88742ec46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9aab5f55645ed" /><Relationship Type="http://schemas.openxmlformats.org/officeDocument/2006/relationships/notesSlide" Target="/ppt/notesSlides/notesSlide7.xml" Id="Rdcf80e5fb27b4f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7441fcf384ebb" /><Relationship Type="http://schemas.openxmlformats.org/officeDocument/2006/relationships/notesSlide" Target="/ppt/notesSlides/notesSlide8.xml" Id="R430a782e861045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35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cfbf6dbbd4a23"/>
          <a:srcRect xmlns:a="http://schemas.openxmlformats.org/drawingml/2006/main" l="25926" t="0" r="2592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059CB-6B5B-4D43-BCD1-6A4BF149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FFE17-392C-4A13-9122-5BDD623E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B84B"/>
                </a:solidFill>
              </a:defRPr>
            </a:pPr>
            <a:r>
              <a:rPr sz="1350" b="1">
                <a:solidFill>
                  <a:srgbClr val="F0B84B"/>
                </a:solidFill>
              </a:rPr>
              <a:t>MODULE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917B5-804B-487A-A4AD-09402864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810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Workshop Readiness, Tools and Materials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38825-D429-4160-8669-63DF075D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57626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7E5E8"/>
                </a:solidFill>
              </a:defRPr>
            </a:pPr>
            <a:r>
              <a:rPr sz="1875" b="0">
                <a:solidFill>
                  <a:srgbClr val="D7E5E8"/>
                </a:solidFill>
              </a:rPr>
              <a:t>Explain how context, tool function and material behaviour shape a responsible process choice.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5C5C8-8722-4F60-8BD9-8B47D7AF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7E5E8"/>
                </a:solidFill>
              </a:defRPr>
            </a:pPr>
            <a:r>
              <a:rPr sz="1125" b="1">
                <a:solidFill>
                  <a:srgbClr val="D7E5E8"/>
                </a:solidFill>
              </a:rPr>
              <a:t>YEAR 8  •  ENGINEERING TECHNOLOGIES AND SYSTEMS</a:t>
            </a:r>
          </a:p>
        </p:txBody>
      </p:sp>
    </p:spTree>
    <p:extLst>
      <p:ext uri="{BB962C8B-B14F-4D97-AF65-F5344CB8AC3E}">
        <p14:creationId xmlns:p14="http://schemas.microsoft.com/office/powerpoint/2010/main" val="12551591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56B5A-807A-43A8-8458-29983295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805A0-64F9-4910-AF98-F21DC85A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02  /  WORKSHOP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A9F018-1299-4695-BA7E-99407F28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The learning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FD6D89-0273-4A39-950D-1696EED2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96D31-F3E1-4060-A068-D176C1C8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0A2079-FE38-4575-8998-83B7570E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4FA06-D40E-487B-9F07-FEBB49FD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84F5E"/>
                </a:solidFill>
              </a:defRPr>
            </a:pPr>
            <a:r>
              <a:rPr sz="2250" b="1">
                <a:solidFill>
                  <a:srgbClr val="184F5E"/>
                </a:solidFill>
              </a:rPr>
              <a:t>How do we justify a process without replacing local workshop instruction?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CED90-D6ED-48E8-8096-F995C30D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18135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92261-F434-4FEF-A93C-39018F96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81350"/>
            <a:ext cx="6667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5A27F-EBA9-4122-9F51-57FC755B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4F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E6442-ADE9-466F-8A72-21C488766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81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25C020-CB01-493D-93BB-18A1BCA5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81300"/>
            <a:ext cx="2333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32B"/>
                </a:solidFill>
              </a:defRPr>
            </a:pPr>
            <a:r>
              <a:rPr sz="1725" b="1">
                <a:solidFill>
                  <a:srgbClr val="17232B"/>
                </a:solidFill>
              </a:rPr>
              <a:t>Risk depends on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4F3AC-A608-4037-9462-AA217E60E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432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F1306-7E2B-4708-9E17-B1094E31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14650"/>
            <a:ext cx="81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32B"/>
                </a:solidFill>
              </a:defRPr>
            </a:pPr>
            <a:r>
              <a:rPr sz="2400" b="1">
                <a:solidFill>
                  <a:srgbClr val="17232B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17394-D9DC-42D3-B8CE-D22A434F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81300"/>
            <a:ext cx="2333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32B"/>
                </a:solidFill>
              </a:defRPr>
            </a:pPr>
            <a:r>
              <a:rPr sz="1725" b="1">
                <a:solidFill>
                  <a:srgbClr val="17232B"/>
                </a:solidFill>
              </a:rPr>
              <a:t>Select by function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AD5A0-7C90-49B9-A904-F11C1EC4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4320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4F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7CBEB3-CC09-44EA-A50C-9D6A0FDA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14650"/>
            <a:ext cx="819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5FF7C2-AD0C-4F11-914B-3E0733CB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81300"/>
            <a:ext cx="2333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32B"/>
                </a:solidFill>
              </a:defRPr>
            </a:pPr>
            <a:r>
              <a:rPr sz="1725" b="1">
                <a:solidFill>
                  <a:srgbClr val="17232B"/>
                </a:solidFill>
              </a:rPr>
              <a:t>Materials vary and respond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5DB8CA-2AB5-4A34-B3DC-C848B85B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3E4BE0-D7D4-4600-AA45-0BDDD772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958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4424"/>
                </a:solidFill>
              </a:defRPr>
            </a:pPr>
            <a:r>
              <a:rPr sz="1200" b="1">
                <a:solidFill>
                  <a:srgbClr val="A94424"/>
                </a:solidFill>
              </a:rPr>
              <a:t>RETRIEVAL WARM-UP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2AF5B2-03BF-4C6B-87FC-46EC5967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197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What is the difference between a tool category and an approved operating procedure?</a:t>
            </a:r>
          </a:p>
        </p:txBody>
      </p:sp>
    </p:spTree>
    <p:extLst>
      <p:ext uri="{BB962C8B-B14F-4D97-AF65-F5344CB8AC3E}">
        <p14:creationId xmlns:p14="http://schemas.microsoft.com/office/powerpoint/2010/main" val="16753742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8DF7D-CC30-4023-97F4-C34C714E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41768F-8D15-4CCE-9E4B-C9CC272C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02  /  WORKSHOP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8D6755-88E7-4108-A5B4-8C648831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Risk depends on the situation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E1CCB3-8CBA-42C9-AEC4-8DEE66F3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2D1EC7-B243-43B2-9481-8544FA81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8A965-6BA2-4690-B26D-93E9AF30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D00515-0610-40A8-ACBA-2A081CF4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8006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32B"/>
                </a:solidFill>
              </a:defRPr>
            </a:pPr>
            <a:r>
              <a:rPr sz="1725" b="0">
                <a:solidFill>
                  <a:srgbClr val="17232B"/>
                </a:solidFill>
              </a:rPr>
              <a:t>A hazard has the potential to cause harm. Risk considers how likely and how serious that harm could be in a particular situation. The material, task, equipment, people and controls all matter, so a general presentation cannot replace teacher demonstration or local workshop procedures.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77699-00D1-493F-B5B9-C49C5B8C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B8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7E09-080F-4234-804E-4F68E635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48006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94424"/>
                </a:solidFill>
              </a:defRPr>
            </a:pPr>
            <a:r>
              <a:rPr sz="1575" b="1">
                <a:solidFill>
                  <a:srgbClr val="A94424"/>
                </a:solidFill>
              </a:rPr>
              <a:t>Explain: why can the same hazard create different levels of risk in different contexts?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CFA4B9-698B-4AA7-B8B0-EC7CFF11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371725"/>
            <a:ext cx="2667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39DA56-F1D3-476C-BE5A-38A9A3C2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71725"/>
            <a:ext cx="2667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DC742-BDE5-4D05-91F6-FAECC6FD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133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7EEF0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32B"/>
                </a:solidFill>
              </a:defRPr>
            </a:pPr>
            <a:r>
              <a:rPr sz="1200" b="1">
                <a:solidFill>
                  <a:srgbClr val="17232B"/>
                </a:solidFill>
              </a:rPr>
              <a:t>HAZARD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297DBB-0A6A-4E23-BB35-E97DD59E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33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32B"/>
                </a:solidFill>
              </a:defRPr>
            </a:pPr>
            <a:r>
              <a:rPr sz="1200" b="1">
                <a:solidFill>
                  <a:srgbClr val="17232B"/>
                </a:solidFill>
              </a:rPr>
              <a:t>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528F4-8185-4001-9BFA-C182B60A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76450"/>
            <a:ext cx="1333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32B"/>
                </a:solidFill>
              </a:defRPr>
            </a:pPr>
            <a:r>
              <a:rPr sz="1200" b="1">
                <a:solidFill>
                  <a:srgbClr val="17232B"/>
                </a:solidFill>
              </a:rPr>
              <a:t>CONTROL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49E3A-6C2D-46A1-9A99-F3B33D4F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476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9525">
            <a:solidFill>
              <a:srgbClr val="F0B8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4F5E"/>
                </a:solidFill>
              </a:defRPr>
            </a:pPr>
            <a:r>
              <a:rPr sz="1350" b="1">
                <a:solidFill>
                  <a:srgbClr val="184F5E"/>
                </a:solidFill>
              </a:rPr>
              <a:t>NOTICE  The approved control must fit the actual task and workshop conditions.</a:t>
            </a:r>
          </a:p>
        </p:txBody>
      </p:sp>
    </p:spTree>
    <p:extLst>
      <p:ext uri="{BB962C8B-B14F-4D97-AF65-F5344CB8AC3E}">
        <p14:creationId xmlns:p14="http://schemas.microsoft.com/office/powerpoint/2010/main" val="4144576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DBCED-0C32-4E38-BCA5-55BBDF31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3BE05-A7B4-4931-9B02-7FCB6838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02  /  WORKSHOP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4305F-6EBE-46FD-9798-2D9FEFFF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Choose tools by the function required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D348A-C02D-4D72-AAE1-8856F379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9BA8B-4807-4776-89FF-323DEC21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4E6AF6-BA13-4E42-93C5-385A5543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2FABB-FB5C-4BD1-B24B-1330A56D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381125"/>
            <a:ext cx="48006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32B"/>
                </a:solidFill>
              </a:defRPr>
            </a:pPr>
            <a:r>
              <a:rPr sz="1725" b="0">
                <a:solidFill>
                  <a:srgbClr val="17232B"/>
                </a:solidFill>
              </a:rPr>
              <a:t>Measuring, holding, cutting, shaping, drilling and joining are process functions. Tool choice also depends on the material, required accuracy, access, finish and teacher-approved method. A familiar or powerful tool is not automatically the best fit.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432E10-AB5F-4778-8A83-A19D434C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05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B8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38579-4268-434F-AFE3-76DFB12C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71950"/>
            <a:ext cx="48006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94424"/>
                </a:solidFill>
              </a:defRPr>
            </a:pPr>
            <a:r>
              <a:rPr sz="1575" b="1">
                <a:solidFill>
                  <a:srgbClr val="A94424"/>
                </a:solidFill>
              </a:rPr>
              <a:t>Application: name the required function before naming any tool, then identify the evidence of a suitable result.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1DAED9-8BAA-459A-A5E7-844E326B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600" y="2362200"/>
            <a:ext cx="3619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307A05-F60F-4C8D-A401-95AB804B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550" y="2362200"/>
            <a:ext cx="3619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6DCF0A-6E3B-4C63-AD2F-BED80840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244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EEF0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32B"/>
                </a:solidFill>
              </a:defRPr>
            </a:pPr>
            <a:r>
              <a:rPr sz="1200" b="1">
                <a:solidFill>
                  <a:srgbClr val="17232B"/>
                </a:solidFill>
              </a:rPr>
              <a:t>FUNCTION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3B756-6201-49C4-AD25-453E8D7A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0" y="2228850"/>
            <a:ext cx="1244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32B"/>
                </a:solidFill>
              </a:defRPr>
            </a:pPr>
            <a:r>
              <a:rPr sz="1200" b="1">
                <a:solidFill>
                  <a:srgbClr val="17232B"/>
                </a:solidFill>
              </a:rPr>
              <a:t>APPROVED PROCESS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39AE2D-45C6-4F4C-A1C2-4F619EA8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700" y="2495550"/>
            <a:ext cx="1244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EEF0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232B"/>
                </a:solidFill>
              </a:defRPr>
            </a:pPr>
            <a:r>
              <a:rPr sz="1200" b="1">
                <a:solidFill>
                  <a:srgbClr val="17232B"/>
                </a:solidFill>
              </a:rPr>
              <a:t>QUALITY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93E9A-678F-45D9-910B-3B137700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476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9525">
            <a:solidFill>
              <a:srgbClr val="F0B8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4F5E"/>
                </a:solidFill>
              </a:defRPr>
            </a:pPr>
            <a:r>
              <a:rPr sz="1350" b="1">
                <a:solidFill>
                  <a:srgbClr val="184F5E"/>
                </a:solidFill>
              </a:rPr>
              <a:t>NOTICE  Start with the job the process must perform; the equipment decision follows.</a:t>
            </a:r>
          </a:p>
        </p:txBody>
      </p:sp>
    </p:spTree>
    <p:extLst>
      <p:ext uri="{BB962C8B-B14F-4D97-AF65-F5344CB8AC3E}">
        <p14:creationId xmlns:p14="http://schemas.microsoft.com/office/powerpoint/2010/main" val="3823730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096FBB-70DE-424A-A6D5-489800F7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CB352-D793-46B0-8B23-3F89E6ED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02  /  WORKSHOP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852D8-16C0-4D73-886D-75C03CCF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Pine and elastic materials do not behave identically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3D22C-E543-4BE0-B657-9247D7FF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CADCE-A26C-4230-99EE-54DFF3BA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A36FF-0B2E-4034-BDCB-A0FECA7C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3B597-B691-4C48-8E01-2B2BB616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8006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32B"/>
                </a:solidFill>
              </a:defRPr>
            </a:pPr>
            <a:r>
              <a:rPr sz="1725" b="0">
                <a:solidFill>
                  <a:srgbClr val="17232B"/>
                </a:solidFill>
              </a:rPr>
              <a:t>Pine varies with grain direction, knots, moisture and condition. Elastic materials can deform temporarily and return towards their earlier shape, but may deform permanently or fail beyond a suitable range. Engineers inspect the actual material and work only within teacher-set limits.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66870C-D8D3-488F-A7D5-45DAF067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B8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CC2D01-CDB9-4124-AF38-D7A320EF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48006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94424"/>
                </a:solidFill>
              </a:defRPr>
            </a:pPr>
            <a:r>
              <a:rPr sz="1575" b="1">
                <a:solidFill>
                  <a:srgbClr val="A94424"/>
                </a:solidFill>
              </a:rPr>
              <a:t>Evidence move: record one visible material feature and explain how it could affect a later decision.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681C0A-E851-44DC-95DA-0B483F18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52600"/>
            <a:ext cx="0" cy="2190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0B8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8B4B5-F2BC-4A72-9112-FF1EEB96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4F5E"/>
                </a:solidFill>
              </a:defRPr>
            </a:pPr>
            <a:r>
              <a:rPr sz="1800" b="1">
                <a:solidFill>
                  <a:srgbClr val="184F5E"/>
                </a:solidFill>
              </a:rPr>
              <a:t>PINE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BC2969-A99E-4D7F-97A9-7EC40B9E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097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94424"/>
                </a:solidFill>
              </a:defRPr>
            </a:pPr>
            <a:r>
              <a:rPr sz="1800" b="1">
                <a:solidFill>
                  <a:srgbClr val="A94424"/>
                </a:solidFill>
              </a:rPr>
              <a:t>ELASTIC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EE2E0-F113-4D5C-9EED-B8D5FACE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860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7232B"/>
                </a:solidFill>
              </a:defRPr>
            </a:pPr>
            <a:r>
              <a:rPr sz="1575" b="0">
                <a:solidFill>
                  <a:srgbClr val="17232B"/>
                </a:solidFill>
              </a:rPr>
              <a:t>Grain, knots, condition and workability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DC08D5-66A6-4875-AF14-F5A31900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860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7232B"/>
                </a:solidFill>
              </a:defRPr>
            </a:pPr>
            <a:r>
              <a:rPr sz="1575" b="0">
                <a:solidFill>
                  <a:srgbClr val="17232B"/>
                </a:solidFill>
              </a:rPr>
              <a:t>Temporary change, recovery and limits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123A7-7FF9-4EB5-A325-F8F0681D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476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8"/>
          </a:solidFill>
          <a:ln xmlns:a="http://schemas.openxmlformats.org/drawingml/2006/main" w="9525">
            <a:solidFill>
              <a:srgbClr val="F0B8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4F5E"/>
                </a:solidFill>
              </a:defRPr>
            </a:pPr>
            <a:r>
              <a:rPr sz="1350" b="1">
                <a:solidFill>
                  <a:srgbClr val="184F5E"/>
                </a:solidFill>
              </a:rPr>
              <a:t>NOTICE  Material names are not enough; inspect behaviour and condition.</a:t>
            </a:r>
          </a:p>
        </p:txBody>
      </p:sp>
    </p:spTree>
    <p:extLst>
      <p:ext uri="{BB962C8B-B14F-4D97-AF65-F5344CB8AC3E}">
        <p14:creationId xmlns:p14="http://schemas.microsoft.com/office/powerpoint/2010/main" val="4468872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35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164C07-1505-4168-9D8C-6DF3EF54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274C6-5CC4-4EF5-8320-58BCAB5F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B84B"/>
                </a:solidFill>
              </a:defRPr>
            </a:pPr>
            <a:r>
              <a:rPr sz="1050" b="1">
                <a:solidFill>
                  <a:srgbClr val="F0B84B"/>
                </a:solidFill>
              </a:rPr>
              <a:t>MODULE 02  /  WORKSHOP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A2BD6-3142-40BA-B4ED-2593BDA1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Stop. Think. Explain.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24DBB4-FC14-4D3C-9076-8082F1C0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4EA21-6545-4A01-A3F0-3E21E1BC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E5E8"/>
                </a:solidFill>
              </a:defRPr>
            </a:pPr>
            <a:r>
              <a:rPr sz="975" b="1">
                <a:solidFill>
                  <a:srgbClr val="D7E5E8"/>
                </a:solidFill>
              </a:rPr>
              <a:t>YEAR 8 CATAPULT  •  MODULE 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D4857-B7C2-4A28-AB5D-5990383A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B84B"/>
                </a:solidFill>
              </a:defRPr>
            </a:pPr>
            <a:r>
              <a:rPr sz="975" b="1">
                <a:solidFill>
                  <a:srgbClr val="F0B84B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EC7745-4423-4D21-9766-3E5EF999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E5E8"/>
                </a:solidFill>
              </a:defRPr>
            </a:pPr>
            <a:r>
              <a:rPr sz="1500" b="0">
                <a:solidFill>
                  <a:srgbClr val="D7E5E8"/>
                </a:solidFill>
              </a:rPr>
              <a:t>Answer silently first. Then justify one answer with a partner.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6B5D0D-C026-4A61-AE84-12B0AAAB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33575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4ADF4-EE72-4DF1-8A96-31539BB0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4785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How is a hazard different from risk?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7DB97E-5BC9-4B92-B252-0F681EA7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3365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72AB6-3E26-4274-866B-5545AB41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887D2-9648-4B14-8CA5-7FB65848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28925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Why should the required function be named before the tool?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B4878-1377-4F62-96C1-C8885F38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51472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AC8D9-0A6C-4492-ABDB-EDBE2803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95725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FB3DD5-84D3-4A9D-98B2-CCE892D2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100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Which properties of an actual pine piece could affect production?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1D5384-B716-4D03-9B4B-B3C8BFCA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9580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735A02-93EE-4F70-9D1B-A98F52F1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0B84B"/>
                </a:solidFill>
              </a:defRPr>
            </a:pPr>
            <a:r>
              <a:rPr sz="1800" b="1">
                <a:solidFill>
                  <a:srgbClr val="F0B84B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E4F283-FFAD-4145-9AFE-F2D70B29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91075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Why does training not become permission for every situation?</a:t>
            </a:r>
          </a:p>
        </p:txBody>
      </p:sp>
    </p:spTree>
    <p:extLst>
      <p:ext uri="{BB962C8B-B14F-4D97-AF65-F5344CB8AC3E}">
        <p14:creationId xmlns:p14="http://schemas.microsoft.com/office/powerpoint/2010/main" val="8238081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EEC82A-01BC-4B45-B797-DF1FC2DF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3B39D-3FE8-4DEB-957D-20133999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94424"/>
                </a:solidFill>
              </a:defRPr>
            </a:pPr>
            <a:r>
              <a:rPr sz="1050" b="1">
                <a:solidFill>
                  <a:srgbClr val="A94424"/>
                </a:solidFill>
              </a:rPr>
              <a:t>MODULE 02  /  WORKSHOP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D82D5-BA13-44C1-9632-60D25C02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32B"/>
                </a:solidFill>
              </a:defRPr>
            </a:pPr>
            <a:r>
              <a:rPr sz="2850" b="1">
                <a:solidFill>
                  <a:srgbClr val="17232B"/>
                </a:solidFill>
              </a:rPr>
              <a:t>Build the evidence, not just an answer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F4D4C5-978A-461F-A17D-7AB41770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74C8A0-8D38-4F24-9893-72707F3A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3636D"/>
                </a:solidFill>
              </a:defRPr>
            </a:pPr>
            <a:r>
              <a:rPr sz="975" b="1">
                <a:solidFill>
                  <a:srgbClr val="53636D"/>
                </a:solidFill>
              </a:rPr>
              <a:t>YEAR 8 CATAPULT  •  MODULE 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D85A9-8601-4585-9E35-E37CE045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94424"/>
                </a:solidFill>
              </a:defRPr>
            </a:pPr>
            <a:r>
              <a:rPr sz="975" b="1">
                <a:solidFill>
                  <a:srgbClr val="A94424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A7484-6D00-49FA-89E1-86FF24BA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4424"/>
                </a:solidFill>
              </a:defRPr>
            </a:pPr>
            <a:r>
              <a:rPr sz="1200" b="1">
                <a:solidFill>
                  <a:srgbClr val="A94424"/>
                </a:solidFill>
              </a:rPr>
              <a:t>THE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F5C3DF-60E8-4F64-A0C2-3329274B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32B"/>
                </a:solidFill>
              </a:defRPr>
            </a:pPr>
            <a:r>
              <a:rPr sz="1800" b="1">
                <a:solidFill>
                  <a:srgbClr val="17232B"/>
                </a:solidFill>
              </a:rPr>
              <a:t>Two teacher-approved processes could complete the same function. Compare them for material suitability, accuracy, finish, waste and risk before recommending 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294674-43F8-4420-8968-85A3D43A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76625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F3CAB-BF1B-41AD-B161-252672C6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476625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C2E52-3DBE-4A4F-B424-A51CD212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76625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65C063-B5BF-4378-BBA0-284FA3BEB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READ</a:t>
            </a:r>
          </a:p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Underline the decision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FF9E7-81A2-47BE-90FC-2A911A7F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SELECT</a:t>
            </a:r>
          </a:p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Choose precise evidence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1322A-4236-4304-89CD-1BACA790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EXPLAIN</a:t>
            </a:r>
          </a:p>
          <a:p xmlns:a="http://schemas.openxmlformats.org/drawingml/2006/main">
            <a:pPr algn="ctr">
              <a:defRPr sz="1500" b="1">
                <a:solidFill>
                  <a:srgbClr val="184F5E"/>
                </a:solidFill>
              </a:defRPr>
            </a:pPr>
            <a:r>
              <a:rPr sz="1500" b="1">
                <a:solidFill>
                  <a:srgbClr val="184F5E"/>
                </a:solidFill>
              </a:rPr>
              <a:t>Connect with theory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BBA736-E59E-48AA-AAA7-6056E4E6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28950"/>
            <a:ext cx="23431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CHECK</a:t>
            </a:r>
          </a:p>
          <a:p xmlns:a="http://schemas.openxmlformats.org/drawingml/2006/main">
            <a:pPr algn="ctr">
              <a:defRPr sz="1500" b="1">
                <a:solidFill>
                  <a:srgbClr val="A94424"/>
                </a:solidFill>
              </a:defRPr>
            </a:pPr>
            <a:r>
              <a:rPr sz="1500" b="1">
                <a:solidFill>
                  <a:srgbClr val="A94424"/>
                </a:solidFill>
              </a:rPr>
              <a:t>Answer every part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9E8915-F5CD-4D69-AB7F-7336C58E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4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16222F-DD7A-4B93-A77E-9976FD86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67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4424"/>
                </a:solidFill>
              </a:defRPr>
            </a:pPr>
            <a:r>
              <a:rPr sz="1200" b="1">
                <a:solidFill>
                  <a:srgbClr val="A94424"/>
                </a:solidFill>
              </a:rPr>
              <a:t>SENTENCE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54F349-DC75-41F1-BF5B-8982A5AF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0144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32B"/>
                </a:solidFill>
              </a:defRPr>
            </a:pPr>
            <a:r>
              <a:rPr sz="1575" b="0">
                <a:solidFill>
                  <a:srgbClr val="17232B"/>
                </a:solidFill>
              </a:rPr>
              <a:t>Both processes can … Process A is stronger when … Process B is stronger when … I recommend … because the evidence …</a:t>
            </a:r>
          </a:p>
        </p:txBody>
      </p:sp>
    </p:spTree>
    <p:extLst>
      <p:ext uri="{BB962C8B-B14F-4D97-AF65-F5344CB8AC3E}">
        <p14:creationId xmlns:p14="http://schemas.microsoft.com/office/powerpoint/2010/main" val="2183056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A944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08A54-6436-47B1-8A22-638463C0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B84B"/>
                </a:solidFill>
              </a:defRPr>
            </a:pPr>
            <a:r>
              <a:rPr sz="1350" b="1">
                <a:solidFill>
                  <a:srgbClr val="F0B84B"/>
                </a:solidFill>
              </a:rPr>
              <a:t>BEFORE YOU PACK UP 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491BD-4337-41DB-9C6E-A5DF2A9C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Close the design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72ABE-F771-4881-B462-4A8496C9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9A1626-B933-4167-B33F-2152C6FF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1. One process function I can distinguish 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17CA9-0931-42F2-8062-EDF0647F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7B0203-D670-4072-A861-2D57C538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040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2. One material feature I should inspect 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993A5-8C36-41A1-93F5-E3CE7597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8096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F221F-BC98-445A-A921-0B10B2B6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32B"/>
                </a:solidFill>
              </a:defRPr>
            </a:pPr>
            <a:r>
              <a:rPr sz="1650" b="1">
                <a:solidFill>
                  <a:srgbClr val="17232B"/>
                </a:solidFill>
              </a:rPr>
              <a:t>3. One question I would take to the teacher 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6B0D2-018F-4EBA-B3EF-8A3B09D7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19350"/>
            <a:ext cx="1828800" cy="1828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B8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42A3E-517A-40CF-8850-00E03496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800350"/>
            <a:ext cx="13144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232B"/>
                </a:solidFill>
              </a:defRPr>
            </a:pPr>
            <a:r>
              <a:rPr sz="1875" b="1">
                <a:solidFill>
                  <a:srgbClr val="17232B"/>
                </a:solidFill>
              </a:rPr>
              <a:t>SAVE</a:t>
            </a:r>
          </a:p>
          <a:p xmlns:a="http://schemas.openxmlformats.org/drawingml/2006/main">
            <a:pPr algn="ctr">
              <a:defRPr sz="1875" b="1">
                <a:solidFill>
                  <a:srgbClr val="17232B"/>
                </a:solidFill>
              </a:defRPr>
            </a:pPr>
            <a:r>
              <a:rPr sz="1875" b="1">
                <a:solidFill>
                  <a:srgbClr val="17232B"/>
                </a:solidFill>
              </a:rPr>
              <a:t>YOUR</a:t>
            </a:r>
          </a:p>
          <a:p xmlns:a="http://schemas.openxmlformats.org/drawingml/2006/main">
            <a:pPr algn="ctr">
              <a:defRPr sz="1875" b="1">
                <a:solidFill>
                  <a:srgbClr val="17232B"/>
                </a:solidFill>
              </a:defRPr>
            </a:pPr>
            <a:r>
              <a:rPr sz="1875" b="1">
                <a:solidFill>
                  <a:srgbClr val="17232B"/>
                </a:solidFill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C2FFE-85AE-411F-BF6C-3BC59A81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Evidence destination: your module response and folio where your teacher directs.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7DAF82-6D27-41F7-A44C-70520E2B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0B84B"/>
                </a:solidFill>
              </a:defRPr>
            </a:pPr>
            <a:r>
              <a:rPr sz="1350" b="1">
                <a:solidFill>
                  <a:srgbClr val="F0B84B"/>
                </a:solidFill>
              </a:rPr>
              <a:t>Next: compare different energy stores and lever trade-offs across engineered systems.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B955E7-3597-4249-B7DC-F4ED5C92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33333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7AE690-234F-4070-8455-5F717930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7E5E8"/>
                </a:solidFill>
              </a:defRPr>
            </a:pPr>
            <a:r>
              <a:rPr sz="975" b="1">
                <a:solidFill>
                  <a:srgbClr val="D7E5E8"/>
                </a:solidFill>
              </a:rPr>
              <a:t>YEAR 8 CATAPULT  •  MODULE 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306E0-558E-43B7-A176-6AA041BC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0B84B"/>
                </a:solidFill>
              </a:defRPr>
            </a:pPr>
            <a:r>
              <a:rPr sz="975" b="1">
                <a:solidFill>
                  <a:srgbClr val="F0B84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31936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2026-08-24T03:19:35.1150000Z</dcterms:created>
  <dcterms:modified xsi:type="dcterms:W3CDTF">2026-08-24T03:19:35.1150000Z</dcterms:modified>
</coreProperties>
</file>