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4ee1d2b5aa4727" /><Relationship Type="http://schemas.openxmlformats.org/officeDocument/2006/relationships/extended-properties" Target="/docProps/app.xml" Id="Rb66a61e4e8bc434e" /><Relationship Type="http://schemas.openxmlformats.org/officeDocument/2006/relationships/officeDocument" Target="/ppt/presentation.xml" Id="R023bfb1b693d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1062d9a6d84b96"/>
  </p:sldMasterIdLst>
  <p:notesMasterIdLst>
    <p:notesMasterId xmlns:r="http://schemas.openxmlformats.org/officeDocument/2006/relationships" r:id="R32fbeba33e7b4685"/>
  </p:notesMasterIdLst>
  <p:sldIdLst>
    <p:sldId xmlns:r="http://schemas.openxmlformats.org/officeDocument/2006/relationships" id="256" r:id="R52d62a7c72c54046"/>
    <p:sldId xmlns:r="http://schemas.openxmlformats.org/officeDocument/2006/relationships" id="257" r:id="R5a3be46db9ba46cd"/>
    <p:sldId xmlns:r="http://schemas.openxmlformats.org/officeDocument/2006/relationships" id="258" r:id="R83faa60c6d304217"/>
    <p:sldId xmlns:r="http://schemas.openxmlformats.org/officeDocument/2006/relationships" id="259" r:id="R22e38c4463d44839"/>
    <p:sldId xmlns:r="http://schemas.openxmlformats.org/officeDocument/2006/relationships" id="260" r:id="R6d41408aaf5248ae"/>
    <p:sldId xmlns:r="http://schemas.openxmlformats.org/officeDocument/2006/relationships" id="261" r:id="R7302f66bf5a544c3"/>
    <p:sldId xmlns:r="http://schemas.openxmlformats.org/officeDocument/2006/relationships" id="262" r:id="R8dd1988841214042"/>
    <p:sldId xmlns:r="http://schemas.openxmlformats.org/officeDocument/2006/relationships" id="263" r:id="Re8391c556014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f2179bf0c547f4" /><Relationship Type="http://schemas.openxmlformats.org/officeDocument/2006/relationships/slideMaster" Target="/ppt/slideMasters/slideMaster1.xml" Id="Ref1062d9a6d84b96" /><Relationship Type="http://schemas.openxmlformats.org/officeDocument/2006/relationships/notesMaster" Target="/ppt/notesMasters/notesMaster1.xml" Id="R32fbeba33e7b4685" /><Relationship Type="http://schemas.openxmlformats.org/officeDocument/2006/relationships/presProps" Target="/ppt/presProps.xml" Id="R32b3ffb3da024247" /><Relationship Type="http://schemas.openxmlformats.org/officeDocument/2006/relationships/tableStyles" Target="/ppt/tableStyles.xml" Id="R00be274d450d4562" /><Relationship Type="http://schemas.openxmlformats.org/officeDocument/2006/relationships/slide" Target="/ppt/slides/slide1.xml" Id="R52d62a7c72c54046" /><Relationship Type="http://schemas.openxmlformats.org/officeDocument/2006/relationships/slide" Target="/ppt/slides/slide2.xml" Id="R5a3be46db9ba46cd" /><Relationship Type="http://schemas.openxmlformats.org/officeDocument/2006/relationships/slide" Target="/ppt/slides/slide3.xml" Id="R83faa60c6d304217" /><Relationship Type="http://schemas.openxmlformats.org/officeDocument/2006/relationships/slide" Target="/ppt/slides/slide4.xml" Id="R22e38c4463d44839" /><Relationship Type="http://schemas.openxmlformats.org/officeDocument/2006/relationships/slide" Target="/ppt/slides/slide5.xml" Id="R6d41408aaf5248ae" /><Relationship Type="http://schemas.openxmlformats.org/officeDocument/2006/relationships/slide" Target="/ppt/slides/slide6.xml" Id="R7302f66bf5a544c3" /><Relationship Type="http://schemas.openxmlformats.org/officeDocument/2006/relationships/slide" Target="/ppt/slides/slide7.xml" Id="R8dd1988841214042" /><Relationship Type="http://schemas.openxmlformats.org/officeDocument/2006/relationships/slide" Target="/ppt/slides/slide8.xml" Id="Re8391c556014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2c9e7936774f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8e7737c0b246b7" /><Relationship Type="http://schemas.openxmlformats.org/officeDocument/2006/relationships/notesMaster" Target="/ppt/notesMasters/notesMaster1.xml" Id="Rb09dce9056ec42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7c56f7614447c" /><Relationship Type="http://schemas.openxmlformats.org/officeDocument/2006/relationships/notesMaster" Target="/ppt/notesMasters/notesMaster1.xml" Id="R4425bb130f71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f368368e204d95" /><Relationship Type="http://schemas.openxmlformats.org/officeDocument/2006/relationships/notesMaster" Target="/ppt/notesMasters/notesMaster1.xml" Id="R77e408e54a11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78d094b63e46ad" /><Relationship Type="http://schemas.openxmlformats.org/officeDocument/2006/relationships/notesMaster" Target="/ppt/notesMasters/notesMaster1.xml" Id="R11381efbbd4143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d2476cde1540b2" /><Relationship Type="http://schemas.openxmlformats.org/officeDocument/2006/relationships/notesMaster" Target="/ppt/notesMasters/notesMaster1.xml" Id="R475861564d5f44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3b35d3a1ba46d3" /><Relationship Type="http://schemas.openxmlformats.org/officeDocument/2006/relationships/notesMaster" Target="/ppt/notesMasters/notesMaster1.xml" Id="Rf6d44ac10a6143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99733c2fc64742" /><Relationship Type="http://schemas.openxmlformats.org/officeDocument/2006/relationships/notesMaster" Target="/ppt/notesMasters/notesMaster1.xml" Id="R87e6bcce3f194f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3eff249f19425e" /><Relationship Type="http://schemas.openxmlformats.org/officeDocument/2006/relationships/notesMaster" Target="/ppt/notesMasters/notesMaster1.xml" Id="R46ed013e953349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State the learning purpose in one sentence.</a:t>
            </a:r>
          </a:p>
          <a:p xmlns:a="http://schemas.openxmlformats.org/drawingml/2006/main">
            <a:r>
              <a:t>- Use the image only as a conceptual project cue; it is not a plan or model specification.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What relationship or evidence do you expect to matter in this module?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A realistic image must show the exact project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Move from the project cue to the three ideas students will 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module-02, 24 Aug 2026.</a:t>
            </a:r>
          </a:p>
          <a:p xmlns:a="http://schemas.openxmlformats.org/drawingml/2006/main">
            <a:r>
              <a:t>- Catapult Booklet 2026.pdf, pp. 3–7; core artefact manifest v1.0; theory draft module-02.</a:t>
            </a:r>
          </a:p>
          <a:p xmlns:a="http://schemas.openxmlformats.org/drawingml/2006/main">
            <a:r>
              <a:t>- OpenAI image generation for this course, 24 Aug 2026, conceptual only; file: catapult-materials-workshop.png.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Frame the module as a cumulative learning sequence.</a:t>
            </a:r>
          </a:p>
          <a:p xmlns:a="http://schemas.openxmlformats.org/drawingml/2006/main">
            <a:r>
              <a:t>- Invite a brief retrieval response before introducing new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What is the difference between a tool category and an approved operating procedure?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The three ideas are separate facts rather than parts of one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Tell students that each theory slide will supply evidence for the final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module-02, 24 Aug 2026.</a:t>
            </a:r>
          </a:p>
          <a:p xmlns:a="http://schemas.openxmlformats.org/drawingml/2006/main">
            <a:r>
              <a:t>- Catapult Booklet 2026.pdf, pp. 3–7; core artefact manifest v1.0; theory draft module-02.</a:t>
            </a:r>
          </a:p>
          <a:p xmlns:a="http://schemas.openxmlformats.org/drawingml/2006/main">
            <a:r>
              <a:t>- Native pathway diagram authored for this deck from the approved module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A hazard has the potential to cause harm. Risk considers how likely and how serious that harm could be in a particular situation. The material, task, equipment, people and controls all matter, so a general presentation cannot replace teacher demonstration or local workshop procedures.</a:t>
            </a:r>
          </a:p>
          <a:p xmlns:a="http://schemas.openxmlformats.org/drawingml/2006/main">
            <a:r>
              <a:t>- Use the visual to emphasise: Identify the hazard, then ask what context and teacher-approved control change the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Explain: why can the same hazard create different levels of risk in different contexts?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How is a hazard different from risk?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Link this idea to the next relationship in the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module-02, 24 Aug 2026.</a:t>
            </a:r>
          </a:p>
          <a:p xmlns:a="http://schemas.openxmlformats.org/drawingml/2006/main">
            <a:r>
              <a:t>- Catapult Booklet 2026.pdf, pp. 3–7; core artefact manifest v1.0; theory draft module-02.</a:t>
            </a:r>
          </a:p>
          <a:p xmlns:a="http://schemas.openxmlformats.org/drawingml/2006/main">
            <a:r>
              <a:t>- Teaching visual: assets/visuals/theory/m02-risk-context-control.png.</a:t>
            </a:r>
          </a:p>
          <a:p xmlns:a="http://schemas.openxmlformats.org/drawingml/2006/main">
            <a:r>
              <a:t>- OpenAI image generation for this course, 24 Aug 2026; conceptual teaching still life; final prompt: Unplugged palm sander safely supported on a mat, material sample, workspace boundary and blank teacher card; no tool use or PPE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Measuring, holding, cutting, shaping, drilling and joining are process functions. Tool choice also depends on the material, required accuracy, access, finish and teacher-approved method. A familiar or powerful tool is not automatically the best fit.</a:t>
            </a:r>
          </a:p>
          <a:p xmlns:a="http://schemas.openxmlformats.org/drawingml/2006/main">
            <a:r>
              <a:t>- Use the visual to emphasise: Match the required job to material, access and evidence—not to the most powerful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Application: name the required function before naming any tool, then identify the evidence of a suitable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Why should the required function be named before the tool?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Link this idea to the next relationship in the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module-02, 24 Aug 2026.</a:t>
            </a:r>
          </a:p>
          <a:p xmlns:a="http://schemas.openxmlformats.org/drawingml/2006/main">
            <a:r>
              <a:t>- Catapult Booklet 2026.pdf, pp. 3–7; core artefact manifest v1.0; theory draft module-02.</a:t>
            </a:r>
          </a:p>
          <a:p xmlns:a="http://schemas.openxmlformats.org/drawingml/2006/main">
            <a:r>
              <a:t>- Teaching visual: assets/visuals/theory/m02-tools-by-function.png.</a:t>
            </a:r>
          </a:p>
          <a:p xmlns:a="http://schemas.openxmlformats.org/drawingml/2006/main">
            <a:r>
              <a:t>- OpenAI image generation for this course, 24 Aug 2026; conceptual teaching still life; final prompt: Representative measuring, holding, material-changing and joining tool categories safely at rest around one pine specimen.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Pine varies with grain direction, knots, moisture and condition. Elastic materials can deform temporarily and return towards their earlier shape, but may deform permanently or fail beyond a suitable range. Engineers inspect the actual material and work only within teacher-set limits.</a:t>
            </a:r>
          </a:p>
          <a:p xmlns:a="http://schemas.openxmlformats.org/drawingml/2006/main">
            <a:r>
              <a:t>- Use the visual to emphasise: Compare natural variation in pine with temporary and permanent change in an elastic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Evidence move: record one visible material feature and explain how it could affect a later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Which properties of an actual pine piece could affect production?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Prepare students to retrieve and apply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module-02, 24 Aug 2026.</a:t>
            </a:r>
          </a:p>
          <a:p xmlns:a="http://schemas.openxmlformats.org/drawingml/2006/main">
            <a:r>
              <a:t>- Catapult Booklet 2026.pdf, pp. 3–7; core artefact manifest v1.0; theory draft module-02.</a:t>
            </a:r>
          </a:p>
          <a:p xmlns:a="http://schemas.openxmlformats.org/drawingml/2006/main">
            <a:r>
              <a:t>- Teaching visual: assets/visuals/theory/m02-pine-elastic-behaviour.png.</a:t>
            </a:r>
          </a:p>
          <a:p xmlns:a="http://schemas.openxmlformats.org/drawingml/2006/main">
            <a:r>
              <a:t>- OpenAI image generation for this course, 24 Aug 2026; conceptual teaching still life; final prompt: Macro comparison of varied pine grain and knots beside relaxed and permanently misshapen elastic loops, all at rest.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Give individual thinking time before partner discussion.</a:t>
            </a:r>
          </a:p>
          <a:p xmlns:a="http://schemas.openxmlformats.org/drawingml/2006/main">
            <a:r>
              <a:t>- Ask for evidence or a because-clause, not just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Which answer changed after discussion, and what evidence changed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Retrieval is a memory race rather than a chance to repair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Use the strongest unresolved question to launch the evidence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module-02, 24 Aug 2026.</a:t>
            </a:r>
          </a:p>
          <a:p xmlns:a="http://schemas.openxmlformats.org/drawingml/2006/main">
            <a:r>
              <a:t>- Catapult Booklet 2026.pdf, pp. 3–7; core artefact manifest v1.0; theory draft module-02.</a:t>
            </a:r>
          </a:p>
          <a:p xmlns:a="http://schemas.openxmlformats.org/drawingml/2006/main">
            <a:r>
              <a:t>- Questions derived from the approved module theory; no external asset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Model how to select evidence before writing the explanation.</a:t>
            </a:r>
          </a:p>
          <a:p xmlns:a="http://schemas.openxmlformats.org/drawingml/2006/main">
            <a:r>
              <a:t>- Read the sentence support aloud, then let students change its wording to suit their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Two teacher-approved processes could complete the same function. Compare them for material suitability, accuracy, finish, waste and risk before recommending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Longer writing is automatically stronger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Move from the scaffold to a concise exit ticket and evidence-save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module-02, 24 Aug 2026.</a:t>
            </a:r>
          </a:p>
          <a:p xmlns:a="http://schemas.openxmlformats.org/drawingml/2006/main">
            <a:r>
              <a:t>- Catapult Booklet 2026.pdf, pp. 3–7; core artefact manifest v1.0; theory draft module-02.</a:t>
            </a:r>
          </a:p>
          <a:p xmlns:a="http://schemas.openxmlformats.org/drawingml/2006/main">
            <a:r>
              <a:t>- Read–Select–Explain–Check scaffold follows the TAS course presentation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Collect a short answer to each exit prompt.</a:t>
            </a:r>
          </a:p>
          <a:p xmlns:a="http://schemas.openxmlformats.org/drawingml/2006/main">
            <a:r>
              <a:t>- Make the evidence destination explicit without turning the slide into assessment administration.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Which exit response best shows a changed decision or deeper explanation?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The exit ticket is a generic summary with no next evidence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Next: compare different energy stores and lever trade-offs across engineered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module-02, 24 Aug 2026.</a:t>
            </a:r>
          </a:p>
          <a:p xmlns:a="http://schemas.openxmlformats.org/drawingml/2006/main">
            <a:r>
              <a:t>- Catapult Booklet 2026.pdf, pp. 3–7; core artefact manifest v1.0; theory draft module-02.</a:t>
            </a:r>
          </a:p>
          <a:p xmlns:a="http://schemas.openxmlformats.org/drawingml/2006/main">
            <a:r>
              <a:t>- Exit-evidence structure follows the TAS course presentation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2893626f542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67909950454a80" /><Relationship Type="http://schemas.openxmlformats.org/officeDocument/2006/relationships/slideLayout" Target="/ppt/slideLayouts/slideLayout1.xml" Id="R319e3fa838a4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9e3fa838a4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ed2789f014745" /><Relationship Type="http://schemas.openxmlformats.org/officeDocument/2006/relationships/image" Target="/ppt/media/image.png" Id="R1b6203638dbc4901" /><Relationship Type="http://schemas.openxmlformats.org/officeDocument/2006/relationships/notesSlide" Target="/ppt/notesSlides/notesSlide1.xml" Id="Rf80183ccef5241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bc28eb16644ab" /><Relationship Type="http://schemas.openxmlformats.org/officeDocument/2006/relationships/notesSlide" Target="/ppt/notesSlides/notesSlide2.xml" Id="R20b2bb24fb9b42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c9c397a9a4b4a" /><Relationship Type="http://schemas.openxmlformats.org/officeDocument/2006/relationships/image" Target="/ppt/media/image2.png" Id="Re711696ef4e147e0" /><Relationship Type="http://schemas.openxmlformats.org/officeDocument/2006/relationships/notesSlide" Target="/ppt/notesSlides/notesSlide3.xml" Id="Rb6668000938b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15c72607a463f" /><Relationship Type="http://schemas.openxmlformats.org/officeDocument/2006/relationships/image" Target="/ppt/media/image3.png" Id="R41e5dd0e66044934" /><Relationship Type="http://schemas.openxmlformats.org/officeDocument/2006/relationships/notesSlide" Target="/ppt/notesSlides/notesSlide4.xml" Id="R0a47cbcad280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8c207978f43a5" /><Relationship Type="http://schemas.openxmlformats.org/officeDocument/2006/relationships/image" Target="/ppt/media/image4.png" Id="Ra209d3e98ad74810" /><Relationship Type="http://schemas.openxmlformats.org/officeDocument/2006/relationships/notesSlide" Target="/ppt/notesSlides/notesSlide5.xml" Id="R20beca0eca814e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ef34ff67d4959" /><Relationship Type="http://schemas.openxmlformats.org/officeDocument/2006/relationships/notesSlide" Target="/ppt/notesSlides/notesSlide6.xml" Id="R141cfe84152240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7241d733f451d" /><Relationship Type="http://schemas.openxmlformats.org/officeDocument/2006/relationships/notesSlide" Target="/ppt/notesSlides/notesSlide7.xml" Id="R8fd08543e3b746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12640a06847c1" /><Relationship Type="http://schemas.openxmlformats.org/officeDocument/2006/relationships/notesSlide" Target="/ppt/notesSlides/notesSlide8.xml" Id="R48e1b1dd40f942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5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203638dbc4901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25F2F-3533-4E99-BA07-4E8637D1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70B0A-F17A-4A8C-B3CE-E02B65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84B"/>
                </a:solidFill>
              </a:defRPr>
            </a:pPr>
            <a:r>
              <a:rPr sz="1350" b="1">
                <a:solidFill>
                  <a:srgbClr val="F0B84B"/>
                </a:solidFill>
              </a:rPr>
              <a:t>MODULE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A316F-53E7-4C5A-8429-CE3C6A54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Workshop Readiness, Tools and Materials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9D1B0-7FF8-44F8-A956-43A63D6D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762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5E8"/>
                </a:solidFill>
              </a:defRPr>
            </a:pPr>
            <a:r>
              <a:rPr sz="1875" b="0">
                <a:solidFill>
                  <a:srgbClr val="D7E5E8"/>
                </a:solidFill>
              </a:rPr>
              <a:t>Explain how context, tool function and material behaviour shape a responsible process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15A44-6E35-4014-BDBC-A0CD0B63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E5E8"/>
                </a:solidFill>
              </a:defRPr>
            </a:pPr>
            <a:r>
              <a:rPr sz="1125" b="1">
                <a:solidFill>
                  <a:srgbClr val="D7E5E8"/>
                </a:solidFill>
              </a:rPr>
              <a:t>YEAR 8  •  ENGINEERING TECHNOLOGIES AND SYSTEMS</a:t>
            </a:r>
          </a:p>
        </p:txBody>
      </p:sp>
    </p:spTree>
    <p:extLst>
      <p:ext uri="{BB962C8B-B14F-4D97-AF65-F5344CB8AC3E}">
        <p14:creationId xmlns:p14="http://schemas.microsoft.com/office/powerpoint/2010/main" val="608617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080EC-02DE-403B-9F35-1483AE4C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A9F86-2C9C-4C22-8D05-EC4C5675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02  /  WORKSHOP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BE8EE-C4A2-4E08-AC68-180B6F32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The learning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2D525-E9A1-4B45-A6C7-1F44C16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97002-68C6-48E4-BEA5-ECBD978D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DFA2F-9E57-4218-B10D-B532DF1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99F6B-D68D-4B1A-B3F4-179A44D3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4F5E"/>
                </a:solidFill>
              </a:defRPr>
            </a:pPr>
            <a:r>
              <a:rPr sz="2250" b="1">
                <a:solidFill>
                  <a:srgbClr val="184F5E"/>
                </a:solidFill>
              </a:rPr>
              <a:t>How do we justify a process without replacing local workshop instruction?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A8DD2-C7D8-471E-8B95-EAB57CE5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7555A-8FC5-4207-9BDA-8750CF02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CD33C-CDB9-4108-9BEA-08FFF58B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4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DB84D-F417-4ACA-8961-F76A48BE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5F35C-2E3D-4A73-819B-76BD107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813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Risk depends on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356C9-FC1A-4EF8-B594-1A6826FF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14B39-311C-47C7-9C54-44FA8332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32B"/>
                </a:solidFill>
              </a:defRPr>
            </a:pPr>
            <a:r>
              <a:rPr sz="2400" b="1">
                <a:solidFill>
                  <a:srgbClr val="17232B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64F4A-1D5D-486C-8B34-9CC36EF0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Select by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81655-3117-43C4-A5C8-7823F224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4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24DA7-6D40-4F8B-985E-A63E1FB6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C818B-AEF5-45A3-8A15-F7EFB394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Materials vary and respond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F597F-B75C-40B7-8FD0-3D1EEF01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C1979-F9EC-4F08-943D-CC12E09A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4424"/>
                </a:solidFill>
              </a:defRPr>
            </a:pPr>
            <a:r>
              <a:rPr sz="1200" b="1">
                <a:solidFill>
                  <a:srgbClr val="A94424"/>
                </a:solidFill>
              </a:rPr>
              <a:t>RETRIEVAL WARM-UP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79A72-CA4D-40A5-A7D1-BD4912DE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B"/>
                </a:solidFill>
              </a:defRPr>
            </a:pPr>
            <a:r>
              <a:rPr sz="1650" b="1">
                <a:solidFill>
                  <a:srgbClr val="17232B"/>
                </a:solidFill>
              </a:rPr>
              <a:t>What is the difference between a tool category and an approved operating procedure?</a:t>
            </a:r>
          </a:p>
        </p:txBody>
      </p:sp>
    </p:spTree>
    <p:extLst>
      <p:ext uri="{BB962C8B-B14F-4D97-AF65-F5344CB8AC3E}">
        <p14:creationId xmlns:p14="http://schemas.microsoft.com/office/powerpoint/2010/main" val="420621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3F94C-E75D-4BFB-8937-9764AB8D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D3C5-8F8F-4620-950F-919D30DD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02  /  WORKSHOP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D77A7-EA31-4725-9912-4CC8AD60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Risk depends on the situation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E0586-B970-47D5-BB75-8F03C0A0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61EEE-659B-45EB-AD0C-8C900CF3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25585-863E-4F05-9E49-D6DFEDA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21703-06D0-42AA-9C3A-37B421EF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8006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B"/>
                </a:solidFill>
              </a:defRPr>
            </a:pPr>
            <a:r>
              <a:rPr sz="1725" b="0">
                <a:solidFill>
                  <a:srgbClr val="17232B"/>
                </a:solidFill>
              </a:rPr>
              <a:t>A hazard has the potential to cause harm. Risk considers how likely and how serious that harm could be in a particular situation. The material, task, equipment, people and controls all matter, so a general presentation cannot replace teacher demonstration or local workshop procedures.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39498-8E42-4308-8159-54DE15E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61022-EDE9-4A26-A4A4-68E2E979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800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94424"/>
                </a:solidFill>
              </a:defRPr>
            </a:pPr>
            <a:r>
              <a:rPr sz="1575" b="1">
                <a:solidFill>
                  <a:srgbClr val="A94424"/>
                </a:solidFill>
              </a:rPr>
              <a:t>Explain: why can the same hazard create different levels of risk in different contexts?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9BE5D-70AB-4644-88BB-703239D5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95400"/>
            <a:ext cx="4762500" cy="2676525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1696ef4e147e0"/>
          <a:srcRect xmlns:a="http://schemas.openxmlformats.org/drawingml/2006/main" l="0" t="71" r="0" b="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295400"/>
            <a:ext cx="4762500" cy="2676525"/>
          </a:xfrm>
          <a:prstGeom xmlns:a="http://schemas.openxmlformats.org/drawingml/2006/main" prst="roundRect">
            <a:avLst>
              <a:gd name="adj" fmla="val 427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81F07-1C02-41F4-9052-4565FBA5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B"/>
                </a:solidFill>
              </a:defRPr>
            </a:pPr>
            <a:r>
              <a:rPr sz="1125" b="1">
                <a:solidFill>
                  <a:srgbClr val="17232B"/>
                </a:solidFill>
              </a:rPr>
              <a:t>Risk depends on the task, condition, people and controls—not the object alone.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ABB7E-D0CE-4E0B-9BA1-44E60FBF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4F5E"/>
                </a:solidFill>
              </a:defRPr>
            </a:pPr>
            <a:r>
              <a:rPr sz="1125" b="1">
                <a:solidFill>
                  <a:srgbClr val="184F5E"/>
                </a:solidFill>
              </a:rPr>
              <a:t>NOTICE  Identify the hazard, then ask what context and teacher-approved control change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843784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C05AE-F383-45CA-A1D0-4BC8A555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26A40-ED6F-4052-BB05-98BAFA4E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02  /  WORKSHOP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331CE-DD91-43E3-9EDB-E8D9630D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Choose tools by the function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5C631-B881-44ED-B2EE-9B555DEF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90149-6D72-4246-AB93-CEC286E8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82254-A113-4586-AC50-024DE53F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BD790-5D90-4341-9766-3CCD551E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81125"/>
            <a:ext cx="48006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B"/>
                </a:solidFill>
              </a:defRPr>
            </a:pPr>
            <a:r>
              <a:rPr sz="1725" b="0">
                <a:solidFill>
                  <a:srgbClr val="17232B"/>
                </a:solidFill>
              </a:rPr>
              <a:t>Measuring, holding, cutting, shaping, drilling and joining are process functions. Tool choice also depends on the material, required accuracy, access, finish and teacher-approved method. A familiar or powerful tool is not automatically the best fit.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41C75-9F71-49A5-8D70-BE38E8B9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2D5EF-FADF-4858-8193-9AB35073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4800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94424"/>
                </a:solidFill>
              </a:defRPr>
            </a:pPr>
            <a:r>
              <a:rPr sz="1575" b="1">
                <a:solidFill>
                  <a:srgbClr val="A94424"/>
                </a:solidFill>
              </a:rPr>
              <a:t>Application: name the required function before naming any tool, then identify the evidence of a suitable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79C48-9667-4E15-977F-BF3E342C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762500" cy="2676525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5dd0e66044934"/>
          <a:srcRect xmlns:a="http://schemas.openxmlformats.org/drawingml/2006/main" l="0" t="71" r="0" b="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295400"/>
            <a:ext cx="4762500" cy="2676525"/>
          </a:xfrm>
          <a:prstGeom xmlns:a="http://schemas.openxmlformats.org/drawingml/2006/main" prst="roundRect">
            <a:avLst>
              <a:gd name="adj" fmla="val 427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C6603-D6E4-4851-8834-880CCD24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B"/>
                </a:solidFill>
              </a:defRPr>
            </a:pPr>
            <a:r>
              <a:rPr sz="1125" b="1">
                <a:solidFill>
                  <a:srgbClr val="17232B"/>
                </a:solidFill>
              </a:rPr>
              <a:t>Start with the function, then choose the approved process and check its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ACDCD-42B5-4C67-8180-62B52B9E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4F5E"/>
                </a:solidFill>
              </a:defRPr>
            </a:pPr>
            <a:r>
              <a:rPr sz="1125" b="1">
                <a:solidFill>
                  <a:srgbClr val="184F5E"/>
                </a:solidFill>
              </a:rPr>
              <a:t>NOTICE  Match the required job to material, access and evidence—not to the most powerful tool.</a:t>
            </a:r>
          </a:p>
        </p:txBody>
      </p:sp>
    </p:spTree>
    <p:extLst>
      <p:ext uri="{BB962C8B-B14F-4D97-AF65-F5344CB8AC3E}">
        <p14:creationId xmlns:p14="http://schemas.microsoft.com/office/powerpoint/2010/main" val="411093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B5768-1302-4A92-9338-CC375A3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C0888-BEA2-4567-8328-9CD8B692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02  /  WORKSHOP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B13A6-388E-4E59-B21A-0B4B4F3D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Pine and elastic materials do not behave identically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E1CD6-85B2-4B39-BC48-7006B5F2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26A1F-FFCF-4648-93ED-02DEDCDD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DF369-63E3-4A0E-A476-5BA97ADD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408C9-2FD7-4D88-820E-EC62CD31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8006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B"/>
                </a:solidFill>
              </a:defRPr>
            </a:pPr>
            <a:r>
              <a:rPr sz="1725" b="0">
                <a:solidFill>
                  <a:srgbClr val="17232B"/>
                </a:solidFill>
              </a:rPr>
              <a:t>Pine varies with grain direction, knots, moisture and condition. Elastic materials can deform temporarily and return towards their earlier shape, but may deform permanently or fail beyond a suitable range. Engineers inspect the actual material and work only within teacher-set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5A77C-6FDE-41D2-8A58-22CE4FF9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6DBEA-1470-4FB3-B595-64E9E21B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800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94424"/>
                </a:solidFill>
              </a:defRPr>
            </a:pPr>
            <a:r>
              <a:rPr sz="1575" b="1">
                <a:solidFill>
                  <a:srgbClr val="A94424"/>
                </a:solidFill>
              </a:rPr>
              <a:t>Evidence move: record one visible material feature and explain how it could affect a later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70CA7-CCA4-49E7-AB0E-69D32520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95400"/>
            <a:ext cx="4762500" cy="2676525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9d3e98ad74810"/>
          <a:srcRect xmlns:a="http://schemas.openxmlformats.org/drawingml/2006/main" l="0" t="71" r="0" b="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295400"/>
            <a:ext cx="4762500" cy="2676525"/>
          </a:xfrm>
          <a:prstGeom xmlns:a="http://schemas.openxmlformats.org/drawingml/2006/main" prst="roundRect">
            <a:avLst>
              <a:gd name="adj" fmla="val 427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D8A57-5CF5-4B15-9D07-E760E217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B"/>
                </a:solidFill>
              </a:defRPr>
            </a:pPr>
            <a:r>
              <a:rPr sz="1125" b="1">
                <a:solidFill>
                  <a:srgbClr val="17232B"/>
                </a:solidFill>
              </a:rPr>
              <a:t>Material names are not enough; inspect grain, condition, deformation and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F994A-D525-412F-B095-91C0BF15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4F5E"/>
                </a:solidFill>
              </a:defRPr>
            </a:pPr>
            <a:r>
              <a:rPr sz="1125" b="1">
                <a:solidFill>
                  <a:srgbClr val="184F5E"/>
                </a:solidFill>
              </a:rPr>
              <a:t>NOTICE  Compare natural variation in pine with temporary and permanent change in an elastic material.</a:t>
            </a:r>
          </a:p>
        </p:txBody>
      </p:sp>
    </p:spTree>
    <p:extLst>
      <p:ext uri="{BB962C8B-B14F-4D97-AF65-F5344CB8AC3E}">
        <p14:creationId xmlns:p14="http://schemas.microsoft.com/office/powerpoint/2010/main" val="1437932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35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08893-4B60-4F28-8C67-37DFCDE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4F496-665E-4B99-BF16-0CB2709C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84B"/>
                </a:solidFill>
              </a:defRPr>
            </a:pPr>
            <a:r>
              <a:rPr sz="1050" b="1">
                <a:solidFill>
                  <a:srgbClr val="F0B84B"/>
                </a:solidFill>
              </a:rPr>
              <a:t>MODULE 02  /  WORKSHOP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88EAE-AFD0-4A05-985A-E591461E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17A90-D44E-4432-ACB5-5E54E15C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F93F3-1FE6-45C9-A2E0-533E60DC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E5E8"/>
                </a:solidFill>
              </a:defRPr>
            </a:pPr>
            <a:r>
              <a:rPr sz="975" b="1">
                <a:solidFill>
                  <a:srgbClr val="D7E5E8"/>
                </a:solidFill>
              </a:rPr>
              <a:t>YEAR 8 CATAPULT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21619-659C-423C-B11D-D4032A40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0B84B"/>
                </a:solidFill>
              </a:defRPr>
            </a:pPr>
            <a:r>
              <a:rPr sz="975" b="1">
                <a:solidFill>
                  <a:srgbClr val="F0B84B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12737-03CC-4E51-B868-584B09DF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E8"/>
                </a:solidFill>
              </a:defRPr>
            </a:pPr>
            <a:r>
              <a:rPr sz="1500" b="0">
                <a:solidFill>
                  <a:srgbClr val="D7E5E8"/>
                </a:solidFill>
              </a:rPr>
              <a:t>Answer silently first. Then justify one answer with a partner.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36688-1549-42DB-96BC-DFD88610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84B"/>
                </a:solidFill>
              </a:defRPr>
            </a:pPr>
            <a:r>
              <a:rPr sz="1800" b="1">
                <a:solidFill>
                  <a:srgbClr val="F0B84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97410-C447-4680-9AE8-8943DCD8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How is a hazard different from risk?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B2407-77B8-473D-A3A3-8E7412F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336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D653B-3BCD-4AB4-9646-C85AEED3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84B"/>
                </a:solidFill>
              </a:defRPr>
            </a:pPr>
            <a:r>
              <a:rPr sz="1800" b="1">
                <a:solidFill>
                  <a:srgbClr val="F0B84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37583-F686-4177-ADE3-92C7FE85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Why should the required function be named before the tool?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6B046-F13E-4FBC-8053-3EA6B320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147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E044F-1254-4CE7-BB9A-0B943C7E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84B"/>
                </a:solidFill>
              </a:defRPr>
            </a:pPr>
            <a:r>
              <a:rPr sz="1800" b="1">
                <a:solidFill>
                  <a:srgbClr val="F0B84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EB091-689F-4EBD-B208-B454C6E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10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Which properties of an actual pine piece could affect production?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C4B37-0A80-4B6F-A551-9BFD8106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C114F-682C-49DF-9F84-D91A3A5A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84B"/>
                </a:solidFill>
              </a:defRPr>
            </a:pPr>
            <a:r>
              <a:rPr sz="1800" b="1">
                <a:solidFill>
                  <a:srgbClr val="F0B84B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57808-A759-4FE6-8934-F6DC2726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9107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Why does training not become permission for every situation?</a:t>
            </a:r>
          </a:p>
        </p:txBody>
      </p:sp>
    </p:spTree>
    <p:extLst>
      <p:ext uri="{BB962C8B-B14F-4D97-AF65-F5344CB8AC3E}">
        <p14:creationId xmlns:p14="http://schemas.microsoft.com/office/powerpoint/2010/main" val="576577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CB8DD-DA5A-4DFB-8EA2-57AAC1D6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3D775-EF6E-4743-8E15-A3C5D6AB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02  /  WORKSHOP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4BB50-8580-445E-9FB3-85FBCD9E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Build the evidence, not just an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65787-CC29-4811-8FF1-D82994D5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B05A9-907D-4231-9759-7BBA36E6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38190-7B8C-4416-97B2-9003C234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B8203-AC4E-466D-81FA-9DC05440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4424"/>
                </a:solidFill>
              </a:defRPr>
            </a:pPr>
            <a:r>
              <a:rPr sz="1200" b="1">
                <a:solidFill>
                  <a:srgbClr val="A94424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936E4-6D90-4D74-8325-C8C649F7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2B"/>
                </a:solidFill>
              </a:defRPr>
            </a:pPr>
            <a:r>
              <a:rPr sz="1800" b="1">
                <a:solidFill>
                  <a:srgbClr val="17232B"/>
                </a:solidFill>
              </a:rPr>
              <a:t>Two teacher-approved processes could complete the same function. Compare them for material suitability, accuracy, finish, waste and risk before recommending 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87270-0451-4898-8650-203A2FA6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10457-222D-4208-A2CD-B435D154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AD3C8-9E7B-4F40-A89D-3DDD4E08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766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C3C71-5185-42C5-B46F-8E49B9B8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4F5E"/>
                </a:solidFill>
              </a:defRPr>
            </a:pPr>
            <a:r>
              <a:rPr sz="1500" b="1">
                <a:solidFill>
                  <a:srgbClr val="184F5E"/>
                </a:solidFill>
              </a:rPr>
              <a:t>READ</a:t>
            </a:r>
          </a:p>
          <a:p xmlns:a="http://schemas.openxmlformats.org/drawingml/2006/main">
            <a:pPr algn="ctr">
              <a:defRPr sz="1500" b="1">
                <a:solidFill>
                  <a:srgbClr val="184F5E"/>
                </a:solidFill>
              </a:defRPr>
            </a:pPr>
            <a:r>
              <a:rPr sz="1500" b="1">
                <a:solidFill>
                  <a:srgbClr val="184F5E"/>
                </a:solidFill>
              </a:rPr>
              <a:t>Underline the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79880-3EC1-4AB9-87C4-8D6122C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4424"/>
                </a:solidFill>
              </a:defRPr>
            </a:pPr>
            <a:r>
              <a:rPr sz="1500" b="1">
                <a:solidFill>
                  <a:srgbClr val="A94424"/>
                </a:solidFill>
              </a:rPr>
              <a:t>SELECT</a:t>
            </a:r>
          </a:p>
          <a:p xmlns:a="http://schemas.openxmlformats.org/drawingml/2006/main">
            <a:pPr algn="ctr">
              <a:defRPr sz="1500" b="1">
                <a:solidFill>
                  <a:srgbClr val="A94424"/>
                </a:solidFill>
              </a:defRPr>
            </a:pPr>
            <a:r>
              <a:rPr sz="1500" b="1">
                <a:solidFill>
                  <a:srgbClr val="A94424"/>
                </a:solidFill>
              </a:rPr>
              <a:t>Choose precise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D5AF5-B294-4442-891F-DC543A11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4F5E"/>
                </a:solidFill>
              </a:defRPr>
            </a:pPr>
            <a:r>
              <a:rPr sz="1500" b="1">
                <a:solidFill>
                  <a:srgbClr val="184F5E"/>
                </a:solidFill>
              </a:rPr>
              <a:t>EXPLAIN</a:t>
            </a:r>
          </a:p>
          <a:p xmlns:a="http://schemas.openxmlformats.org/drawingml/2006/main">
            <a:pPr algn="ctr">
              <a:defRPr sz="1500" b="1">
                <a:solidFill>
                  <a:srgbClr val="184F5E"/>
                </a:solidFill>
              </a:defRPr>
            </a:pPr>
            <a:r>
              <a:rPr sz="1500" b="1">
                <a:solidFill>
                  <a:srgbClr val="184F5E"/>
                </a:solidFill>
              </a:rPr>
              <a:t>Connect with theory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4A237-13F4-4E6B-A416-1A35E70E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4424"/>
                </a:solidFill>
              </a:defRPr>
            </a:pPr>
            <a:r>
              <a:rPr sz="1500" b="1">
                <a:solidFill>
                  <a:srgbClr val="A94424"/>
                </a:solidFill>
              </a:rPr>
              <a:t>CHECK</a:t>
            </a:r>
          </a:p>
          <a:p xmlns:a="http://schemas.openxmlformats.org/drawingml/2006/main">
            <a:pPr algn="ctr">
              <a:defRPr sz="1500" b="1">
                <a:solidFill>
                  <a:srgbClr val="A94424"/>
                </a:solidFill>
              </a:defRPr>
            </a:pPr>
            <a:r>
              <a:rPr sz="1500" b="1">
                <a:solidFill>
                  <a:srgbClr val="A94424"/>
                </a:solidFill>
              </a:rPr>
              <a:t>Answer every part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909AD-B6A0-4823-818B-82BF3F3F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60157-4394-43D2-AF29-2361521C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4424"/>
                </a:solidFill>
              </a:defRPr>
            </a:pPr>
            <a:r>
              <a:rPr sz="1200" b="1">
                <a:solidFill>
                  <a:srgbClr val="A94424"/>
                </a:solidFill>
              </a:rPr>
              <a:t>SENTENCE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AD4ED-310D-4FE6-8340-9ED88C4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14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B"/>
                </a:solidFill>
              </a:defRPr>
            </a:pPr>
            <a:r>
              <a:rPr sz="1575" b="0">
                <a:solidFill>
                  <a:srgbClr val="17232B"/>
                </a:solidFill>
              </a:rPr>
              <a:t>Both processes can … Process A is stronger when … Process B is stronger when … I recommend … because the evidence …</a:t>
            </a:r>
          </a:p>
        </p:txBody>
      </p:sp>
    </p:spTree>
    <p:extLst>
      <p:ext uri="{BB962C8B-B14F-4D97-AF65-F5344CB8AC3E}">
        <p14:creationId xmlns:p14="http://schemas.microsoft.com/office/powerpoint/2010/main" val="4214015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A94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B608D-0FF6-411E-A83B-FD2F844F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84B"/>
                </a:solidFill>
              </a:defRPr>
            </a:pPr>
            <a:r>
              <a:rPr sz="1350" b="1">
                <a:solidFill>
                  <a:srgbClr val="F0B84B"/>
                </a:solidFill>
              </a:rPr>
              <a:t>BEFORE YOU PACK UP 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C6247-9B26-4DD2-98E4-3F3B73A0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Close the design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F23AB-E331-4070-9D81-A3443ACC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11EE4-BAEE-4EBC-BC3B-2BA5504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B"/>
                </a:solidFill>
              </a:defRPr>
            </a:pPr>
            <a:r>
              <a:rPr sz="1650" b="1">
                <a:solidFill>
                  <a:srgbClr val="17232B"/>
                </a:solidFill>
              </a:rPr>
              <a:t>1. One process function I can distinguish 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7C39D-F5A4-455D-8ACE-680F28F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45618-E0AE-4E80-B9C9-4F6E850A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B"/>
                </a:solidFill>
              </a:defRPr>
            </a:pPr>
            <a:r>
              <a:rPr sz="1650" b="1">
                <a:solidFill>
                  <a:srgbClr val="17232B"/>
                </a:solidFill>
              </a:rPr>
              <a:t>2. One material feature I should inspect 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14B25-4394-4AAC-BC6B-904CEB2C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6381A-A53D-4494-9D37-2917F7AF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B"/>
                </a:solidFill>
              </a:defRPr>
            </a:pPr>
            <a:r>
              <a:rPr sz="1650" b="1">
                <a:solidFill>
                  <a:srgbClr val="17232B"/>
                </a:solidFill>
              </a:rPr>
              <a:t>3. One question I would take to the teacher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2A23C-C1F4-4EB7-9126-2249B62D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1935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FA738-7889-4A8C-AB45-74E4D964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00350"/>
            <a:ext cx="131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32B"/>
                </a:solidFill>
              </a:defRPr>
            </a:pPr>
            <a:r>
              <a:rPr sz="1875" b="1">
                <a:solidFill>
                  <a:srgbClr val="17232B"/>
                </a:solidFill>
              </a:rPr>
              <a:t>SAVE</a:t>
            </a:r>
          </a:p>
          <a:p xmlns:a="http://schemas.openxmlformats.org/drawingml/2006/main">
            <a:pPr algn="ctr">
              <a:defRPr sz="1875" b="1">
                <a:solidFill>
                  <a:srgbClr val="17232B"/>
                </a:solidFill>
              </a:defRPr>
            </a:pPr>
            <a:r>
              <a:rPr sz="1875" b="1">
                <a:solidFill>
                  <a:srgbClr val="17232B"/>
                </a:solidFill>
              </a:rPr>
              <a:t>YOUR</a:t>
            </a:r>
          </a:p>
          <a:p xmlns:a="http://schemas.openxmlformats.org/drawingml/2006/main">
            <a:pPr algn="ctr">
              <a:defRPr sz="1875" b="1">
                <a:solidFill>
                  <a:srgbClr val="17232B"/>
                </a:solidFill>
              </a:defRPr>
            </a:pPr>
            <a:r>
              <a:rPr sz="1875" b="1">
                <a:solidFill>
                  <a:srgbClr val="17232B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ADD38-B6A2-4F00-8930-A16C4CC6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Evidence destination: your module response and folio where your teacher directs.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C4852-0411-4D49-83F6-E768ABE5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84B"/>
                </a:solidFill>
              </a:defRPr>
            </a:pPr>
            <a:r>
              <a:rPr sz="1350" b="1">
                <a:solidFill>
                  <a:srgbClr val="F0B84B"/>
                </a:solidFill>
              </a:rPr>
              <a:t>Next: compare different energy stores and lever trade-offs across engineered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288B4-F040-4EBE-8C73-6DB9975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C2A2E-7A49-4EF8-94D8-7D15AF35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E5E8"/>
                </a:solidFill>
              </a:defRPr>
            </a:pPr>
            <a:r>
              <a:rPr sz="975" b="1">
                <a:solidFill>
                  <a:srgbClr val="D7E5E8"/>
                </a:solidFill>
              </a:rPr>
              <a:t>YEAR 8 CATAPULT  •  MODULE 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18ACA-18F4-40CF-8666-66B82599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0B84B"/>
                </a:solidFill>
              </a:defRPr>
            </a:pPr>
            <a:r>
              <a:rPr sz="975" b="1">
                <a:solidFill>
                  <a:srgbClr val="F0B84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091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2026-08-24T09:20:20.6200000Z</dcterms:created>
  <dcterms:modified xsi:type="dcterms:W3CDTF">2026-08-24T09:20:20.6200000Z</dcterms:modified>
</coreProperties>
</file>