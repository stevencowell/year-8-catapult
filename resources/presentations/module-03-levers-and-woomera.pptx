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e442995b50439f" /><Relationship Type="http://schemas.openxmlformats.org/officeDocument/2006/relationships/extended-properties" Target="/docProps/app.xml" Id="R17e8f85dd2c24e14" /><Relationship Type="http://schemas.openxmlformats.org/officeDocument/2006/relationships/officeDocument" Target="/ppt/presentation.xml" Id="Rca97805934b24a42" /></Relationships>
</file>

<file path=ppt/presentation.xml><?xml version="1.0" encoding="utf-8"?>
<p:presentation xmlns:p="http://schemas.openxmlformats.org/presentationml/2006/main">
  <p:sldMasterIdLst>
    <p:sldMasterId xmlns:r="http://schemas.openxmlformats.org/officeDocument/2006/relationships" id="2147483648" r:id="R8763e3630fd14270"/>
  </p:sldMasterIdLst>
  <p:notesMasterIdLst>
    <p:notesMasterId xmlns:r="http://schemas.openxmlformats.org/officeDocument/2006/relationships" r:id="R69f7f1a72ac543ee"/>
  </p:notesMasterIdLst>
  <p:sldIdLst>
    <p:sldId xmlns:r="http://schemas.openxmlformats.org/officeDocument/2006/relationships" id="256" r:id="R60cb13e78b954bec"/>
    <p:sldId xmlns:r="http://schemas.openxmlformats.org/officeDocument/2006/relationships" id="257" r:id="Rc22dd6dd400240db"/>
    <p:sldId xmlns:r="http://schemas.openxmlformats.org/officeDocument/2006/relationships" id="258" r:id="Ra3aad60940f14f7f"/>
    <p:sldId xmlns:r="http://schemas.openxmlformats.org/officeDocument/2006/relationships" id="259" r:id="Rf1872833301a4412"/>
    <p:sldId xmlns:r="http://schemas.openxmlformats.org/officeDocument/2006/relationships" id="260" r:id="R99ff2288f4a440e8"/>
    <p:sldId xmlns:r="http://schemas.openxmlformats.org/officeDocument/2006/relationships" id="261" r:id="R9f5b9043139b43b8"/>
    <p:sldId xmlns:r="http://schemas.openxmlformats.org/officeDocument/2006/relationships" id="262" r:id="Rf8bf8ea1a414469c"/>
    <p:sldId xmlns:r="http://schemas.openxmlformats.org/officeDocument/2006/relationships" id="263" r:id="R75fb1b7b93084c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5b3a4887584530" /><Relationship Type="http://schemas.openxmlformats.org/officeDocument/2006/relationships/slideMaster" Target="/ppt/slideMasters/slideMaster1.xml" Id="R8763e3630fd14270" /><Relationship Type="http://schemas.openxmlformats.org/officeDocument/2006/relationships/notesMaster" Target="/ppt/notesMasters/notesMaster1.xml" Id="R69f7f1a72ac543ee" /><Relationship Type="http://schemas.openxmlformats.org/officeDocument/2006/relationships/presProps" Target="/ppt/presProps.xml" Id="Rd5e4d7a66c494461" /><Relationship Type="http://schemas.openxmlformats.org/officeDocument/2006/relationships/tableStyles" Target="/ppt/tableStyles.xml" Id="R37a875c422f6401d" /><Relationship Type="http://schemas.openxmlformats.org/officeDocument/2006/relationships/slide" Target="/ppt/slides/slide1.xml" Id="R60cb13e78b954bec" /><Relationship Type="http://schemas.openxmlformats.org/officeDocument/2006/relationships/slide" Target="/ppt/slides/slide2.xml" Id="Rc22dd6dd400240db" /><Relationship Type="http://schemas.openxmlformats.org/officeDocument/2006/relationships/slide" Target="/ppt/slides/slide3.xml" Id="Ra3aad60940f14f7f" /><Relationship Type="http://schemas.openxmlformats.org/officeDocument/2006/relationships/slide" Target="/ppt/slides/slide4.xml" Id="Rf1872833301a4412" /><Relationship Type="http://schemas.openxmlformats.org/officeDocument/2006/relationships/slide" Target="/ppt/slides/slide5.xml" Id="R99ff2288f4a440e8" /><Relationship Type="http://schemas.openxmlformats.org/officeDocument/2006/relationships/slide" Target="/ppt/slides/slide6.xml" Id="R9f5b9043139b43b8" /><Relationship Type="http://schemas.openxmlformats.org/officeDocument/2006/relationships/slide" Target="/ppt/slides/slide7.xml" Id="Rf8bf8ea1a414469c" /><Relationship Type="http://schemas.openxmlformats.org/officeDocument/2006/relationships/slide" Target="/ppt/slides/slide8.xml" Id="R75fb1b7b93084c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8342b962ca42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48374141374834" /><Relationship Type="http://schemas.openxmlformats.org/officeDocument/2006/relationships/notesMaster" Target="/ppt/notesMasters/notesMaster1.xml" Id="Rfc76f9842d5241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9ed1f6b3ad487e" /><Relationship Type="http://schemas.openxmlformats.org/officeDocument/2006/relationships/notesMaster" Target="/ppt/notesMasters/notesMaster1.xml" Id="Re2466c0182e745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aeabdbe10f409c" /><Relationship Type="http://schemas.openxmlformats.org/officeDocument/2006/relationships/notesMaster" Target="/ppt/notesMasters/notesMaster1.xml" Id="Rd315de911e0a4f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2dc37728b14049" /><Relationship Type="http://schemas.openxmlformats.org/officeDocument/2006/relationships/notesMaster" Target="/ppt/notesMasters/notesMaster1.xml" Id="R12bf7f6c266c4a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48d210f2084c81" /><Relationship Type="http://schemas.openxmlformats.org/officeDocument/2006/relationships/notesMaster" Target="/ppt/notesMasters/notesMaster1.xml" Id="R483edf504ef94c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a3866e93614c04" /><Relationship Type="http://schemas.openxmlformats.org/officeDocument/2006/relationships/notesMaster" Target="/ppt/notesMasters/notesMaster1.xml" Id="Ra64bf4ee8bd84a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8e332c6d084f13" /><Relationship Type="http://schemas.openxmlformats.org/officeDocument/2006/relationships/notesMaster" Target="/ppt/notesMasters/notesMaster1.xml" Id="R17d926fe0af345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4ad6b5e6fb4d43" /><Relationship Type="http://schemas.openxmlformats.org/officeDocument/2006/relationships/notesMaster" Target="/ppt/notesMasters/notesMaster1.xml" Id="Rff4fcc8d0dd842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OpenAI image generation for this course, 24 Aug 2026, conceptual only; file: lever-moment-still-life.png.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What two questions reveal more than simply naming a historical system?</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Historical projectile systems did not all store and transfer energy in the same way. Comparing where energy is stored, which component moves, how the frame manages forces and what must be reset reveals distinct system relationships without ranking one design as universally superior.</a:t>
            </a:r>
          </a:p>
          <a:p xmlns:a="http://schemas.openxmlformats.org/drawingml/2006/main">
            <a:r>
              <a:t>- Use the visual to emphasise: Similar broad outputs can come from different internal systems.</a:t>
            </a:r>
          </a:p>
          <a:p xmlns:a="http://schemas.openxmlformats.org/drawingml/2006/main">
            <a:r>
              <a:t/>
            </a:r>
          </a:p>
          <a:p xmlns:a="http://schemas.openxmlformats.org/drawingml/2006/main">
            <a:r>
              <a:t>Prompt</a:t>
            </a:r>
          </a:p>
          <a:p xmlns:a="http://schemas.openxmlformats.org/drawingml/2006/main">
            <a:r>
              <a:t>- Compare: identify the energy store and one component relationship in each of two systems.</a:t>
            </a:r>
          </a:p>
          <a:p xmlns:a="http://schemas.openxmlformats.org/drawingml/2006/main">
            <a:r>
              <a:t/>
            </a:r>
          </a:p>
          <a:p xmlns:a="http://schemas.openxmlformats.org/drawingml/2006/main">
            <a:r>
              <a:t>Likely misconception</a:t>
            </a:r>
          </a:p>
          <a:p xmlns:a="http://schemas.openxmlformats.org/drawingml/2006/main">
            <a:r>
              <a:t>- Why should systems be compared through energy stores and relationships?</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lever turns around a pivot. Its moment—the turning effect—depends on the force and the perpendicular distance from the pivot. Changing arm lengths changes force-and-motion trade-offs; it does not create energy for free. The frame, pivot, stiffness and alignment remain part of the decision.</a:t>
            </a:r>
          </a:p>
          <a:p xmlns:a="http://schemas.openxmlformats.org/drawingml/2006/main">
            <a:r>
              <a:t>- Use the visual to emphasise: Lever geometry changes a trade-off; it does not provide free energy.</a:t>
            </a:r>
          </a:p>
          <a:p xmlns:a="http://schemas.openxmlformats.org/drawingml/2006/main">
            <a:r>
              <a:t/>
            </a:r>
          </a:p>
          <a:p xmlns:a="http://schemas.openxmlformats.org/drawingml/2006/main">
            <a:r>
              <a:t>Prompt</a:t>
            </a:r>
          </a:p>
          <a:p xmlns:a="http://schemas.openxmlformats.org/drawingml/2006/main">
            <a:r>
              <a:t>- Reason: if the distance from the pivot changes, what other system effects should be checked?</a:t>
            </a:r>
          </a:p>
          <a:p xmlns:a="http://schemas.openxmlformats.org/drawingml/2006/main">
            <a:r>
              <a:t/>
            </a:r>
          </a:p>
          <a:p xmlns:a="http://schemas.openxmlformats.org/drawingml/2006/main">
            <a:r>
              <a:t>Likely misconception</a:t>
            </a:r>
          </a:p>
          <a:p xmlns:a="http://schemas.openxmlformats.org/drawingml/2006/main">
            <a:r>
              <a:t>- What two factors determine a lever moment?</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Jared Thomas, a Nukunu person and South Australian Museum curator, publicly explains that an object commonly called a woomera or spear-thrower can extend the user’s arm. He also demonstrates several practical functions. Forms, names, uses and connected knowledge vary across Countries.</a:t>
            </a:r>
          </a:p>
          <a:p xmlns:a="http://schemas.openxmlformats.org/drawingml/2006/main">
            <a:r>
              <a:t>- Use the visual to emphasise: Source and context lead. This neutral schematic is not an object reconstruction.</a:t>
            </a:r>
          </a:p>
          <a:p xmlns:a="http://schemas.openxmlformats.org/drawingml/2006/main">
            <a:r>
              <a:t/>
            </a:r>
          </a:p>
          <a:p xmlns:a="http://schemas.openxmlformats.org/drawingml/2006/main">
            <a:r>
              <a:t>Prompt</a:t>
            </a:r>
          </a:p>
          <a:p xmlns:a="http://schemas.openxmlformats.org/drawingml/2006/main">
            <a:r>
              <a:t>- Discussion: how does the lever explanation help without reducing the technology to one purpose or one universal account?</a:t>
            </a:r>
          </a:p>
          <a:p xmlns:a="http://schemas.openxmlformats.org/drawingml/2006/main">
            <a:r>
              <a:t/>
            </a:r>
          </a:p>
          <a:p xmlns:a="http://schemas.openxmlformats.org/drawingml/2006/main">
            <a:r>
              <a:t>Likely misconception</a:t>
            </a:r>
          </a:p>
          <a:p xmlns:a="http://schemas.openxmlformats.org/drawingml/2006/main">
            <a:r>
              <a:t>- Why does a longer arm not create free energy?</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Compare two historical systems with different energy stores. Explain their force, motion and reset trade-offs without ranking one culture or design as superior.</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follow energy transfers, apply Newton’s laws and plan fair prototype evidence.</a:t>
            </a:r>
          </a:p>
          <a:p xmlns:a="http://schemas.openxmlformats.org/drawingml/2006/main">
            <a:r>
              <a:t/>
            </a:r>
          </a:p>
          <a:p xmlns:a="http://schemas.openxmlformats.org/drawingml/2006/main">
            <a:r>
              <a:t>[Sources]</a:t>
            </a:r>
          </a:p>
          <a:p xmlns:a="http://schemas.openxmlformats.org/drawingml/2006/main">
            <a:r>
              <a:t>- Year 8 Catapult student theory draft v1.0, module-03, 24 Aug 2026.</a:t>
            </a:r>
          </a:p>
          <a:p xmlns:a="http://schemas.openxmlformats.org/drawingml/2006/main">
            <a:r>
              <a:t>- Catapult Booklet 2026.pdf, pp. 16 and 26–27; Woomeras with Jared Thomas, South Australian Museum; AIATSIS Western Desert Woomera; cultural-source brief; theory draft module-03.</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5c104f42af4b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b975ab28614d5a" /><Relationship Type="http://schemas.openxmlformats.org/officeDocument/2006/relationships/slideLayout" Target="/ppt/slideLayouts/slideLayout1.xml" Id="R7839b5668b2043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39b5668b2043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f2a7eb3ac0490b" /><Relationship Type="http://schemas.openxmlformats.org/officeDocument/2006/relationships/image" Target="/ppt/media/image.png" Id="Rded4ad829c824922" /><Relationship Type="http://schemas.openxmlformats.org/officeDocument/2006/relationships/notesSlide" Target="/ppt/notesSlides/notesSlide1.xml" Id="R518f686e98284d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dc380ce9ba40ee" /><Relationship Type="http://schemas.openxmlformats.org/officeDocument/2006/relationships/notesSlide" Target="/ppt/notesSlides/notesSlide2.xml" Id="R6de11042c55440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e342a1a45e457a" /><Relationship Type="http://schemas.openxmlformats.org/officeDocument/2006/relationships/notesSlide" Target="/ppt/notesSlides/notesSlide3.xml" Id="Rf9db075d9a254e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f4f6aeea1b47fb" /><Relationship Type="http://schemas.openxmlformats.org/officeDocument/2006/relationships/notesSlide" Target="/ppt/notesSlides/notesSlide4.xml" Id="Rd17cd48569ef47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defa18095f4b23" /><Relationship Type="http://schemas.openxmlformats.org/officeDocument/2006/relationships/notesSlide" Target="/ppt/notesSlides/notesSlide5.xml" Id="Ra11f793aef3b4e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5a1bc6e26f42fc" /><Relationship Type="http://schemas.openxmlformats.org/officeDocument/2006/relationships/notesSlide" Target="/ppt/notesSlides/notesSlide6.xml" Id="R1bb240263fb042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33f7f31a194ddb" /><Relationship Type="http://schemas.openxmlformats.org/officeDocument/2006/relationships/notesSlide" Target="/ppt/notesSlides/notesSlide7.xml" Id="R581d6b17bd9e44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04c32fb38e431b" /><Relationship Type="http://schemas.openxmlformats.org/officeDocument/2006/relationships/notesSlide" Target="/ppt/notesSlides/notesSlide8.xml" Id="R0d4e4c4d87d74610"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ed4ad829c824922"/>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1C57F49-FB7D-435A-A269-7ED1F4F35B1F}"/>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25BE783-6546-4FC6-BA6C-A879908F2438}"/>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03</a:t>
            </a:r>
          </a:p>
        </p:txBody>
      </p:sp>
      <p:sp>
        <p:nvSpPr>
          <p:cNvPr id="4" name="">
            <a:extLst xmlns:a="http://schemas.openxmlformats.org/drawingml/2006/main">
              <a:ext uri="{FF2B5EF4-FFF2-40B4-BE49-F238E27FC236}">
                <a16:creationId xmlns:a16="http://schemas.microsoft.com/office/drawing/2014/main" id="{0F37D72D-71BC-41F4-9F9E-F0F58B023419}"/>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Siege Engines, Levers and the Woomera</a:t>
            </a:r>
          </a:p>
        </p:txBody>
      </p:sp>
      <p:sp>
        <p:nvSpPr>
          <p:cNvPr id="5" name="">
            <a:extLst xmlns:a="http://schemas.openxmlformats.org/drawingml/2006/main">
              <a:ext uri="{FF2B5EF4-FFF2-40B4-BE49-F238E27FC236}">
                <a16:creationId xmlns:a16="http://schemas.microsoft.com/office/drawing/2014/main" id="{2E2533E6-BADE-48F0-8DB9-D0207651DC21}"/>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Compare systems through energy and lever relationships while keeping cultural context first.</a:t>
            </a:r>
          </a:p>
        </p:txBody>
      </p:sp>
      <p:sp>
        <p:nvSpPr>
          <p:cNvPr id="6" name="">
            <a:extLst xmlns:a="http://schemas.openxmlformats.org/drawingml/2006/main">
              <a:ext uri="{FF2B5EF4-FFF2-40B4-BE49-F238E27FC236}">
                <a16:creationId xmlns:a16="http://schemas.microsoft.com/office/drawing/2014/main" id="{14544554-FA68-4B77-9365-75B74180577F}"/>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602203299"/>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D1E7A77-EDC4-4632-83C4-F51E41D31BE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E7E959-AB8E-440C-BF07-F9734DF0D041}"/>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03  /  LEVERS AND CONTEXT</a:t>
            </a:r>
          </a:p>
        </p:txBody>
      </p:sp>
      <p:sp>
        <p:nvSpPr>
          <p:cNvPr id="3" name="">
            <a:extLst xmlns:a="http://schemas.openxmlformats.org/drawingml/2006/main">
              <a:ext uri="{FF2B5EF4-FFF2-40B4-BE49-F238E27FC236}">
                <a16:creationId xmlns:a16="http://schemas.microsoft.com/office/drawing/2014/main" id="{28FEC4B9-D8E1-4A00-9BB0-CF006F377490}"/>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1D66D126-32E2-4F24-A33D-108BA089A5B5}"/>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FC958334-FC97-4A1E-A313-C26955C6F027}"/>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03</a:t>
            </a:r>
          </a:p>
        </p:txBody>
      </p:sp>
      <p:sp>
        <p:nvSpPr>
          <p:cNvPr id="6" name="">
            <a:extLst xmlns:a="http://schemas.openxmlformats.org/drawingml/2006/main">
              <a:ext uri="{FF2B5EF4-FFF2-40B4-BE49-F238E27FC236}">
                <a16:creationId xmlns:a16="http://schemas.microsoft.com/office/drawing/2014/main" id="{AF48AC9E-CC7A-4E85-A9B6-50A062B491E7}"/>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E75C6CCC-5140-45B2-8BE5-E6E7E860F49F}"/>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How can similar broad purposes be achieved through different system relationships?</a:t>
            </a:r>
          </a:p>
        </p:txBody>
      </p:sp>
      <p:sp>
        <p:nvSpPr>
          <p:cNvPr id="8" name="">
            <a:extLst xmlns:a="http://schemas.openxmlformats.org/drawingml/2006/main">
              <a:ext uri="{FF2B5EF4-FFF2-40B4-BE49-F238E27FC236}">
                <a16:creationId xmlns:a16="http://schemas.microsoft.com/office/drawing/2014/main" id="{C3EA3EB1-ECE5-4FF1-8E68-FB25C9CC0DC8}"/>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EABF3F-8CF1-454E-8463-AA97695D255D}"/>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4086E5-AA03-46DC-A0D6-386E528A236A}"/>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05F4FE0-5F6F-421C-B146-0997EC2EE22A}"/>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D1D8EB1B-2E0D-4414-9E07-725739A4AC67}"/>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Energy stores differ</a:t>
            </a:r>
          </a:p>
        </p:txBody>
      </p:sp>
      <p:sp>
        <p:nvSpPr>
          <p:cNvPr id="13" name="">
            <a:extLst xmlns:a="http://schemas.openxmlformats.org/drawingml/2006/main">
              <a:ext uri="{FF2B5EF4-FFF2-40B4-BE49-F238E27FC236}">
                <a16:creationId xmlns:a16="http://schemas.microsoft.com/office/drawing/2014/main" id="{935118D4-9A2F-47D9-8002-57AA47D774D5}"/>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E6EB47-9270-466E-B337-3B04D90E24A7}"/>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E5340F9B-6A10-49B7-9843-434E0C73A831}"/>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Levers create trade-offs</a:t>
            </a:r>
          </a:p>
        </p:txBody>
      </p:sp>
      <p:sp>
        <p:nvSpPr>
          <p:cNvPr id="16" name="">
            <a:extLst xmlns:a="http://schemas.openxmlformats.org/drawingml/2006/main">
              <a:ext uri="{FF2B5EF4-FFF2-40B4-BE49-F238E27FC236}">
                <a16:creationId xmlns:a16="http://schemas.microsoft.com/office/drawing/2014/main" id="{F3D5D456-481C-47A8-AD9C-6034C896D23D}"/>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AC8CE46-D0E2-4984-8DDA-D9CB5A4E5395}"/>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7011DF62-1532-40BB-A6A9-E98C34900792}"/>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Cultural context comes first</a:t>
            </a:r>
          </a:p>
        </p:txBody>
      </p:sp>
      <p:sp>
        <p:nvSpPr>
          <p:cNvPr id="19" name="">
            <a:extLst xmlns:a="http://schemas.openxmlformats.org/drawingml/2006/main">
              <a:ext uri="{FF2B5EF4-FFF2-40B4-BE49-F238E27FC236}">
                <a16:creationId xmlns:a16="http://schemas.microsoft.com/office/drawing/2014/main" id="{5CC29B05-0CCF-4B5D-AA26-48C01A1D3CD0}"/>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25DD1E90-724C-4747-B137-47D60FEE97C5}"/>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D5BED84B-E76D-48E4-AC4F-806F8FE40CEF}"/>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What two questions reveal more than simply naming a historical system?</a:t>
            </a:r>
          </a:p>
        </p:txBody>
      </p:sp>
    </p:spTree>
    <p:extLst>
      <p:ext uri="{BB962C8B-B14F-4D97-AF65-F5344CB8AC3E}">
        <p14:creationId xmlns:p14="http://schemas.microsoft.com/office/powerpoint/2010/main" val="20015394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DCCD8A2-0285-481D-863F-C0249BB40E7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DB2BA6-91AE-46CD-BE01-54B3DE44F5CD}"/>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03  /  LEVERS AND CONTEXT</a:t>
            </a:r>
          </a:p>
        </p:txBody>
      </p:sp>
      <p:sp>
        <p:nvSpPr>
          <p:cNvPr id="3" name="">
            <a:extLst xmlns:a="http://schemas.openxmlformats.org/drawingml/2006/main">
              <a:ext uri="{FF2B5EF4-FFF2-40B4-BE49-F238E27FC236}">
                <a16:creationId xmlns:a16="http://schemas.microsoft.com/office/drawing/2014/main" id="{4E14845D-4BA9-46C3-8D71-6B465109F6D5}"/>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Similar outputs can begin with different energy stores</a:t>
            </a:r>
          </a:p>
        </p:txBody>
      </p:sp>
      <p:sp>
        <p:nvSpPr>
          <p:cNvPr id="4" name="">
            <a:extLst xmlns:a="http://schemas.openxmlformats.org/drawingml/2006/main">
              <a:ext uri="{FF2B5EF4-FFF2-40B4-BE49-F238E27FC236}">
                <a16:creationId xmlns:a16="http://schemas.microsoft.com/office/drawing/2014/main" id="{A8BFE956-C1D5-4D69-8381-A588905FC3C0}"/>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A892FBEA-A1F1-475D-8E6E-1275650293F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03</a:t>
            </a:r>
          </a:p>
        </p:txBody>
      </p:sp>
      <p:sp>
        <p:nvSpPr>
          <p:cNvPr id="6" name="">
            <a:extLst xmlns:a="http://schemas.openxmlformats.org/drawingml/2006/main">
              <a:ext uri="{FF2B5EF4-FFF2-40B4-BE49-F238E27FC236}">
                <a16:creationId xmlns:a16="http://schemas.microsoft.com/office/drawing/2014/main" id="{5F9BF101-A2F1-4CED-BCD8-EBCA1FEB22C2}"/>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3AB2184D-A115-42A9-ABC4-6C2DC9334872}"/>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Historical projectile systems did not all store and transfer energy in the same way. Comparing where energy is stored, which component moves, how the frame manages forces and what must be reset reveals distinct system relationships without ranking one design as universally superior.</a:t>
            </a:r>
          </a:p>
        </p:txBody>
      </p:sp>
      <p:sp>
        <p:nvSpPr>
          <p:cNvPr id="8" name="">
            <a:extLst xmlns:a="http://schemas.openxmlformats.org/drawingml/2006/main">
              <a:ext uri="{FF2B5EF4-FFF2-40B4-BE49-F238E27FC236}">
                <a16:creationId xmlns:a16="http://schemas.microsoft.com/office/drawing/2014/main" id="{35DA8094-1DEA-4B94-B8CF-B892B94EC34D}"/>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A8B91019-46FD-4DEB-BF94-149A16160502}"/>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Compare: identify the energy store and one component relationship in each of two systems.</a:t>
            </a:r>
          </a:p>
        </p:txBody>
      </p:sp>
      <p:sp>
        <p:nvSpPr>
          <p:cNvPr id="10" name="">
            <a:extLst xmlns:a="http://schemas.openxmlformats.org/drawingml/2006/main">
              <a:ext uri="{FF2B5EF4-FFF2-40B4-BE49-F238E27FC236}">
                <a16:creationId xmlns:a16="http://schemas.microsoft.com/office/drawing/2014/main" id="{9970B24C-C289-4CEA-9D32-96973BB70AE5}"/>
              </a:ext>
            </a:extLst>
          </p:cNvPr>
          <p:cNvSpPr>
            <a:spLocks xmlns:a="http://schemas.openxmlformats.org/drawingml/2006/main" noGrp="1"/>
          </p:cNvSpPr>
          <p:nvPr/>
        </p:nvSpPr>
        <p:spPr>
          <a:xfrm xmlns:a="http://schemas.openxmlformats.org/drawingml/2006/main">
            <a:off x="8572500" y="1752600"/>
            <a:ext cx="0" cy="2190750"/>
          </a:xfrm>
          <a:prstGeom xmlns:a="http://schemas.openxmlformats.org/drawingml/2006/main" prst="line">
            <a:avLst/>
          </a:prstGeom>
          <a:noFill xmlns:a="http://schemas.openxmlformats.org/drawingml/2006/main"/>
          <a:ln xmlns:a="http://schemas.openxmlformats.org/drawingml/2006/main" w="47625">
            <a:solidFill>
              <a:srgbClr val="F0B84B"/>
            </a:solidFill>
            <a:prstDash val="solid"/>
          </a:ln>
        </p:spPr>
      </p:sp>
      <p:sp>
        <p:nvSpPr>
          <p:cNvPr id="11" name="">
            <a:extLst xmlns:a="http://schemas.openxmlformats.org/drawingml/2006/main">
              <a:ext uri="{FF2B5EF4-FFF2-40B4-BE49-F238E27FC236}">
                <a16:creationId xmlns:a16="http://schemas.microsoft.com/office/drawing/2014/main" id="{02610E24-71DD-4D9F-8D78-7E586C345D26}"/>
              </a:ext>
            </a:extLst>
          </p:cNvPr>
          <p:cNvSpPr>
            <a:spLocks xmlns:a="http://schemas.openxmlformats.org/drawingml/2006/main" noGrp="1"/>
          </p:cNvSpPr>
          <p:nvPr/>
        </p:nvSpPr>
        <p:spPr>
          <a:xfrm xmlns:a="http://schemas.openxmlformats.org/drawingml/2006/main">
            <a:off x="6191250" y="1809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84F5E"/>
                </a:solidFill>
              </a:defRPr>
            </a:pPr>
            <a:r>
              <a:rPr sz="1800" b="1">
                <a:solidFill>
                  <a:srgbClr val="184F5E"/>
                </a:solidFill>
              </a:rPr>
              <a:t>TORSIONAL STORE</a:t>
            </a:r>
          </a:p>
        </p:txBody>
      </p:sp>
      <p:sp>
        <p:nvSpPr>
          <p:cNvPr id="12" name="">
            <a:extLst xmlns:a="http://schemas.openxmlformats.org/drawingml/2006/main">
              <a:ext uri="{FF2B5EF4-FFF2-40B4-BE49-F238E27FC236}">
                <a16:creationId xmlns:a16="http://schemas.microsoft.com/office/drawing/2014/main" id="{FDE35A6E-8516-4137-9960-53F73CAA4674}"/>
              </a:ext>
            </a:extLst>
          </p:cNvPr>
          <p:cNvSpPr>
            <a:spLocks xmlns:a="http://schemas.openxmlformats.org/drawingml/2006/main" noGrp="1"/>
          </p:cNvSpPr>
          <p:nvPr/>
        </p:nvSpPr>
        <p:spPr>
          <a:xfrm xmlns:a="http://schemas.openxmlformats.org/drawingml/2006/main">
            <a:off x="8858250" y="1809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A94424"/>
                </a:solidFill>
              </a:defRPr>
            </a:pPr>
            <a:r>
              <a:rPr sz="1800" b="1">
                <a:solidFill>
                  <a:srgbClr val="A94424"/>
                </a:solidFill>
              </a:rPr>
              <a:t>GRAVITATIONAL STORE</a:t>
            </a:r>
          </a:p>
        </p:txBody>
      </p:sp>
      <p:sp>
        <p:nvSpPr>
          <p:cNvPr id="13" name="">
            <a:extLst xmlns:a="http://schemas.openxmlformats.org/drawingml/2006/main">
              <a:ext uri="{FF2B5EF4-FFF2-40B4-BE49-F238E27FC236}">
                <a16:creationId xmlns:a16="http://schemas.microsoft.com/office/drawing/2014/main" id="{53C0E24E-0B0F-4C48-A0B1-3274F0B454F4}"/>
              </a:ext>
            </a:extLst>
          </p:cNvPr>
          <p:cNvSpPr>
            <a:spLocks xmlns:a="http://schemas.openxmlformats.org/drawingml/2006/main" noGrp="1"/>
          </p:cNvSpPr>
          <p:nvPr/>
        </p:nvSpPr>
        <p:spPr>
          <a:xfrm xmlns:a="http://schemas.openxmlformats.org/drawingml/2006/main">
            <a:off x="6381750" y="2486025"/>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a:solidFill>
                  <a:srgbClr val="17232B"/>
                </a:solidFill>
              </a:defRPr>
            </a:pPr>
            <a:r>
              <a:rPr sz="1575" b="0">
                <a:solidFill>
                  <a:srgbClr val="17232B"/>
                </a:solidFill>
              </a:rPr>
              <a:t>Twisted material stores energy</a:t>
            </a:r>
          </a:p>
        </p:txBody>
      </p:sp>
      <p:sp>
        <p:nvSpPr>
          <p:cNvPr id="14" name="">
            <a:extLst xmlns:a="http://schemas.openxmlformats.org/drawingml/2006/main">
              <a:ext uri="{FF2B5EF4-FFF2-40B4-BE49-F238E27FC236}">
                <a16:creationId xmlns:a16="http://schemas.microsoft.com/office/drawing/2014/main" id="{67A00F46-D38B-442A-9D87-885313B798AC}"/>
              </a:ext>
            </a:extLst>
          </p:cNvPr>
          <p:cNvSpPr>
            <a:spLocks xmlns:a="http://schemas.openxmlformats.org/drawingml/2006/main" noGrp="1"/>
          </p:cNvSpPr>
          <p:nvPr/>
        </p:nvSpPr>
        <p:spPr>
          <a:xfrm xmlns:a="http://schemas.openxmlformats.org/drawingml/2006/main">
            <a:off x="8953500" y="2486025"/>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a:solidFill>
                  <a:srgbClr val="17232B"/>
                </a:solidFill>
              </a:defRPr>
            </a:pPr>
            <a:r>
              <a:rPr sz="1575" b="0">
                <a:solidFill>
                  <a:srgbClr val="17232B"/>
                </a:solidFill>
              </a:rPr>
              <a:t>A raised mass stores energy</a:t>
            </a:r>
          </a:p>
        </p:txBody>
      </p:sp>
      <p:sp>
        <p:nvSpPr>
          <p:cNvPr id="15" name="">
            <a:extLst xmlns:a="http://schemas.openxmlformats.org/drawingml/2006/main">
              <a:ext uri="{FF2B5EF4-FFF2-40B4-BE49-F238E27FC236}">
                <a16:creationId xmlns:a16="http://schemas.microsoft.com/office/drawing/2014/main" id="{D5E1DB91-68AD-458A-827B-9D3F5B2AD4B2}"/>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Similar broad outputs can come from different internal systems.</a:t>
            </a:r>
          </a:p>
        </p:txBody>
      </p:sp>
    </p:spTree>
    <p:extLst>
      <p:ext uri="{BB962C8B-B14F-4D97-AF65-F5344CB8AC3E}">
        <p14:creationId xmlns:p14="http://schemas.microsoft.com/office/powerpoint/2010/main" val="6746544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145A5B-2F55-4F46-BA11-4D29D2A11DF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745F59-5B91-4454-A0EE-838395E39E5D}"/>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03  /  LEVERS AND CONTEXT</a:t>
            </a:r>
          </a:p>
        </p:txBody>
      </p:sp>
      <p:sp>
        <p:nvSpPr>
          <p:cNvPr id="3" name="">
            <a:extLst xmlns:a="http://schemas.openxmlformats.org/drawingml/2006/main">
              <a:ext uri="{FF2B5EF4-FFF2-40B4-BE49-F238E27FC236}">
                <a16:creationId xmlns:a16="http://schemas.microsoft.com/office/drawing/2014/main" id="{EA9626BE-721D-4502-A381-7C417935F521}"/>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A moment combines force and distance</a:t>
            </a:r>
          </a:p>
        </p:txBody>
      </p:sp>
      <p:sp>
        <p:nvSpPr>
          <p:cNvPr id="4" name="">
            <a:extLst xmlns:a="http://schemas.openxmlformats.org/drawingml/2006/main">
              <a:ext uri="{FF2B5EF4-FFF2-40B4-BE49-F238E27FC236}">
                <a16:creationId xmlns:a16="http://schemas.microsoft.com/office/drawing/2014/main" id="{6D4FF467-9823-409D-89D1-7D20B900407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ABB9C96D-C842-4726-BBE3-FCC3A875373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03</a:t>
            </a:r>
          </a:p>
        </p:txBody>
      </p:sp>
      <p:sp>
        <p:nvSpPr>
          <p:cNvPr id="6" name="">
            <a:extLst xmlns:a="http://schemas.openxmlformats.org/drawingml/2006/main">
              <a:ext uri="{FF2B5EF4-FFF2-40B4-BE49-F238E27FC236}">
                <a16:creationId xmlns:a16="http://schemas.microsoft.com/office/drawing/2014/main" id="{21BD1E90-EF6C-4840-A072-958E93FB74CE}"/>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395B2D9E-48A6-4DE1-9503-9FDFF866B412}"/>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lever turns around a pivot. Its moment—the turning effect—depends on the force and the perpendicular distance from the pivot. Changing arm lengths changes force-and-motion trade-offs; it does not create energy for free. The frame, pivot, stiffness and alignment remain part of the decision.</a:t>
            </a:r>
          </a:p>
        </p:txBody>
      </p:sp>
      <p:sp>
        <p:nvSpPr>
          <p:cNvPr id="8" name="">
            <a:extLst xmlns:a="http://schemas.openxmlformats.org/drawingml/2006/main">
              <a:ext uri="{FF2B5EF4-FFF2-40B4-BE49-F238E27FC236}">
                <a16:creationId xmlns:a16="http://schemas.microsoft.com/office/drawing/2014/main" id="{7BA9D48C-74F2-443A-8ED0-6A7AAE0AF49E}"/>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73F52624-F90E-43DA-AD07-3462FD418A59}"/>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Reason: if the distance from the pivot changes, what other system effects should be checked?</a:t>
            </a:r>
          </a:p>
        </p:txBody>
      </p:sp>
      <p:sp>
        <p:nvSpPr>
          <p:cNvPr id="10" name="">
            <a:extLst xmlns:a="http://schemas.openxmlformats.org/drawingml/2006/main">
              <a:ext uri="{FF2B5EF4-FFF2-40B4-BE49-F238E27FC236}">
                <a16:creationId xmlns:a16="http://schemas.microsoft.com/office/drawing/2014/main" id="{56561F61-8FB2-4D9E-BD38-31B6DB198CE8}"/>
              </a:ext>
            </a:extLst>
          </p:cNvPr>
          <p:cNvSpPr>
            <a:spLocks xmlns:a="http://schemas.openxmlformats.org/drawingml/2006/main" noGrp="1"/>
          </p:cNvSpPr>
          <p:nvPr/>
        </p:nvSpPr>
        <p:spPr>
          <a:xfrm xmlns:a="http://schemas.openxmlformats.org/drawingml/2006/main">
            <a:off x="685800" y="1819275"/>
            <a:ext cx="4762500" cy="1571625"/>
          </a:xfrm>
          <a:prstGeom xmlns:a="http://schemas.openxmlformats.org/drawingml/2006/main" prst="rect">
            <a:avLst/>
          </a:prstGeom>
          <a:solidFill xmlns:a="http://schemas.openxmlformats.org/drawingml/2006/main">
            <a:srgbClr val="0B354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00D5207-1AA6-44F9-BD60-B85D45FA85A5}"/>
              </a:ext>
            </a:extLst>
          </p:cNvPr>
          <p:cNvSpPr>
            <a:spLocks xmlns:a="http://schemas.openxmlformats.org/drawingml/2006/main" noGrp="1"/>
          </p:cNvSpPr>
          <p:nvPr/>
        </p:nvSpPr>
        <p:spPr>
          <a:xfrm xmlns:a="http://schemas.openxmlformats.org/drawingml/2006/main">
            <a:off x="1009650" y="2076450"/>
            <a:ext cx="4114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0B84B"/>
                </a:solidFill>
              </a:defRPr>
            </a:pPr>
            <a:r>
              <a:rPr sz="1650" b="1">
                <a:solidFill>
                  <a:srgbClr val="F0B84B"/>
                </a:solidFill>
              </a:rPr>
              <a:t>MOMENT</a:t>
            </a:r>
          </a:p>
        </p:txBody>
      </p:sp>
      <p:sp>
        <p:nvSpPr>
          <p:cNvPr id="12" name="">
            <a:extLst xmlns:a="http://schemas.openxmlformats.org/drawingml/2006/main">
              <a:ext uri="{FF2B5EF4-FFF2-40B4-BE49-F238E27FC236}">
                <a16:creationId xmlns:a16="http://schemas.microsoft.com/office/drawing/2014/main" id="{13CE730D-4BB2-415F-A691-A03751273FB2}"/>
              </a:ext>
            </a:extLst>
          </p:cNvPr>
          <p:cNvSpPr>
            <a:spLocks xmlns:a="http://schemas.openxmlformats.org/drawingml/2006/main" noGrp="1"/>
          </p:cNvSpPr>
          <p:nvPr/>
        </p:nvSpPr>
        <p:spPr>
          <a:xfrm xmlns:a="http://schemas.openxmlformats.org/drawingml/2006/main">
            <a:off x="1009650" y="2495550"/>
            <a:ext cx="4114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FORCE × PERPENDICULAR DISTANCE</a:t>
            </a:r>
          </a:p>
        </p:txBody>
      </p:sp>
      <p:sp>
        <p:nvSpPr>
          <p:cNvPr id="13" name="">
            <a:extLst xmlns:a="http://schemas.openxmlformats.org/drawingml/2006/main">
              <a:ext uri="{FF2B5EF4-FFF2-40B4-BE49-F238E27FC236}">
                <a16:creationId xmlns:a16="http://schemas.microsoft.com/office/drawing/2014/main" id="{E8D09808-F054-4EAF-BCE4-B22FA6FC4059}"/>
              </a:ext>
            </a:extLst>
          </p:cNvPr>
          <p:cNvSpPr>
            <a:spLocks xmlns:a="http://schemas.openxmlformats.org/drawingml/2006/main" noGrp="1"/>
          </p:cNvSpPr>
          <p:nvPr/>
        </p:nvSpPr>
        <p:spPr>
          <a:xfrm xmlns:a="http://schemas.openxmlformats.org/drawingml/2006/main">
            <a:off x="1009650" y="3505200"/>
            <a:ext cx="411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36D"/>
                </a:solidFill>
              </a:defRPr>
            </a:pPr>
            <a:r>
              <a:rPr sz="1350" b="0">
                <a:solidFill>
                  <a:srgbClr val="53636D"/>
                </a:solidFill>
              </a:rPr>
              <a:t>Turning effect   •   Both factors matter</a:t>
            </a:r>
          </a:p>
        </p:txBody>
      </p:sp>
      <p:sp>
        <p:nvSpPr>
          <p:cNvPr id="14" name="">
            <a:extLst xmlns:a="http://schemas.openxmlformats.org/drawingml/2006/main">
              <a:ext uri="{FF2B5EF4-FFF2-40B4-BE49-F238E27FC236}">
                <a16:creationId xmlns:a16="http://schemas.microsoft.com/office/drawing/2014/main" id="{544EDA8F-7484-4B2B-A356-5A4E05B43BC9}"/>
              </a:ext>
            </a:extLst>
          </p:cNvPr>
          <p:cNvSpPr>
            <a:spLocks xmlns:a="http://schemas.openxmlformats.org/drawingml/2006/main" noGrp="1"/>
          </p:cNvSpPr>
          <p:nvPr/>
        </p:nvSpPr>
        <p:spPr>
          <a:xfrm xmlns:a="http://schemas.openxmlformats.org/drawingml/2006/main">
            <a:off x="68580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Lever geometry changes a trade-off; it does not provide free energy.</a:t>
            </a:r>
          </a:p>
        </p:txBody>
      </p:sp>
    </p:spTree>
    <p:extLst>
      <p:ext uri="{BB962C8B-B14F-4D97-AF65-F5344CB8AC3E}">
        <p14:creationId xmlns:p14="http://schemas.microsoft.com/office/powerpoint/2010/main" val="12768824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99A58F-29DE-4AE1-A9BE-68A4B96256C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62030A-4631-4BBC-9385-180B670C0C35}"/>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03  /  LEVERS AND CONTEXT</a:t>
            </a:r>
          </a:p>
        </p:txBody>
      </p:sp>
      <p:sp>
        <p:nvSpPr>
          <p:cNvPr id="3" name="">
            <a:extLst xmlns:a="http://schemas.openxmlformats.org/drawingml/2006/main">
              <a:ext uri="{FF2B5EF4-FFF2-40B4-BE49-F238E27FC236}">
                <a16:creationId xmlns:a16="http://schemas.microsoft.com/office/drawing/2014/main" id="{FA1642FB-0B72-4294-AA68-79A0322CF060}"/>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Jared Thomas explains lever action in context</a:t>
            </a:r>
          </a:p>
        </p:txBody>
      </p:sp>
      <p:sp>
        <p:nvSpPr>
          <p:cNvPr id="4" name="">
            <a:extLst xmlns:a="http://schemas.openxmlformats.org/drawingml/2006/main">
              <a:ext uri="{FF2B5EF4-FFF2-40B4-BE49-F238E27FC236}">
                <a16:creationId xmlns:a16="http://schemas.microsoft.com/office/drawing/2014/main" id="{1A66CF6F-3918-4073-A584-4FBBDAB321CB}"/>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28319826-D76E-4C6C-BA2C-F52743281C3F}"/>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03</a:t>
            </a:r>
          </a:p>
        </p:txBody>
      </p:sp>
      <p:sp>
        <p:nvSpPr>
          <p:cNvPr id="6" name="">
            <a:extLst xmlns:a="http://schemas.openxmlformats.org/drawingml/2006/main">
              <a:ext uri="{FF2B5EF4-FFF2-40B4-BE49-F238E27FC236}">
                <a16:creationId xmlns:a16="http://schemas.microsoft.com/office/drawing/2014/main" id="{75EC1527-7AB0-47F9-B7D4-D1496E8C2BFB}"/>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35B65160-B411-49EE-8AC9-2C2189AC918D}"/>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Jared Thomas, a Nukunu person and South Australian Museum curator, publicly explains that an object commonly called a woomera or spear-thrower can extend the user’s arm. He also demonstrates several practical functions. Forms, names, uses and connected knowledge vary across Countries.</a:t>
            </a:r>
          </a:p>
        </p:txBody>
      </p:sp>
      <p:sp>
        <p:nvSpPr>
          <p:cNvPr id="8" name="">
            <a:extLst xmlns:a="http://schemas.openxmlformats.org/drawingml/2006/main">
              <a:ext uri="{FF2B5EF4-FFF2-40B4-BE49-F238E27FC236}">
                <a16:creationId xmlns:a16="http://schemas.microsoft.com/office/drawing/2014/main" id="{C9000A40-8AD6-4427-BF8B-81B0CD463C62}"/>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A21F4A3C-4C97-4647-A0F2-5A8B1808D3B0}"/>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Discussion: how does the lever explanation help without reducing the technology to one purpose or one universal account?</a:t>
            </a:r>
          </a:p>
        </p:txBody>
      </p:sp>
      <p:sp>
        <p:nvSpPr>
          <p:cNvPr id="10" name="">
            <a:extLst xmlns:a="http://schemas.openxmlformats.org/drawingml/2006/main">
              <a:ext uri="{FF2B5EF4-FFF2-40B4-BE49-F238E27FC236}">
                <a16:creationId xmlns:a16="http://schemas.microsoft.com/office/drawing/2014/main" id="{6206990E-A7C1-478F-9C95-DDFD58AC5DA2}"/>
              </a:ext>
            </a:extLst>
          </p:cNvPr>
          <p:cNvSpPr>
            <a:spLocks xmlns:a="http://schemas.openxmlformats.org/drawingml/2006/main" noGrp="1"/>
          </p:cNvSpPr>
          <p:nvPr/>
        </p:nvSpPr>
        <p:spPr>
          <a:xfrm xmlns:a="http://schemas.openxmlformats.org/drawingml/2006/main">
            <a:off x="7277100" y="3105150"/>
            <a:ext cx="2590800" cy="647700"/>
          </a:xfrm>
          <a:prstGeom xmlns:a="http://schemas.openxmlformats.org/drawingml/2006/main" prst="rect">
            <a:avLst/>
          </a:prstGeom>
          <a:solidFill xmlns:a="http://schemas.openxmlformats.org/drawingml/2006/main">
            <a:srgbClr val="E7EE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83A5538-A00B-47BA-AFED-ACEFE29C8BCF}"/>
              </a:ext>
            </a:extLst>
          </p:cNvPr>
          <p:cNvSpPr>
            <a:spLocks xmlns:a="http://schemas.openxmlformats.org/drawingml/2006/main" noGrp="1"/>
          </p:cNvSpPr>
          <p:nvPr/>
        </p:nvSpPr>
        <p:spPr>
          <a:xfrm xmlns:a="http://schemas.openxmlformats.org/drawingml/2006/main">
            <a:off x="7419975" y="32956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232B"/>
                </a:solidFill>
              </a:defRPr>
            </a:pPr>
            <a:r>
              <a:rPr sz="1500" b="1">
                <a:solidFill>
                  <a:srgbClr val="17232B"/>
                </a:solidFill>
              </a:rPr>
              <a:t>ONE LEVER OBSERVATION</a:t>
            </a:r>
          </a:p>
        </p:txBody>
      </p:sp>
      <p:sp>
        <p:nvSpPr>
          <p:cNvPr id="12" name="">
            <a:extLst xmlns:a="http://schemas.openxmlformats.org/drawingml/2006/main">
              <a:ext uri="{FF2B5EF4-FFF2-40B4-BE49-F238E27FC236}">
                <a16:creationId xmlns:a16="http://schemas.microsoft.com/office/drawing/2014/main" id="{45F27026-4C9E-443F-9E03-B13E60C60D40}"/>
              </a:ext>
            </a:extLst>
          </p:cNvPr>
          <p:cNvSpPr>
            <a:spLocks xmlns:a="http://schemas.openxmlformats.org/drawingml/2006/main" noGrp="1"/>
          </p:cNvSpPr>
          <p:nvPr/>
        </p:nvSpPr>
        <p:spPr>
          <a:xfrm xmlns:a="http://schemas.openxmlformats.org/drawingml/2006/main">
            <a:off x="6877050" y="2438400"/>
            <a:ext cx="3390900" cy="647700"/>
          </a:xfrm>
          <a:prstGeom xmlns:a="http://schemas.openxmlformats.org/drawingml/2006/main" prst="rect">
            <a:avLst/>
          </a:prstGeom>
          <a:solidFill xmlns:a="http://schemas.openxmlformats.org/drawingml/2006/main">
            <a:srgbClr val="184F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31C6DEB-AD9E-4FD3-B3EB-8973B68B905F}"/>
              </a:ext>
            </a:extLst>
          </p:cNvPr>
          <p:cNvSpPr>
            <a:spLocks xmlns:a="http://schemas.openxmlformats.org/drawingml/2006/main" noGrp="1"/>
          </p:cNvSpPr>
          <p:nvPr/>
        </p:nvSpPr>
        <p:spPr>
          <a:xfrm xmlns:a="http://schemas.openxmlformats.org/drawingml/2006/main">
            <a:off x="7019925" y="2628900"/>
            <a:ext cx="3105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PURPOSES + CONTEXT</a:t>
            </a:r>
          </a:p>
        </p:txBody>
      </p:sp>
      <p:sp>
        <p:nvSpPr>
          <p:cNvPr id="14" name="">
            <a:extLst xmlns:a="http://schemas.openxmlformats.org/drawingml/2006/main">
              <a:ext uri="{FF2B5EF4-FFF2-40B4-BE49-F238E27FC236}">
                <a16:creationId xmlns:a16="http://schemas.microsoft.com/office/drawing/2014/main" id="{9B802D18-5E5A-4190-A4CD-69CA4C61C4A4}"/>
              </a:ext>
            </a:extLst>
          </p:cNvPr>
          <p:cNvSpPr>
            <a:spLocks xmlns:a="http://schemas.openxmlformats.org/drawingml/2006/main" noGrp="1"/>
          </p:cNvSpPr>
          <p:nvPr/>
        </p:nvSpPr>
        <p:spPr>
          <a:xfrm xmlns:a="http://schemas.openxmlformats.org/drawingml/2006/main">
            <a:off x="6477000" y="1771650"/>
            <a:ext cx="4191000" cy="647700"/>
          </a:xfrm>
          <a:prstGeom xmlns:a="http://schemas.openxmlformats.org/drawingml/2006/main" prst="rect">
            <a:avLst/>
          </a:prstGeom>
          <a:solidFill xmlns:a="http://schemas.openxmlformats.org/drawingml/2006/main">
            <a:srgbClr val="0B354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61E0036-A4E6-4112-9D5A-702E19AE8E15}"/>
              </a:ext>
            </a:extLst>
          </p:cNvPr>
          <p:cNvSpPr>
            <a:spLocks xmlns:a="http://schemas.openxmlformats.org/drawingml/2006/main" noGrp="1"/>
          </p:cNvSpPr>
          <p:nvPr/>
        </p:nvSpPr>
        <p:spPr>
          <a:xfrm xmlns:a="http://schemas.openxmlformats.org/drawingml/2006/main">
            <a:off x="6619875" y="19621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JARED THOMAS — NUKUNU</a:t>
            </a:r>
          </a:p>
        </p:txBody>
      </p:sp>
      <p:sp>
        <p:nvSpPr>
          <p:cNvPr id="16" name="">
            <a:extLst xmlns:a="http://schemas.openxmlformats.org/drawingml/2006/main">
              <a:ext uri="{FF2B5EF4-FFF2-40B4-BE49-F238E27FC236}">
                <a16:creationId xmlns:a16="http://schemas.microsoft.com/office/drawing/2014/main" id="{C036E549-8F2C-4395-8C1D-66D0F84B4024}"/>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Source and context lead. This neutral schematic is not an object reconstruction.</a:t>
            </a:r>
          </a:p>
        </p:txBody>
      </p:sp>
    </p:spTree>
    <p:extLst>
      <p:ext uri="{BB962C8B-B14F-4D97-AF65-F5344CB8AC3E}">
        <p14:creationId xmlns:p14="http://schemas.microsoft.com/office/powerpoint/2010/main" val="379295973"/>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EB90FF1-9EF4-4113-A43A-4911AF7BD6E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C7CFA3-3138-46A4-B809-0D63A4734FB1}"/>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03  /  LEVERS AND CONTEXT</a:t>
            </a:r>
          </a:p>
        </p:txBody>
      </p:sp>
      <p:sp>
        <p:nvSpPr>
          <p:cNvPr id="3" name="">
            <a:extLst xmlns:a="http://schemas.openxmlformats.org/drawingml/2006/main">
              <a:ext uri="{FF2B5EF4-FFF2-40B4-BE49-F238E27FC236}">
                <a16:creationId xmlns:a16="http://schemas.microsoft.com/office/drawing/2014/main" id="{D23C77E9-AC9A-4409-9D18-00168C05F32F}"/>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D18E6F44-56BF-4329-9038-45770EE084C8}"/>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7121B9D4-06A9-4B21-AED0-1577BA1897FB}"/>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03</a:t>
            </a:r>
          </a:p>
        </p:txBody>
      </p:sp>
      <p:sp>
        <p:nvSpPr>
          <p:cNvPr id="6" name="">
            <a:extLst xmlns:a="http://schemas.openxmlformats.org/drawingml/2006/main">
              <a:ext uri="{FF2B5EF4-FFF2-40B4-BE49-F238E27FC236}">
                <a16:creationId xmlns:a16="http://schemas.microsoft.com/office/drawing/2014/main" id="{FB89FAF9-0879-4BF5-8801-A1020D44D1AC}"/>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7C75B235-7491-4D4E-AB75-2DB406912835}"/>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6E1C46F8-7E1F-4FF6-8968-BC99E6191834}"/>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73200620-01C2-48A8-BD69-3A3D8FB99A67}"/>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should systems be compared through energy stores and relationships?</a:t>
            </a:r>
          </a:p>
        </p:txBody>
      </p:sp>
      <p:sp>
        <p:nvSpPr>
          <p:cNvPr id="10" name="">
            <a:extLst xmlns:a="http://schemas.openxmlformats.org/drawingml/2006/main">
              <a:ext uri="{FF2B5EF4-FFF2-40B4-BE49-F238E27FC236}">
                <a16:creationId xmlns:a16="http://schemas.microsoft.com/office/drawing/2014/main" id="{E4BF6888-B920-4FB7-916C-D9B2E6DF4AD2}"/>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2A92ACAC-AFA3-4FFC-AA99-F0BC343DF2D6}"/>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A4099F10-8F3E-4FC2-8E1E-8339476211C2}"/>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two factors determine a lever moment?</a:t>
            </a:r>
          </a:p>
        </p:txBody>
      </p:sp>
      <p:sp>
        <p:nvSpPr>
          <p:cNvPr id="13" name="">
            <a:extLst xmlns:a="http://schemas.openxmlformats.org/drawingml/2006/main">
              <a:ext uri="{FF2B5EF4-FFF2-40B4-BE49-F238E27FC236}">
                <a16:creationId xmlns:a16="http://schemas.microsoft.com/office/drawing/2014/main" id="{4EBA2E48-EC3E-4C02-86B3-1887C11FE604}"/>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9F8B726C-FE3A-477B-990E-3F93B90CCE55}"/>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BFCA3BD0-B06B-4ACB-9AAA-192F9DDDE9E3}"/>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does a longer arm not create free energy?</a:t>
            </a:r>
          </a:p>
        </p:txBody>
      </p:sp>
      <p:sp>
        <p:nvSpPr>
          <p:cNvPr id="16" name="">
            <a:extLst xmlns:a="http://schemas.openxmlformats.org/drawingml/2006/main">
              <a:ext uri="{FF2B5EF4-FFF2-40B4-BE49-F238E27FC236}">
                <a16:creationId xmlns:a16="http://schemas.microsoft.com/office/drawing/2014/main" id="{C3622604-05EC-4BD8-94E3-E4FA30CAC068}"/>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917A521E-676F-47AC-91F2-979A2FED1524}"/>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3A36C9CE-6714-4157-A5AB-2DEE65FE1B29}"/>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must come before any mechanical comparison involving a woomera?</a:t>
            </a:r>
          </a:p>
        </p:txBody>
      </p:sp>
    </p:spTree>
    <p:extLst>
      <p:ext uri="{BB962C8B-B14F-4D97-AF65-F5344CB8AC3E}">
        <p14:creationId xmlns:p14="http://schemas.microsoft.com/office/powerpoint/2010/main" val="1380449552"/>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719DCA7-AFBC-48AF-B36B-2CEBF006BA7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C6FB95-4FD3-46FE-9AE9-464969EB840B}"/>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03  /  LEVERS AND CONTEXT</a:t>
            </a:r>
          </a:p>
        </p:txBody>
      </p:sp>
      <p:sp>
        <p:nvSpPr>
          <p:cNvPr id="3" name="">
            <a:extLst xmlns:a="http://schemas.openxmlformats.org/drawingml/2006/main">
              <a:ext uri="{FF2B5EF4-FFF2-40B4-BE49-F238E27FC236}">
                <a16:creationId xmlns:a16="http://schemas.microsoft.com/office/drawing/2014/main" id="{587BD825-E20D-4387-AC45-EA8A92093F44}"/>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0C1FF425-196F-4149-84EA-5B793B01E992}"/>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AE120203-1DE0-40E1-A53B-CA1215727642}"/>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03</a:t>
            </a:r>
          </a:p>
        </p:txBody>
      </p:sp>
      <p:sp>
        <p:nvSpPr>
          <p:cNvPr id="6" name="">
            <a:extLst xmlns:a="http://schemas.openxmlformats.org/drawingml/2006/main">
              <a:ext uri="{FF2B5EF4-FFF2-40B4-BE49-F238E27FC236}">
                <a16:creationId xmlns:a16="http://schemas.microsoft.com/office/drawing/2014/main" id="{A4A35394-0CFB-4752-9A72-07A60567ED97}"/>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1A58943F-4D18-4497-82B6-4311C43F8007}"/>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D5C9FD5F-623B-4125-9CB9-6C5F2D31BBE3}"/>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Compare two historical systems with different energy stores. Explain their force, motion and reset trade-offs without ranking one culture or design as superior.</a:t>
            </a:r>
          </a:p>
        </p:txBody>
      </p:sp>
      <p:sp>
        <p:nvSpPr>
          <p:cNvPr id="9" name="">
            <a:extLst xmlns:a="http://schemas.openxmlformats.org/drawingml/2006/main">
              <a:ext uri="{FF2B5EF4-FFF2-40B4-BE49-F238E27FC236}">
                <a16:creationId xmlns:a16="http://schemas.microsoft.com/office/drawing/2014/main" id="{55F0CC55-71E4-4A1F-B6C2-0C58F92541D6}"/>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257A69-0AF1-4B66-8D75-2AA06EFA0A92}"/>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FC72EF5-C362-4C1E-BC5A-CB9E088A2A3B}"/>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3D3C3B-8A4F-4F2A-BFF3-8C21D295D04E}"/>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4052BCF6-DB2E-4823-9D61-197D972E2F25}"/>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BD1A7DCF-C637-4F9E-A0CE-1E7BF027BC5D}"/>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34C160BF-F114-40A0-AC7F-E78B7154F19B}"/>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0F6F10AA-54B6-4C70-BDEF-7CF60E27BAAE}"/>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2DAB58C8-9AA2-4EDF-B4A0-4D8A06EC9000}"/>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EF3F12A7-6576-4744-8B10-8BEECE174851}"/>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System A stores energy in … while System B … This changes … The trade-off is … Neither can be ranked without …</a:t>
            </a:r>
          </a:p>
        </p:txBody>
      </p:sp>
    </p:spTree>
    <p:extLst>
      <p:ext uri="{BB962C8B-B14F-4D97-AF65-F5344CB8AC3E}">
        <p14:creationId xmlns:p14="http://schemas.microsoft.com/office/powerpoint/2010/main" val="1287262480"/>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597ECB8-97FB-4C77-B224-B3BF8F38BFF5}"/>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3AB9222A-510D-45B2-8B12-2D8DCF47D9E9}"/>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BBA6C3DA-6073-4BD5-91D6-E39EFAEA1CD7}"/>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0328DD-710A-473F-A4E8-B8DECFD0DCDD}"/>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system comparison I can justify …</a:t>
            </a:r>
          </a:p>
        </p:txBody>
      </p:sp>
      <p:sp>
        <p:nvSpPr>
          <p:cNvPr id="5" name="">
            <a:extLst xmlns:a="http://schemas.openxmlformats.org/drawingml/2006/main">
              <a:ext uri="{FF2B5EF4-FFF2-40B4-BE49-F238E27FC236}">
                <a16:creationId xmlns:a16="http://schemas.microsoft.com/office/drawing/2014/main" id="{0CEF9B21-A7CD-4613-AF9B-62C6FADC7882}"/>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2CF2BB-20D6-4D0E-A6A8-83C7E0A52593}"/>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lever trade-off I can explain …</a:t>
            </a:r>
          </a:p>
        </p:txBody>
      </p:sp>
      <p:sp>
        <p:nvSpPr>
          <p:cNvPr id="7" name="">
            <a:extLst xmlns:a="http://schemas.openxmlformats.org/drawingml/2006/main">
              <a:ext uri="{FF2B5EF4-FFF2-40B4-BE49-F238E27FC236}">
                <a16:creationId xmlns:a16="http://schemas.microsoft.com/office/drawing/2014/main" id="{9F3AF2A1-3CFC-488D-A0A1-BA962A4CFFA6}"/>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C5B3D2-D2DC-489E-99C9-545153EA213A}"/>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phrase that keeps cultural context first …</a:t>
            </a:r>
          </a:p>
        </p:txBody>
      </p:sp>
      <p:sp>
        <p:nvSpPr>
          <p:cNvPr id="9" name="">
            <a:extLst xmlns:a="http://schemas.openxmlformats.org/drawingml/2006/main">
              <a:ext uri="{FF2B5EF4-FFF2-40B4-BE49-F238E27FC236}">
                <a16:creationId xmlns:a16="http://schemas.microsoft.com/office/drawing/2014/main" id="{B24A5966-7EDD-4634-8A90-217C965C677F}"/>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EF2A05-E113-46DD-B4E9-FCA8C9FE174A}"/>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2C6C3A95-3E5F-4C3D-B4FB-204075C88A84}"/>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79FF11A1-D998-471A-97FF-DCF3540AB76D}"/>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follow energy transfers, apply Newton’s laws and plan fair prototype evidence.</a:t>
            </a:r>
          </a:p>
        </p:txBody>
      </p:sp>
      <p:sp>
        <p:nvSpPr>
          <p:cNvPr id="13" name="">
            <a:extLst xmlns:a="http://schemas.openxmlformats.org/drawingml/2006/main">
              <a:ext uri="{FF2B5EF4-FFF2-40B4-BE49-F238E27FC236}">
                <a16:creationId xmlns:a16="http://schemas.microsoft.com/office/drawing/2014/main" id="{0DEBA103-CA1C-4AF7-8DC3-F823C7BA60BF}"/>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0711E889-3497-41A7-8AD2-1DA7C6DD1412}"/>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03</a:t>
            </a:r>
          </a:p>
        </p:txBody>
      </p:sp>
      <p:sp>
        <p:nvSpPr>
          <p:cNvPr id="15" name="">
            <a:extLst xmlns:a="http://schemas.openxmlformats.org/drawingml/2006/main">
              <a:ext uri="{FF2B5EF4-FFF2-40B4-BE49-F238E27FC236}">
                <a16:creationId xmlns:a16="http://schemas.microsoft.com/office/drawing/2014/main" id="{0287F3FD-B42C-4E83-836F-63E37C72030F}"/>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784296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2026-08-24T03:19:36.5550000Z</dcterms:created>
  <dcterms:modified xsi:type="dcterms:W3CDTF">2026-08-24T03:19:36.5550000Z</dcterms:modified>
</coreProperties>
</file>