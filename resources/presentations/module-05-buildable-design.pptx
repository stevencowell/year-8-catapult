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509d36aa7ee4c2a" /><Relationship Type="http://schemas.openxmlformats.org/officeDocument/2006/relationships/extended-properties" Target="/docProps/app.xml" Id="R7c3e109dd0024ec3" /><Relationship Type="http://schemas.openxmlformats.org/officeDocument/2006/relationships/officeDocument" Target="/ppt/presentation.xml" Id="Rd89330a98e0a4a91" /></Relationships>
</file>

<file path=ppt/presentation.xml><?xml version="1.0" encoding="utf-8"?>
<p:presentation xmlns:p="http://schemas.openxmlformats.org/presentationml/2006/main">
  <p:sldMasterIdLst>
    <p:sldMasterId xmlns:r="http://schemas.openxmlformats.org/officeDocument/2006/relationships" id="2147483648" r:id="R5eaa9dd38d7143a1"/>
  </p:sldMasterIdLst>
  <p:notesMasterIdLst>
    <p:notesMasterId xmlns:r="http://schemas.openxmlformats.org/officeDocument/2006/relationships" r:id="Rff3a595dcf8a46cf"/>
  </p:notesMasterIdLst>
  <p:sldIdLst>
    <p:sldId xmlns:r="http://schemas.openxmlformats.org/officeDocument/2006/relationships" id="256" r:id="R888da579b2f04a82"/>
    <p:sldId xmlns:r="http://schemas.openxmlformats.org/officeDocument/2006/relationships" id="257" r:id="Rdc53264430ca4e87"/>
    <p:sldId xmlns:r="http://schemas.openxmlformats.org/officeDocument/2006/relationships" id="258" r:id="R060d362b9c9e4880"/>
    <p:sldId xmlns:r="http://schemas.openxmlformats.org/officeDocument/2006/relationships" id="259" r:id="R59c8466008c64112"/>
    <p:sldId xmlns:r="http://schemas.openxmlformats.org/officeDocument/2006/relationships" id="260" r:id="Rd48b252fceff4c3d"/>
    <p:sldId xmlns:r="http://schemas.openxmlformats.org/officeDocument/2006/relationships" id="261" r:id="R466889ab82394aea"/>
    <p:sldId xmlns:r="http://schemas.openxmlformats.org/officeDocument/2006/relationships" id="262" r:id="Rd1684889d3424e06"/>
    <p:sldId xmlns:r="http://schemas.openxmlformats.org/officeDocument/2006/relationships" id="263" r:id="Raaf5411e534747c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5ea0eec30d44cf2" /><Relationship Type="http://schemas.openxmlformats.org/officeDocument/2006/relationships/slideMaster" Target="/ppt/slideMasters/slideMaster1.xml" Id="R5eaa9dd38d7143a1" /><Relationship Type="http://schemas.openxmlformats.org/officeDocument/2006/relationships/notesMaster" Target="/ppt/notesMasters/notesMaster1.xml" Id="Rff3a595dcf8a46cf" /><Relationship Type="http://schemas.openxmlformats.org/officeDocument/2006/relationships/presProps" Target="/ppt/presProps.xml" Id="Ra27831d444a34a41" /><Relationship Type="http://schemas.openxmlformats.org/officeDocument/2006/relationships/tableStyles" Target="/ppt/tableStyles.xml" Id="R3f7f5a3b44934e4d" /><Relationship Type="http://schemas.openxmlformats.org/officeDocument/2006/relationships/slide" Target="/ppt/slides/slide1.xml" Id="R888da579b2f04a82" /><Relationship Type="http://schemas.openxmlformats.org/officeDocument/2006/relationships/slide" Target="/ppt/slides/slide2.xml" Id="Rdc53264430ca4e87" /><Relationship Type="http://schemas.openxmlformats.org/officeDocument/2006/relationships/slide" Target="/ppt/slides/slide3.xml" Id="R060d362b9c9e4880" /><Relationship Type="http://schemas.openxmlformats.org/officeDocument/2006/relationships/slide" Target="/ppt/slides/slide4.xml" Id="R59c8466008c64112" /><Relationship Type="http://schemas.openxmlformats.org/officeDocument/2006/relationships/slide" Target="/ppt/slides/slide5.xml" Id="Rd48b252fceff4c3d" /><Relationship Type="http://schemas.openxmlformats.org/officeDocument/2006/relationships/slide" Target="/ppt/slides/slide6.xml" Id="R466889ab82394aea" /><Relationship Type="http://schemas.openxmlformats.org/officeDocument/2006/relationships/slide" Target="/ppt/slides/slide7.xml" Id="Rd1684889d3424e06" /><Relationship Type="http://schemas.openxmlformats.org/officeDocument/2006/relationships/slide" Target="/ppt/slides/slide8.xml" Id="Raaf5411e534747c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86e396965f64de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1b186d2cfdf46c4" /><Relationship Type="http://schemas.openxmlformats.org/officeDocument/2006/relationships/notesMaster" Target="/ppt/notesMasters/notesMaster1.xml" Id="Rcf65724b2a564878" /></Relationships>
</file>

<file path=ppt/notesSlides/_rels/notesSlide2.xml.rels>&#65279;<?xml version="1.0" encoding="utf-8"?><Relationships xmlns="http://schemas.openxmlformats.org/package/2006/relationships"><Relationship Type="http://schemas.openxmlformats.org/officeDocument/2006/relationships/slide" Target="/ppt/slides/slide2.xml" Id="R7838ad624d8a434c" /><Relationship Type="http://schemas.openxmlformats.org/officeDocument/2006/relationships/notesMaster" Target="/ppt/notesMasters/notesMaster1.xml" Id="R988d5dd5e33f4e00" /></Relationships>
</file>

<file path=ppt/notesSlides/_rels/notesSlide3.xml.rels>&#65279;<?xml version="1.0" encoding="utf-8"?><Relationships xmlns="http://schemas.openxmlformats.org/package/2006/relationships"><Relationship Type="http://schemas.openxmlformats.org/officeDocument/2006/relationships/slide" Target="/ppt/slides/slide3.xml" Id="R2cdc3213edfa47a5" /><Relationship Type="http://schemas.openxmlformats.org/officeDocument/2006/relationships/notesMaster" Target="/ppt/notesMasters/notesMaster1.xml" Id="R2a92e8104ada424b" /></Relationships>
</file>

<file path=ppt/notesSlides/_rels/notesSlide4.xml.rels>&#65279;<?xml version="1.0" encoding="utf-8"?><Relationships xmlns="http://schemas.openxmlformats.org/package/2006/relationships"><Relationship Type="http://schemas.openxmlformats.org/officeDocument/2006/relationships/slide" Target="/ppt/slides/slide4.xml" Id="R74d274fc8c8e4616" /><Relationship Type="http://schemas.openxmlformats.org/officeDocument/2006/relationships/notesMaster" Target="/ppt/notesMasters/notesMaster1.xml" Id="R631b95fae07e40a1" /></Relationships>
</file>

<file path=ppt/notesSlides/_rels/notesSlide5.xml.rels>&#65279;<?xml version="1.0" encoding="utf-8"?><Relationships xmlns="http://schemas.openxmlformats.org/package/2006/relationships"><Relationship Type="http://schemas.openxmlformats.org/officeDocument/2006/relationships/slide" Target="/ppt/slides/slide5.xml" Id="R530fd1233bd241a1" /><Relationship Type="http://schemas.openxmlformats.org/officeDocument/2006/relationships/notesMaster" Target="/ppt/notesMasters/notesMaster1.xml" Id="Ree5e8e180dd64b7d" /></Relationships>
</file>

<file path=ppt/notesSlides/_rels/notesSlide6.xml.rels>&#65279;<?xml version="1.0" encoding="utf-8"?><Relationships xmlns="http://schemas.openxmlformats.org/package/2006/relationships"><Relationship Type="http://schemas.openxmlformats.org/officeDocument/2006/relationships/slide" Target="/ppt/slides/slide6.xml" Id="R616b743aebbc4488" /><Relationship Type="http://schemas.openxmlformats.org/officeDocument/2006/relationships/notesMaster" Target="/ppt/notesMasters/notesMaster1.xml" Id="Ra750bdc7587f4dba" /></Relationships>
</file>

<file path=ppt/notesSlides/_rels/notesSlide7.xml.rels>&#65279;<?xml version="1.0" encoding="utf-8"?><Relationships xmlns="http://schemas.openxmlformats.org/package/2006/relationships"><Relationship Type="http://schemas.openxmlformats.org/officeDocument/2006/relationships/slide" Target="/ppt/slides/slide7.xml" Id="R1f6209cacfb2413d" /><Relationship Type="http://schemas.openxmlformats.org/officeDocument/2006/relationships/notesMaster" Target="/ppt/notesMasters/notesMaster1.xml" Id="R8d5c42116a20499a" /></Relationships>
</file>

<file path=ppt/notesSlides/_rels/notesSlide8.xml.rels>&#65279;<?xml version="1.0" encoding="utf-8"?><Relationships xmlns="http://schemas.openxmlformats.org/package/2006/relationships"><Relationship Type="http://schemas.openxmlformats.org/officeDocument/2006/relationships/slide" Target="/ppt/slides/slide8.xml" Id="Rc594c8c714f449d3" /><Relationship Type="http://schemas.openxmlformats.org/officeDocument/2006/relationships/notesMaster" Target="/ppt/notesMasters/notesMaster1.xml" Id="R79fd4fc6857d4a7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points</a:t>
            </a:r>
          </a:p>
          <a:p xmlns:a="http://schemas.openxmlformats.org/drawingml/2006/main">
            <a:r>
              <a:t>- State the learning purpose in one sentence.</a:t>
            </a:r>
          </a:p>
          <a:p xmlns:a="http://schemas.openxmlformats.org/drawingml/2006/main">
            <a:r>
              <a:t>- Use the image only as a conceptual project cue; it is not a plan or model specification.</a:t>
            </a:r>
          </a:p>
          <a:p xmlns:a="http://schemas.openxmlformats.org/drawingml/2006/main">
            <a:r>
              <a:t/>
            </a:r>
          </a:p>
          <a:p xmlns:a="http://schemas.openxmlformats.org/drawingml/2006/main">
            <a:r>
              <a:t>Prompt</a:t>
            </a:r>
          </a:p>
          <a:p xmlns:a="http://schemas.openxmlformats.org/drawingml/2006/main">
            <a:r>
              <a:t>- What relationship or evidence do you expect to matter in this module?</a:t>
            </a:r>
          </a:p>
          <a:p xmlns:a="http://schemas.openxmlformats.org/drawingml/2006/main">
            <a:r>
              <a:t/>
            </a:r>
          </a:p>
          <a:p xmlns:a="http://schemas.openxmlformats.org/drawingml/2006/main">
            <a:r>
              <a:t>Likely misconception</a:t>
            </a:r>
          </a:p>
          <a:p xmlns:a="http://schemas.openxmlformats.org/drawingml/2006/main">
            <a:r>
              <a:t>- A realistic image must show the exact project design.</a:t>
            </a:r>
          </a:p>
          <a:p xmlns:a="http://schemas.openxmlformats.org/drawingml/2006/main">
            <a:r>
              <a:t/>
            </a:r>
          </a:p>
          <a:p xmlns:a="http://schemas.openxmlformats.org/drawingml/2006/main">
            <a:r>
              <a:t>Transition</a:t>
            </a:r>
          </a:p>
          <a:p xmlns:a="http://schemas.openxmlformats.org/drawingml/2006/main">
            <a:r>
              <a:t>- Move from the project cue to the three ideas students will learn.</a:t>
            </a:r>
          </a:p>
          <a:p xmlns:a="http://schemas.openxmlformats.org/drawingml/2006/main">
            <a:r>
              <a:t/>
            </a:r>
          </a:p>
          <a:p xmlns:a="http://schemas.openxmlformats.org/drawingml/2006/main">
            <a:r>
              <a:t>[Sources]</a:t>
            </a:r>
          </a:p>
          <a:p xmlns:a="http://schemas.openxmlformats.org/drawingml/2006/main">
            <a:r>
              <a:t>- Year 8 Catapult student theory draft v1.0, module-05, 24 Aug 2026.</a:t>
            </a:r>
          </a:p>
          <a:p xmlns:a="http://schemas.openxmlformats.org/drawingml/2006/main">
            <a:r>
              <a:t>- Catapult Booklet 2026.pdf, pp. 8–13; theory draft module-05.</a:t>
            </a:r>
          </a:p>
          <a:p xmlns:a="http://schemas.openxmlformats.org/drawingml/2006/main">
            <a:r>
              <a:t>- OpenAI image generation for this course, 24 Aug 2026, conceptual only; file: catapult-design-drawing-concept.png.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points</a:t>
            </a:r>
          </a:p>
          <a:p xmlns:a="http://schemas.openxmlformats.org/drawingml/2006/main">
            <a:r>
              <a:t>- Frame the module as a cumulative learning sequence.</a:t>
            </a:r>
          </a:p>
          <a:p xmlns:a="http://schemas.openxmlformats.org/drawingml/2006/main">
            <a:r>
              <a:t>- Invite a brief retrieval response before introducing new content.</a:t>
            </a:r>
          </a:p>
          <a:p xmlns:a="http://schemas.openxmlformats.org/drawingml/2006/main">
            <a:r>
              <a:t/>
            </a:r>
          </a:p>
          <a:p xmlns:a="http://schemas.openxmlformats.org/drawingml/2006/main">
            <a:r>
              <a:t>Prompt</a:t>
            </a:r>
          </a:p>
          <a:p xmlns:a="http://schemas.openxmlformats.org/drawingml/2006/main">
            <a:r>
              <a:t>- Why is a neat sketch not yet complete production information?</a:t>
            </a:r>
          </a:p>
          <a:p xmlns:a="http://schemas.openxmlformats.org/drawingml/2006/main">
            <a:r>
              <a:t/>
            </a:r>
          </a:p>
          <a:p xmlns:a="http://schemas.openxmlformats.org/drawingml/2006/main">
            <a:r>
              <a:t>Likely misconception</a:t>
            </a:r>
          </a:p>
          <a:p xmlns:a="http://schemas.openxmlformats.org/drawingml/2006/main">
            <a:r>
              <a:t>- The three ideas are separate facts rather than parts of one explanation.</a:t>
            </a:r>
          </a:p>
          <a:p xmlns:a="http://schemas.openxmlformats.org/drawingml/2006/main">
            <a:r>
              <a:t/>
            </a:r>
          </a:p>
          <a:p xmlns:a="http://schemas.openxmlformats.org/drawingml/2006/main">
            <a:r>
              <a:t>Transition</a:t>
            </a:r>
          </a:p>
          <a:p xmlns:a="http://schemas.openxmlformats.org/drawingml/2006/main">
            <a:r>
              <a:t>- Tell students that each theory slide will supply evidence for the final response.</a:t>
            </a:r>
          </a:p>
          <a:p xmlns:a="http://schemas.openxmlformats.org/drawingml/2006/main">
            <a:r>
              <a:t/>
            </a:r>
          </a:p>
          <a:p xmlns:a="http://schemas.openxmlformats.org/drawingml/2006/main">
            <a:r>
              <a:t>[Sources]</a:t>
            </a:r>
          </a:p>
          <a:p xmlns:a="http://schemas.openxmlformats.org/drawingml/2006/main">
            <a:r>
              <a:t>- Year 8 Catapult student theory draft v1.0, module-05, 24 Aug 2026.</a:t>
            </a:r>
          </a:p>
          <a:p xmlns:a="http://schemas.openxmlformats.org/drawingml/2006/main">
            <a:r>
              <a:t>- Catapult Booklet 2026.pdf, pp. 8–13; theory draft module-05.</a:t>
            </a:r>
          </a:p>
          <a:p xmlns:a="http://schemas.openxmlformats.org/drawingml/2006/main">
            <a:r>
              <a:t>- Native pathway diagram authored for this deck from the approved module sequence.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points</a:t>
            </a:r>
          </a:p>
          <a:p xmlns:a="http://schemas.openxmlformats.org/drawingml/2006/main">
            <a:r>
              <a:t>- Divergent thinking produces alternatives that differ in system organisation, stability or component relationships—not just colour. A PMI records plusses, minusses and interesting points against the brief, materials, likely performance and production demands. The chosen concept needs an evidence-based trade-off.</a:t>
            </a:r>
          </a:p>
          <a:p xmlns:a="http://schemas.openxmlformats.org/drawingml/2006/main">
            <a:r>
              <a:t>- Use the visual to emphasise: Selection follows evidence and trade-offs, not appearance or a quick vote.</a:t>
            </a:r>
          </a:p>
          <a:p xmlns:a="http://schemas.openxmlformats.org/drawingml/2006/main">
            <a:r>
              <a:t/>
            </a:r>
          </a:p>
          <a:p xmlns:a="http://schemas.openxmlformats.org/drawingml/2006/main">
            <a:r>
              <a:t>Prompt</a:t>
            </a:r>
          </a:p>
          <a:p xmlns:a="http://schemas.openxmlformats.org/drawingml/2006/main">
            <a:r>
              <a:t>- Decision: identify the evidence that makes one concept a stronger candidate within the confirmed constraints.</a:t>
            </a:r>
          </a:p>
          <a:p xmlns:a="http://schemas.openxmlformats.org/drawingml/2006/main">
            <a:r>
              <a:t/>
            </a:r>
          </a:p>
          <a:p xmlns:a="http://schemas.openxmlformats.org/drawingml/2006/main">
            <a:r>
              <a:t>Likely misconception</a:t>
            </a:r>
          </a:p>
          <a:p xmlns:a="http://schemas.openxmlformats.org/drawingml/2006/main">
            <a:r>
              <a:t>- What makes two ideas genuinely different?</a:t>
            </a:r>
          </a:p>
          <a:p xmlns:a="http://schemas.openxmlformats.org/drawingml/2006/main">
            <a:r>
              <a:t/>
            </a:r>
          </a:p>
          <a:p xmlns:a="http://schemas.openxmlformats.org/drawingml/2006/main">
            <a:r>
              <a:t>Transition</a:t>
            </a:r>
          </a:p>
          <a:p xmlns:a="http://schemas.openxmlformats.org/drawingml/2006/main">
            <a:r>
              <a:t>- Link this idea to the next relationship in the module.</a:t>
            </a:r>
          </a:p>
          <a:p xmlns:a="http://schemas.openxmlformats.org/drawingml/2006/main">
            <a:r>
              <a:t/>
            </a:r>
          </a:p>
          <a:p xmlns:a="http://schemas.openxmlformats.org/drawingml/2006/main">
            <a:r>
              <a:t>[Sources]</a:t>
            </a:r>
          </a:p>
          <a:p xmlns:a="http://schemas.openxmlformats.org/drawingml/2006/main">
            <a:r>
              <a:t>- Year 8 Catapult student theory draft v1.0, module-05, 24 Aug 2026.</a:t>
            </a:r>
          </a:p>
          <a:p xmlns:a="http://schemas.openxmlformats.org/drawingml/2006/main">
            <a:r>
              <a:t>- Catapult Booklet 2026.pdf, pp. 8–13; theory draft module-05.</a:t>
            </a:r>
          </a:p>
          <a:p xmlns:a="http://schemas.openxmlformats.org/drawingml/2006/main">
            <a:r>
              <a:t>- Editable native diagram authored for this deck from the approved course theory.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points</a:t>
            </a:r>
          </a:p>
          <a:p xmlns:a="http://schemas.openxmlformats.org/drawingml/2006/main">
            <a:r>
              <a:t>- A pictorial drawing communicates overall form. Orthographic front, top and side views communicate features without perspective. Labels and dimensions make the drawing useful for production only when corresponding features align and the views do not contradict one another.</a:t>
            </a:r>
          </a:p>
          <a:p xmlns:a="http://schemas.openxmlformats.org/drawingml/2006/main">
            <a:r>
              <a:t>- Use the visual to emphasise: If one feature disappears or shifts between views, the design is not fully communicated.</a:t>
            </a:r>
          </a:p>
          <a:p xmlns:a="http://schemas.openxmlformats.org/drawingml/2006/main">
            <a:r>
              <a:t/>
            </a:r>
          </a:p>
          <a:p xmlns:a="http://schemas.openxmlformats.org/drawingml/2006/main">
            <a:r>
              <a:t>Prompt</a:t>
            </a:r>
          </a:p>
          <a:p xmlns:a="http://schemas.openxmlformats.org/drawingml/2006/main">
            <a:r>
              <a:t>- Check: choose one feature and trace it across the front, top and side views.</a:t>
            </a:r>
          </a:p>
          <a:p xmlns:a="http://schemas.openxmlformats.org/drawingml/2006/main">
            <a:r>
              <a:t/>
            </a:r>
          </a:p>
          <a:p xmlns:a="http://schemas.openxmlformats.org/drawingml/2006/main">
            <a:r>
              <a:t>Likely misconception</a:t>
            </a:r>
          </a:p>
          <a:p xmlns:a="http://schemas.openxmlformats.org/drawingml/2006/main">
            <a:r>
              <a:t>- Why must orthographic views align?</a:t>
            </a:r>
          </a:p>
          <a:p xmlns:a="http://schemas.openxmlformats.org/drawingml/2006/main">
            <a:r>
              <a:t/>
            </a:r>
          </a:p>
          <a:p xmlns:a="http://schemas.openxmlformats.org/drawingml/2006/main">
            <a:r>
              <a:t>Transition</a:t>
            </a:r>
          </a:p>
          <a:p xmlns:a="http://schemas.openxmlformats.org/drawingml/2006/main">
            <a:r>
              <a:t>- Link this idea to the next relationship in the module.</a:t>
            </a:r>
          </a:p>
          <a:p xmlns:a="http://schemas.openxmlformats.org/drawingml/2006/main">
            <a:r>
              <a:t/>
            </a:r>
          </a:p>
          <a:p xmlns:a="http://schemas.openxmlformats.org/drawingml/2006/main">
            <a:r>
              <a:t>[Sources]</a:t>
            </a:r>
          </a:p>
          <a:p xmlns:a="http://schemas.openxmlformats.org/drawingml/2006/main">
            <a:r>
              <a:t>- Year 8 Catapult student theory draft v1.0, module-05, 24 Aug 2026.</a:t>
            </a:r>
          </a:p>
          <a:p xmlns:a="http://schemas.openxmlformats.org/drawingml/2006/main">
            <a:r>
              <a:t>- Catapult Booklet 2026.pdf, pp. 8–13; theory draft module-05.</a:t>
            </a:r>
          </a:p>
          <a:p xmlns:a="http://schemas.openxmlformats.org/drawingml/2006/main">
            <a:r>
              <a:t>- Editable native diagram authored for this deck from the approved course theory.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points</a:t>
            </a:r>
          </a:p>
          <a:p xmlns:a="http://schemas.openxmlformats.org/drawingml/2006/main">
            <a:r>
              <a:t>- For each part, planned length multiplied by quantity gives the row total. Adding every row total checks the design against the authorised 2400 mm maximum. Correct arithmetic still needs teacher review for missing parts, realistic sequencing and any process allowance.</a:t>
            </a:r>
          </a:p>
          <a:p xmlns:a="http://schemas.openxmlformats.org/drawingml/2006/main">
            <a:r>
              <a:t>- Use the visual to emphasise: The source example checks one row; it is not a complete construction plan.</a:t>
            </a:r>
          </a:p>
          <a:p xmlns:a="http://schemas.openxmlformats.org/drawingml/2006/main">
            <a:r>
              <a:t/>
            </a:r>
          </a:p>
          <a:p xmlns:a="http://schemas.openxmlformats.org/drawingml/2006/main">
            <a:r>
              <a:t>Prompt</a:t>
            </a:r>
          </a:p>
          <a:p xmlns:a="http://schemas.openxmlformats.org/drawingml/2006/main">
            <a:r>
              <a:t>- Worked check: 200 mm × 4 = 800 mm, leaving 1600 mm from the authorised total for other planned pine parts.</a:t>
            </a:r>
          </a:p>
          <a:p xmlns:a="http://schemas.openxmlformats.org/drawingml/2006/main">
            <a:r>
              <a:t/>
            </a:r>
          </a:p>
          <a:p xmlns:a="http://schemas.openxmlformats.org/drawingml/2006/main">
            <a:r>
              <a:t>Likely misconception</a:t>
            </a:r>
          </a:p>
          <a:p xmlns:a="http://schemas.openxmlformats.org/drawingml/2006/main">
            <a:r>
              <a:t>- How is a row total calculated?</a:t>
            </a:r>
          </a:p>
          <a:p xmlns:a="http://schemas.openxmlformats.org/drawingml/2006/main">
            <a:r>
              <a:t/>
            </a:r>
          </a:p>
          <a:p xmlns:a="http://schemas.openxmlformats.org/drawingml/2006/main">
            <a:r>
              <a:t>Transition</a:t>
            </a:r>
          </a:p>
          <a:p xmlns:a="http://schemas.openxmlformats.org/drawingml/2006/main">
            <a:r>
              <a:t>- Prepare students to retrieve and apply all three ideas.</a:t>
            </a:r>
          </a:p>
          <a:p xmlns:a="http://schemas.openxmlformats.org/drawingml/2006/main">
            <a:r>
              <a:t/>
            </a:r>
          </a:p>
          <a:p xmlns:a="http://schemas.openxmlformats.org/drawingml/2006/main">
            <a:r>
              <a:t>[Sources]</a:t>
            </a:r>
          </a:p>
          <a:p xmlns:a="http://schemas.openxmlformats.org/drawingml/2006/main">
            <a:r>
              <a:t>- Year 8 Catapult student theory draft v1.0, module-05, 24 Aug 2026.</a:t>
            </a:r>
          </a:p>
          <a:p xmlns:a="http://schemas.openxmlformats.org/drawingml/2006/main">
            <a:r>
              <a:t>- Catapult Booklet 2026.pdf, pp. 8–13; theory draft module-05.</a:t>
            </a:r>
          </a:p>
          <a:p xmlns:a="http://schemas.openxmlformats.org/drawingml/2006/main">
            <a:r>
              <a:t>- Editable native diagram authored for this deck from the approved course theory.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points</a:t>
            </a:r>
          </a:p>
          <a:p xmlns:a="http://schemas.openxmlformats.org/drawingml/2006/main">
            <a:r>
              <a:t>- Give individual thinking time before partner discussion.</a:t>
            </a:r>
          </a:p>
          <a:p xmlns:a="http://schemas.openxmlformats.org/drawingml/2006/main">
            <a:r>
              <a:t>- Ask for evidence or a because-clause, not just the answer.</a:t>
            </a:r>
          </a:p>
          <a:p xmlns:a="http://schemas.openxmlformats.org/drawingml/2006/main">
            <a:r>
              <a:t/>
            </a:r>
          </a:p>
          <a:p xmlns:a="http://schemas.openxmlformats.org/drawingml/2006/main">
            <a:r>
              <a:t>Prompt</a:t>
            </a:r>
          </a:p>
          <a:p xmlns:a="http://schemas.openxmlformats.org/drawingml/2006/main">
            <a:r>
              <a:t>- Which answer changed after discussion, and what evidence changed it?</a:t>
            </a:r>
          </a:p>
          <a:p xmlns:a="http://schemas.openxmlformats.org/drawingml/2006/main">
            <a:r>
              <a:t/>
            </a:r>
          </a:p>
          <a:p xmlns:a="http://schemas.openxmlformats.org/drawingml/2006/main">
            <a:r>
              <a:t>Likely misconception</a:t>
            </a:r>
          </a:p>
          <a:p xmlns:a="http://schemas.openxmlformats.org/drawingml/2006/main">
            <a:r>
              <a:t>- Retrieval is a memory race rather than a chance to repair understanding.</a:t>
            </a:r>
          </a:p>
          <a:p xmlns:a="http://schemas.openxmlformats.org/drawingml/2006/main">
            <a:r>
              <a:t/>
            </a:r>
          </a:p>
          <a:p xmlns:a="http://schemas.openxmlformats.org/drawingml/2006/main">
            <a:r>
              <a:t>Transition</a:t>
            </a:r>
          </a:p>
          <a:p xmlns:a="http://schemas.openxmlformats.org/drawingml/2006/main">
            <a:r>
              <a:t>- Use the strongest unresolved question to launch the evidence scaffold.</a:t>
            </a:r>
          </a:p>
          <a:p xmlns:a="http://schemas.openxmlformats.org/drawingml/2006/main">
            <a:r>
              <a:t/>
            </a:r>
          </a:p>
          <a:p xmlns:a="http://schemas.openxmlformats.org/drawingml/2006/main">
            <a:r>
              <a:t>[Sources]</a:t>
            </a:r>
          </a:p>
          <a:p xmlns:a="http://schemas.openxmlformats.org/drawingml/2006/main">
            <a:r>
              <a:t>- Year 8 Catapult student theory draft v1.0, module-05, 24 Aug 2026.</a:t>
            </a:r>
          </a:p>
          <a:p xmlns:a="http://schemas.openxmlformats.org/drawingml/2006/main">
            <a:r>
              <a:t>- Catapult Booklet 2026.pdf, pp. 8–13; theory draft module-05.</a:t>
            </a:r>
          </a:p>
          <a:p xmlns:a="http://schemas.openxmlformats.org/drawingml/2006/main">
            <a:r>
              <a:t>- Questions derived from the approved module theory; no external asset used.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points</a:t>
            </a:r>
          </a:p>
          <a:p xmlns:a="http://schemas.openxmlformats.org/drawingml/2006/main">
            <a:r>
              <a:t>- Model how to select evidence before writing the explanation.</a:t>
            </a:r>
          </a:p>
          <a:p xmlns:a="http://schemas.openxmlformats.org/drawingml/2006/main">
            <a:r>
              <a:t>- Read the sentence support aloud, then let students change its wording to suit their evidence.</a:t>
            </a:r>
          </a:p>
          <a:p xmlns:a="http://schemas.openxmlformats.org/drawingml/2006/main">
            <a:r>
              <a:t/>
            </a:r>
          </a:p>
          <a:p xmlns:a="http://schemas.openxmlformats.org/drawingml/2006/main">
            <a:r>
              <a:t>Prompt</a:t>
            </a:r>
          </a:p>
          <a:p xmlns:a="http://schemas.openxmlformats.org/drawingml/2006/main">
            <a:r>
              <a:t>- Two concepts meet the constraints. One is simpler to produce; the other may allow better adjustment. Explain what evidence would help you choose and how drawings could reduce uncertainty.</a:t>
            </a:r>
          </a:p>
          <a:p xmlns:a="http://schemas.openxmlformats.org/drawingml/2006/main">
            <a:r>
              <a:t/>
            </a:r>
          </a:p>
          <a:p xmlns:a="http://schemas.openxmlformats.org/drawingml/2006/main">
            <a:r>
              <a:t>Likely misconception</a:t>
            </a:r>
          </a:p>
          <a:p xmlns:a="http://schemas.openxmlformats.org/drawingml/2006/main">
            <a:r>
              <a:t>- Longer writing is automatically stronger evidence.</a:t>
            </a:r>
          </a:p>
          <a:p xmlns:a="http://schemas.openxmlformats.org/drawingml/2006/main">
            <a:r>
              <a:t/>
            </a:r>
          </a:p>
          <a:p xmlns:a="http://schemas.openxmlformats.org/drawingml/2006/main">
            <a:r>
              <a:t>Transition</a:t>
            </a:r>
          </a:p>
          <a:p xmlns:a="http://schemas.openxmlformats.org/drawingml/2006/main">
            <a:r>
              <a:t>- Move from the scaffold to a concise exit ticket and evidence-save action.</a:t>
            </a:r>
          </a:p>
          <a:p xmlns:a="http://schemas.openxmlformats.org/drawingml/2006/main">
            <a:r>
              <a:t/>
            </a:r>
          </a:p>
          <a:p xmlns:a="http://schemas.openxmlformats.org/drawingml/2006/main">
            <a:r>
              <a:t>[Sources]</a:t>
            </a:r>
          </a:p>
          <a:p xmlns:a="http://schemas.openxmlformats.org/drawingml/2006/main">
            <a:r>
              <a:t>- Year 8 Catapult student theory draft v1.0, module-05, 24 Aug 2026.</a:t>
            </a:r>
          </a:p>
          <a:p xmlns:a="http://schemas.openxmlformats.org/drawingml/2006/main">
            <a:r>
              <a:t>- Catapult Booklet 2026.pdf, pp. 8–13; theory draft module-05.</a:t>
            </a:r>
          </a:p>
          <a:p xmlns:a="http://schemas.openxmlformats.org/drawingml/2006/main">
            <a:r>
              <a:t>- Read–Select–Explain–Check scaffold follows the TAS course presentation standard.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points</a:t>
            </a:r>
          </a:p>
          <a:p xmlns:a="http://schemas.openxmlformats.org/drawingml/2006/main">
            <a:r>
              <a:t>- Collect a short answer to each exit prompt.</a:t>
            </a:r>
          </a:p>
          <a:p xmlns:a="http://schemas.openxmlformats.org/drawingml/2006/main">
            <a:r>
              <a:t>- Make the evidence destination explicit without turning the slide into assessment administration.</a:t>
            </a:r>
          </a:p>
          <a:p xmlns:a="http://schemas.openxmlformats.org/drawingml/2006/main">
            <a:r>
              <a:t/>
            </a:r>
          </a:p>
          <a:p xmlns:a="http://schemas.openxmlformats.org/drawingml/2006/main">
            <a:r>
              <a:t>Prompt</a:t>
            </a:r>
          </a:p>
          <a:p xmlns:a="http://schemas.openxmlformats.org/drawingml/2006/main">
            <a:r>
              <a:t>- Which exit response best shows a changed decision or deeper explanation?</a:t>
            </a:r>
          </a:p>
          <a:p xmlns:a="http://schemas.openxmlformats.org/drawingml/2006/main">
            <a:r>
              <a:t/>
            </a:r>
          </a:p>
          <a:p xmlns:a="http://schemas.openxmlformats.org/drawingml/2006/main">
            <a:r>
              <a:t>Likely misconception</a:t>
            </a:r>
          </a:p>
          <a:p xmlns:a="http://schemas.openxmlformats.org/drawingml/2006/main">
            <a:r>
              <a:t>- The exit ticket is a generic summary with no next evidence action.</a:t>
            </a:r>
          </a:p>
          <a:p xmlns:a="http://schemas.openxmlformats.org/drawingml/2006/main">
            <a:r>
              <a:t/>
            </a:r>
          </a:p>
          <a:p xmlns:a="http://schemas.openxmlformats.org/drawingml/2006/main">
            <a:r>
              <a:t>Transition</a:t>
            </a:r>
          </a:p>
          <a:p xmlns:a="http://schemas.openxmlformats.org/drawingml/2006/main">
            <a:r>
              <a:t>- Next: plan a production sequence around dependencies, load paths and checkpoints.</a:t>
            </a:r>
          </a:p>
          <a:p xmlns:a="http://schemas.openxmlformats.org/drawingml/2006/main">
            <a:r>
              <a:t/>
            </a:r>
          </a:p>
          <a:p xmlns:a="http://schemas.openxmlformats.org/drawingml/2006/main">
            <a:r>
              <a:t>[Sources]</a:t>
            </a:r>
          </a:p>
          <a:p xmlns:a="http://schemas.openxmlformats.org/drawingml/2006/main">
            <a:r>
              <a:t>- Year 8 Catapult student theory draft v1.0, module-05, 24 Aug 2026.</a:t>
            </a:r>
          </a:p>
          <a:p xmlns:a="http://schemas.openxmlformats.org/drawingml/2006/main">
            <a:r>
              <a:t>- Catapult Booklet 2026.pdf, pp. 8–13; theory draft module-05.</a:t>
            </a:r>
          </a:p>
          <a:p xmlns:a="http://schemas.openxmlformats.org/drawingml/2006/main">
            <a:r>
              <a:t>- Exit-evidence structure follows the TAS course presentation standard.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82ba6ac8b914b2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f003616e3e845f5" /><Relationship Type="http://schemas.openxmlformats.org/officeDocument/2006/relationships/slideLayout" Target="/ppt/slideLayouts/slideLayout1.xml" Id="Re18373b2c88a4d0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18373b2c88a4d0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31b7ae782d20481c" /><Relationship Type="http://schemas.openxmlformats.org/officeDocument/2006/relationships/image" Target="/ppt/media/image.png" Id="Rca4afa066e604189" /><Relationship Type="http://schemas.openxmlformats.org/officeDocument/2006/relationships/notesSlide" Target="/ppt/notesSlides/notesSlide1.xml" Id="R0b16cbedc27143fe"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95cbf27fac3345eb" /><Relationship Type="http://schemas.openxmlformats.org/officeDocument/2006/relationships/notesSlide" Target="/ppt/notesSlides/notesSlide2.xml" Id="Ree9df98507114c2a"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830d260eb844a21" /><Relationship Type="http://schemas.openxmlformats.org/officeDocument/2006/relationships/notesSlide" Target="/ppt/notesSlides/notesSlide3.xml" Id="R613254a5b3a34746"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fc4df9612d1c46d3" /><Relationship Type="http://schemas.openxmlformats.org/officeDocument/2006/relationships/notesSlide" Target="/ppt/notesSlides/notesSlide4.xml" Id="Rf3f42994a6f94986"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0f3a81b77a2446c4" /><Relationship Type="http://schemas.openxmlformats.org/officeDocument/2006/relationships/notesSlide" Target="/ppt/notesSlides/notesSlide5.xml" Id="R429d45c1c8a849e7"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e0169cae7e3d4b72" /><Relationship Type="http://schemas.openxmlformats.org/officeDocument/2006/relationships/notesSlide" Target="/ppt/notesSlides/notesSlide6.xml" Id="Rfb7a445964404b47"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49163e9d26ef41a5" /><Relationship Type="http://schemas.openxmlformats.org/officeDocument/2006/relationships/notesSlide" Target="/ppt/notesSlides/notesSlide7.xml" Id="R8ef20243a7cb4eb2"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3ad91604c2484b7c" /><Relationship Type="http://schemas.openxmlformats.org/officeDocument/2006/relationships/notesSlide" Target="/ppt/notesSlides/notesSlide8.xml" Id="R3fcbc2012e1e4281" /></Relationships>
</file>

<file path=ppt/slides/slide1.xml><?xml version="1.0" encoding="utf-8"?>
<p:sld xmlns:p="http://schemas.openxmlformats.org/presentationml/2006/main">
  <p:cSld>
    <p:bg>
      <p:bgPr>
        <a:solidFill xmlns:a="http://schemas.openxmlformats.org/drawingml/2006/main">
          <a:srgbClr val="0B3541"/>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ca4afa066e604189"/>
          <a:srcRect xmlns:a="http://schemas.openxmlformats.org/drawingml/2006/main" l="25926" t="0" r="25926" b="0"/>
          <a:stretch xmlns:a="http://schemas.openxmlformats.org/drawingml/2006/main">
            <a:fillRect l="0" t="0" r="0" b="0"/>
          </a:stretch>
        </p:blipFill>
        <p:spPr>
          <a:xfrm xmlns:a="http://schemas.openxmlformats.org/drawingml/2006/main">
            <a:off x="7239000" y="0"/>
            <a:ext cx="4953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71C3DE33-4D40-4660-B110-FA57A443FD67}"/>
              </a:ext>
            </a:extLst>
          </p:cNvPr>
          <p:cNvSpPr>
            <a:spLocks xmlns:a="http://schemas.openxmlformats.org/drawingml/2006/main" noGrp="1"/>
          </p:cNvSpPr>
          <p:nvPr/>
        </p:nvSpPr>
        <p:spPr>
          <a:xfrm xmlns:a="http://schemas.openxmlformats.org/drawingml/2006/main">
            <a:off x="7029450" y="0"/>
            <a:ext cx="285750" cy="6858000"/>
          </a:xfrm>
          <a:prstGeom xmlns:a="http://schemas.openxmlformats.org/drawingml/2006/main" prst="rect">
            <a:avLst/>
          </a:prstGeom>
          <a:solidFill xmlns:a="http://schemas.openxmlformats.org/drawingml/2006/main">
            <a:srgbClr val="F0B84B"/>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A72F7309-1476-4006-8CBA-8FF05C551BDE}"/>
              </a:ext>
            </a:extLst>
          </p:cNvPr>
          <p:cNvSpPr>
            <a:spLocks xmlns:a="http://schemas.openxmlformats.org/drawingml/2006/main" noGrp="1"/>
          </p:cNvSpPr>
          <p:nvPr/>
        </p:nvSpPr>
        <p:spPr>
          <a:xfrm xmlns:a="http://schemas.openxmlformats.org/drawingml/2006/main">
            <a:off x="685800" y="723900"/>
            <a:ext cx="2286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F0B84B"/>
                </a:solidFill>
              </a:defRPr>
            </a:pPr>
            <a:r>
              <a:rPr sz="1350" b="1">
                <a:solidFill>
                  <a:srgbClr val="F0B84B"/>
                </a:solidFill>
              </a:rPr>
              <a:t>MODULE 05</a:t>
            </a:r>
          </a:p>
        </p:txBody>
      </p:sp>
      <p:sp>
        <p:nvSpPr>
          <p:cNvPr id="4" name="">
            <a:extLst xmlns:a="http://schemas.openxmlformats.org/drawingml/2006/main">
              <a:ext uri="{FF2B5EF4-FFF2-40B4-BE49-F238E27FC236}">
                <a16:creationId xmlns:a16="http://schemas.microsoft.com/office/drawing/2014/main" id="{0056AED7-55CE-439F-AF27-95E3377E6BBE}"/>
              </a:ext>
            </a:extLst>
          </p:cNvPr>
          <p:cNvSpPr>
            <a:spLocks xmlns:a="http://schemas.openxmlformats.org/drawingml/2006/main" noGrp="1"/>
          </p:cNvSpPr>
          <p:nvPr/>
        </p:nvSpPr>
        <p:spPr>
          <a:xfrm xmlns:a="http://schemas.openxmlformats.org/drawingml/2006/main">
            <a:off x="685800" y="1428750"/>
            <a:ext cx="5810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4350" b="1">
                <a:solidFill>
                  <a:srgbClr val="FFFFFF"/>
                </a:solidFill>
              </a:defRPr>
            </a:pPr>
            <a:r>
              <a:rPr sz="4350" b="1">
                <a:solidFill>
                  <a:srgbClr val="FFFFFF"/>
                </a:solidFill>
              </a:rPr>
              <a:t>Communicating a Buildable Design</a:t>
            </a:r>
          </a:p>
        </p:txBody>
      </p:sp>
      <p:sp>
        <p:nvSpPr>
          <p:cNvPr id="5" name="">
            <a:extLst xmlns:a="http://schemas.openxmlformats.org/drawingml/2006/main">
              <a:ext uri="{FF2B5EF4-FFF2-40B4-BE49-F238E27FC236}">
                <a16:creationId xmlns:a16="http://schemas.microsoft.com/office/drawing/2014/main" id="{AE934FBF-7555-4096-9A3B-EEF5F1718E60}"/>
              </a:ext>
            </a:extLst>
          </p:cNvPr>
          <p:cNvSpPr>
            <a:spLocks xmlns:a="http://schemas.openxmlformats.org/drawingml/2006/main" noGrp="1"/>
          </p:cNvSpPr>
          <p:nvPr/>
        </p:nvSpPr>
        <p:spPr>
          <a:xfrm xmlns:a="http://schemas.openxmlformats.org/drawingml/2006/main">
            <a:off x="685800" y="3943350"/>
            <a:ext cx="5762625"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75" b="0">
                <a:solidFill>
                  <a:srgbClr val="D7E5E8"/>
                </a:solidFill>
              </a:defRPr>
            </a:pPr>
            <a:r>
              <a:rPr sz="1875" b="0">
                <a:solidFill>
                  <a:srgbClr val="D7E5E8"/>
                </a:solidFill>
              </a:rPr>
              <a:t>Develop, justify and communicate a design through agreeing drawings and a checked cutting list.</a:t>
            </a:r>
          </a:p>
        </p:txBody>
      </p:sp>
      <p:sp>
        <p:nvSpPr>
          <p:cNvPr id="6" name="">
            <a:extLst xmlns:a="http://schemas.openxmlformats.org/drawingml/2006/main">
              <a:ext uri="{FF2B5EF4-FFF2-40B4-BE49-F238E27FC236}">
                <a16:creationId xmlns:a16="http://schemas.microsoft.com/office/drawing/2014/main" id="{F3170D0C-4178-41FF-B3B3-408FCFD6FED6}"/>
              </a:ext>
            </a:extLst>
          </p:cNvPr>
          <p:cNvSpPr>
            <a:spLocks xmlns:a="http://schemas.openxmlformats.org/drawingml/2006/main" noGrp="1"/>
          </p:cNvSpPr>
          <p:nvPr/>
        </p:nvSpPr>
        <p:spPr>
          <a:xfrm xmlns:a="http://schemas.openxmlformats.org/drawingml/2006/main">
            <a:off x="685800" y="59245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1">
                <a:solidFill>
                  <a:srgbClr val="D7E5E8"/>
                </a:solidFill>
              </a:defRPr>
            </a:pPr>
            <a:r>
              <a:rPr sz="1125" b="1">
                <a:solidFill>
                  <a:srgbClr val="D7E5E8"/>
                </a:solidFill>
              </a:rPr>
              <a:t>YEAR 8  •  ENGINEERING TECHNOLOGIES AND SYSTEMS</a:t>
            </a:r>
          </a:p>
        </p:txBody>
      </p:sp>
    </p:spTree>
    <p:extLst>
      <p:ext uri="{BB962C8B-B14F-4D97-AF65-F5344CB8AC3E}">
        <p14:creationId xmlns:p14="http://schemas.microsoft.com/office/powerpoint/2010/main" val="852200186"/>
      </p:ext>
    </p:extLst>
  </p:cSld>
</p:sld>
</file>

<file path=ppt/slides/slide2.xml><?xml version="1.0" encoding="utf-8"?>
<p:sld xmlns:p="http://schemas.openxmlformats.org/presentationml/2006/main">
  <p:cSld>
    <p:bg>
      <p:bgPr>
        <a:solidFill xmlns:a="http://schemas.openxmlformats.org/drawingml/2006/main">
          <a:srgbClr val="F3F6F7"/>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7A52DB31-7DF0-4846-B6D2-ED3E91333625}"/>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F0B84B"/>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B49F8F87-CFD7-40A4-9BCA-3385D15BF789}"/>
              </a:ext>
            </a:extLst>
          </p:cNvPr>
          <p:cNvSpPr>
            <a:spLocks xmlns:a="http://schemas.openxmlformats.org/drawingml/2006/main" noGrp="1"/>
          </p:cNvSpPr>
          <p:nvPr/>
        </p:nvSpPr>
        <p:spPr>
          <a:xfrm xmlns:a="http://schemas.openxmlformats.org/drawingml/2006/main">
            <a:off x="685800" y="3048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A94424"/>
                </a:solidFill>
              </a:defRPr>
            </a:pPr>
            <a:r>
              <a:rPr sz="1050" b="1">
                <a:solidFill>
                  <a:srgbClr val="A94424"/>
                </a:solidFill>
              </a:rPr>
              <a:t>MODULE 05  /  BUILDABLE DESIGN</a:t>
            </a:r>
          </a:p>
        </p:txBody>
      </p:sp>
      <p:sp>
        <p:nvSpPr>
          <p:cNvPr id="3" name="">
            <a:extLst xmlns:a="http://schemas.openxmlformats.org/drawingml/2006/main">
              <a:ext uri="{FF2B5EF4-FFF2-40B4-BE49-F238E27FC236}">
                <a16:creationId xmlns:a16="http://schemas.microsoft.com/office/drawing/2014/main" id="{9D512B56-FC39-49F3-AB64-EE2CB5BFB559}"/>
              </a:ext>
            </a:extLst>
          </p:cNvPr>
          <p:cNvSpPr>
            <a:spLocks xmlns:a="http://schemas.openxmlformats.org/drawingml/2006/main" noGrp="1"/>
          </p:cNvSpPr>
          <p:nvPr/>
        </p:nvSpPr>
        <p:spPr>
          <a:xfrm xmlns:a="http://schemas.openxmlformats.org/drawingml/2006/main">
            <a:off x="685800" y="619125"/>
            <a:ext cx="108204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a:solidFill>
                  <a:srgbClr val="17232B"/>
                </a:solidFill>
              </a:defRPr>
            </a:pPr>
            <a:r>
              <a:rPr sz="2850" b="1">
                <a:solidFill>
                  <a:srgbClr val="17232B"/>
                </a:solidFill>
              </a:rPr>
              <a:t>The learning question</a:t>
            </a:r>
          </a:p>
        </p:txBody>
      </p:sp>
      <p:sp>
        <p:nvSpPr>
          <p:cNvPr id="4" name="">
            <a:extLst xmlns:a="http://schemas.openxmlformats.org/drawingml/2006/main">
              <a:ext uri="{FF2B5EF4-FFF2-40B4-BE49-F238E27FC236}">
                <a16:creationId xmlns:a16="http://schemas.microsoft.com/office/drawing/2014/main" id="{5644A2C9-E19F-4172-A29D-8BCF7E3BE942}"/>
              </a:ext>
            </a:extLst>
          </p:cNvPr>
          <p:cNvSpPr>
            <a:spLocks xmlns:a="http://schemas.openxmlformats.org/drawingml/2006/main" noGrp="1"/>
          </p:cNvSpPr>
          <p:nvPr/>
        </p:nvSpPr>
        <p:spPr>
          <a:xfrm xmlns:a="http://schemas.openxmlformats.org/drawingml/2006/main">
            <a:off x="685800" y="6400800"/>
            <a:ext cx="10820400" cy="0"/>
          </a:xfrm>
          <a:prstGeom xmlns:a="http://schemas.openxmlformats.org/drawingml/2006/main" prst="line">
            <a:avLst/>
          </a:prstGeom>
          <a:noFill xmlns:a="http://schemas.openxmlformats.org/drawingml/2006/main"/>
          <a:ln xmlns:a="http://schemas.openxmlformats.org/drawingml/2006/main" w="9525">
            <a:solidFill>
              <a:srgbClr val="CAD4D8"/>
            </a:solidFill>
            <a:prstDash val="solid"/>
          </a:ln>
        </p:spPr>
      </p:sp>
      <p:sp>
        <p:nvSpPr>
          <p:cNvPr id="5" name="">
            <a:extLst xmlns:a="http://schemas.openxmlformats.org/drawingml/2006/main">
              <a:ext uri="{FF2B5EF4-FFF2-40B4-BE49-F238E27FC236}">
                <a16:creationId xmlns:a16="http://schemas.microsoft.com/office/drawing/2014/main" id="{CD02D5B0-F783-44CC-BB86-1E49CDAED54F}"/>
              </a:ext>
            </a:extLst>
          </p:cNvPr>
          <p:cNvSpPr>
            <a:spLocks xmlns:a="http://schemas.openxmlformats.org/drawingml/2006/main" noGrp="1"/>
          </p:cNvSpPr>
          <p:nvPr/>
        </p:nvSpPr>
        <p:spPr>
          <a:xfrm xmlns:a="http://schemas.openxmlformats.org/drawingml/2006/main">
            <a:off x="685800" y="649605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53636D"/>
                </a:solidFill>
              </a:defRPr>
            </a:pPr>
            <a:r>
              <a:rPr sz="975" b="1">
                <a:solidFill>
                  <a:srgbClr val="53636D"/>
                </a:solidFill>
              </a:rPr>
              <a:t>YEAR 8 CATAPULT  •  MODULE 05</a:t>
            </a:r>
          </a:p>
        </p:txBody>
      </p:sp>
      <p:sp>
        <p:nvSpPr>
          <p:cNvPr id="6" name="">
            <a:extLst xmlns:a="http://schemas.openxmlformats.org/drawingml/2006/main">
              <a:ext uri="{FF2B5EF4-FFF2-40B4-BE49-F238E27FC236}">
                <a16:creationId xmlns:a16="http://schemas.microsoft.com/office/drawing/2014/main" id="{97EDC149-9557-43CD-92CB-AF49202ED4D6}"/>
              </a:ext>
            </a:extLst>
          </p:cNvPr>
          <p:cNvSpPr>
            <a:spLocks xmlns:a="http://schemas.openxmlformats.org/drawingml/2006/main" noGrp="1"/>
          </p:cNvSpPr>
          <p:nvPr/>
        </p:nvSpPr>
        <p:spPr>
          <a:xfrm xmlns:a="http://schemas.openxmlformats.org/drawingml/2006/main">
            <a:off x="11049000" y="64960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A94424"/>
                </a:solidFill>
              </a:defRPr>
            </a:pPr>
            <a:r>
              <a:rPr sz="975" b="1">
                <a:solidFill>
                  <a:srgbClr val="A94424"/>
                </a:solidFill>
              </a:rPr>
              <a:t>02</a:t>
            </a:r>
          </a:p>
        </p:txBody>
      </p:sp>
      <p:sp>
        <p:nvSpPr>
          <p:cNvPr id="7" name="">
            <a:extLst xmlns:a="http://schemas.openxmlformats.org/drawingml/2006/main">
              <a:ext uri="{FF2B5EF4-FFF2-40B4-BE49-F238E27FC236}">
                <a16:creationId xmlns:a16="http://schemas.microsoft.com/office/drawing/2014/main" id="{9B33A219-C32B-4351-8710-F7F333C8F5CA}"/>
              </a:ext>
            </a:extLst>
          </p:cNvPr>
          <p:cNvSpPr>
            <a:spLocks xmlns:a="http://schemas.openxmlformats.org/drawingml/2006/main" noGrp="1"/>
          </p:cNvSpPr>
          <p:nvPr/>
        </p:nvSpPr>
        <p:spPr>
          <a:xfrm xmlns:a="http://schemas.openxmlformats.org/drawingml/2006/main">
            <a:off x="685800" y="1333500"/>
            <a:ext cx="10477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a:solidFill>
                  <a:srgbClr val="184F5E"/>
                </a:solidFill>
              </a:defRPr>
            </a:pPr>
            <a:r>
              <a:rPr sz="2250" b="1">
                <a:solidFill>
                  <a:srgbClr val="184F5E"/>
                </a:solidFill>
              </a:rPr>
              <a:t>What makes design information clear enough for another person to check?</a:t>
            </a:r>
          </a:p>
        </p:txBody>
      </p:sp>
      <p:sp>
        <p:nvSpPr>
          <p:cNvPr id="8" name="">
            <a:extLst xmlns:a="http://schemas.openxmlformats.org/drawingml/2006/main">
              <a:ext uri="{FF2B5EF4-FFF2-40B4-BE49-F238E27FC236}">
                <a16:creationId xmlns:a16="http://schemas.microsoft.com/office/drawing/2014/main" id="{63955FE0-FDA4-4CAB-96FD-B74A31D6131C}"/>
              </a:ext>
            </a:extLst>
          </p:cNvPr>
          <p:cNvSpPr>
            <a:spLocks xmlns:a="http://schemas.openxmlformats.org/drawingml/2006/main" noGrp="1"/>
          </p:cNvSpPr>
          <p:nvPr/>
        </p:nvSpPr>
        <p:spPr>
          <a:xfrm xmlns:a="http://schemas.openxmlformats.org/drawingml/2006/main">
            <a:off x="3543300" y="3181350"/>
            <a:ext cx="666750" cy="247650"/>
          </a:xfrm>
          <a:prstGeom xmlns:a="http://schemas.openxmlformats.org/drawingml/2006/main" prst="rightArrow">
            <a:avLst/>
          </a:prstGeom>
          <a:solidFill xmlns:a="http://schemas.openxmlformats.org/drawingml/2006/main">
            <a:srgbClr val="F0B84B"/>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087FE89C-2905-45F1-988D-A669EA5F53A9}"/>
              </a:ext>
            </a:extLst>
          </p:cNvPr>
          <p:cNvSpPr>
            <a:spLocks xmlns:a="http://schemas.openxmlformats.org/drawingml/2006/main" noGrp="1"/>
          </p:cNvSpPr>
          <p:nvPr/>
        </p:nvSpPr>
        <p:spPr>
          <a:xfrm xmlns:a="http://schemas.openxmlformats.org/drawingml/2006/main">
            <a:off x="6972300" y="3181350"/>
            <a:ext cx="666750" cy="247650"/>
          </a:xfrm>
          <a:prstGeom xmlns:a="http://schemas.openxmlformats.org/drawingml/2006/main" prst="rightArrow">
            <a:avLst/>
          </a:prstGeom>
          <a:solidFill xmlns:a="http://schemas.openxmlformats.org/drawingml/2006/main">
            <a:srgbClr val="F0B84B"/>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3DEE02C-9C06-48B8-8D18-077E0CE61F1F}"/>
              </a:ext>
            </a:extLst>
          </p:cNvPr>
          <p:cNvSpPr>
            <a:spLocks xmlns:a="http://schemas.openxmlformats.org/drawingml/2006/main" noGrp="1"/>
          </p:cNvSpPr>
          <p:nvPr/>
        </p:nvSpPr>
        <p:spPr>
          <a:xfrm xmlns:a="http://schemas.openxmlformats.org/drawingml/2006/main">
            <a:off x="819150" y="2743200"/>
            <a:ext cx="819150" cy="819150"/>
          </a:xfrm>
          <a:prstGeom xmlns:a="http://schemas.openxmlformats.org/drawingml/2006/main" prst="ellipse">
            <a:avLst/>
          </a:prstGeom>
          <a:solidFill xmlns:a="http://schemas.openxmlformats.org/drawingml/2006/main">
            <a:srgbClr val="184F5E"/>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085D1AA-2C1B-42D3-BFC0-4EED3980E16E}"/>
              </a:ext>
            </a:extLst>
          </p:cNvPr>
          <p:cNvSpPr>
            <a:spLocks xmlns:a="http://schemas.openxmlformats.org/drawingml/2006/main" noGrp="1"/>
          </p:cNvSpPr>
          <p:nvPr/>
        </p:nvSpPr>
        <p:spPr>
          <a:xfrm xmlns:a="http://schemas.openxmlformats.org/drawingml/2006/main">
            <a:off x="819150" y="2914650"/>
            <a:ext cx="8191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400" b="1">
                <a:solidFill>
                  <a:srgbClr val="FFFFFF"/>
                </a:solidFill>
              </a:defRPr>
            </a:pPr>
            <a:r>
              <a:rPr sz="2400" b="1">
                <a:solidFill>
                  <a:srgbClr val="FFFFFF"/>
                </a:solidFill>
              </a:rPr>
              <a:t>1</a:t>
            </a:r>
          </a:p>
        </p:txBody>
      </p:sp>
      <p:sp>
        <p:nvSpPr>
          <p:cNvPr id="12" name="">
            <a:extLst xmlns:a="http://schemas.openxmlformats.org/drawingml/2006/main">
              <a:ext uri="{FF2B5EF4-FFF2-40B4-BE49-F238E27FC236}">
                <a16:creationId xmlns:a16="http://schemas.microsoft.com/office/drawing/2014/main" id="{563FAADE-5713-4537-960D-4B7189119C2D}"/>
              </a:ext>
            </a:extLst>
          </p:cNvPr>
          <p:cNvSpPr>
            <a:spLocks xmlns:a="http://schemas.openxmlformats.org/drawingml/2006/main" noGrp="1"/>
          </p:cNvSpPr>
          <p:nvPr/>
        </p:nvSpPr>
        <p:spPr>
          <a:xfrm xmlns:a="http://schemas.openxmlformats.org/drawingml/2006/main">
            <a:off x="1790700" y="2781300"/>
            <a:ext cx="2333625"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1">
                <a:solidFill>
                  <a:srgbClr val="17232B"/>
                </a:solidFill>
              </a:defRPr>
            </a:pPr>
            <a:r>
              <a:rPr sz="1725" b="1">
                <a:solidFill>
                  <a:srgbClr val="17232B"/>
                </a:solidFill>
              </a:rPr>
              <a:t>Compare genuine alternatives</a:t>
            </a:r>
          </a:p>
        </p:txBody>
      </p:sp>
      <p:sp>
        <p:nvSpPr>
          <p:cNvPr id="13" name="">
            <a:extLst xmlns:a="http://schemas.openxmlformats.org/drawingml/2006/main">
              <a:ext uri="{FF2B5EF4-FFF2-40B4-BE49-F238E27FC236}">
                <a16:creationId xmlns:a16="http://schemas.microsoft.com/office/drawing/2014/main" id="{60159D35-25C8-45C8-86FB-77899B873A34}"/>
              </a:ext>
            </a:extLst>
          </p:cNvPr>
          <p:cNvSpPr>
            <a:spLocks xmlns:a="http://schemas.openxmlformats.org/drawingml/2006/main" noGrp="1"/>
          </p:cNvSpPr>
          <p:nvPr/>
        </p:nvSpPr>
        <p:spPr>
          <a:xfrm xmlns:a="http://schemas.openxmlformats.org/drawingml/2006/main">
            <a:off x="4248150" y="2743200"/>
            <a:ext cx="819150" cy="819150"/>
          </a:xfrm>
          <a:prstGeom xmlns:a="http://schemas.openxmlformats.org/drawingml/2006/main" prst="ellipse">
            <a:avLst/>
          </a:prstGeom>
          <a:solidFill xmlns:a="http://schemas.openxmlformats.org/drawingml/2006/main">
            <a:srgbClr val="F0B84B"/>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81DFBB69-27A4-44E0-BC92-E3DAC771101E}"/>
              </a:ext>
            </a:extLst>
          </p:cNvPr>
          <p:cNvSpPr>
            <a:spLocks xmlns:a="http://schemas.openxmlformats.org/drawingml/2006/main" noGrp="1"/>
          </p:cNvSpPr>
          <p:nvPr/>
        </p:nvSpPr>
        <p:spPr>
          <a:xfrm xmlns:a="http://schemas.openxmlformats.org/drawingml/2006/main">
            <a:off x="4248150" y="2914650"/>
            <a:ext cx="8191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400" b="1">
                <a:solidFill>
                  <a:srgbClr val="17232B"/>
                </a:solidFill>
              </a:defRPr>
            </a:pPr>
            <a:r>
              <a:rPr sz="2400" b="1">
                <a:solidFill>
                  <a:srgbClr val="17232B"/>
                </a:solidFill>
              </a:rPr>
              <a:t>2</a:t>
            </a:r>
          </a:p>
        </p:txBody>
      </p:sp>
      <p:sp>
        <p:nvSpPr>
          <p:cNvPr id="15" name="">
            <a:extLst xmlns:a="http://schemas.openxmlformats.org/drawingml/2006/main">
              <a:ext uri="{FF2B5EF4-FFF2-40B4-BE49-F238E27FC236}">
                <a16:creationId xmlns:a16="http://schemas.microsoft.com/office/drawing/2014/main" id="{F8A30E5B-280B-4032-89D1-9622BE314E5D}"/>
              </a:ext>
            </a:extLst>
          </p:cNvPr>
          <p:cNvSpPr>
            <a:spLocks xmlns:a="http://schemas.openxmlformats.org/drawingml/2006/main" noGrp="1"/>
          </p:cNvSpPr>
          <p:nvPr/>
        </p:nvSpPr>
        <p:spPr>
          <a:xfrm xmlns:a="http://schemas.openxmlformats.org/drawingml/2006/main">
            <a:off x="5219700" y="2781300"/>
            <a:ext cx="2333625"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1">
                <a:solidFill>
                  <a:srgbClr val="17232B"/>
                </a:solidFill>
              </a:defRPr>
            </a:pPr>
            <a:r>
              <a:rPr sz="1725" b="1">
                <a:solidFill>
                  <a:srgbClr val="17232B"/>
                </a:solidFill>
              </a:rPr>
              <a:t>Views must agree</a:t>
            </a:r>
          </a:p>
        </p:txBody>
      </p:sp>
      <p:sp>
        <p:nvSpPr>
          <p:cNvPr id="16" name="">
            <a:extLst xmlns:a="http://schemas.openxmlformats.org/drawingml/2006/main">
              <a:ext uri="{FF2B5EF4-FFF2-40B4-BE49-F238E27FC236}">
                <a16:creationId xmlns:a16="http://schemas.microsoft.com/office/drawing/2014/main" id="{C75C9B0D-1C57-4714-89B8-9E32185D3A07}"/>
              </a:ext>
            </a:extLst>
          </p:cNvPr>
          <p:cNvSpPr>
            <a:spLocks xmlns:a="http://schemas.openxmlformats.org/drawingml/2006/main" noGrp="1"/>
          </p:cNvSpPr>
          <p:nvPr/>
        </p:nvSpPr>
        <p:spPr>
          <a:xfrm xmlns:a="http://schemas.openxmlformats.org/drawingml/2006/main">
            <a:off x="7677150" y="2743200"/>
            <a:ext cx="819150" cy="819150"/>
          </a:xfrm>
          <a:prstGeom xmlns:a="http://schemas.openxmlformats.org/drawingml/2006/main" prst="ellipse">
            <a:avLst/>
          </a:prstGeom>
          <a:solidFill xmlns:a="http://schemas.openxmlformats.org/drawingml/2006/main">
            <a:srgbClr val="184F5E"/>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DE2CD43F-CCE7-49D6-A73B-23F9A0740AC6}"/>
              </a:ext>
            </a:extLst>
          </p:cNvPr>
          <p:cNvSpPr>
            <a:spLocks xmlns:a="http://schemas.openxmlformats.org/drawingml/2006/main" noGrp="1"/>
          </p:cNvSpPr>
          <p:nvPr/>
        </p:nvSpPr>
        <p:spPr>
          <a:xfrm xmlns:a="http://schemas.openxmlformats.org/drawingml/2006/main">
            <a:off x="7677150" y="2914650"/>
            <a:ext cx="8191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400" b="1">
                <a:solidFill>
                  <a:srgbClr val="FFFFFF"/>
                </a:solidFill>
              </a:defRPr>
            </a:pPr>
            <a:r>
              <a:rPr sz="2400" b="1">
                <a:solidFill>
                  <a:srgbClr val="FFFFFF"/>
                </a:solidFill>
              </a:rPr>
              <a:t>3</a:t>
            </a:r>
          </a:p>
        </p:txBody>
      </p:sp>
      <p:sp>
        <p:nvSpPr>
          <p:cNvPr id="18" name="">
            <a:extLst xmlns:a="http://schemas.openxmlformats.org/drawingml/2006/main">
              <a:ext uri="{FF2B5EF4-FFF2-40B4-BE49-F238E27FC236}">
                <a16:creationId xmlns:a16="http://schemas.microsoft.com/office/drawing/2014/main" id="{DE4E8612-4A3E-45C3-A7C8-9FBB7E1C6518}"/>
              </a:ext>
            </a:extLst>
          </p:cNvPr>
          <p:cNvSpPr>
            <a:spLocks xmlns:a="http://schemas.openxmlformats.org/drawingml/2006/main" noGrp="1"/>
          </p:cNvSpPr>
          <p:nvPr/>
        </p:nvSpPr>
        <p:spPr>
          <a:xfrm xmlns:a="http://schemas.openxmlformats.org/drawingml/2006/main">
            <a:off x="8648700" y="2781300"/>
            <a:ext cx="2333625"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1">
                <a:solidFill>
                  <a:srgbClr val="17232B"/>
                </a:solidFill>
              </a:defRPr>
            </a:pPr>
            <a:r>
              <a:rPr sz="1725" b="1">
                <a:solidFill>
                  <a:srgbClr val="17232B"/>
                </a:solidFill>
              </a:rPr>
              <a:t>Plan material with arithmetic</a:t>
            </a:r>
          </a:p>
        </p:txBody>
      </p:sp>
      <p:sp>
        <p:nvSpPr>
          <p:cNvPr id="19" name="">
            <a:extLst xmlns:a="http://schemas.openxmlformats.org/drawingml/2006/main">
              <a:ext uri="{FF2B5EF4-FFF2-40B4-BE49-F238E27FC236}">
                <a16:creationId xmlns:a16="http://schemas.microsoft.com/office/drawing/2014/main" id="{C63E87F1-0CF7-4B41-87CB-9B258AE7314E}"/>
              </a:ext>
            </a:extLst>
          </p:cNvPr>
          <p:cNvSpPr>
            <a:spLocks xmlns:a="http://schemas.openxmlformats.org/drawingml/2006/main" noGrp="1"/>
          </p:cNvSpPr>
          <p:nvPr/>
        </p:nvSpPr>
        <p:spPr>
          <a:xfrm xmlns:a="http://schemas.openxmlformats.org/drawingml/2006/main">
            <a:off x="685800" y="4686300"/>
            <a:ext cx="10820400" cy="1047750"/>
          </a:xfrm>
          <a:prstGeom xmlns:a="http://schemas.openxmlformats.org/drawingml/2006/main" prst="rect">
            <a:avLst/>
          </a:prstGeom>
          <a:solidFill xmlns:a="http://schemas.openxmlformats.org/drawingml/2006/main">
            <a:srgbClr val="FFFFFF"/>
          </a:solidFill>
          <a:ln xmlns:a="http://schemas.openxmlformats.org/drawingml/2006/main" w="9525">
            <a:solidFill>
              <a:srgbClr val="CAD4D8"/>
            </a:solidFill>
            <a:prstDash val="solid"/>
          </a:ln>
        </p:spPr>
      </p:sp>
      <p:sp>
        <p:nvSpPr>
          <p:cNvPr id="20" name="">
            <a:extLst xmlns:a="http://schemas.openxmlformats.org/drawingml/2006/main">
              <a:ext uri="{FF2B5EF4-FFF2-40B4-BE49-F238E27FC236}">
                <a16:creationId xmlns:a16="http://schemas.microsoft.com/office/drawing/2014/main" id="{837E9BA1-7242-464E-83AA-88937E25288F}"/>
              </a:ext>
            </a:extLst>
          </p:cNvPr>
          <p:cNvSpPr>
            <a:spLocks xmlns:a="http://schemas.openxmlformats.org/drawingml/2006/main" noGrp="1"/>
          </p:cNvSpPr>
          <p:nvPr/>
        </p:nvSpPr>
        <p:spPr>
          <a:xfrm xmlns:a="http://schemas.openxmlformats.org/drawingml/2006/main">
            <a:off x="933450" y="4895850"/>
            <a:ext cx="2381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a:solidFill>
                  <a:srgbClr val="A94424"/>
                </a:solidFill>
              </a:defRPr>
            </a:pPr>
            <a:r>
              <a:rPr sz="1200" b="1">
                <a:solidFill>
                  <a:srgbClr val="A94424"/>
                </a:solidFill>
              </a:rPr>
              <a:t>RETRIEVAL WARM-UP</a:t>
            </a:r>
          </a:p>
        </p:txBody>
      </p:sp>
      <p:sp>
        <p:nvSpPr>
          <p:cNvPr id="21" name="">
            <a:extLst xmlns:a="http://schemas.openxmlformats.org/drawingml/2006/main">
              <a:ext uri="{FF2B5EF4-FFF2-40B4-BE49-F238E27FC236}">
                <a16:creationId xmlns:a16="http://schemas.microsoft.com/office/drawing/2014/main" id="{86C70F00-D9DD-48BA-93AA-5AB1A18D3409}"/>
              </a:ext>
            </a:extLst>
          </p:cNvPr>
          <p:cNvSpPr>
            <a:spLocks xmlns:a="http://schemas.openxmlformats.org/drawingml/2006/main" noGrp="1"/>
          </p:cNvSpPr>
          <p:nvPr/>
        </p:nvSpPr>
        <p:spPr>
          <a:xfrm xmlns:a="http://schemas.openxmlformats.org/drawingml/2006/main">
            <a:off x="933450" y="5219700"/>
            <a:ext cx="1009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17232B"/>
                </a:solidFill>
              </a:defRPr>
            </a:pPr>
            <a:r>
              <a:rPr sz="1650" b="1">
                <a:solidFill>
                  <a:srgbClr val="17232B"/>
                </a:solidFill>
              </a:rPr>
              <a:t>Why is a neat sketch not yet complete production information?</a:t>
            </a:r>
          </a:p>
        </p:txBody>
      </p:sp>
    </p:spTree>
    <p:extLst>
      <p:ext uri="{BB962C8B-B14F-4D97-AF65-F5344CB8AC3E}">
        <p14:creationId xmlns:p14="http://schemas.microsoft.com/office/powerpoint/2010/main" val="10786881"/>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56CA445B-84DE-4918-A348-C039D0D73560}"/>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F0B84B"/>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D43BA134-1911-4AC0-954A-880BFEC3B047}"/>
              </a:ext>
            </a:extLst>
          </p:cNvPr>
          <p:cNvSpPr>
            <a:spLocks xmlns:a="http://schemas.openxmlformats.org/drawingml/2006/main" noGrp="1"/>
          </p:cNvSpPr>
          <p:nvPr/>
        </p:nvSpPr>
        <p:spPr>
          <a:xfrm xmlns:a="http://schemas.openxmlformats.org/drawingml/2006/main">
            <a:off x="685800" y="3048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A94424"/>
                </a:solidFill>
              </a:defRPr>
            </a:pPr>
            <a:r>
              <a:rPr sz="1050" b="1">
                <a:solidFill>
                  <a:srgbClr val="A94424"/>
                </a:solidFill>
              </a:rPr>
              <a:t>MODULE 05  /  BUILDABLE DESIGN</a:t>
            </a:r>
          </a:p>
        </p:txBody>
      </p:sp>
      <p:sp>
        <p:nvSpPr>
          <p:cNvPr id="3" name="">
            <a:extLst xmlns:a="http://schemas.openxmlformats.org/drawingml/2006/main">
              <a:ext uri="{FF2B5EF4-FFF2-40B4-BE49-F238E27FC236}">
                <a16:creationId xmlns:a16="http://schemas.microsoft.com/office/drawing/2014/main" id="{BCFBF745-FA08-44E7-99B1-96A394CCE6C4}"/>
              </a:ext>
            </a:extLst>
          </p:cNvPr>
          <p:cNvSpPr>
            <a:spLocks xmlns:a="http://schemas.openxmlformats.org/drawingml/2006/main" noGrp="1"/>
          </p:cNvSpPr>
          <p:nvPr/>
        </p:nvSpPr>
        <p:spPr>
          <a:xfrm xmlns:a="http://schemas.openxmlformats.org/drawingml/2006/main">
            <a:off x="685800" y="619125"/>
            <a:ext cx="108204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a:solidFill>
                  <a:srgbClr val="17232B"/>
                </a:solidFill>
              </a:defRPr>
            </a:pPr>
            <a:r>
              <a:rPr sz="2850" b="1">
                <a:solidFill>
                  <a:srgbClr val="17232B"/>
                </a:solidFill>
              </a:rPr>
              <a:t>Strong selection begins with genuinely different ideas</a:t>
            </a:r>
          </a:p>
        </p:txBody>
      </p:sp>
      <p:sp>
        <p:nvSpPr>
          <p:cNvPr id="4" name="">
            <a:extLst xmlns:a="http://schemas.openxmlformats.org/drawingml/2006/main">
              <a:ext uri="{FF2B5EF4-FFF2-40B4-BE49-F238E27FC236}">
                <a16:creationId xmlns:a16="http://schemas.microsoft.com/office/drawing/2014/main" id="{5AA7FCDA-EBCD-4DD4-A9FB-AD534575BD23}"/>
              </a:ext>
            </a:extLst>
          </p:cNvPr>
          <p:cNvSpPr>
            <a:spLocks xmlns:a="http://schemas.openxmlformats.org/drawingml/2006/main" noGrp="1"/>
          </p:cNvSpPr>
          <p:nvPr/>
        </p:nvSpPr>
        <p:spPr>
          <a:xfrm xmlns:a="http://schemas.openxmlformats.org/drawingml/2006/main">
            <a:off x="685800" y="6400800"/>
            <a:ext cx="10820400" cy="0"/>
          </a:xfrm>
          <a:prstGeom xmlns:a="http://schemas.openxmlformats.org/drawingml/2006/main" prst="line">
            <a:avLst/>
          </a:prstGeom>
          <a:noFill xmlns:a="http://schemas.openxmlformats.org/drawingml/2006/main"/>
          <a:ln xmlns:a="http://schemas.openxmlformats.org/drawingml/2006/main" w="9525">
            <a:solidFill>
              <a:srgbClr val="CAD4D8"/>
            </a:solidFill>
            <a:prstDash val="solid"/>
          </a:ln>
        </p:spPr>
      </p:sp>
      <p:sp>
        <p:nvSpPr>
          <p:cNvPr id="5" name="">
            <a:extLst xmlns:a="http://schemas.openxmlformats.org/drawingml/2006/main">
              <a:ext uri="{FF2B5EF4-FFF2-40B4-BE49-F238E27FC236}">
                <a16:creationId xmlns:a16="http://schemas.microsoft.com/office/drawing/2014/main" id="{6D8951A9-DA73-488E-90D3-75E7FD5DCFDE}"/>
              </a:ext>
            </a:extLst>
          </p:cNvPr>
          <p:cNvSpPr>
            <a:spLocks xmlns:a="http://schemas.openxmlformats.org/drawingml/2006/main" noGrp="1"/>
          </p:cNvSpPr>
          <p:nvPr/>
        </p:nvSpPr>
        <p:spPr>
          <a:xfrm xmlns:a="http://schemas.openxmlformats.org/drawingml/2006/main">
            <a:off x="685800" y="649605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53636D"/>
                </a:solidFill>
              </a:defRPr>
            </a:pPr>
            <a:r>
              <a:rPr sz="975" b="1">
                <a:solidFill>
                  <a:srgbClr val="53636D"/>
                </a:solidFill>
              </a:rPr>
              <a:t>YEAR 8 CATAPULT  •  MODULE 05</a:t>
            </a:r>
          </a:p>
        </p:txBody>
      </p:sp>
      <p:sp>
        <p:nvSpPr>
          <p:cNvPr id="6" name="">
            <a:extLst xmlns:a="http://schemas.openxmlformats.org/drawingml/2006/main">
              <a:ext uri="{FF2B5EF4-FFF2-40B4-BE49-F238E27FC236}">
                <a16:creationId xmlns:a16="http://schemas.microsoft.com/office/drawing/2014/main" id="{3443C83B-6CE5-4ADB-B303-12581467F46A}"/>
              </a:ext>
            </a:extLst>
          </p:cNvPr>
          <p:cNvSpPr>
            <a:spLocks xmlns:a="http://schemas.openxmlformats.org/drawingml/2006/main" noGrp="1"/>
          </p:cNvSpPr>
          <p:nvPr/>
        </p:nvSpPr>
        <p:spPr>
          <a:xfrm xmlns:a="http://schemas.openxmlformats.org/drawingml/2006/main">
            <a:off x="11049000" y="64960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A94424"/>
                </a:solidFill>
              </a:defRPr>
            </a:pPr>
            <a:r>
              <a:rPr sz="975" b="1">
                <a:solidFill>
                  <a:srgbClr val="A94424"/>
                </a:solidFill>
              </a:rPr>
              <a:t>03</a:t>
            </a:r>
          </a:p>
        </p:txBody>
      </p:sp>
      <p:sp>
        <p:nvSpPr>
          <p:cNvPr id="7" name="">
            <a:extLst xmlns:a="http://schemas.openxmlformats.org/drawingml/2006/main">
              <a:ext uri="{FF2B5EF4-FFF2-40B4-BE49-F238E27FC236}">
                <a16:creationId xmlns:a16="http://schemas.microsoft.com/office/drawing/2014/main" id="{09BF24B1-3605-4C3B-8521-C5C0BB4357E0}"/>
              </a:ext>
            </a:extLst>
          </p:cNvPr>
          <p:cNvSpPr>
            <a:spLocks xmlns:a="http://schemas.openxmlformats.org/drawingml/2006/main" noGrp="1"/>
          </p:cNvSpPr>
          <p:nvPr/>
        </p:nvSpPr>
        <p:spPr>
          <a:xfrm xmlns:a="http://schemas.openxmlformats.org/drawingml/2006/main">
            <a:off x="685800" y="1381125"/>
            <a:ext cx="4800600" cy="2238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0">
                <a:solidFill>
                  <a:srgbClr val="17232B"/>
                </a:solidFill>
              </a:defRPr>
            </a:pPr>
            <a:r>
              <a:rPr sz="1725" b="0">
                <a:solidFill>
                  <a:srgbClr val="17232B"/>
                </a:solidFill>
              </a:rPr>
              <a:t>Divergent thinking produces alternatives that differ in system organisation, stability or component relationships—not just colour. A PMI records plusses, minusses and interesting points against the brief, materials, likely performance and production demands. The chosen concept needs an evidence-based trade-off.</a:t>
            </a:r>
          </a:p>
        </p:txBody>
      </p:sp>
      <p:sp>
        <p:nvSpPr>
          <p:cNvPr id="8" name="">
            <a:extLst xmlns:a="http://schemas.openxmlformats.org/drawingml/2006/main">
              <a:ext uri="{FF2B5EF4-FFF2-40B4-BE49-F238E27FC236}">
                <a16:creationId xmlns:a16="http://schemas.microsoft.com/office/drawing/2014/main" id="{D9C80276-FAD9-44D7-B182-F90C23D47721}"/>
              </a:ext>
            </a:extLst>
          </p:cNvPr>
          <p:cNvSpPr>
            <a:spLocks xmlns:a="http://schemas.openxmlformats.org/drawingml/2006/main" noGrp="1"/>
          </p:cNvSpPr>
          <p:nvPr/>
        </p:nvSpPr>
        <p:spPr>
          <a:xfrm xmlns:a="http://schemas.openxmlformats.org/drawingml/2006/main">
            <a:off x="685800" y="3905250"/>
            <a:ext cx="4762500" cy="0"/>
          </a:xfrm>
          <a:prstGeom xmlns:a="http://schemas.openxmlformats.org/drawingml/2006/main" prst="line">
            <a:avLst/>
          </a:prstGeom>
          <a:noFill xmlns:a="http://schemas.openxmlformats.org/drawingml/2006/main"/>
          <a:ln xmlns:a="http://schemas.openxmlformats.org/drawingml/2006/main" w="38100">
            <a:solidFill>
              <a:srgbClr val="F0B84B"/>
            </a:solidFill>
            <a:prstDash val="solid"/>
          </a:ln>
        </p:spPr>
      </p:sp>
      <p:sp>
        <p:nvSpPr>
          <p:cNvPr id="9" name="">
            <a:extLst xmlns:a="http://schemas.openxmlformats.org/drawingml/2006/main">
              <a:ext uri="{FF2B5EF4-FFF2-40B4-BE49-F238E27FC236}">
                <a16:creationId xmlns:a16="http://schemas.microsoft.com/office/drawing/2014/main" id="{2DFEDBF7-3502-4D33-A2A9-43EB56E7B33C}"/>
              </a:ext>
            </a:extLst>
          </p:cNvPr>
          <p:cNvSpPr>
            <a:spLocks xmlns:a="http://schemas.openxmlformats.org/drawingml/2006/main" noGrp="1"/>
          </p:cNvSpPr>
          <p:nvPr/>
        </p:nvSpPr>
        <p:spPr>
          <a:xfrm xmlns:a="http://schemas.openxmlformats.org/drawingml/2006/main">
            <a:off x="685800" y="4171950"/>
            <a:ext cx="4800600" cy="1219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a:solidFill>
                  <a:srgbClr val="A94424"/>
                </a:solidFill>
              </a:defRPr>
            </a:pPr>
            <a:r>
              <a:rPr sz="1575" b="1">
                <a:solidFill>
                  <a:srgbClr val="A94424"/>
                </a:solidFill>
              </a:rPr>
              <a:t>Decision: identify the evidence that makes one concept a stronger candidate within the confirmed constraints.</a:t>
            </a:r>
          </a:p>
        </p:txBody>
      </p:sp>
      <p:sp>
        <p:nvSpPr>
          <p:cNvPr id="10" name="">
            <a:extLst xmlns:a="http://schemas.openxmlformats.org/drawingml/2006/main">
              <a:ext uri="{FF2B5EF4-FFF2-40B4-BE49-F238E27FC236}">
                <a16:creationId xmlns:a16="http://schemas.microsoft.com/office/drawing/2014/main" id="{EEA91FAB-E50D-4C57-9AC5-8A5E6BCFE0BC}"/>
              </a:ext>
            </a:extLst>
          </p:cNvPr>
          <p:cNvSpPr>
            <a:spLocks xmlns:a="http://schemas.openxmlformats.org/drawingml/2006/main" noGrp="1"/>
          </p:cNvSpPr>
          <p:nvPr/>
        </p:nvSpPr>
        <p:spPr>
          <a:xfrm xmlns:a="http://schemas.openxmlformats.org/drawingml/2006/main">
            <a:off x="7581900" y="2371725"/>
            <a:ext cx="266700" cy="247650"/>
          </a:xfrm>
          <a:prstGeom xmlns:a="http://schemas.openxmlformats.org/drawingml/2006/main" prst="rightArrow">
            <a:avLst/>
          </a:prstGeom>
          <a:solidFill xmlns:a="http://schemas.openxmlformats.org/drawingml/2006/main">
            <a:srgbClr val="F0B84B"/>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AC3FDA6D-CAA7-4595-9F9E-5B3167DD367C}"/>
              </a:ext>
            </a:extLst>
          </p:cNvPr>
          <p:cNvSpPr>
            <a:spLocks xmlns:a="http://schemas.openxmlformats.org/drawingml/2006/main" noGrp="1"/>
          </p:cNvSpPr>
          <p:nvPr/>
        </p:nvSpPr>
        <p:spPr>
          <a:xfrm xmlns:a="http://schemas.openxmlformats.org/drawingml/2006/main">
            <a:off x="9296400" y="2371725"/>
            <a:ext cx="266700" cy="247650"/>
          </a:xfrm>
          <a:prstGeom xmlns:a="http://schemas.openxmlformats.org/drawingml/2006/main" prst="rightArrow">
            <a:avLst/>
          </a:prstGeom>
          <a:solidFill xmlns:a="http://schemas.openxmlformats.org/drawingml/2006/main">
            <a:srgbClr val="F0B84B"/>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F1B51626-DAD5-4B22-ACBC-C56FCC206EBD}"/>
              </a:ext>
            </a:extLst>
          </p:cNvPr>
          <p:cNvSpPr>
            <a:spLocks xmlns:a="http://schemas.openxmlformats.org/drawingml/2006/main" noGrp="1"/>
          </p:cNvSpPr>
          <p:nvPr/>
        </p:nvSpPr>
        <p:spPr>
          <a:xfrm xmlns:a="http://schemas.openxmlformats.org/drawingml/2006/main">
            <a:off x="6191250" y="2076450"/>
            <a:ext cx="1333500" cy="838200"/>
          </a:xfrm>
          <a:prstGeom xmlns:a="http://schemas.openxmlformats.org/drawingml/2006/main" prst="roundRect">
            <a:avLst>
              <a:gd name="adj" fmla="val 9091"/>
            </a:avLst>
          </a:prstGeom>
          <a:solidFill xmlns:a="http://schemas.openxmlformats.org/drawingml/2006/main">
            <a:srgbClr val="E7EEF0"/>
          </a:solidFill>
          <a:ln xmlns:a="http://schemas.openxmlformats.org/drawingml/2006/main" w="9525">
            <a:solidFill>
              <a:srgbClr val="CAD4D8"/>
            </a:solidFill>
            <a:prstDash val="solid"/>
          </a:ln>
        </p:spPr>
        <p:txBody>
          <a:bodyPr xmlns:a="http://schemas.openxmlformats.org/drawingml/2006/main"/>
          <a:lstStyle xmlns:a="http://schemas.openxmlformats.org/drawingml/2006/main"/>
          <a:p xmlns:a="http://schemas.openxmlformats.org/drawingml/2006/main">
            <a:pPr algn="ctr">
              <a:defRPr sz="1200" b="1">
                <a:solidFill>
                  <a:srgbClr val="17232B"/>
                </a:solidFill>
              </a:defRPr>
            </a:pPr>
            <a:r>
              <a:rPr sz="1200" b="1">
                <a:solidFill>
                  <a:srgbClr val="17232B"/>
                </a:solidFill>
              </a:rPr>
              <a:t>DIVERGE</a:t>
            </a:r>
          </a:p>
        </p:txBody>
      </p:sp>
      <p:sp>
        <p:nvSpPr>
          <p:cNvPr id="13" name="">
            <a:extLst xmlns:a="http://schemas.openxmlformats.org/drawingml/2006/main">
              <a:ext uri="{FF2B5EF4-FFF2-40B4-BE49-F238E27FC236}">
                <a16:creationId xmlns:a16="http://schemas.microsoft.com/office/drawing/2014/main" id="{88732DE8-F0A8-4FE9-BDF4-818E02032CC6}"/>
              </a:ext>
            </a:extLst>
          </p:cNvPr>
          <p:cNvSpPr>
            <a:spLocks xmlns:a="http://schemas.openxmlformats.org/drawingml/2006/main" noGrp="1"/>
          </p:cNvSpPr>
          <p:nvPr/>
        </p:nvSpPr>
        <p:spPr>
          <a:xfrm xmlns:a="http://schemas.openxmlformats.org/drawingml/2006/main">
            <a:off x="7905750" y="2076450"/>
            <a:ext cx="1333500" cy="838200"/>
          </a:xfrm>
          <a:prstGeom xmlns:a="http://schemas.openxmlformats.org/drawingml/2006/main" prst="roundRect">
            <a:avLst>
              <a:gd name="adj" fmla="val 9091"/>
            </a:avLst>
          </a:prstGeom>
          <a:solidFill xmlns:a="http://schemas.openxmlformats.org/drawingml/2006/main">
            <a:srgbClr val="FFFFFF"/>
          </a:solidFill>
          <a:ln xmlns:a="http://schemas.openxmlformats.org/drawingml/2006/main" w="9525">
            <a:solidFill>
              <a:srgbClr val="CAD4D8"/>
            </a:solidFill>
            <a:prstDash val="solid"/>
          </a:ln>
        </p:spPr>
        <p:txBody>
          <a:bodyPr xmlns:a="http://schemas.openxmlformats.org/drawingml/2006/main"/>
          <a:lstStyle xmlns:a="http://schemas.openxmlformats.org/drawingml/2006/main"/>
          <a:p xmlns:a="http://schemas.openxmlformats.org/drawingml/2006/main">
            <a:pPr algn="ctr">
              <a:defRPr sz="1200" b="1">
                <a:solidFill>
                  <a:srgbClr val="17232B"/>
                </a:solidFill>
              </a:defRPr>
            </a:pPr>
            <a:r>
              <a:rPr sz="1200" b="1">
                <a:solidFill>
                  <a:srgbClr val="17232B"/>
                </a:solidFill>
              </a:rPr>
              <a:t>COMPARE</a:t>
            </a:r>
          </a:p>
        </p:txBody>
      </p:sp>
      <p:sp>
        <p:nvSpPr>
          <p:cNvPr id="14" name="">
            <a:extLst xmlns:a="http://schemas.openxmlformats.org/drawingml/2006/main">
              <a:ext uri="{FF2B5EF4-FFF2-40B4-BE49-F238E27FC236}">
                <a16:creationId xmlns:a16="http://schemas.microsoft.com/office/drawing/2014/main" id="{25AD84CC-521D-47A7-A308-D29AA42DB88E}"/>
              </a:ext>
            </a:extLst>
          </p:cNvPr>
          <p:cNvSpPr>
            <a:spLocks xmlns:a="http://schemas.openxmlformats.org/drawingml/2006/main" noGrp="1"/>
          </p:cNvSpPr>
          <p:nvPr/>
        </p:nvSpPr>
        <p:spPr>
          <a:xfrm xmlns:a="http://schemas.openxmlformats.org/drawingml/2006/main">
            <a:off x="9620250" y="2076450"/>
            <a:ext cx="1333500" cy="838200"/>
          </a:xfrm>
          <a:prstGeom xmlns:a="http://schemas.openxmlformats.org/drawingml/2006/main" prst="roundRect">
            <a:avLst>
              <a:gd name="adj" fmla="val 9091"/>
            </a:avLst>
          </a:prstGeom>
          <a:solidFill xmlns:a="http://schemas.openxmlformats.org/drawingml/2006/main">
            <a:srgbClr val="FFFFFF"/>
          </a:solidFill>
          <a:ln xmlns:a="http://schemas.openxmlformats.org/drawingml/2006/main" w="9525">
            <a:solidFill>
              <a:srgbClr val="CAD4D8"/>
            </a:solidFill>
            <a:prstDash val="solid"/>
          </a:ln>
        </p:spPr>
        <p:txBody>
          <a:bodyPr xmlns:a="http://schemas.openxmlformats.org/drawingml/2006/main"/>
          <a:lstStyle xmlns:a="http://schemas.openxmlformats.org/drawingml/2006/main"/>
          <a:p xmlns:a="http://schemas.openxmlformats.org/drawingml/2006/main">
            <a:pPr algn="ctr">
              <a:defRPr sz="1200" b="1">
                <a:solidFill>
                  <a:srgbClr val="17232B"/>
                </a:solidFill>
              </a:defRPr>
            </a:pPr>
            <a:r>
              <a:rPr sz="1200" b="1">
                <a:solidFill>
                  <a:srgbClr val="17232B"/>
                </a:solidFill>
              </a:rPr>
              <a:t>JUSTIFY</a:t>
            </a:r>
          </a:p>
        </p:txBody>
      </p:sp>
      <p:sp>
        <p:nvSpPr>
          <p:cNvPr id="15" name="">
            <a:extLst xmlns:a="http://schemas.openxmlformats.org/drawingml/2006/main">
              <a:ext uri="{FF2B5EF4-FFF2-40B4-BE49-F238E27FC236}">
                <a16:creationId xmlns:a16="http://schemas.microsoft.com/office/drawing/2014/main" id="{C0B2B51D-ADC7-4BDE-ACAE-E28C477E7999}"/>
              </a:ext>
            </a:extLst>
          </p:cNvPr>
          <p:cNvSpPr>
            <a:spLocks xmlns:a="http://schemas.openxmlformats.org/drawingml/2006/main" noGrp="1"/>
          </p:cNvSpPr>
          <p:nvPr/>
        </p:nvSpPr>
        <p:spPr>
          <a:xfrm xmlns:a="http://schemas.openxmlformats.org/drawingml/2006/main">
            <a:off x="6191250" y="4762500"/>
            <a:ext cx="4762500" cy="552450"/>
          </a:xfrm>
          <a:prstGeom xmlns:a="http://schemas.openxmlformats.org/drawingml/2006/main" prst="rect">
            <a:avLst/>
          </a:prstGeom>
          <a:solidFill xmlns:a="http://schemas.openxmlformats.org/drawingml/2006/main">
            <a:srgbClr val="FFF4D8"/>
          </a:solidFill>
          <a:ln xmlns:a="http://schemas.openxmlformats.org/drawingml/2006/main" w="9525">
            <a:solidFill>
              <a:srgbClr val="F0B84B"/>
            </a:solidFill>
            <a:prstDash val="solid"/>
          </a:ln>
        </p:spPr>
        <p:txBody>
          <a:bodyPr xmlns:a="http://schemas.openxmlformats.org/drawingml/2006/main"/>
          <a:lstStyle xmlns:a="http://schemas.openxmlformats.org/drawingml/2006/main"/>
          <a:p xmlns:a="http://schemas.openxmlformats.org/drawingml/2006/main">
            <a:pPr algn="l">
              <a:defRPr sz="1350" b="1">
                <a:solidFill>
                  <a:srgbClr val="184F5E"/>
                </a:solidFill>
              </a:defRPr>
            </a:pPr>
            <a:r>
              <a:rPr sz="1350" b="1">
                <a:solidFill>
                  <a:srgbClr val="184F5E"/>
                </a:solidFill>
              </a:rPr>
              <a:t>NOTICE  Selection follows evidence and trade-offs, not appearance or a quick vote.</a:t>
            </a:r>
          </a:p>
        </p:txBody>
      </p:sp>
    </p:spTree>
    <p:extLst>
      <p:ext uri="{BB962C8B-B14F-4D97-AF65-F5344CB8AC3E}">
        <p14:creationId xmlns:p14="http://schemas.microsoft.com/office/powerpoint/2010/main" val="1472769482"/>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9B77F5DA-C758-4DED-A60B-F63E92519A77}"/>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F0B84B"/>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234FF56B-7C2E-424D-B0BF-465225F14E41}"/>
              </a:ext>
            </a:extLst>
          </p:cNvPr>
          <p:cNvSpPr>
            <a:spLocks xmlns:a="http://schemas.openxmlformats.org/drawingml/2006/main" noGrp="1"/>
          </p:cNvSpPr>
          <p:nvPr/>
        </p:nvSpPr>
        <p:spPr>
          <a:xfrm xmlns:a="http://schemas.openxmlformats.org/drawingml/2006/main">
            <a:off x="685800" y="3048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A94424"/>
                </a:solidFill>
              </a:defRPr>
            </a:pPr>
            <a:r>
              <a:rPr sz="1050" b="1">
                <a:solidFill>
                  <a:srgbClr val="A94424"/>
                </a:solidFill>
              </a:rPr>
              <a:t>MODULE 05  /  BUILDABLE DESIGN</a:t>
            </a:r>
          </a:p>
        </p:txBody>
      </p:sp>
      <p:sp>
        <p:nvSpPr>
          <p:cNvPr id="3" name="">
            <a:extLst xmlns:a="http://schemas.openxmlformats.org/drawingml/2006/main">
              <a:ext uri="{FF2B5EF4-FFF2-40B4-BE49-F238E27FC236}">
                <a16:creationId xmlns:a16="http://schemas.microsoft.com/office/drawing/2014/main" id="{FCDF6D16-95B8-4536-A318-13676EA40B37}"/>
              </a:ext>
            </a:extLst>
          </p:cNvPr>
          <p:cNvSpPr>
            <a:spLocks xmlns:a="http://schemas.openxmlformats.org/drawingml/2006/main" noGrp="1"/>
          </p:cNvSpPr>
          <p:nvPr/>
        </p:nvSpPr>
        <p:spPr>
          <a:xfrm xmlns:a="http://schemas.openxmlformats.org/drawingml/2006/main">
            <a:off x="685800" y="619125"/>
            <a:ext cx="108204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a:solidFill>
                  <a:srgbClr val="17232B"/>
                </a:solidFill>
              </a:defRPr>
            </a:pPr>
            <a:r>
              <a:rPr sz="2850" b="1">
                <a:solidFill>
                  <a:srgbClr val="17232B"/>
                </a:solidFill>
              </a:rPr>
              <a:t>Every view must describe the same object</a:t>
            </a:r>
          </a:p>
        </p:txBody>
      </p:sp>
      <p:sp>
        <p:nvSpPr>
          <p:cNvPr id="4" name="">
            <a:extLst xmlns:a="http://schemas.openxmlformats.org/drawingml/2006/main">
              <a:ext uri="{FF2B5EF4-FFF2-40B4-BE49-F238E27FC236}">
                <a16:creationId xmlns:a16="http://schemas.microsoft.com/office/drawing/2014/main" id="{5951EB1C-3E96-4AA8-B533-A3F5CC82810C}"/>
              </a:ext>
            </a:extLst>
          </p:cNvPr>
          <p:cNvSpPr>
            <a:spLocks xmlns:a="http://schemas.openxmlformats.org/drawingml/2006/main" noGrp="1"/>
          </p:cNvSpPr>
          <p:nvPr/>
        </p:nvSpPr>
        <p:spPr>
          <a:xfrm xmlns:a="http://schemas.openxmlformats.org/drawingml/2006/main">
            <a:off x="685800" y="6400800"/>
            <a:ext cx="10820400" cy="0"/>
          </a:xfrm>
          <a:prstGeom xmlns:a="http://schemas.openxmlformats.org/drawingml/2006/main" prst="line">
            <a:avLst/>
          </a:prstGeom>
          <a:noFill xmlns:a="http://schemas.openxmlformats.org/drawingml/2006/main"/>
          <a:ln xmlns:a="http://schemas.openxmlformats.org/drawingml/2006/main" w="9525">
            <a:solidFill>
              <a:srgbClr val="CAD4D8"/>
            </a:solidFill>
            <a:prstDash val="solid"/>
          </a:ln>
        </p:spPr>
      </p:sp>
      <p:sp>
        <p:nvSpPr>
          <p:cNvPr id="5" name="">
            <a:extLst xmlns:a="http://schemas.openxmlformats.org/drawingml/2006/main">
              <a:ext uri="{FF2B5EF4-FFF2-40B4-BE49-F238E27FC236}">
                <a16:creationId xmlns:a16="http://schemas.microsoft.com/office/drawing/2014/main" id="{57B3DF40-67DA-4161-A317-F823A6459412}"/>
              </a:ext>
            </a:extLst>
          </p:cNvPr>
          <p:cNvSpPr>
            <a:spLocks xmlns:a="http://schemas.openxmlformats.org/drawingml/2006/main" noGrp="1"/>
          </p:cNvSpPr>
          <p:nvPr/>
        </p:nvSpPr>
        <p:spPr>
          <a:xfrm xmlns:a="http://schemas.openxmlformats.org/drawingml/2006/main">
            <a:off x="685800" y="649605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53636D"/>
                </a:solidFill>
              </a:defRPr>
            </a:pPr>
            <a:r>
              <a:rPr sz="975" b="1">
                <a:solidFill>
                  <a:srgbClr val="53636D"/>
                </a:solidFill>
              </a:rPr>
              <a:t>YEAR 8 CATAPULT  •  MODULE 05</a:t>
            </a:r>
          </a:p>
        </p:txBody>
      </p:sp>
      <p:sp>
        <p:nvSpPr>
          <p:cNvPr id="6" name="">
            <a:extLst xmlns:a="http://schemas.openxmlformats.org/drawingml/2006/main">
              <a:ext uri="{FF2B5EF4-FFF2-40B4-BE49-F238E27FC236}">
                <a16:creationId xmlns:a16="http://schemas.microsoft.com/office/drawing/2014/main" id="{AB2C4059-83FF-4ADD-ADA2-FD5572A6BF0E}"/>
              </a:ext>
            </a:extLst>
          </p:cNvPr>
          <p:cNvSpPr>
            <a:spLocks xmlns:a="http://schemas.openxmlformats.org/drawingml/2006/main" noGrp="1"/>
          </p:cNvSpPr>
          <p:nvPr/>
        </p:nvSpPr>
        <p:spPr>
          <a:xfrm xmlns:a="http://schemas.openxmlformats.org/drawingml/2006/main">
            <a:off x="11049000" y="64960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A94424"/>
                </a:solidFill>
              </a:defRPr>
            </a:pPr>
            <a:r>
              <a:rPr sz="975" b="1">
                <a:solidFill>
                  <a:srgbClr val="A94424"/>
                </a:solidFill>
              </a:rPr>
              <a:t>04</a:t>
            </a:r>
          </a:p>
        </p:txBody>
      </p:sp>
      <p:sp>
        <p:nvSpPr>
          <p:cNvPr id="7" name="">
            <a:extLst xmlns:a="http://schemas.openxmlformats.org/drawingml/2006/main">
              <a:ext uri="{FF2B5EF4-FFF2-40B4-BE49-F238E27FC236}">
                <a16:creationId xmlns:a16="http://schemas.microsoft.com/office/drawing/2014/main" id="{6A7C4BA6-F832-4B38-9E93-17603C202C7E}"/>
              </a:ext>
            </a:extLst>
          </p:cNvPr>
          <p:cNvSpPr>
            <a:spLocks xmlns:a="http://schemas.openxmlformats.org/drawingml/2006/main" noGrp="1"/>
          </p:cNvSpPr>
          <p:nvPr/>
        </p:nvSpPr>
        <p:spPr>
          <a:xfrm xmlns:a="http://schemas.openxmlformats.org/drawingml/2006/main">
            <a:off x="6705600" y="1381125"/>
            <a:ext cx="4800600" cy="2238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0">
                <a:solidFill>
                  <a:srgbClr val="17232B"/>
                </a:solidFill>
              </a:defRPr>
            </a:pPr>
            <a:r>
              <a:rPr sz="1725" b="0">
                <a:solidFill>
                  <a:srgbClr val="17232B"/>
                </a:solidFill>
              </a:rPr>
              <a:t>A pictorial drawing communicates overall form. Orthographic front, top and side views communicate features without perspective. Labels and dimensions make the drawing useful for production only when corresponding features align and the views do not contradict one another.</a:t>
            </a:r>
          </a:p>
        </p:txBody>
      </p:sp>
      <p:sp>
        <p:nvSpPr>
          <p:cNvPr id="8" name="">
            <a:extLst xmlns:a="http://schemas.openxmlformats.org/drawingml/2006/main">
              <a:ext uri="{FF2B5EF4-FFF2-40B4-BE49-F238E27FC236}">
                <a16:creationId xmlns:a16="http://schemas.microsoft.com/office/drawing/2014/main" id="{09D35F29-6FE1-40F2-983A-30C24C9C524E}"/>
              </a:ext>
            </a:extLst>
          </p:cNvPr>
          <p:cNvSpPr>
            <a:spLocks xmlns:a="http://schemas.openxmlformats.org/drawingml/2006/main" noGrp="1"/>
          </p:cNvSpPr>
          <p:nvPr/>
        </p:nvSpPr>
        <p:spPr>
          <a:xfrm xmlns:a="http://schemas.openxmlformats.org/drawingml/2006/main">
            <a:off x="6705600" y="3905250"/>
            <a:ext cx="4762500" cy="0"/>
          </a:xfrm>
          <a:prstGeom xmlns:a="http://schemas.openxmlformats.org/drawingml/2006/main" prst="line">
            <a:avLst/>
          </a:prstGeom>
          <a:noFill xmlns:a="http://schemas.openxmlformats.org/drawingml/2006/main"/>
          <a:ln xmlns:a="http://schemas.openxmlformats.org/drawingml/2006/main" w="38100">
            <a:solidFill>
              <a:srgbClr val="F0B84B"/>
            </a:solidFill>
            <a:prstDash val="solid"/>
          </a:ln>
        </p:spPr>
      </p:sp>
      <p:sp>
        <p:nvSpPr>
          <p:cNvPr id="9" name="">
            <a:extLst xmlns:a="http://schemas.openxmlformats.org/drawingml/2006/main">
              <a:ext uri="{FF2B5EF4-FFF2-40B4-BE49-F238E27FC236}">
                <a16:creationId xmlns:a16="http://schemas.microsoft.com/office/drawing/2014/main" id="{80240CE0-D321-4ADB-A0DF-3854F3BE6E52}"/>
              </a:ext>
            </a:extLst>
          </p:cNvPr>
          <p:cNvSpPr>
            <a:spLocks xmlns:a="http://schemas.openxmlformats.org/drawingml/2006/main" noGrp="1"/>
          </p:cNvSpPr>
          <p:nvPr/>
        </p:nvSpPr>
        <p:spPr>
          <a:xfrm xmlns:a="http://schemas.openxmlformats.org/drawingml/2006/main">
            <a:off x="6705600" y="4171950"/>
            <a:ext cx="4800600" cy="1219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a:solidFill>
                  <a:srgbClr val="A94424"/>
                </a:solidFill>
              </a:defRPr>
            </a:pPr>
            <a:r>
              <a:rPr sz="1575" b="1">
                <a:solidFill>
                  <a:srgbClr val="A94424"/>
                </a:solidFill>
              </a:rPr>
              <a:t>Check: choose one feature and trace it across the front, top and side views.</a:t>
            </a:r>
          </a:p>
        </p:txBody>
      </p:sp>
      <p:sp>
        <p:nvSpPr>
          <p:cNvPr id="10" name="">
            <a:extLst xmlns:a="http://schemas.openxmlformats.org/drawingml/2006/main">
              <a:ext uri="{FF2B5EF4-FFF2-40B4-BE49-F238E27FC236}">
                <a16:creationId xmlns:a16="http://schemas.microsoft.com/office/drawing/2014/main" id="{88CA02D6-5961-4973-B01B-F56E9A997FE1}"/>
              </a:ext>
            </a:extLst>
          </p:cNvPr>
          <p:cNvSpPr>
            <a:spLocks xmlns:a="http://schemas.openxmlformats.org/drawingml/2006/main" noGrp="1"/>
          </p:cNvSpPr>
          <p:nvPr/>
        </p:nvSpPr>
        <p:spPr>
          <a:xfrm xmlns:a="http://schemas.openxmlformats.org/drawingml/2006/main">
            <a:off x="685800" y="1714500"/>
            <a:ext cx="1422400" cy="1952625"/>
          </a:xfrm>
          <a:prstGeom xmlns:a="http://schemas.openxmlformats.org/drawingml/2006/main" prst="rect">
            <a:avLst/>
          </a:prstGeom>
          <a:solidFill xmlns:a="http://schemas.openxmlformats.org/drawingml/2006/main">
            <a:srgbClr val="FFFFFF"/>
          </a:solidFill>
          <a:ln xmlns:a="http://schemas.openxmlformats.org/drawingml/2006/main" w="19050">
            <a:solidFill>
              <a:srgbClr val="CAD4D8"/>
            </a:solidFill>
            <a:prstDash val="solid"/>
          </a:ln>
        </p:spPr>
      </p:sp>
      <p:sp>
        <p:nvSpPr>
          <p:cNvPr id="11" name="">
            <a:extLst xmlns:a="http://schemas.openxmlformats.org/drawingml/2006/main">
              <a:ext uri="{FF2B5EF4-FFF2-40B4-BE49-F238E27FC236}">
                <a16:creationId xmlns:a16="http://schemas.microsoft.com/office/drawing/2014/main" id="{8691CDA8-AA5E-4534-B5D3-7C17BA9A0963}"/>
              </a:ext>
            </a:extLst>
          </p:cNvPr>
          <p:cNvSpPr>
            <a:spLocks xmlns:a="http://schemas.openxmlformats.org/drawingml/2006/main" noGrp="1"/>
          </p:cNvSpPr>
          <p:nvPr/>
        </p:nvSpPr>
        <p:spPr>
          <a:xfrm xmlns:a="http://schemas.openxmlformats.org/drawingml/2006/main">
            <a:off x="685800" y="1962150"/>
            <a:ext cx="1422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725" b="1">
                <a:solidFill>
                  <a:srgbClr val="184F5E"/>
                </a:solidFill>
              </a:defRPr>
            </a:pPr>
            <a:r>
              <a:rPr sz="1725" b="1">
                <a:solidFill>
                  <a:srgbClr val="184F5E"/>
                </a:solidFill>
              </a:rPr>
              <a:t>FRONT</a:t>
            </a:r>
          </a:p>
        </p:txBody>
      </p:sp>
      <p:sp>
        <p:nvSpPr>
          <p:cNvPr id="12" name="">
            <a:extLst xmlns:a="http://schemas.openxmlformats.org/drawingml/2006/main">
              <a:ext uri="{FF2B5EF4-FFF2-40B4-BE49-F238E27FC236}">
                <a16:creationId xmlns:a16="http://schemas.microsoft.com/office/drawing/2014/main" id="{FED28B2A-2C9C-42CD-BC1E-F15BA71A0438}"/>
              </a:ext>
            </a:extLst>
          </p:cNvPr>
          <p:cNvSpPr>
            <a:spLocks xmlns:a="http://schemas.openxmlformats.org/drawingml/2006/main" noGrp="1"/>
          </p:cNvSpPr>
          <p:nvPr/>
        </p:nvSpPr>
        <p:spPr>
          <a:xfrm xmlns:a="http://schemas.openxmlformats.org/drawingml/2006/main">
            <a:off x="1066800" y="2533650"/>
            <a:ext cx="660400" cy="590550"/>
          </a:xfrm>
          <a:prstGeom xmlns:a="http://schemas.openxmlformats.org/drawingml/2006/main" prst="rect">
            <a:avLst/>
          </a:prstGeom>
          <a:noFill xmlns:a="http://schemas.openxmlformats.org/drawingml/2006/main"/>
          <a:ln xmlns:a="http://schemas.openxmlformats.org/drawingml/2006/main" w="28575">
            <a:solidFill>
              <a:srgbClr val="184F5E"/>
            </a:solidFill>
            <a:prstDash val="solid"/>
          </a:ln>
        </p:spPr>
      </p:sp>
      <p:sp>
        <p:nvSpPr>
          <p:cNvPr id="13" name="">
            <a:extLst xmlns:a="http://schemas.openxmlformats.org/drawingml/2006/main">
              <a:ext uri="{FF2B5EF4-FFF2-40B4-BE49-F238E27FC236}">
                <a16:creationId xmlns:a16="http://schemas.microsoft.com/office/drawing/2014/main" id="{41FCC881-965B-4B0A-844A-E2D4D44C0BE8}"/>
              </a:ext>
            </a:extLst>
          </p:cNvPr>
          <p:cNvSpPr>
            <a:spLocks xmlns:a="http://schemas.openxmlformats.org/drawingml/2006/main" noGrp="1"/>
          </p:cNvSpPr>
          <p:nvPr/>
        </p:nvSpPr>
        <p:spPr>
          <a:xfrm xmlns:a="http://schemas.openxmlformats.org/drawingml/2006/main">
            <a:off x="2355850" y="1714500"/>
            <a:ext cx="1422400" cy="1952625"/>
          </a:xfrm>
          <a:prstGeom xmlns:a="http://schemas.openxmlformats.org/drawingml/2006/main" prst="rect">
            <a:avLst/>
          </a:prstGeom>
          <a:solidFill xmlns:a="http://schemas.openxmlformats.org/drawingml/2006/main">
            <a:srgbClr val="E7EEF0"/>
          </a:solidFill>
          <a:ln xmlns:a="http://schemas.openxmlformats.org/drawingml/2006/main" w="19050">
            <a:solidFill>
              <a:srgbClr val="CAD4D8"/>
            </a:solidFill>
            <a:prstDash val="solid"/>
          </a:ln>
        </p:spPr>
      </p:sp>
      <p:sp>
        <p:nvSpPr>
          <p:cNvPr id="14" name="">
            <a:extLst xmlns:a="http://schemas.openxmlformats.org/drawingml/2006/main">
              <a:ext uri="{FF2B5EF4-FFF2-40B4-BE49-F238E27FC236}">
                <a16:creationId xmlns:a16="http://schemas.microsoft.com/office/drawing/2014/main" id="{00DD2366-4CDB-44B5-A0E0-3B072164A53E}"/>
              </a:ext>
            </a:extLst>
          </p:cNvPr>
          <p:cNvSpPr>
            <a:spLocks xmlns:a="http://schemas.openxmlformats.org/drawingml/2006/main" noGrp="1"/>
          </p:cNvSpPr>
          <p:nvPr/>
        </p:nvSpPr>
        <p:spPr>
          <a:xfrm xmlns:a="http://schemas.openxmlformats.org/drawingml/2006/main">
            <a:off x="2355850" y="1962150"/>
            <a:ext cx="1422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725" b="1">
                <a:solidFill>
                  <a:srgbClr val="A94424"/>
                </a:solidFill>
              </a:defRPr>
            </a:pPr>
            <a:r>
              <a:rPr sz="1725" b="1">
                <a:solidFill>
                  <a:srgbClr val="A94424"/>
                </a:solidFill>
              </a:rPr>
              <a:t>TOP</a:t>
            </a:r>
          </a:p>
        </p:txBody>
      </p:sp>
      <p:sp>
        <p:nvSpPr>
          <p:cNvPr id="15" name="">
            <a:extLst xmlns:a="http://schemas.openxmlformats.org/drawingml/2006/main">
              <a:ext uri="{FF2B5EF4-FFF2-40B4-BE49-F238E27FC236}">
                <a16:creationId xmlns:a16="http://schemas.microsoft.com/office/drawing/2014/main" id="{F41CD6E3-532A-4A54-B8FC-652C730695E0}"/>
              </a:ext>
            </a:extLst>
          </p:cNvPr>
          <p:cNvSpPr>
            <a:spLocks xmlns:a="http://schemas.openxmlformats.org/drawingml/2006/main" noGrp="1"/>
          </p:cNvSpPr>
          <p:nvPr/>
        </p:nvSpPr>
        <p:spPr>
          <a:xfrm xmlns:a="http://schemas.openxmlformats.org/drawingml/2006/main">
            <a:off x="2736850" y="2533650"/>
            <a:ext cx="660400" cy="762000"/>
          </a:xfrm>
          <a:prstGeom xmlns:a="http://schemas.openxmlformats.org/drawingml/2006/main" prst="rect">
            <a:avLst/>
          </a:prstGeom>
          <a:noFill xmlns:a="http://schemas.openxmlformats.org/drawingml/2006/main"/>
          <a:ln xmlns:a="http://schemas.openxmlformats.org/drawingml/2006/main" w="28575">
            <a:solidFill>
              <a:srgbClr val="184F5E"/>
            </a:solidFill>
            <a:prstDash val="solid"/>
          </a:ln>
        </p:spPr>
      </p:sp>
      <p:sp>
        <p:nvSpPr>
          <p:cNvPr id="16" name="">
            <a:extLst xmlns:a="http://schemas.openxmlformats.org/drawingml/2006/main">
              <a:ext uri="{FF2B5EF4-FFF2-40B4-BE49-F238E27FC236}">
                <a16:creationId xmlns:a16="http://schemas.microsoft.com/office/drawing/2014/main" id="{43048499-2BA4-4B6F-935F-FEBA10BA774D}"/>
              </a:ext>
            </a:extLst>
          </p:cNvPr>
          <p:cNvSpPr>
            <a:spLocks xmlns:a="http://schemas.openxmlformats.org/drawingml/2006/main" noGrp="1"/>
          </p:cNvSpPr>
          <p:nvPr/>
        </p:nvSpPr>
        <p:spPr>
          <a:xfrm xmlns:a="http://schemas.openxmlformats.org/drawingml/2006/main">
            <a:off x="4025900" y="1714500"/>
            <a:ext cx="1422400" cy="1952625"/>
          </a:xfrm>
          <a:prstGeom xmlns:a="http://schemas.openxmlformats.org/drawingml/2006/main" prst="rect">
            <a:avLst/>
          </a:prstGeom>
          <a:solidFill xmlns:a="http://schemas.openxmlformats.org/drawingml/2006/main">
            <a:srgbClr val="FFFFFF"/>
          </a:solidFill>
          <a:ln xmlns:a="http://schemas.openxmlformats.org/drawingml/2006/main" w="19050">
            <a:solidFill>
              <a:srgbClr val="CAD4D8"/>
            </a:solidFill>
            <a:prstDash val="solid"/>
          </a:ln>
        </p:spPr>
      </p:sp>
      <p:sp>
        <p:nvSpPr>
          <p:cNvPr id="17" name="">
            <a:extLst xmlns:a="http://schemas.openxmlformats.org/drawingml/2006/main">
              <a:ext uri="{FF2B5EF4-FFF2-40B4-BE49-F238E27FC236}">
                <a16:creationId xmlns:a16="http://schemas.microsoft.com/office/drawing/2014/main" id="{2260493C-138C-478E-8EF4-965DB4F68B37}"/>
              </a:ext>
            </a:extLst>
          </p:cNvPr>
          <p:cNvSpPr>
            <a:spLocks xmlns:a="http://schemas.openxmlformats.org/drawingml/2006/main" noGrp="1"/>
          </p:cNvSpPr>
          <p:nvPr/>
        </p:nvSpPr>
        <p:spPr>
          <a:xfrm xmlns:a="http://schemas.openxmlformats.org/drawingml/2006/main">
            <a:off x="4025900" y="1962150"/>
            <a:ext cx="1422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725" b="1">
                <a:solidFill>
                  <a:srgbClr val="184F5E"/>
                </a:solidFill>
              </a:defRPr>
            </a:pPr>
            <a:r>
              <a:rPr sz="1725" b="1">
                <a:solidFill>
                  <a:srgbClr val="184F5E"/>
                </a:solidFill>
              </a:rPr>
              <a:t>SIDE</a:t>
            </a:r>
          </a:p>
        </p:txBody>
      </p:sp>
      <p:sp>
        <p:nvSpPr>
          <p:cNvPr id="18" name="">
            <a:extLst xmlns:a="http://schemas.openxmlformats.org/drawingml/2006/main">
              <a:ext uri="{FF2B5EF4-FFF2-40B4-BE49-F238E27FC236}">
                <a16:creationId xmlns:a16="http://schemas.microsoft.com/office/drawing/2014/main" id="{BB0A130B-77B6-400E-A971-2A909CDB7354}"/>
              </a:ext>
            </a:extLst>
          </p:cNvPr>
          <p:cNvSpPr>
            <a:spLocks xmlns:a="http://schemas.openxmlformats.org/drawingml/2006/main" noGrp="1"/>
          </p:cNvSpPr>
          <p:nvPr/>
        </p:nvSpPr>
        <p:spPr>
          <a:xfrm xmlns:a="http://schemas.openxmlformats.org/drawingml/2006/main">
            <a:off x="4406900" y="2533650"/>
            <a:ext cx="660400" cy="933450"/>
          </a:xfrm>
          <a:prstGeom xmlns:a="http://schemas.openxmlformats.org/drawingml/2006/main" prst="rect">
            <a:avLst/>
          </a:prstGeom>
          <a:noFill xmlns:a="http://schemas.openxmlformats.org/drawingml/2006/main"/>
          <a:ln xmlns:a="http://schemas.openxmlformats.org/drawingml/2006/main" w="28575">
            <a:solidFill>
              <a:srgbClr val="184F5E"/>
            </a:solidFill>
            <a:prstDash val="solid"/>
          </a:ln>
        </p:spPr>
      </p:sp>
      <p:sp>
        <p:nvSpPr>
          <p:cNvPr id="19" name="">
            <a:extLst xmlns:a="http://schemas.openxmlformats.org/drawingml/2006/main">
              <a:ext uri="{FF2B5EF4-FFF2-40B4-BE49-F238E27FC236}">
                <a16:creationId xmlns:a16="http://schemas.microsoft.com/office/drawing/2014/main" id="{3A64EF4E-5BE7-4167-A6C7-167B11420BB3}"/>
              </a:ext>
            </a:extLst>
          </p:cNvPr>
          <p:cNvSpPr>
            <a:spLocks xmlns:a="http://schemas.openxmlformats.org/drawingml/2006/main" noGrp="1"/>
          </p:cNvSpPr>
          <p:nvPr/>
        </p:nvSpPr>
        <p:spPr>
          <a:xfrm xmlns:a="http://schemas.openxmlformats.org/drawingml/2006/main">
            <a:off x="685800" y="4762500"/>
            <a:ext cx="4762500" cy="552450"/>
          </a:xfrm>
          <a:prstGeom xmlns:a="http://schemas.openxmlformats.org/drawingml/2006/main" prst="rect">
            <a:avLst/>
          </a:prstGeom>
          <a:solidFill xmlns:a="http://schemas.openxmlformats.org/drawingml/2006/main">
            <a:srgbClr val="FFF4D8"/>
          </a:solidFill>
          <a:ln xmlns:a="http://schemas.openxmlformats.org/drawingml/2006/main" w="9525">
            <a:solidFill>
              <a:srgbClr val="F0B84B"/>
            </a:solidFill>
            <a:prstDash val="solid"/>
          </a:ln>
        </p:spPr>
        <p:txBody>
          <a:bodyPr xmlns:a="http://schemas.openxmlformats.org/drawingml/2006/main"/>
          <a:lstStyle xmlns:a="http://schemas.openxmlformats.org/drawingml/2006/main"/>
          <a:p xmlns:a="http://schemas.openxmlformats.org/drawingml/2006/main">
            <a:pPr algn="l">
              <a:defRPr sz="1350" b="1">
                <a:solidFill>
                  <a:srgbClr val="184F5E"/>
                </a:solidFill>
              </a:defRPr>
            </a:pPr>
            <a:r>
              <a:rPr sz="1350" b="1">
                <a:solidFill>
                  <a:srgbClr val="184F5E"/>
                </a:solidFill>
              </a:rPr>
              <a:t>NOTICE  If one feature disappears or shifts between views, the design is not fully communicated.</a:t>
            </a:r>
          </a:p>
        </p:txBody>
      </p:sp>
    </p:spTree>
    <p:extLst>
      <p:ext uri="{BB962C8B-B14F-4D97-AF65-F5344CB8AC3E}">
        <p14:creationId xmlns:p14="http://schemas.microsoft.com/office/powerpoint/2010/main" val="955866590"/>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F6145420-C5AE-4756-9083-9328AA3962CF}"/>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F0B84B"/>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5ADCA749-6205-4853-B2A6-96974B8DC598}"/>
              </a:ext>
            </a:extLst>
          </p:cNvPr>
          <p:cNvSpPr>
            <a:spLocks xmlns:a="http://schemas.openxmlformats.org/drawingml/2006/main" noGrp="1"/>
          </p:cNvSpPr>
          <p:nvPr/>
        </p:nvSpPr>
        <p:spPr>
          <a:xfrm xmlns:a="http://schemas.openxmlformats.org/drawingml/2006/main">
            <a:off x="685800" y="3048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A94424"/>
                </a:solidFill>
              </a:defRPr>
            </a:pPr>
            <a:r>
              <a:rPr sz="1050" b="1">
                <a:solidFill>
                  <a:srgbClr val="A94424"/>
                </a:solidFill>
              </a:rPr>
              <a:t>MODULE 05  /  BUILDABLE DESIGN</a:t>
            </a:r>
          </a:p>
        </p:txBody>
      </p:sp>
      <p:sp>
        <p:nvSpPr>
          <p:cNvPr id="3" name="">
            <a:extLst xmlns:a="http://schemas.openxmlformats.org/drawingml/2006/main">
              <a:ext uri="{FF2B5EF4-FFF2-40B4-BE49-F238E27FC236}">
                <a16:creationId xmlns:a16="http://schemas.microsoft.com/office/drawing/2014/main" id="{5348A2E4-FE69-4F52-B746-B7BF527C400C}"/>
              </a:ext>
            </a:extLst>
          </p:cNvPr>
          <p:cNvSpPr>
            <a:spLocks xmlns:a="http://schemas.openxmlformats.org/drawingml/2006/main" noGrp="1"/>
          </p:cNvSpPr>
          <p:nvPr/>
        </p:nvSpPr>
        <p:spPr>
          <a:xfrm xmlns:a="http://schemas.openxmlformats.org/drawingml/2006/main">
            <a:off x="685800" y="619125"/>
            <a:ext cx="108204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a:solidFill>
                  <a:srgbClr val="17232B"/>
                </a:solidFill>
              </a:defRPr>
            </a:pPr>
            <a:r>
              <a:rPr sz="2850" b="1">
                <a:solidFill>
                  <a:srgbClr val="17232B"/>
                </a:solidFill>
              </a:rPr>
              <a:t>A cutting list links drawings to material decisions</a:t>
            </a:r>
          </a:p>
        </p:txBody>
      </p:sp>
      <p:sp>
        <p:nvSpPr>
          <p:cNvPr id="4" name="">
            <a:extLst xmlns:a="http://schemas.openxmlformats.org/drawingml/2006/main">
              <a:ext uri="{FF2B5EF4-FFF2-40B4-BE49-F238E27FC236}">
                <a16:creationId xmlns:a16="http://schemas.microsoft.com/office/drawing/2014/main" id="{2F6645C2-F5BB-431C-826E-9899DC3CC069}"/>
              </a:ext>
            </a:extLst>
          </p:cNvPr>
          <p:cNvSpPr>
            <a:spLocks xmlns:a="http://schemas.openxmlformats.org/drawingml/2006/main" noGrp="1"/>
          </p:cNvSpPr>
          <p:nvPr/>
        </p:nvSpPr>
        <p:spPr>
          <a:xfrm xmlns:a="http://schemas.openxmlformats.org/drawingml/2006/main">
            <a:off x="685800" y="6400800"/>
            <a:ext cx="10820400" cy="0"/>
          </a:xfrm>
          <a:prstGeom xmlns:a="http://schemas.openxmlformats.org/drawingml/2006/main" prst="line">
            <a:avLst/>
          </a:prstGeom>
          <a:noFill xmlns:a="http://schemas.openxmlformats.org/drawingml/2006/main"/>
          <a:ln xmlns:a="http://schemas.openxmlformats.org/drawingml/2006/main" w="9525">
            <a:solidFill>
              <a:srgbClr val="CAD4D8"/>
            </a:solidFill>
            <a:prstDash val="solid"/>
          </a:ln>
        </p:spPr>
      </p:sp>
      <p:sp>
        <p:nvSpPr>
          <p:cNvPr id="5" name="">
            <a:extLst xmlns:a="http://schemas.openxmlformats.org/drawingml/2006/main">
              <a:ext uri="{FF2B5EF4-FFF2-40B4-BE49-F238E27FC236}">
                <a16:creationId xmlns:a16="http://schemas.microsoft.com/office/drawing/2014/main" id="{0805785C-23C3-4EEA-96BC-3B2B21C4F261}"/>
              </a:ext>
            </a:extLst>
          </p:cNvPr>
          <p:cNvSpPr>
            <a:spLocks xmlns:a="http://schemas.openxmlformats.org/drawingml/2006/main" noGrp="1"/>
          </p:cNvSpPr>
          <p:nvPr/>
        </p:nvSpPr>
        <p:spPr>
          <a:xfrm xmlns:a="http://schemas.openxmlformats.org/drawingml/2006/main">
            <a:off x="685800" y="649605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53636D"/>
                </a:solidFill>
              </a:defRPr>
            </a:pPr>
            <a:r>
              <a:rPr sz="975" b="1">
                <a:solidFill>
                  <a:srgbClr val="53636D"/>
                </a:solidFill>
              </a:rPr>
              <a:t>YEAR 8 CATAPULT  •  MODULE 05</a:t>
            </a:r>
          </a:p>
        </p:txBody>
      </p:sp>
      <p:sp>
        <p:nvSpPr>
          <p:cNvPr id="6" name="">
            <a:extLst xmlns:a="http://schemas.openxmlformats.org/drawingml/2006/main">
              <a:ext uri="{FF2B5EF4-FFF2-40B4-BE49-F238E27FC236}">
                <a16:creationId xmlns:a16="http://schemas.microsoft.com/office/drawing/2014/main" id="{92D2A06C-5BCD-415B-A41F-7B491DB913EB}"/>
              </a:ext>
            </a:extLst>
          </p:cNvPr>
          <p:cNvSpPr>
            <a:spLocks xmlns:a="http://schemas.openxmlformats.org/drawingml/2006/main" noGrp="1"/>
          </p:cNvSpPr>
          <p:nvPr/>
        </p:nvSpPr>
        <p:spPr>
          <a:xfrm xmlns:a="http://schemas.openxmlformats.org/drawingml/2006/main">
            <a:off x="11049000" y="64960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A94424"/>
                </a:solidFill>
              </a:defRPr>
            </a:pPr>
            <a:r>
              <a:rPr sz="975" b="1">
                <a:solidFill>
                  <a:srgbClr val="A94424"/>
                </a:solidFill>
              </a:rPr>
              <a:t>05</a:t>
            </a:r>
          </a:p>
        </p:txBody>
      </p:sp>
      <p:sp>
        <p:nvSpPr>
          <p:cNvPr id="7" name="">
            <a:extLst xmlns:a="http://schemas.openxmlformats.org/drawingml/2006/main">
              <a:ext uri="{FF2B5EF4-FFF2-40B4-BE49-F238E27FC236}">
                <a16:creationId xmlns:a16="http://schemas.microsoft.com/office/drawing/2014/main" id="{AD666F70-E19C-4643-9B89-867432B3F3CB}"/>
              </a:ext>
            </a:extLst>
          </p:cNvPr>
          <p:cNvSpPr>
            <a:spLocks xmlns:a="http://schemas.openxmlformats.org/drawingml/2006/main" noGrp="1"/>
          </p:cNvSpPr>
          <p:nvPr/>
        </p:nvSpPr>
        <p:spPr>
          <a:xfrm xmlns:a="http://schemas.openxmlformats.org/drawingml/2006/main">
            <a:off x="685800" y="1381125"/>
            <a:ext cx="4800600" cy="2238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0">
                <a:solidFill>
                  <a:srgbClr val="17232B"/>
                </a:solidFill>
              </a:defRPr>
            </a:pPr>
            <a:r>
              <a:rPr sz="1725" b="0">
                <a:solidFill>
                  <a:srgbClr val="17232B"/>
                </a:solidFill>
              </a:rPr>
              <a:t>For each part, planned length multiplied by quantity gives the row total. Adding every row total checks the design against the authorised 2400 mm maximum. Correct arithmetic still needs teacher review for missing parts, realistic sequencing and any process allowance.</a:t>
            </a:r>
          </a:p>
        </p:txBody>
      </p:sp>
      <p:sp>
        <p:nvSpPr>
          <p:cNvPr id="8" name="">
            <a:extLst xmlns:a="http://schemas.openxmlformats.org/drawingml/2006/main">
              <a:ext uri="{FF2B5EF4-FFF2-40B4-BE49-F238E27FC236}">
                <a16:creationId xmlns:a16="http://schemas.microsoft.com/office/drawing/2014/main" id="{47351FE0-21B2-409C-AB0C-D741B01DA273}"/>
              </a:ext>
            </a:extLst>
          </p:cNvPr>
          <p:cNvSpPr>
            <a:spLocks xmlns:a="http://schemas.openxmlformats.org/drawingml/2006/main" noGrp="1"/>
          </p:cNvSpPr>
          <p:nvPr/>
        </p:nvSpPr>
        <p:spPr>
          <a:xfrm xmlns:a="http://schemas.openxmlformats.org/drawingml/2006/main">
            <a:off x="685800" y="3905250"/>
            <a:ext cx="4762500" cy="0"/>
          </a:xfrm>
          <a:prstGeom xmlns:a="http://schemas.openxmlformats.org/drawingml/2006/main" prst="line">
            <a:avLst/>
          </a:prstGeom>
          <a:noFill xmlns:a="http://schemas.openxmlformats.org/drawingml/2006/main"/>
          <a:ln xmlns:a="http://schemas.openxmlformats.org/drawingml/2006/main" w="38100">
            <a:solidFill>
              <a:srgbClr val="F0B84B"/>
            </a:solidFill>
            <a:prstDash val="solid"/>
          </a:ln>
        </p:spPr>
      </p:sp>
      <p:sp>
        <p:nvSpPr>
          <p:cNvPr id="9" name="">
            <a:extLst xmlns:a="http://schemas.openxmlformats.org/drawingml/2006/main">
              <a:ext uri="{FF2B5EF4-FFF2-40B4-BE49-F238E27FC236}">
                <a16:creationId xmlns:a16="http://schemas.microsoft.com/office/drawing/2014/main" id="{99D97FD7-24F0-4456-A974-D69D0B5C86A2}"/>
              </a:ext>
            </a:extLst>
          </p:cNvPr>
          <p:cNvSpPr>
            <a:spLocks xmlns:a="http://schemas.openxmlformats.org/drawingml/2006/main" noGrp="1"/>
          </p:cNvSpPr>
          <p:nvPr/>
        </p:nvSpPr>
        <p:spPr>
          <a:xfrm xmlns:a="http://schemas.openxmlformats.org/drawingml/2006/main">
            <a:off x="685800" y="4171950"/>
            <a:ext cx="4800600" cy="1219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a:solidFill>
                  <a:srgbClr val="A94424"/>
                </a:solidFill>
              </a:defRPr>
            </a:pPr>
            <a:r>
              <a:rPr sz="1575" b="1">
                <a:solidFill>
                  <a:srgbClr val="A94424"/>
                </a:solidFill>
              </a:rPr>
              <a:t>Worked check: 200 mm × 4 = 800 mm, leaving 1600 mm from the authorised total for other planned pine parts.</a:t>
            </a:r>
          </a:p>
        </p:txBody>
      </p:sp>
      <p:sp>
        <p:nvSpPr>
          <p:cNvPr id="10" name="">
            <a:extLst xmlns:a="http://schemas.openxmlformats.org/drawingml/2006/main">
              <a:ext uri="{FF2B5EF4-FFF2-40B4-BE49-F238E27FC236}">
                <a16:creationId xmlns:a16="http://schemas.microsoft.com/office/drawing/2014/main" id="{F38C9C91-3C16-44BC-90C1-98615E5F1F97}"/>
              </a:ext>
            </a:extLst>
          </p:cNvPr>
          <p:cNvSpPr>
            <a:spLocks xmlns:a="http://schemas.openxmlformats.org/drawingml/2006/main" noGrp="1"/>
          </p:cNvSpPr>
          <p:nvPr/>
        </p:nvSpPr>
        <p:spPr>
          <a:xfrm xmlns:a="http://schemas.openxmlformats.org/drawingml/2006/main">
            <a:off x="6191250" y="1819275"/>
            <a:ext cx="4762500" cy="1571625"/>
          </a:xfrm>
          <a:prstGeom xmlns:a="http://schemas.openxmlformats.org/drawingml/2006/main" prst="rect">
            <a:avLst/>
          </a:prstGeom>
          <a:solidFill xmlns:a="http://schemas.openxmlformats.org/drawingml/2006/main">
            <a:srgbClr val="0B354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FD72F614-1CFA-4D51-88FF-2C15FD9F6ED6}"/>
              </a:ext>
            </a:extLst>
          </p:cNvPr>
          <p:cNvSpPr>
            <a:spLocks xmlns:a="http://schemas.openxmlformats.org/drawingml/2006/main" noGrp="1"/>
          </p:cNvSpPr>
          <p:nvPr/>
        </p:nvSpPr>
        <p:spPr>
          <a:xfrm xmlns:a="http://schemas.openxmlformats.org/drawingml/2006/main">
            <a:off x="6515100" y="2076450"/>
            <a:ext cx="4114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650" b="1">
                <a:solidFill>
                  <a:srgbClr val="F0B84B"/>
                </a:solidFill>
              </a:defRPr>
            </a:pPr>
            <a:r>
              <a:rPr sz="1650" b="1">
                <a:solidFill>
                  <a:srgbClr val="F0B84B"/>
                </a:solidFill>
              </a:rPr>
              <a:t>ROW TOTAL</a:t>
            </a:r>
          </a:p>
        </p:txBody>
      </p:sp>
      <p:sp>
        <p:nvSpPr>
          <p:cNvPr id="12" name="">
            <a:extLst xmlns:a="http://schemas.openxmlformats.org/drawingml/2006/main">
              <a:ext uri="{FF2B5EF4-FFF2-40B4-BE49-F238E27FC236}">
                <a16:creationId xmlns:a16="http://schemas.microsoft.com/office/drawing/2014/main" id="{F5873A12-3373-4E59-91B1-820549452524}"/>
              </a:ext>
            </a:extLst>
          </p:cNvPr>
          <p:cNvSpPr>
            <a:spLocks xmlns:a="http://schemas.openxmlformats.org/drawingml/2006/main" noGrp="1"/>
          </p:cNvSpPr>
          <p:nvPr/>
        </p:nvSpPr>
        <p:spPr>
          <a:xfrm xmlns:a="http://schemas.openxmlformats.org/drawingml/2006/main">
            <a:off x="6515100" y="2495550"/>
            <a:ext cx="4114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400" b="1">
                <a:solidFill>
                  <a:srgbClr val="FFFFFF"/>
                </a:solidFill>
              </a:defRPr>
            </a:pPr>
            <a:r>
              <a:rPr sz="2400" b="1">
                <a:solidFill>
                  <a:srgbClr val="FFFFFF"/>
                </a:solidFill>
              </a:rPr>
              <a:t>PART LENGTH × QUANTITY</a:t>
            </a:r>
          </a:p>
        </p:txBody>
      </p:sp>
      <p:sp>
        <p:nvSpPr>
          <p:cNvPr id="13" name="">
            <a:extLst xmlns:a="http://schemas.openxmlformats.org/drawingml/2006/main">
              <a:ext uri="{FF2B5EF4-FFF2-40B4-BE49-F238E27FC236}">
                <a16:creationId xmlns:a16="http://schemas.microsoft.com/office/drawing/2014/main" id="{D49C2251-4CA2-455A-8C61-D4F6D313E1D3}"/>
              </a:ext>
            </a:extLst>
          </p:cNvPr>
          <p:cNvSpPr>
            <a:spLocks xmlns:a="http://schemas.openxmlformats.org/drawingml/2006/main" noGrp="1"/>
          </p:cNvSpPr>
          <p:nvPr/>
        </p:nvSpPr>
        <p:spPr>
          <a:xfrm xmlns:a="http://schemas.openxmlformats.org/drawingml/2006/main">
            <a:off x="6515100" y="3505200"/>
            <a:ext cx="4114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0">
                <a:solidFill>
                  <a:srgbClr val="53636D"/>
                </a:solidFill>
              </a:defRPr>
            </a:pPr>
            <a:r>
              <a:rPr sz="1350" b="0">
                <a:solidFill>
                  <a:srgbClr val="53636D"/>
                </a:solidFill>
              </a:rPr>
              <a:t>Add every row   •   Check against 2400 mm</a:t>
            </a:r>
          </a:p>
        </p:txBody>
      </p:sp>
      <p:sp>
        <p:nvSpPr>
          <p:cNvPr id="14" name="">
            <a:extLst xmlns:a="http://schemas.openxmlformats.org/drawingml/2006/main">
              <a:ext uri="{FF2B5EF4-FFF2-40B4-BE49-F238E27FC236}">
                <a16:creationId xmlns:a16="http://schemas.microsoft.com/office/drawing/2014/main" id="{DA875EC0-5108-4221-8142-6DB6C0134C23}"/>
              </a:ext>
            </a:extLst>
          </p:cNvPr>
          <p:cNvSpPr>
            <a:spLocks xmlns:a="http://schemas.openxmlformats.org/drawingml/2006/main" noGrp="1"/>
          </p:cNvSpPr>
          <p:nvPr/>
        </p:nvSpPr>
        <p:spPr>
          <a:xfrm xmlns:a="http://schemas.openxmlformats.org/drawingml/2006/main">
            <a:off x="6191250" y="4762500"/>
            <a:ext cx="4762500" cy="552450"/>
          </a:xfrm>
          <a:prstGeom xmlns:a="http://schemas.openxmlformats.org/drawingml/2006/main" prst="rect">
            <a:avLst/>
          </a:prstGeom>
          <a:solidFill xmlns:a="http://schemas.openxmlformats.org/drawingml/2006/main">
            <a:srgbClr val="FFF4D8"/>
          </a:solidFill>
          <a:ln xmlns:a="http://schemas.openxmlformats.org/drawingml/2006/main" w="9525">
            <a:solidFill>
              <a:srgbClr val="F0B84B"/>
            </a:solidFill>
            <a:prstDash val="solid"/>
          </a:ln>
        </p:spPr>
        <p:txBody>
          <a:bodyPr xmlns:a="http://schemas.openxmlformats.org/drawingml/2006/main"/>
          <a:lstStyle xmlns:a="http://schemas.openxmlformats.org/drawingml/2006/main"/>
          <a:p xmlns:a="http://schemas.openxmlformats.org/drawingml/2006/main">
            <a:pPr algn="l">
              <a:defRPr sz="1350" b="1">
                <a:solidFill>
                  <a:srgbClr val="184F5E"/>
                </a:solidFill>
              </a:defRPr>
            </a:pPr>
            <a:r>
              <a:rPr sz="1350" b="1">
                <a:solidFill>
                  <a:srgbClr val="184F5E"/>
                </a:solidFill>
              </a:rPr>
              <a:t>NOTICE  The source example checks one row; it is not a complete construction plan.</a:t>
            </a:r>
          </a:p>
        </p:txBody>
      </p:sp>
    </p:spTree>
    <p:extLst>
      <p:ext uri="{BB962C8B-B14F-4D97-AF65-F5344CB8AC3E}">
        <p14:creationId xmlns:p14="http://schemas.microsoft.com/office/powerpoint/2010/main" val="2087913765"/>
      </p:ext>
    </p:extLst>
  </p:cSld>
</p:sld>
</file>

<file path=ppt/slides/slide6.xml><?xml version="1.0" encoding="utf-8"?>
<p:sld xmlns:p="http://schemas.openxmlformats.org/presentationml/2006/main">
  <p:cSld>
    <p:bg>
      <p:bgPr>
        <a:solidFill xmlns:a="http://schemas.openxmlformats.org/drawingml/2006/main">
          <a:srgbClr val="0B3541"/>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6266B81E-7BF4-47C0-BA6D-7ECF858D2D98}"/>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F0B84B"/>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B2E3519B-DCFE-4DC3-A444-57E002B9C847}"/>
              </a:ext>
            </a:extLst>
          </p:cNvPr>
          <p:cNvSpPr>
            <a:spLocks xmlns:a="http://schemas.openxmlformats.org/drawingml/2006/main" noGrp="1"/>
          </p:cNvSpPr>
          <p:nvPr/>
        </p:nvSpPr>
        <p:spPr>
          <a:xfrm xmlns:a="http://schemas.openxmlformats.org/drawingml/2006/main">
            <a:off x="685800" y="3048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F0B84B"/>
                </a:solidFill>
              </a:defRPr>
            </a:pPr>
            <a:r>
              <a:rPr sz="1050" b="1">
                <a:solidFill>
                  <a:srgbClr val="F0B84B"/>
                </a:solidFill>
              </a:rPr>
              <a:t>MODULE 05  /  BUILDABLE DESIGN</a:t>
            </a:r>
          </a:p>
        </p:txBody>
      </p:sp>
      <p:sp>
        <p:nvSpPr>
          <p:cNvPr id="3" name="">
            <a:extLst xmlns:a="http://schemas.openxmlformats.org/drawingml/2006/main">
              <a:ext uri="{FF2B5EF4-FFF2-40B4-BE49-F238E27FC236}">
                <a16:creationId xmlns:a16="http://schemas.microsoft.com/office/drawing/2014/main" id="{72A34EEB-231E-4217-9267-2FD5C711F299}"/>
              </a:ext>
            </a:extLst>
          </p:cNvPr>
          <p:cNvSpPr>
            <a:spLocks xmlns:a="http://schemas.openxmlformats.org/drawingml/2006/main" noGrp="1"/>
          </p:cNvSpPr>
          <p:nvPr/>
        </p:nvSpPr>
        <p:spPr>
          <a:xfrm xmlns:a="http://schemas.openxmlformats.org/drawingml/2006/main">
            <a:off x="685800" y="619125"/>
            <a:ext cx="108204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a:solidFill>
                  <a:srgbClr val="FFFFFF"/>
                </a:solidFill>
              </a:defRPr>
            </a:pPr>
            <a:r>
              <a:rPr sz="2850" b="1">
                <a:solidFill>
                  <a:srgbClr val="FFFFFF"/>
                </a:solidFill>
              </a:rPr>
              <a:t>Stop. Think. Explain.</a:t>
            </a:r>
          </a:p>
        </p:txBody>
      </p:sp>
      <p:sp>
        <p:nvSpPr>
          <p:cNvPr id="4" name="">
            <a:extLst xmlns:a="http://schemas.openxmlformats.org/drawingml/2006/main">
              <a:ext uri="{FF2B5EF4-FFF2-40B4-BE49-F238E27FC236}">
                <a16:creationId xmlns:a16="http://schemas.microsoft.com/office/drawing/2014/main" id="{1FC23966-ED35-48C2-A189-7FA8C77410CF}"/>
              </a:ext>
            </a:extLst>
          </p:cNvPr>
          <p:cNvSpPr>
            <a:spLocks xmlns:a="http://schemas.openxmlformats.org/drawingml/2006/main" noGrp="1"/>
          </p:cNvSpPr>
          <p:nvPr/>
        </p:nvSpPr>
        <p:spPr>
          <a:xfrm xmlns:a="http://schemas.openxmlformats.org/drawingml/2006/main">
            <a:off x="685800" y="6400800"/>
            <a:ext cx="10820400" cy="0"/>
          </a:xfrm>
          <a:prstGeom xmlns:a="http://schemas.openxmlformats.org/drawingml/2006/main" prst="line">
            <a:avLst/>
          </a:prstGeom>
          <a:noFill xmlns:a="http://schemas.openxmlformats.org/drawingml/2006/main"/>
          <a:ln xmlns:a="http://schemas.openxmlformats.org/drawingml/2006/main" w="9525">
            <a:solidFill>
              <a:srgbClr val="FFFFFF">
                <a:alpha val="33333"/>
              </a:srgbClr>
            </a:solidFill>
            <a:prstDash val="solid"/>
          </a:ln>
        </p:spPr>
      </p:sp>
      <p:sp>
        <p:nvSpPr>
          <p:cNvPr id="5" name="">
            <a:extLst xmlns:a="http://schemas.openxmlformats.org/drawingml/2006/main">
              <a:ext uri="{FF2B5EF4-FFF2-40B4-BE49-F238E27FC236}">
                <a16:creationId xmlns:a16="http://schemas.microsoft.com/office/drawing/2014/main" id="{F8D99405-75AD-4249-83F4-0395F292F0C7}"/>
              </a:ext>
            </a:extLst>
          </p:cNvPr>
          <p:cNvSpPr>
            <a:spLocks xmlns:a="http://schemas.openxmlformats.org/drawingml/2006/main" noGrp="1"/>
          </p:cNvSpPr>
          <p:nvPr/>
        </p:nvSpPr>
        <p:spPr>
          <a:xfrm xmlns:a="http://schemas.openxmlformats.org/drawingml/2006/main">
            <a:off x="685800" y="649605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D7E5E8"/>
                </a:solidFill>
              </a:defRPr>
            </a:pPr>
            <a:r>
              <a:rPr sz="975" b="1">
                <a:solidFill>
                  <a:srgbClr val="D7E5E8"/>
                </a:solidFill>
              </a:rPr>
              <a:t>YEAR 8 CATAPULT  •  MODULE 05</a:t>
            </a:r>
          </a:p>
        </p:txBody>
      </p:sp>
      <p:sp>
        <p:nvSpPr>
          <p:cNvPr id="6" name="">
            <a:extLst xmlns:a="http://schemas.openxmlformats.org/drawingml/2006/main">
              <a:ext uri="{FF2B5EF4-FFF2-40B4-BE49-F238E27FC236}">
                <a16:creationId xmlns:a16="http://schemas.microsoft.com/office/drawing/2014/main" id="{B1F70E07-C9B1-4FCB-BFC7-FFC23A0242F9}"/>
              </a:ext>
            </a:extLst>
          </p:cNvPr>
          <p:cNvSpPr>
            <a:spLocks xmlns:a="http://schemas.openxmlformats.org/drawingml/2006/main" noGrp="1"/>
          </p:cNvSpPr>
          <p:nvPr/>
        </p:nvSpPr>
        <p:spPr>
          <a:xfrm xmlns:a="http://schemas.openxmlformats.org/drawingml/2006/main">
            <a:off x="11049000" y="64960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F0B84B"/>
                </a:solidFill>
              </a:defRPr>
            </a:pPr>
            <a:r>
              <a:rPr sz="975" b="1">
                <a:solidFill>
                  <a:srgbClr val="F0B84B"/>
                </a:solidFill>
              </a:rPr>
              <a:t>06</a:t>
            </a:r>
          </a:p>
        </p:txBody>
      </p:sp>
      <p:sp>
        <p:nvSpPr>
          <p:cNvPr id="7" name="">
            <a:extLst xmlns:a="http://schemas.openxmlformats.org/drawingml/2006/main">
              <a:ext uri="{FF2B5EF4-FFF2-40B4-BE49-F238E27FC236}">
                <a16:creationId xmlns:a16="http://schemas.microsoft.com/office/drawing/2014/main" id="{1BDD80C7-FB9D-435B-A22F-6FEB2EA25B4F}"/>
              </a:ext>
            </a:extLst>
          </p:cNvPr>
          <p:cNvSpPr>
            <a:spLocks xmlns:a="http://schemas.openxmlformats.org/drawingml/2006/main" noGrp="1"/>
          </p:cNvSpPr>
          <p:nvPr/>
        </p:nvSpPr>
        <p:spPr>
          <a:xfrm xmlns:a="http://schemas.openxmlformats.org/drawingml/2006/main">
            <a:off x="685800" y="1219200"/>
            <a:ext cx="9810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0">
                <a:solidFill>
                  <a:srgbClr val="D7E5E8"/>
                </a:solidFill>
              </a:defRPr>
            </a:pPr>
            <a:r>
              <a:rPr sz="1500" b="0">
                <a:solidFill>
                  <a:srgbClr val="D7E5E8"/>
                </a:solidFill>
              </a:rPr>
              <a:t>Answer silently first. Then justify one answer with a partner.</a:t>
            </a:r>
          </a:p>
        </p:txBody>
      </p:sp>
      <p:sp>
        <p:nvSpPr>
          <p:cNvPr id="8" name="">
            <a:extLst xmlns:a="http://schemas.openxmlformats.org/drawingml/2006/main">
              <a:ext uri="{FF2B5EF4-FFF2-40B4-BE49-F238E27FC236}">
                <a16:creationId xmlns:a16="http://schemas.microsoft.com/office/drawing/2014/main" id="{D9FE1711-AD12-483E-B3E1-1CBB4FB58C15}"/>
              </a:ext>
            </a:extLst>
          </p:cNvPr>
          <p:cNvSpPr>
            <a:spLocks xmlns:a="http://schemas.openxmlformats.org/drawingml/2006/main" noGrp="1"/>
          </p:cNvSpPr>
          <p:nvPr/>
        </p:nvSpPr>
        <p:spPr>
          <a:xfrm xmlns:a="http://schemas.openxmlformats.org/drawingml/2006/main">
            <a:off x="781050" y="1933575"/>
            <a:ext cx="4953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00" b="1">
                <a:solidFill>
                  <a:srgbClr val="F0B84B"/>
                </a:solidFill>
              </a:defRPr>
            </a:pPr>
            <a:r>
              <a:rPr sz="1800" b="1">
                <a:solidFill>
                  <a:srgbClr val="F0B84B"/>
                </a:solidFill>
              </a:rPr>
              <a:t>1</a:t>
            </a:r>
          </a:p>
        </p:txBody>
      </p:sp>
      <p:sp>
        <p:nvSpPr>
          <p:cNvPr id="9" name="">
            <a:extLst xmlns:a="http://schemas.openxmlformats.org/drawingml/2006/main">
              <a:ext uri="{FF2B5EF4-FFF2-40B4-BE49-F238E27FC236}">
                <a16:creationId xmlns:a16="http://schemas.microsoft.com/office/drawing/2014/main" id="{ABD58EAB-9826-4876-8045-07B1EBCE846D}"/>
              </a:ext>
            </a:extLst>
          </p:cNvPr>
          <p:cNvSpPr>
            <a:spLocks xmlns:a="http://schemas.openxmlformats.org/drawingml/2006/main" noGrp="1"/>
          </p:cNvSpPr>
          <p:nvPr/>
        </p:nvSpPr>
        <p:spPr>
          <a:xfrm xmlns:a="http://schemas.openxmlformats.org/drawingml/2006/main">
            <a:off x="1485900" y="1847850"/>
            <a:ext cx="9334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1">
                <a:solidFill>
                  <a:srgbClr val="FFFFFF"/>
                </a:solidFill>
              </a:defRPr>
            </a:pPr>
            <a:r>
              <a:rPr sz="1725" b="1">
                <a:solidFill>
                  <a:srgbClr val="FFFFFF"/>
                </a:solidFill>
              </a:rPr>
              <a:t>What makes two ideas genuinely different?</a:t>
            </a:r>
          </a:p>
        </p:txBody>
      </p:sp>
      <p:sp>
        <p:nvSpPr>
          <p:cNvPr id="10" name="">
            <a:extLst xmlns:a="http://schemas.openxmlformats.org/drawingml/2006/main">
              <a:ext uri="{FF2B5EF4-FFF2-40B4-BE49-F238E27FC236}">
                <a16:creationId xmlns:a16="http://schemas.microsoft.com/office/drawing/2014/main" id="{080C9D49-9728-46A3-B893-4CAC5F42333D}"/>
              </a:ext>
            </a:extLst>
          </p:cNvPr>
          <p:cNvSpPr>
            <a:spLocks xmlns:a="http://schemas.openxmlformats.org/drawingml/2006/main" noGrp="1"/>
          </p:cNvSpPr>
          <p:nvPr/>
        </p:nvSpPr>
        <p:spPr>
          <a:xfrm xmlns:a="http://schemas.openxmlformats.org/drawingml/2006/main">
            <a:off x="1485900" y="2533650"/>
            <a:ext cx="9048750" cy="0"/>
          </a:xfrm>
          <a:prstGeom xmlns:a="http://schemas.openxmlformats.org/drawingml/2006/main" prst="line">
            <a:avLst/>
          </a:prstGeom>
          <a:noFill xmlns:a="http://schemas.openxmlformats.org/drawingml/2006/main"/>
          <a:ln xmlns:a="http://schemas.openxmlformats.org/drawingml/2006/main" w="9525">
            <a:solidFill>
              <a:srgbClr val="FFFFFF">
                <a:alpha val="20000"/>
              </a:srgbClr>
            </a:solidFill>
            <a:prstDash val="solid"/>
          </a:ln>
        </p:spPr>
      </p:sp>
      <p:sp>
        <p:nvSpPr>
          <p:cNvPr id="11" name="">
            <a:extLst xmlns:a="http://schemas.openxmlformats.org/drawingml/2006/main">
              <a:ext uri="{FF2B5EF4-FFF2-40B4-BE49-F238E27FC236}">
                <a16:creationId xmlns:a16="http://schemas.microsoft.com/office/drawing/2014/main" id="{31097282-2059-4069-B0DB-D68DED3A2E18}"/>
              </a:ext>
            </a:extLst>
          </p:cNvPr>
          <p:cNvSpPr>
            <a:spLocks xmlns:a="http://schemas.openxmlformats.org/drawingml/2006/main" noGrp="1"/>
          </p:cNvSpPr>
          <p:nvPr/>
        </p:nvSpPr>
        <p:spPr>
          <a:xfrm xmlns:a="http://schemas.openxmlformats.org/drawingml/2006/main">
            <a:off x="781050" y="2914650"/>
            <a:ext cx="4953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00" b="1">
                <a:solidFill>
                  <a:srgbClr val="F0B84B"/>
                </a:solidFill>
              </a:defRPr>
            </a:pPr>
            <a:r>
              <a:rPr sz="1800" b="1">
                <a:solidFill>
                  <a:srgbClr val="F0B84B"/>
                </a:solidFill>
              </a:rPr>
              <a:t>2</a:t>
            </a:r>
          </a:p>
        </p:txBody>
      </p:sp>
      <p:sp>
        <p:nvSpPr>
          <p:cNvPr id="12" name="">
            <a:extLst xmlns:a="http://schemas.openxmlformats.org/drawingml/2006/main">
              <a:ext uri="{FF2B5EF4-FFF2-40B4-BE49-F238E27FC236}">
                <a16:creationId xmlns:a16="http://schemas.microsoft.com/office/drawing/2014/main" id="{AE2E1976-9050-4BED-A239-941FFE69B3AD}"/>
              </a:ext>
            </a:extLst>
          </p:cNvPr>
          <p:cNvSpPr>
            <a:spLocks xmlns:a="http://schemas.openxmlformats.org/drawingml/2006/main" noGrp="1"/>
          </p:cNvSpPr>
          <p:nvPr/>
        </p:nvSpPr>
        <p:spPr>
          <a:xfrm xmlns:a="http://schemas.openxmlformats.org/drawingml/2006/main">
            <a:off x="1485900" y="2828925"/>
            <a:ext cx="9334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1">
                <a:solidFill>
                  <a:srgbClr val="FFFFFF"/>
                </a:solidFill>
              </a:defRPr>
            </a:pPr>
            <a:r>
              <a:rPr sz="1725" b="1">
                <a:solidFill>
                  <a:srgbClr val="FFFFFF"/>
                </a:solidFill>
              </a:rPr>
              <a:t>Why must orthographic views align?</a:t>
            </a:r>
          </a:p>
        </p:txBody>
      </p:sp>
      <p:sp>
        <p:nvSpPr>
          <p:cNvPr id="13" name="">
            <a:extLst xmlns:a="http://schemas.openxmlformats.org/drawingml/2006/main">
              <a:ext uri="{FF2B5EF4-FFF2-40B4-BE49-F238E27FC236}">
                <a16:creationId xmlns:a16="http://schemas.microsoft.com/office/drawing/2014/main" id="{8107F4A8-0EA3-4F43-BF48-5509A102946B}"/>
              </a:ext>
            </a:extLst>
          </p:cNvPr>
          <p:cNvSpPr>
            <a:spLocks xmlns:a="http://schemas.openxmlformats.org/drawingml/2006/main" noGrp="1"/>
          </p:cNvSpPr>
          <p:nvPr/>
        </p:nvSpPr>
        <p:spPr>
          <a:xfrm xmlns:a="http://schemas.openxmlformats.org/drawingml/2006/main">
            <a:off x="1485900" y="3514725"/>
            <a:ext cx="9048750" cy="0"/>
          </a:xfrm>
          <a:prstGeom xmlns:a="http://schemas.openxmlformats.org/drawingml/2006/main" prst="line">
            <a:avLst/>
          </a:prstGeom>
          <a:noFill xmlns:a="http://schemas.openxmlformats.org/drawingml/2006/main"/>
          <a:ln xmlns:a="http://schemas.openxmlformats.org/drawingml/2006/main" w="9525">
            <a:solidFill>
              <a:srgbClr val="FFFFFF">
                <a:alpha val="20000"/>
              </a:srgbClr>
            </a:solidFill>
            <a:prstDash val="solid"/>
          </a:ln>
        </p:spPr>
      </p:sp>
      <p:sp>
        <p:nvSpPr>
          <p:cNvPr id="14" name="">
            <a:extLst xmlns:a="http://schemas.openxmlformats.org/drawingml/2006/main">
              <a:ext uri="{FF2B5EF4-FFF2-40B4-BE49-F238E27FC236}">
                <a16:creationId xmlns:a16="http://schemas.microsoft.com/office/drawing/2014/main" id="{ACE2C410-62EC-48B2-965C-87020662CD78}"/>
              </a:ext>
            </a:extLst>
          </p:cNvPr>
          <p:cNvSpPr>
            <a:spLocks xmlns:a="http://schemas.openxmlformats.org/drawingml/2006/main" noGrp="1"/>
          </p:cNvSpPr>
          <p:nvPr/>
        </p:nvSpPr>
        <p:spPr>
          <a:xfrm xmlns:a="http://schemas.openxmlformats.org/drawingml/2006/main">
            <a:off x="781050" y="3895725"/>
            <a:ext cx="4953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00" b="1">
                <a:solidFill>
                  <a:srgbClr val="F0B84B"/>
                </a:solidFill>
              </a:defRPr>
            </a:pPr>
            <a:r>
              <a:rPr sz="1800" b="1">
                <a:solidFill>
                  <a:srgbClr val="F0B84B"/>
                </a:solidFill>
              </a:rPr>
              <a:t>3</a:t>
            </a:r>
          </a:p>
        </p:txBody>
      </p:sp>
      <p:sp>
        <p:nvSpPr>
          <p:cNvPr id="15" name="">
            <a:extLst xmlns:a="http://schemas.openxmlformats.org/drawingml/2006/main">
              <a:ext uri="{FF2B5EF4-FFF2-40B4-BE49-F238E27FC236}">
                <a16:creationId xmlns:a16="http://schemas.microsoft.com/office/drawing/2014/main" id="{C2E5263C-ED3F-43A0-B76C-9ADA4B2F28F1}"/>
              </a:ext>
            </a:extLst>
          </p:cNvPr>
          <p:cNvSpPr>
            <a:spLocks xmlns:a="http://schemas.openxmlformats.org/drawingml/2006/main" noGrp="1"/>
          </p:cNvSpPr>
          <p:nvPr/>
        </p:nvSpPr>
        <p:spPr>
          <a:xfrm xmlns:a="http://schemas.openxmlformats.org/drawingml/2006/main">
            <a:off x="1485900" y="3810000"/>
            <a:ext cx="9334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1">
                <a:solidFill>
                  <a:srgbClr val="FFFFFF"/>
                </a:solidFill>
              </a:defRPr>
            </a:pPr>
            <a:r>
              <a:rPr sz="1725" b="1">
                <a:solidFill>
                  <a:srgbClr val="FFFFFF"/>
                </a:solidFill>
              </a:rPr>
              <a:t>How is a row total calculated?</a:t>
            </a:r>
          </a:p>
        </p:txBody>
      </p:sp>
      <p:sp>
        <p:nvSpPr>
          <p:cNvPr id="16" name="">
            <a:extLst xmlns:a="http://schemas.openxmlformats.org/drawingml/2006/main">
              <a:ext uri="{FF2B5EF4-FFF2-40B4-BE49-F238E27FC236}">
                <a16:creationId xmlns:a16="http://schemas.microsoft.com/office/drawing/2014/main" id="{93149C17-327B-42DE-AD26-BC2DBE59B7E3}"/>
              </a:ext>
            </a:extLst>
          </p:cNvPr>
          <p:cNvSpPr>
            <a:spLocks xmlns:a="http://schemas.openxmlformats.org/drawingml/2006/main" noGrp="1"/>
          </p:cNvSpPr>
          <p:nvPr/>
        </p:nvSpPr>
        <p:spPr>
          <a:xfrm xmlns:a="http://schemas.openxmlformats.org/drawingml/2006/main">
            <a:off x="1485900" y="4495800"/>
            <a:ext cx="9048750" cy="0"/>
          </a:xfrm>
          <a:prstGeom xmlns:a="http://schemas.openxmlformats.org/drawingml/2006/main" prst="line">
            <a:avLst/>
          </a:prstGeom>
          <a:noFill xmlns:a="http://schemas.openxmlformats.org/drawingml/2006/main"/>
          <a:ln xmlns:a="http://schemas.openxmlformats.org/drawingml/2006/main" w="9525">
            <a:solidFill>
              <a:srgbClr val="FFFFFF">
                <a:alpha val="20000"/>
              </a:srgbClr>
            </a:solidFill>
            <a:prstDash val="solid"/>
          </a:ln>
        </p:spPr>
      </p:sp>
      <p:sp>
        <p:nvSpPr>
          <p:cNvPr id="17" name="">
            <a:extLst xmlns:a="http://schemas.openxmlformats.org/drawingml/2006/main">
              <a:ext uri="{FF2B5EF4-FFF2-40B4-BE49-F238E27FC236}">
                <a16:creationId xmlns:a16="http://schemas.microsoft.com/office/drawing/2014/main" id="{F12F9728-0560-4875-B9EC-C7C3A6C3C4A9}"/>
              </a:ext>
            </a:extLst>
          </p:cNvPr>
          <p:cNvSpPr>
            <a:spLocks xmlns:a="http://schemas.openxmlformats.org/drawingml/2006/main" noGrp="1"/>
          </p:cNvSpPr>
          <p:nvPr/>
        </p:nvSpPr>
        <p:spPr>
          <a:xfrm xmlns:a="http://schemas.openxmlformats.org/drawingml/2006/main">
            <a:off x="781050" y="4876800"/>
            <a:ext cx="4953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00" b="1">
                <a:solidFill>
                  <a:srgbClr val="F0B84B"/>
                </a:solidFill>
              </a:defRPr>
            </a:pPr>
            <a:r>
              <a:rPr sz="1800" b="1">
                <a:solidFill>
                  <a:srgbClr val="F0B84B"/>
                </a:solidFill>
              </a:rPr>
              <a:t>4</a:t>
            </a:r>
          </a:p>
        </p:txBody>
      </p:sp>
      <p:sp>
        <p:nvSpPr>
          <p:cNvPr id="18" name="">
            <a:extLst xmlns:a="http://schemas.openxmlformats.org/drawingml/2006/main">
              <a:ext uri="{FF2B5EF4-FFF2-40B4-BE49-F238E27FC236}">
                <a16:creationId xmlns:a16="http://schemas.microsoft.com/office/drawing/2014/main" id="{439C4B9C-0CFD-4D2C-848A-9F5CFC4479FE}"/>
              </a:ext>
            </a:extLst>
          </p:cNvPr>
          <p:cNvSpPr>
            <a:spLocks xmlns:a="http://schemas.openxmlformats.org/drawingml/2006/main" noGrp="1"/>
          </p:cNvSpPr>
          <p:nvPr/>
        </p:nvSpPr>
        <p:spPr>
          <a:xfrm xmlns:a="http://schemas.openxmlformats.org/drawingml/2006/main">
            <a:off x="1485900" y="4791075"/>
            <a:ext cx="9334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1">
                <a:solidFill>
                  <a:srgbClr val="FFFFFF"/>
                </a:solidFill>
              </a:defRPr>
            </a:pPr>
            <a:r>
              <a:rPr sz="1725" b="1">
                <a:solidFill>
                  <a:srgbClr val="FFFFFF"/>
                </a:solidFill>
              </a:rPr>
              <a:t>What can correct arithmetic still fail to reveal?</a:t>
            </a:r>
          </a:p>
        </p:txBody>
      </p:sp>
    </p:spTree>
    <p:extLst>
      <p:ext uri="{BB962C8B-B14F-4D97-AF65-F5344CB8AC3E}">
        <p14:creationId xmlns:p14="http://schemas.microsoft.com/office/powerpoint/2010/main" val="1594896950"/>
      </p:ext>
    </p:extLst>
  </p:cSld>
</p:sld>
</file>

<file path=ppt/slides/slide7.xml><?xml version="1.0" encoding="utf-8"?>
<p:sld xmlns:p="http://schemas.openxmlformats.org/presentationml/2006/main">
  <p:cSld>
    <p:bg>
      <p:bgPr>
        <a:solidFill xmlns:a="http://schemas.openxmlformats.org/drawingml/2006/main">
          <a:srgbClr val="FFFAF0"/>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72366D1F-70FA-428E-87EF-9C5250E89DB0}"/>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F0B84B"/>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E6E1F5B5-97BB-4A05-8F49-36C266740263}"/>
              </a:ext>
            </a:extLst>
          </p:cNvPr>
          <p:cNvSpPr>
            <a:spLocks xmlns:a="http://schemas.openxmlformats.org/drawingml/2006/main" noGrp="1"/>
          </p:cNvSpPr>
          <p:nvPr/>
        </p:nvSpPr>
        <p:spPr>
          <a:xfrm xmlns:a="http://schemas.openxmlformats.org/drawingml/2006/main">
            <a:off x="685800" y="3048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A94424"/>
                </a:solidFill>
              </a:defRPr>
            </a:pPr>
            <a:r>
              <a:rPr sz="1050" b="1">
                <a:solidFill>
                  <a:srgbClr val="A94424"/>
                </a:solidFill>
              </a:rPr>
              <a:t>MODULE 05  /  BUILDABLE DESIGN</a:t>
            </a:r>
          </a:p>
        </p:txBody>
      </p:sp>
      <p:sp>
        <p:nvSpPr>
          <p:cNvPr id="3" name="">
            <a:extLst xmlns:a="http://schemas.openxmlformats.org/drawingml/2006/main">
              <a:ext uri="{FF2B5EF4-FFF2-40B4-BE49-F238E27FC236}">
                <a16:creationId xmlns:a16="http://schemas.microsoft.com/office/drawing/2014/main" id="{E007BAAF-C745-47F1-ACD1-E42B995808FB}"/>
              </a:ext>
            </a:extLst>
          </p:cNvPr>
          <p:cNvSpPr>
            <a:spLocks xmlns:a="http://schemas.openxmlformats.org/drawingml/2006/main" noGrp="1"/>
          </p:cNvSpPr>
          <p:nvPr/>
        </p:nvSpPr>
        <p:spPr>
          <a:xfrm xmlns:a="http://schemas.openxmlformats.org/drawingml/2006/main">
            <a:off x="685800" y="619125"/>
            <a:ext cx="108204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a:solidFill>
                  <a:srgbClr val="17232B"/>
                </a:solidFill>
              </a:defRPr>
            </a:pPr>
            <a:r>
              <a:rPr sz="2850" b="1">
                <a:solidFill>
                  <a:srgbClr val="17232B"/>
                </a:solidFill>
              </a:rPr>
              <a:t>Build the evidence, not just an answer</a:t>
            </a:r>
          </a:p>
        </p:txBody>
      </p:sp>
      <p:sp>
        <p:nvSpPr>
          <p:cNvPr id="4" name="">
            <a:extLst xmlns:a="http://schemas.openxmlformats.org/drawingml/2006/main">
              <a:ext uri="{FF2B5EF4-FFF2-40B4-BE49-F238E27FC236}">
                <a16:creationId xmlns:a16="http://schemas.microsoft.com/office/drawing/2014/main" id="{EC92C5DB-7D0E-47A1-AB38-23077EE320F6}"/>
              </a:ext>
            </a:extLst>
          </p:cNvPr>
          <p:cNvSpPr>
            <a:spLocks xmlns:a="http://schemas.openxmlformats.org/drawingml/2006/main" noGrp="1"/>
          </p:cNvSpPr>
          <p:nvPr/>
        </p:nvSpPr>
        <p:spPr>
          <a:xfrm xmlns:a="http://schemas.openxmlformats.org/drawingml/2006/main">
            <a:off x="685800" y="6400800"/>
            <a:ext cx="10820400" cy="0"/>
          </a:xfrm>
          <a:prstGeom xmlns:a="http://schemas.openxmlformats.org/drawingml/2006/main" prst="line">
            <a:avLst/>
          </a:prstGeom>
          <a:noFill xmlns:a="http://schemas.openxmlformats.org/drawingml/2006/main"/>
          <a:ln xmlns:a="http://schemas.openxmlformats.org/drawingml/2006/main" w="9525">
            <a:solidFill>
              <a:srgbClr val="CAD4D8"/>
            </a:solidFill>
            <a:prstDash val="solid"/>
          </a:ln>
        </p:spPr>
      </p:sp>
      <p:sp>
        <p:nvSpPr>
          <p:cNvPr id="5" name="">
            <a:extLst xmlns:a="http://schemas.openxmlformats.org/drawingml/2006/main">
              <a:ext uri="{FF2B5EF4-FFF2-40B4-BE49-F238E27FC236}">
                <a16:creationId xmlns:a16="http://schemas.microsoft.com/office/drawing/2014/main" id="{264B3D0B-D5F7-42EB-B360-2DD8E9B024CD}"/>
              </a:ext>
            </a:extLst>
          </p:cNvPr>
          <p:cNvSpPr>
            <a:spLocks xmlns:a="http://schemas.openxmlformats.org/drawingml/2006/main" noGrp="1"/>
          </p:cNvSpPr>
          <p:nvPr/>
        </p:nvSpPr>
        <p:spPr>
          <a:xfrm xmlns:a="http://schemas.openxmlformats.org/drawingml/2006/main">
            <a:off x="685800" y="649605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53636D"/>
                </a:solidFill>
              </a:defRPr>
            </a:pPr>
            <a:r>
              <a:rPr sz="975" b="1">
                <a:solidFill>
                  <a:srgbClr val="53636D"/>
                </a:solidFill>
              </a:rPr>
              <a:t>YEAR 8 CATAPULT  •  MODULE 05</a:t>
            </a:r>
          </a:p>
        </p:txBody>
      </p:sp>
      <p:sp>
        <p:nvSpPr>
          <p:cNvPr id="6" name="">
            <a:extLst xmlns:a="http://schemas.openxmlformats.org/drawingml/2006/main">
              <a:ext uri="{FF2B5EF4-FFF2-40B4-BE49-F238E27FC236}">
                <a16:creationId xmlns:a16="http://schemas.microsoft.com/office/drawing/2014/main" id="{47CB37F9-7492-4DFA-8A05-273904DD1A95}"/>
              </a:ext>
            </a:extLst>
          </p:cNvPr>
          <p:cNvSpPr>
            <a:spLocks xmlns:a="http://schemas.openxmlformats.org/drawingml/2006/main" noGrp="1"/>
          </p:cNvSpPr>
          <p:nvPr/>
        </p:nvSpPr>
        <p:spPr>
          <a:xfrm xmlns:a="http://schemas.openxmlformats.org/drawingml/2006/main">
            <a:off x="11049000" y="64960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A94424"/>
                </a:solidFill>
              </a:defRPr>
            </a:pPr>
            <a:r>
              <a:rPr sz="975" b="1">
                <a:solidFill>
                  <a:srgbClr val="A94424"/>
                </a:solidFill>
              </a:rPr>
              <a:t>07</a:t>
            </a:r>
          </a:p>
        </p:txBody>
      </p:sp>
      <p:sp>
        <p:nvSpPr>
          <p:cNvPr id="7" name="">
            <a:extLst xmlns:a="http://schemas.openxmlformats.org/drawingml/2006/main">
              <a:ext uri="{FF2B5EF4-FFF2-40B4-BE49-F238E27FC236}">
                <a16:creationId xmlns:a16="http://schemas.microsoft.com/office/drawing/2014/main" id="{F05F7BC9-AF0D-40C1-BE62-21F69E3E58D6}"/>
              </a:ext>
            </a:extLst>
          </p:cNvPr>
          <p:cNvSpPr>
            <a:spLocks xmlns:a="http://schemas.openxmlformats.org/drawingml/2006/main" noGrp="1"/>
          </p:cNvSpPr>
          <p:nvPr/>
        </p:nvSpPr>
        <p:spPr>
          <a:xfrm xmlns:a="http://schemas.openxmlformats.org/drawingml/2006/main">
            <a:off x="685800" y="1257300"/>
            <a:ext cx="2381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a:solidFill>
                  <a:srgbClr val="A94424"/>
                </a:solidFill>
              </a:defRPr>
            </a:pPr>
            <a:r>
              <a:rPr sz="1200" b="1">
                <a:solidFill>
                  <a:srgbClr val="A94424"/>
                </a:solidFill>
              </a:rPr>
              <a:t>THE QUESTION</a:t>
            </a:r>
          </a:p>
        </p:txBody>
      </p:sp>
      <p:sp>
        <p:nvSpPr>
          <p:cNvPr id="8" name="">
            <a:extLst xmlns:a="http://schemas.openxmlformats.org/drawingml/2006/main">
              <a:ext uri="{FF2B5EF4-FFF2-40B4-BE49-F238E27FC236}">
                <a16:creationId xmlns:a16="http://schemas.microsoft.com/office/drawing/2014/main" id="{223C7C26-8D9C-42E5-AF54-2ADEBE88F0F6}"/>
              </a:ext>
            </a:extLst>
          </p:cNvPr>
          <p:cNvSpPr>
            <a:spLocks xmlns:a="http://schemas.openxmlformats.org/drawingml/2006/main" noGrp="1"/>
          </p:cNvSpPr>
          <p:nvPr/>
        </p:nvSpPr>
        <p:spPr>
          <a:xfrm xmlns:a="http://schemas.openxmlformats.org/drawingml/2006/main">
            <a:off x="685800" y="1581150"/>
            <a:ext cx="108204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1">
                <a:solidFill>
                  <a:srgbClr val="17232B"/>
                </a:solidFill>
              </a:defRPr>
            </a:pPr>
            <a:r>
              <a:rPr sz="1800" b="1">
                <a:solidFill>
                  <a:srgbClr val="17232B"/>
                </a:solidFill>
              </a:rPr>
              <a:t>Two concepts meet the constraints. One is simpler to produce; the other may allow better adjustment. Explain what evidence would help you choose and how drawings could reduce uncertainty.</a:t>
            </a:r>
          </a:p>
        </p:txBody>
      </p:sp>
      <p:sp>
        <p:nvSpPr>
          <p:cNvPr id="9" name="">
            <a:extLst xmlns:a="http://schemas.openxmlformats.org/drawingml/2006/main">
              <a:ext uri="{FF2B5EF4-FFF2-40B4-BE49-F238E27FC236}">
                <a16:creationId xmlns:a16="http://schemas.microsoft.com/office/drawing/2014/main" id="{AD2ADA57-60F2-4D97-95F1-CBB3668E63BC}"/>
              </a:ext>
            </a:extLst>
          </p:cNvPr>
          <p:cNvSpPr>
            <a:spLocks xmlns:a="http://schemas.openxmlformats.org/drawingml/2006/main" noGrp="1"/>
          </p:cNvSpPr>
          <p:nvPr/>
        </p:nvSpPr>
        <p:spPr>
          <a:xfrm xmlns:a="http://schemas.openxmlformats.org/drawingml/2006/main">
            <a:off x="3143250" y="3476625"/>
            <a:ext cx="533400" cy="247650"/>
          </a:xfrm>
          <a:prstGeom xmlns:a="http://schemas.openxmlformats.org/drawingml/2006/main" prst="rightArrow">
            <a:avLst/>
          </a:prstGeom>
          <a:solidFill xmlns:a="http://schemas.openxmlformats.org/drawingml/2006/main">
            <a:srgbClr val="F0B84B"/>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D4A1FBE-7B63-43FC-A650-643AF6CDF075}"/>
              </a:ext>
            </a:extLst>
          </p:cNvPr>
          <p:cNvSpPr>
            <a:spLocks xmlns:a="http://schemas.openxmlformats.org/drawingml/2006/main" noGrp="1"/>
          </p:cNvSpPr>
          <p:nvPr/>
        </p:nvSpPr>
        <p:spPr>
          <a:xfrm xmlns:a="http://schemas.openxmlformats.org/drawingml/2006/main">
            <a:off x="5867400" y="3476625"/>
            <a:ext cx="533400" cy="247650"/>
          </a:xfrm>
          <a:prstGeom xmlns:a="http://schemas.openxmlformats.org/drawingml/2006/main" prst="rightArrow">
            <a:avLst/>
          </a:prstGeom>
          <a:solidFill xmlns:a="http://schemas.openxmlformats.org/drawingml/2006/main">
            <a:srgbClr val="F0B84B"/>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E8A7C12B-77D0-41CD-AECD-F3893510C0F1}"/>
              </a:ext>
            </a:extLst>
          </p:cNvPr>
          <p:cNvSpPr>
            <a:spLocks xmlns:a="http://schemas.openxmlformats.org/drawingml/2006/main" noGrp="1"/>
          </p:cNvSpPr>
          <p:nvPr/>
        </p:nvSpPr>
        <p:spPr>
          <a:xfrm xmlns:a="http://schemas.openxmlformats.org/drawingml/2006/main">
            <a:off x="8591550" y="3476625"/>
            <a:ext cx="533400" cy="247650"/>
          </a:xfrm>
          <a:prstGeom xmlns:a="http://schemas.openxmlformats.org/drawingml/2006/main" prst="rightArrow">
            <a:avLst/>
          </a:prstGeom>
          <a:solidFill xmlns:a="http://schemas.openxmlformats.org/drawingml/2006/main">
            <a:srgbClr val="F0B84B"/>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AC132356-F309-4B32-970F-8C9F1DD7478C}"/>
              </a:ext>
            </a:extLst>
          </p:cNvPr>
          <p:cNvSpPr>
            <a:spLocks xmlns:a="http://schemas.openxmlformats.org/drawingml/2006/main" noGrp="1"/>
          </p:cNvSpPr>
          <p:nvPr/>
        </p:nvSpPr>
        <p:spPr>
          <a:xfrm xmlns:a="http://schemas.openxmlformats.org/drawingml/2006/main">
            <a:off x="685800" y="3028950"/>
            <a:ext cx="23431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1">
                <a:solidFill>
                  <a:srgbClr val="184F5E"/>
                </a:solidFill>
              </a:defRPr>
            </a:pPr>
            <a:r>
              <a:rPr sz="1500" b="1">
                <a:solidFill>
                  <a:srgbClr val="184F5E"/>
                </a:solidFill>
              </a:rPr>
              <a:t>READ</a:t>
            </a:r>
          </a:p>
          <a:p xmlns:a="http://schemas.openxmlformats.org/drawingml/2006/main">
            <a:pPr algn="ctr">
              <a:defRPr sz="1500" b="1">
                <a:solidFill>
                  <a:srgbClr val="184F5E"/>
                </a:solidFill>
              </a:defRPr>
            </a:pPr>
            <a:r>
              <a:rPr sz="1500" b="1">
                <a:solidFill>
                  <a:srgbClr val="184F5E"/>
                </a:solidFill>
              </a:rPr>
              <a:t>Underline the decision</a:t>
            </a:r>
          </a:p>
        </p:txBody>
      </p:sp>
      <p:sp>
        <p:nvSpPr>
          <p:cNvPr id="13" name="">
            <a:extLst xmlns:a="http://schemas.openxmlformats.org/drawingml/2006/main">
              <a:ext uri="{FF2B5EF4-FFF2-40B4-BE49-F238E27FC236}">
                <a16:creationId xmlns:a16="http://schemas.microsoft.com/office/drawing/2014/main" id="{9AEB455E-D180-4D3A-BC4C-0648FFBA2009}"/>
              </a:ext>
            </a:extLst>
          </p:cNvPr>
          <p:cNvSpPr>
            <a:spLocks xmlns:a="http://schemas.openxmlformats.org/drawingml/2006/main" noGrp="1"/>
          </p:cNvSpPr>
          <p:nvPr/>
        </p:nvSpPr>
        <p:spPr>
          <a:xfrm xmlns:a="http://schemas.openxmlformats.org/drawingml/2006/main">
            <a:off x="3409950" y="3028950"/>
            <a:ext cx="23431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1">
                <a:solidFill>
                  <a:srgbClr val="A94424"/>
                </a:solidFill>
              </a:defRPr>
            </a:pPr>
            <a:r>
              <a:rPr sz="1500" b="1">
                <a:solidFill>
                  <a:srgbClr val="A94424"/>
                </a:solidFill>
              </a:rPr>
              <a:t>SELECT</a:t>
            </a:r>
          </a:p>
          <a:p xmlns:a="http://schemas.openxmlformats.org/drawingml/2006/main">
            <a:pPr algn="ctr">
              <a:defRPr sz="1500" b="1">
                <a:solidFill>
                  <a:srgbClr val="A94424"/>
                </a:solidFill>
              </a:defRPr>
            </a:pPr>
            <a:r>
              <a:rPr sz="1500" b="1">
                <a:solidFill>
                  <a:srgbClr val="A94424"/>
                </a:solidFill>
              </a:rPr>
              <a:t>Choose precise evidence</a:t>
            </a:r>
          </a:p>
        </p:txBody>
      </p:sp>
      <p:sp>
        <p:nvSpPr>
          <p:cNvPr id="14" name="">
            <a:extLst xmlns:a="http://schemas.openxmlformats.org/drawingml/2006/main">
              <a:ext uri="{FF2B5EF4-FFF2-40B4-BE49-F238E27FC236}">
                <a16:creationId xmlns:a16="http://schemas.microsoft.com/office/drawing/2014/main" id="{88AB5E7D-7FC4-406E-A3CD-F7A2635CA13E}"/>
              </a:ext>
            </a:extLst>
          </p:cNvPr>
          <p:cNvSpPr>
            <a:spLocks xmlns:a="http://schemas.openxmlformats.org/drawingml/2006/main" noGrp="1"/>
          </p:cNvSpPr>
          <p:nvPr/>
        </p:nvSpPr>
        <p:spPr>
          <a:xfrm xmlns:a="http://schemas.openxmlformats.org/drawingml/2006/main">
            <a:off x="6134100" y="3028950"/>
            <a:ext cx="23431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1">
                <a:solidFill>
                  <a:srgbClr val="184F5E"/>
                </a:solidFill>
              </a:defRPr>
            </a:pPr>
            <a:r>
              <a:rPr sz="1500" b="1">
                <a:solidFill>
                  <a:srgbClr val="184F5E"/>
                </a:solidFill>
              </a:rPr>
              <a:t>EXPLAIN</a:t>
            </a:r>
          </a:p>
          <a:p xmlns:a="http://schemas.openxmlformats.org/drawingml/2006/main">
            <a:pPr algn="ctr">
              <a:defRPr sz="1500" b="1">
                <a:solidFill>
                  <a:srgbClr val="184F5E"/>
                </a:solidFill>
              </a:defRPr>
            </a:pPr>
            <a:r>
              <a:rPr sz="1500" b="1">
                <a:solidFill>
                  <a:srgbClr val="184F5E"/>
                </a:solidFill>
              </a:rPr>
              <a:t>Connect with theory</a:t>
            </a:r>
          </a:p>
        </p:txBody>
      </p:sp>
      <p:sp>
        <p:nvSpPr>
          <p:cNvPr id="15" name="">
            <a:extLst xmlns:a="http://schemas.openxmlformats.org/drawingml/2006/main">
              <a:ext uri="{FF2B5EF4-FFF2-40B4-BE49-F238E27FC236}">
                <a16:creationId xmlns:a16="http://schemas.microsoft.com/office/drawing/2014/main" id="{985B78C2-E449-4E1A-9EDB-BDE956AE6AD7}"/>
              </a:ext>
            </a:extLst>
          </p:cNvPr>
          <p:cNvSpPr>
            <a:spLocks xmlns:a="http://schemas.openxmlformats.org/drawingml/2006/main" noGrp="1"/>
          </p:cNvSpPr>
          <p:nvPr/>
        </p:nvSpPr>
        <p:spPr>
          <a:xfrm xmlns:a="http://schemas.openxmlformats.org/drawingml/2006/main">
            <a:off x="8858250" y="3028950"/>
            <a:ext cx="23431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1">
                <a:solidFill>
                  <a:srgbClr val="A94424"/>
                </a:solidFill>
              </a:defRPr>
            </a:pPr>
            <a:r>
              <a:rPr sz="1500" b="1">
                <a:solidFill>
                  <a:srgbClr val="A94424"/>
                </a:solidFill>
              </a:rPr>
              <a:t>CHECK</a:t>
            </a:r>
          </a:p>
          <a:p xmlns:a="http://schemas.openxmlformats.org/drawingml/2006/main">
            <a:pPr algn="ctr">
              <a:defRPr sz="1500" b="1">
                <a:solidFill>
                  <a:srgbClr val="A94424"/>
                </a:solidFill>
              </a:defRPr>
            </a:pPr>
            <a:r>
              <a:rPr sz="1500" b="1">
                <a:solidFill>
                  <a:srgbClr val="A94424"/>
                </a:solidFill>
              </a:rPr>
              <a:t>Answer every part</a:t>
            </a:r>
          </a:p>
        </p:txBody>
      </p:sp>
      <p:sp>
        <p:nvSpPr>
          <p:cNvPr id="16" name="">
            <a:extLst xmlns:a="http://schemas.openxmlformats.org/drawingml/2006/main">
              <a:ext uri="{FF2B5EF4-FFF2-40B4-BE49-F238E27FC236}">
                <a16:creationId xmlns:a16="http://schemas.microsoft.com/office/drawing/2014/main" id="{F7DFBF8B-C305-42A5-A48B-81A270C34B30}"/>
              </a:ext>
            </a:extLst>
          </p:cNvPr>
          <p:cNvSpPr>
            <a:spLocks xmlns:a="http://schemas.openxmlformats.org/drawingml/2006/main" noGrp="1"/>
          </p:cNvSpPr>
          <p:nvPr/>
        </p:nvSpPr>
        <p:spPr>
          <a:xfrm xmlns:a="http://schemas.openxmlformats.org/drawingml/2006/main">
            <a:off x="685800" y="4476750"/>
            <a:ext cx="10820400" cy="1219200"/>
          </a:xfrm>
          <a:prstGeom xmlns:a="http://schemas.openxmlformats.org/drawingml/2006/main" prst="rect">
            <a:avLst/>
          </a:prstGeom>
          <a:solidFill xmlns:a="http://schemas.openxmlformats.org/drawingml/2006/main">
            <a:srgbClr val="FFFFFF"/>
          </a:solidFill>
          <a:ln xmlns:a="http://schemas.openxmlformats.org/drawingml/2006/main" w="9525">
            <a:solidFill>
              <a:srgbClr val="CAD4D8"/>
            </a:solidFill>
            <a:prstDash val="solid"/>
          </a:ln>
        </p:spPr>
      </p:sp>
      <p:sp>
        <p:nvSpPr>
          <p:cNvPr id="17" name="">
            <a:extLst xmlns:a="http://schemas.openxmlformats.org/drawingml/2006/main">
              <a:ext uri="{FF2B5EF4-FFF2-40B4-BE49-F238E27FC236}">
                <a16:creationId xmlns:a16="http://schemas.microsoft.com/office/drawing/2014/main" id="{1B521A5B-6007-4AD8-9C69-B15C21A08612}"/>
              </a:ext>
            </a:extLst>
          </p:cNvPr>
          <p:cNvSpPr>
            <a:spLocks xmlns:a="http://schemas.openxmlformats.org/drawingml/2006/main" noGrp="1"/>
          </p:cNvSpPr>
          <p:nvPr/>
        </p:nvSpPr>
        <p:spPr>
          <a:xfrm xmlns:a="http://schemas.openxmlformats.org/drawingml/2006/main">
            <a:off x="914400" y="4667250"/>
            <a:ext cx="209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a:solidFill>
                  <a:srgbClr val="A94424"/>
                </a:solidFill>
              </a:defRPr>
            </a:pPr>
            <a:r>
              <a:rPr sz="1200" b="1">
                <a:solidFill>
                  <a:srgbClr val="A94424"/>
                </a:solidFill>
              </a:rPr>
              <a:t>SENTENCE SUPPORT</a:t>
            </a:r>
          </a:p>
        </p:txBody>
      </p:sp>
      <p:sp>
        <p:nvSpPr>
          <p:cNvPr id="18" name="">
            <a:extLst xmlns:a="http://schemas.openxmlformats.org/drawingml/2006/main">
              <a:ext uri="{FF2B5EF4-FFF2-40B4-BE49-F238E27FC236}">
                <a16:creationId xmlns:a16="http://schemas.microsoft.com/office/drawing/2014/main" id="{552734B3-14F1-4B4E-8BBE-DA338B893320}"/>
              </a:ext>
            </a:extLst>
          </p:cNvPr>
          <p:cNvSpPr>
            <a:spLocks xmlns:a="http://schemas.openxmlformats.org/drawingml/2006/main" noGrp="1"/>
          </p:cNvSpPr>
          <p:nvPr/>
        </p:nvSpPr>
        <p:spPr>
          <a:xfrm xmlns:a="http://schemas.openxmlformats.org/drawingml/2006/main">
            <a:off x="914400" y="5029200"/>
            <a:ext cx="10144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a:solidFill>
                  <a:srgbClr val="17232B"/>
                </a:solidFill>
              </a:defRPr>
            </a:pPr>
            <a:r>
              <a:rPr sz="1575" b="0">
                <a:solidFill>
                  <a:srgbClr val="17232B"/>
                </a:solidFill>
              </a:rPr>
              <a:t>Concept A is stronger for … while Concept B allows … The most useful evidence would be … My drawings would reduce uncertainty by …</a:t>
            </a:r>
          </a:p>
        </p:txBody>
      </p:sp>
    </p:spTree>
    <p:extLst>
      <p:ext uri="{BB962C8B-B14F-4D97-AF65-F5344CB8AC3E}">
        <p14:creationId xmlns:p14="http://schemas.microsoft.com/office/powerpoint/2010/main" val="1068026681"/>
      </p:ext>
    </p:extLst>
  </p:cSld>
</p:sld>
</file>

<file path=ppt/slides/slide8.xml><?xml version="1.0" encoding="utf-8"?>
<p:sld xmlns:p="http://schemas.openxmlformats.org/presentationml/2006/main">
  <p:cSld>
    <p:bg>
      <p:bgPr>
        <a:solidFill xmlns:a="http://schemas.openxmlformats.org/drawingml/2006/main">
          <a:srgbClr val="A94424"/>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B8BAD600-8623-4FCA-A336-C51C77D76DD4}"/>
              </a:ext>
            </a:extLst>
          </p:cNvPr>
          <p:cNvSpPr>
            <a:spLocks xmlns:a="http://schemas.openxmlformats.org/drawingml/2006/main" noGrp="1"/>
          </p:cNvSpPr>
          <p:nvPr/>
        </p:nvSpPr>
        <p:spPr>
          <a:xfrm xmlns:a="http://schemas.openxmlformats.org/drawingml/2006/main">
            <a:off x="685800" y="552450"/>
            <a:ext cx="6191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F0B84B"/>
                </a:solidFill>
              </a:defRPr>
            </a:pPr>
            <a:r>
              <a:rPr sz="1350" b="1">
                <a:solidFill>
                  <a:srgbClr val="F0B84B"/>
                </a:solidFill>
              </a:rPr>
              <a:t>BEFORE YOU PACK UP …</a:t>
            </a:r>
          </a:p>
        </p:txBody>
      </p:sp>
      <p:sp>
        <p:nvSpPr>
          <p:cNvPr id="2" name="">
            <a:extLst xmlns:a="http://schemas.openxmlformats.org/drawingml/2006/main">
              <a:ext uri="{FF2B5EF4-FFF2-40B4-BE49-F238E27FC236}">
                <a16:creationId xmlns:a16="http://schemas.microsoft.com/office/drawing/2014/main" id="{1F19626C-8150-4C6C-BC9B-0258EB53E10D}"/>
              </a:ext>
            </a:extLst>
          </p:cNvPr>
          <p:cNvSpPr>
            <a:spLocks xmlns:a="http://schemas.openxmlformats.org/drawingml/2006/main" noGrp="1"/>
          </p:cNvSpPr>
          <p:nvPr/>
        </p:nvSpPr>
        <p:spPr>
          <a:xfrm xmlns:a="http://schemas.openxmlformats.org/drawingml/2006/main">
            <a:off x="685800" y="1066800"/>
            <a:ext cx="8001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150" b="1">
                <a:solidFill>
                  <a:srgbClr val="FFFFFF"/>
                </a:solidFill>
              </a:defRPr>
            </a:pPr>
            <a:r>
              <a:rPr sz="3150" b="1">
                <a:solidFill>
                  <a:srgbClr val="FFFFFF"/>
                </a:solidFill>
              </a:rPr>
              <a:t>Close the design loop</a:t>
            </a:r>
          </a:p>
        </p:txBody>
      </p:sp>
      <p:sp>
        <p:nvSpPr>
          <p:cNvPr id="3" name="">
            <a:extLst xmlns:a="http://schemas.openxmlformats.org/drawingml/2006/main">
              <a:ext uri="{FF2B5EF4-FFF2-40B4-BE49-F238E27FC236}">
                <a16:creationId xmlns:a16="http://schemas.microsoft.com/office/drawing/2014/main" id="{37BE2B06-70E8-4857-B3A0-3DBA524D131D}"/>
              </a:ext>
            </a:extLst>
          </p:cNvPr>
          <p:cNvSpPr>
            <a:spLocks xmlns:a="http://schemas.openxmlformats.org/drawingml/2006/main" noGrp="1"/>
          </p:cNvSpPr>
          <p:nvPr/>
        </p:nvSpPr>
        <p:spPr>
          <a:xfrm xmlns:a="http://schemas.openxmlformats.org/drawingml/2006/main">
            <a:off x="685800" y="2095500"/>
            <a:ext cx="8096250" cy="6667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8DBF7D8-35F3-41F6-9E8A-3F997E624581}"/>
              </a:ext>
            </a:extLst>
          </p:cNvPr>
          <p:cNvSpPr>
            <a:spLocks xmlns:a="http://schemas.openxmlformats.org/drawingml/2006/main" noGrp="1"/>
          </p:cNvSpPr>
          <p:nvPr/>
        </p:nvSpPr>
        <p:spPr>
          <a:xfrm xmlns:a="http://schemas.openxmlformats.org/drawingml/2006/main">
            <a:off x="933450" y="2266950"/>
            <a:ext cx="7620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17232B"/>
                </a:solidFill>
              </a:defRPr>
            </a:pPr>
            <a:r>
              <a:rPr sz="1650" b="1">
                <a:solidFill>
                  <a:srgbClr val="17232B"/>
                </a:solidFill>
              </a:rPr>
              <a:t>1. One feature that must agree across views …</a:t>
            </a:r>
          </a:p>
        </p:txBody>
      </p:sp>
      <p:sp>
        <p:nvSpPr>
          <p:cNvPr id="5" name="">
            <a:extLst xmlns:a="http://schemas.openxmlformats.org/drawingml/2006/main">
              <a:ext uri="{FF2B5EF4-FFF2-40B4-BE49-F238E27FC236}">
                <a16:creationId xmlns:a16="http://schemas.microsoft.com/office/drawing/2014/main" id="{760B5DCD-D48F-48A3-A32C-3930EC6BC346}"/>
              </a:ext>
            </a:extLst>
          </p:cNvPr>
          <p:cNvSpPr>
            <a:spLocks xmlns:a="http://schemas.openxmlformats.org/drawingml/2006/main" noGrp="1"/>
          </p:cNvSpPr>
          <p:nvPr/>
        </p:nvSpPr>
        <p:spPr>
          <a:xfrm xmlns:a="http://schemas.openxmlformats.org/drawingml/2006/main">
            <a:off x="685800" y="3028950"/>
            <a:ext cx="8096250" cy="6667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9270B397-7CB0-4E00-B422-0B9ACEE401EF}"/>
              </a:ext>
            </a:extLst>
          </p:cNvPr>
          <p:cNvSpPr>
            <a:spLocks xmlns:a="http://schemas.openxmlformats.org/drawingml/2006/main" noGrp="1"/>
          </p:cNvSpPr>
          <p:nvPr/>
        </p:nvSpPr>
        <p:spPr>
          <a:xfrm xmlns:a="http://schemas.openxmlformats.org/drawingml/2006/main">
            <a:off x="933450" y="3200400"/>
            <a:ext cx="7620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17232B"/>
                </a:solidFill>
              </a:defRPr>
            </a:pPr>
            <a:r>
              <a:rPr sz="1650" b="1">
                <a:solidFill>
                  <a:srgbClr val="17232B"/>
                </a:solidFill>
              </a:rPr>
              <a:t>2. One trade-off my selection should acknowledge …</a:t>
            </a:r>
          </a:p>
        </p:txBody>
      </p:sp>
      <p:sp>
        <p:nvSpPr>
          <p:cNvPr id="7" name="">
            <a:extLst xmlns:a="http://schemas.openxmlformats.org/drawingml/2006/main">
              <a:ext uri="{FF2B5EF4-FFF2-40B4-BE49-F238E27FC236}">
                <a16:creationId xmlns:a16="http://schemas.microsoft.com/office/drawing/2014/main" id="{E61B53E4-7135-412C-9BAB-682373037D2E}"/>
              </a:ext>
            </a:extLst>
          </p:cNvPr>
          <p:cNvSpPr>
            <a:spLocks xmlns:a="http://schemas.openxmlformats.org/drawingml/2006/main" noGrp="1"/>
          </p:cNvSpPr>
          <p:nvPr/>
        </p:nvSpPr>
        <p:spPr>
          <a:xfrm xmlns:a="http://schemas.openxmlformats.org/drawingml/2006/main">
            <a:off x="685800" y="3962400"/>
            <a:ext cx="8096250" cy="6667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3A3636E-CB0F-4EB0-AEEE-00E2EFD98DBE}"/>
              </a:ext>
            </a:extLst>
          </p:cNvPr>
          <p:cNvSpPr>
            <a:spLocks xmlns:a="http://schemas.openxmlformats.org/drawingml/2006/main" noGrp="1"/>
          </p:cNvSpPr>
          <p:nvPr/>
        </p:nvSpPr>
        <p:spPr>
          <a:xfrm xmlns:a="http://schemas.openxmlformats.org/drawingml/2006/main">
            <a:off x="933450" y="4133850"/>
            <a:ext cx="7620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17232B"/>
                </a:solidFill>
              </a:defRPr>
            </a:pPr>
            <a:r>
              <a:rPr sz="1650" b="1">
                <a:solidFill>
                  <a:srgbClr val="17232B"/>
                </a:solidFill>
              </a:rPr>
              <a:t>3. One cutting-list check I can perform …</a:t>
            </a:r>
          </a:p>
        </p:txBody>
      </p:sp>
      <p:sp>
        <p:nvSpPr>
          <p:cNvPr id="9" name="">
            <a:extLst xmlns:a="http://schemas.openxmlformats.org/drawingml/2006/main">
              <a:ext uri="{FF2B5EF4-FFF2-40B4-BE49-F238E27FC236}">
                <a16:creationId xmlns:a16="http://schemas.microsoft.com/office/drawing/2014/main" id="{EFD5FFB0-141F-472F-9190-F599F66905B5}"/>
              </a:ext>
            </a:extLst>
          </p:cNvPr>
          <p:cNvSpPr>
            <a:spLocks xmlns:a="http://schemas.openxmlformats.org/drawingml/2006/main" noGrp="1"/>
          </p:cNvSpPr>
          <p:nvPr/>
        </p:nvSpPr>
        <p:spPr>
          <a:xfrm xmlns:a="http://schemas.openxmlformats.org/drawingml/2006/main">
            <a:off x="9353550" y="2419350"/>
            <a:ext cx="1828800" cy="1828800"/>
          </a:xfrm>
          <a:prstGeom xmlns:a="http://schemas.openxmlformats.org/drawingml/2006/main" prst="ellipse">
            <a:avLst/>
          </a:prstGeom>
          <a:solidFill xmlns:a="http://schemas.openxmlformats.org/drawingml/2006/main">
            <a:srgbClr val="F0B84B"/>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3677B73E-6314-4409-8806-240F8D978151}"/>
              </a:ext>
            </a:extLst>
          </p:cNvPr>
          <p:cNvSpPr>
            <a:spLocks xmlns:a="http://schemas.openxmlformats.org/drawingml/2006/main" noGrp="1"/>
          </p:cNvSpPr>
          <p:nvPr/>
        </p:nvSpPr>
        <p:spPr>
          <a:xfrm xmlns:a="http://schemas.openxmlformats.org/drawingml/2006/main">
            <a:off x="9610725" y="2800350"/>
            <a:ext cx="13144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75" b="1">
                <a:solidFill>
                  <a:srgbClr val="17232B"/>
                </a:solidFill>
              </a:defRPr>
            </a:pPr>
            <a:r>
              <a:rPr sz="1875" b="1">
                <a:solidFill>
                  <a:srgbClr val="17232B"/>
                </a:solidFill>
              </a:rPr>
              <a:t>SAVE</a:t>
            </a:r>
          </a:p>
          <a:p xmlns:a="http://schemas.openxmlformats.org/drawingml/2006/main">
            <a:pPr algn="ctr">
              <a:defRPr sz="1875" b="1">
                <a:solidFill>
                  <a:srgbClr val="17232B"/>
                </a:solidFill>
              </a:defRPr>
            </a:pPr>
            <a:r>
              <a:rPr sz="1875" b="1">
                <a:solidFill>
                  <a:srgbClr val="17232B"/>
                </a:solidFill>
              </a:rPr>
              <a:t>YOUR</a:t>
            </a:r>
          </a:p>
          <a:p xmlns:a="http://schemas.openxmlformats.org/drawingml/2006/main">
            <a:pPr algn="ctr">
              <a:defRPr sz="1875" b="1">
                <a:solidFill>
                  <a:srgbClr val="17232B"/>
                </a:solidFill>
              </a:defRPr>
            </a:pPr>
            <a:r>
              <a:rPr sz="1875" b="1">
                <a:solidFill>
                  <a:srgbClr val="17232B"/>
                </a:solidFill>
              </a:rPr>
              <a:t>EVIDENCE</a:t>
            </a:r>
          </a:p>
        </p:txBody>
      </p:sp>
      <p:sp>
        <p:nvSpPr>
          <p:cNvPr id="11" name="">
            <a:extLst xmlns:a="http://schemas.openxmlformats.org/drawingml/2006/main">
              <a:ext uri="{FF2B5EF4-FFF2-40B4-BE49-F238E27FC236}">
                <a16:creationId xmlns:a16="http://schemas.microsoft.com/office/drawing/2014/main" id="{33784DA4-5113-411C-8568-6D9E70B0AE48}"/>
              </a:ext>
            </a:extLst>
          </p:cNvPr>
          <p:cNvSpPr>
            <a:spLocks xmlns:a="http://schemas.openxmlformats.org/drawingml/2006/main" noGrp="1"/>
          </p:cNvSpPr>
          <p:nvPr/>
        </p:nvSpPr>
        <p:spPr>
          <a:xfrm xmlns:a="http://schemas.openxmlformats.org/drawingml/2006/main">
            <a:off x="685800" y="5219700"/>
            <a:ext cx="8096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0">
                <a:solidFill>
                  <a:srgbClr val="FFFFFF"/>
                </a:solidFill>
              </a:defRPr>
            </a:pPr>
            <a:r>
              <a:rPr sz="1425" b="0">
                <a:solidFill>
                  <a:srgbClr val="FFFFFF"/>
                </a:solidFill>
              </a:rPr>
              <a:t>Evidence destination: your module response and folio where your teacher directs.</a:t>
            </a:r>
          </a:p>
        </p:txBody>
      </p:sp>
      <p:sp>
        <p:nvSpPr>
          <p:cNvPr id="12" name="">
            <a:extLst xmlns:a="http://schemas.openxmlformats.org/drawingml/2006/main">
              <a:ext uri="{FF2B5EF4-FFF2-40B4-BE49-F238E27FC236}">
                <a16:creationId xmlns:a16="http://schemas.microsoft.com/office/drawing/2014/main" id="{200B3075-E7F3-4354-9A7A-0D1895F4DF13}"/>
              </a:ext>
            </a:extLst>
          </p:cNvPr>
          <p:cNvSpPr>
            <a:spLocks xmlns:a="http://schemas.openxmlformats.org/drawingml/2006/main" noGrp="1"/>
          </p:cNvSpPr>
          <p:nvPr/>
        </p:nvSpPr>
        <p:spPr>
          <a:xfrm xmlns:a="http://schemas.openxmlformats.org/drawingml/2006/main">
            <a:off x="685800" y="5886450"/>
            <a:ext cx="10572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F0B84B"/>
                </a:solidFill>
              </a:defRPr>
            </a:pPr>
            <a:r>
              <a:rPr sz="1350" b="1">
                <a:solidFill>
                  <a:srgbClr val="F0B84B"/>
                </a:solidFill>
              </a:rPr>
              <a:t>Next: plan a production sequence around dependencies, load paths and checkpoints.</a:t>
            </a:r>
          </a:p>
        </p:txBody>
      </p:sp>
      <p:sp>
        <p:nvSpPr>
          <p:cNvPr id="13" name="">
            <a:extLst xmlns:a="http://schemas.openxmlformats.org/drawingml/2006/main">
              <a:ext uri="{FF2B5EF4-FFF2-40B4-BE49-F238E27FC236}">
                <a16:creationId xmlns:a16="http://schemas.microsoft.com/office/drawing/2014/main" id="{93278837-39E9-409C-9962-E2436E5424D6}"/>
              </a:ext>
            </a:extLst>
          </p:cNvPr>
          <p:cNvSpPr>
            <a:spLocks xmlns:a="http://schemas.openxmlformats.org/drawingml/2006/main" noGrp="1"/>
          </p:cNvSpPr>
          <p:nvPr/>
        </p:nvSpPr>
        <p:spPr>
          <a:xfrm xmlns:a="http://schemas.openxmlformats.org/drawingml/2006/main">
            <a:off x="685800" y="6400800"/>
            <a:ext cx="10820400" cy="0"/>
          </a:xfrm>
          <a:prstGeom xmlns:a="http://schemas.openxmlformats.org/drawingml/2006/main" prst="line">
            <a:avLst/>
          </a:prstGeom>
          <a:noFill xmlns:a="http://schemas.openxmlformats.org/drawingml/2006/main"/>
          <a:ln xmlns:a="http://schemas.openxmlformats.org/drawingml/2006/main" w="9525">
            <a:solidFill>
              <a:srgbClr val="FFFFFF">
                <a:alpha val="33333"/>
              </a:srgbClr>
            </a:solidFill>
            <a:prstDash val="solid"/>
          </a:ln>
        </p:spPr>
      </p:sp>
      <p:sp>
        <p:nvSpPr>
          <p:cNvPr id="14" name="">
            <a:extLst xmlns:a="http://schemas.openxmlformats.org/drawingml/2006/main">
              <a:ext uri="{FF2B5EF4-FFF2-40B4-BE49-F238E27FC236}">
                <a16:creationId xmlns:a16="http://schemas.microsoft.com/office/drawing/2014/main" id="{5C724CB1-8CEC-488B-B8DB-E25970228B8E}"/>
              </a:ext>
            </a:extLst>
          </p:cNvPr>
          <p:cNvSpPr>
            <a:spLocks xmlns:a="http://schemas.openxmlformats.org/drawingml/2006/main" noGrp="1"/>
          </p:cNvSpPr>
          <p:nvPr/>
        </p:nvSpPr>
        <p:spPr>
          <a:xfrm xmlns:a="http://schemas.openxmlformats.org/drawingml/2006/main">
            <a:off x="685800" y="649605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D7E5E8"/>
                </a:solidFill>
              </a:defRPr>
            </a:pPr>
            <a:r>
              <a:rPr sz="975" b="1">
                <a:solidFill>
                  <a:srgbClr val="D7E5E8"/>
                </a:solidFill>
              </a:rPr>
              <a:t>YEAR 8 CATAPULT  •  MODULE 05</a:t>
            </a:r>
          </a:p>
        </p:txBody>
      </p:sp>
      <p:sp>
        <p:nvSpPr>
          <p:cNvPr id="15" name="">
            <a:extLst xmlns:a="http://schemas.openxmlformats.org/drawingml/2006/main">
              <a:ext uri="{FF2B5EF4-FFF2-40B4-BE49-F238E27FC236}">
                <a16:creationId xmlns:a16="http://schemas.microsoft.com/office/drawing/2014/main" id="{172FCFC5-74B5-450E-BDC4-C4068C057E73}"/>
              </a:ext>
            </a:extLst>
          </p:cNvPr>
          <p:cNvSpPr>
            <a:spLocks xmlns:a="http://schemas.openxmlformats.org/drawingml/2006/main" noGrp="1"/>
          </p:cNvSpPr>
          <p:nvPr/>
        </p:nvSpPr>
        <p:spPr>
          <a:xfrm xmlns:a="http://schemas.openxmlformats.org/drawingml/2006/main">
            <a:off x="11049000" y="64960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F0B84B"/>
                </a:solidFill>
              </a:defRPr>
            </a:pPr>
            <a:r>
              <a:rPr sz="975" b="1">
                <a:solidFill>
                  <a:srgbClr val="F0B84B"/>
                </a:solidFill>
              </a:rPr>
              <a:t>08</a:t>
            </a:r>
          </a:p>
        </p:txBody>
      </p:sp>
    </p:spTree>
    <p:extLst>
      <p:ext uri="{BB962C8B-B14F-4D97-AF65-F5344CB8AC3E}">
        <p14:creationId xmlns:p14="http://schemas.microsoft.com/office/powerpoint/2010/main" val="143289610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2026-08-24T03:19:39.4200000Z</dcterms:created>
  <dcterms:modified xsi:type="dcterms:W3CDTF">2026-08-24T03:19:39.4200000Z</dcterms:modified>
</coreProperties>
</file>