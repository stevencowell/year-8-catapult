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67e1d1e8344621" /><Relationship Type="http://schemas.openxmlformats.org/officeDocument/2006/relationships/extended-properties" Target="/docProps/app.xml" Id="R7185522ee2c2412c" /><Relationship Type="http://schemas.openxmlformats.org/officeDocument/2006/relationships/officeDocument" Target="/ppt/presentation.xml" Id="R0402da135c7c45be" /></Relationships>
</file>

<file path=ppt/presentation.xml><?xml version="1.0" encoding="utf-8"?>
<p:presentation xmlns:p="http://schemas.openxmlformats.org/presentationml/2006/main">
  <p:sldMasterIdLst>
    <p:sldMasterId xmlns:r="http://schemas.openxmlformats.org/officeDocument/2006/relationships" id="2147483648" r:id="Rf71d1937627b4425"/>
  </p:sldMasterIdLst>
  <p:notesMasterIdLst>
    <p:notesMasterId xmlns:r="http://schemas.openxmlformats.org/officeDocument/2006/relationships" r:id="R595086aa9d3b4f2e"/>
  </p:notesMasterIdLst>
  <p:sldIdLst>
    <p:sldId xmlns:r="http://schemas.openxmlformats.org/officeDocument/2006/relationships" id="256" r:id="R48dd96c8d6a741bd"/>
    <p:sldId xmlns:r="http://schemas.openxmlformats.org/officeDocument/2006/relationships" id="257" r:id="Rb4a2e92cdbe74510"/>
    <p:sldId xmlns:r="http://schemas.openxmlformats.org/officeDocument/2006/relationships" id="258" r:id="R6100e7c52fc7423a"/>
    <p:sldId xmlns:r="http://schemas.openxmlformats.org/officeDocument/2006/relationships" id="259" r:id="R52639e29d151411c"/>
    <p:sldId xmlns:r="http://schemas.openxmlformats.org/officeDocument/2006/relationships" id="260" r:id="R4aa4d18b424940eb"/>
    <p:sldId xmlns:r="http://schemas.openxmlformats.org/officeDocument/2006/relationships" id="261" r:id="Rfe1ae1d4e42a49a6"/>
    <p:sldId xmlns:r="http://schemas.openxmlformats.org/officeDocument/2006/relationships" id="262" r:id="Rbade2449c4594e18"/>
    <p:sldId xmlns:r="http://schemas.openxmlformats.org/officeDocument/2006/relationships" id="263" r:id="Rb0fa4dff593d4c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e51d5208a64e80" /><Relationship Type="http://schemas.openxmlformats.org/officeDocument/2006/relationships/slideMaster" Target="/ppt/slideMasters/slideMaster1.xml" Id="Rf71d1937627b4425" /><Relationship Type="http://schemas.openxmlformats.org/officeDocument/2006/relationships/notesMaster" Target="/ppt/notesMasters/notesMaster1.xml" Id="R595086aa9d3b4f2e" /><Relationship Type="http://schemas.openxmlformats.org/officeDocument/2006/relationships/presProps" Target="/ppt/presProps.xml" Id="R8fd14b6cdeb14e42" /><Relationship Type="http://schemas.openxmlformats.org/officeDocument/2006/relationships/tableStyles" Target="/ppt/tableStyles.xml" Id="Rf02dd73135af40fc" /><Relationship Type="http://schemas.openxmlformats.org/officeDocument/2006/relationships/slide" Target="/ppt/slides/slide1.xml" Id="R48dd96c8d6a741bd" /><Relationship Type="http://schemas.openxmlformats.org/officeDocument/2006/relationships/slide" Target="/ppt/slides/slide2.xml" Id="Rb4a2e92cdbe74510" /><Relationship Type="http://schemas.openxmlformats.org/officeDocument/2006/relationships/slide" Target="/ppt/slides/slide3.xml" Id="R6100e7c52fc7423a" /><Relationship Type="http://schemas.openxmlformats.org/officeDocument/2006/relationships/slide" Target="/ppt/slides/slide4.xml" Id="R52639e29d151411c" /><Relationship Type="http://schemas.openxmlformats.org/officeDocument/2006/relationships/slide" Target="/ppt/slides/slide5.xml" Id="R4aa4d18b424940eb" /><Relationship Type="http://schemas.openxmlformats.org/officeDocument/2006/relationships/slide" Target="/ppt/slides/slide6.xml" Id="Rfe1ae1d4e42a49a6" /><Relationship Type="http://schemas.openxmlformats.org/officeDocument/2006/relationships/slide" Target="/ppt/slides/slide7.xml" Id="Rbade2449c4594e18" /><Relationship Type="http://schemas.openxmlformats.org/officeDocument/2006/relationships/slide" Target="/ppt/slides/slide8.xml" Id="Rb0fa4dff593d4c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33b12b2c2f4a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7dce8e03554a79" /><Relationship Type="http://schemas.openxmlformats.org/officeDocument/2006/relationships/notesMaster" Target="/ppt/notesMasters/notesMaster1.xml" Id="R34e0be06700c45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a074b9e7494f7a" /><Relationship Type="http://schemas.openxmlformats.org/officeDocument/2006/relationships/notesMaster" Target="/ppt/notesMasters/notesMaster1.xml" Id="R07479f3195ad44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ce8756eeea4900" /><Relationship Type="http://schemas.openxmlformats.org/officeDocument/2006/relationships/notesMaster" Target="/ppt/notesMasters/notesMaster1.xml" Id="Rd18ac28953d247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8eb3b001e94486" /><Relationship Type="http://schemas.openxmlformats.org/officeDocument/2006/relationships/notesMaster" Target="/ppt/notesMasters/notesMaster1.xml" Id="R838f5effac1949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e732e2ed0c415d" /><Relationship Type="http://schemas.openxmlformats.org/officeDocument/2006/relationships/notesMaster" Target="/ppt/notesMasters/notesMaster1.xml" Id="R96d54693db574d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c0bf5feacb40e6" /><Relationship Type="http://schemas.openxmlformats.org/officeDocument/2006/relationships/notesMaster" Target="/ppt/notesMasters/notesMaster1.xml" Id="Ra883b7ebfb3f40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d7652dfcfb4be6" /><Relationship Type="http://schemas.openxmlformats.org/officeDocument/2006/relationships/notesMaster" Target="/ppt/notesMasters/notesMaster1.xml" Id="R08423601199e42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44de4226fc410b" /><Relationship Type="http://schemas.openxmlformats.org/officeDocument/2006/relationships/notesMaster" Target="/ppt/notesMasters/notesMaster1.xml" Id="R52da89fadaa24f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OpenAI image generation for this course, 24 Aug 2026, conceptual only; file: catapult-design-drawing-concept.png.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Why is a neat sketch not yet complete production information?</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Divergent thinking produces alternatives that differ in system organisation, stability or component relationships—not just colour. A PMI records plusses, minusses and interesting points against the brief, materials, likely performance and production demands. The chosen concept needs an evidence-based trade-off.</a:t>
            </a:r>
          </a:p>
          <a:p xmlns:a="http://schemas.openxmlformats.org/drawingml/2006/main">
            <a:r>
              <a:t>- Use the visual to emphasise: Look for differences in component relationships—not colour or decoration.</a:t>
            </a:r>
          </a:p>
          <a:p xmlns:a="http://schemas.openxmlformats.org/drawingml/2006/main">
            <a:r>
              <a:t/>
            </a:r>
          </a:p>
          <a:p xmlns:a="http://schemas.openxmlformats.org/drawingml/2006/main">
            <a:r>
              <a:t>Prompt</a:t>
            </a:r>
          </a:p>
          <a:p xmlns:a="http://schemas.openxmlformats.org/drawingml/2006/main">
            <a:r>
              <a:t>- Decision: identify the evidence that makes one concept a stronger candidate within the confirmed constraints.</a:t>
            </a:r>
          </a:p>
          <a:p xmlns:a="http://schemas.openxmlformats.org/drawingml/2006/main">
            <a:r>
              <a:t/>
            </a:r>
          </a:p>
          <a:p xmlns:a="http://schemas.openxmlformats.org/drawingml/2006/main">
            <a:r>
              <a:t>Likely misconception</a:t>
            </a:r>
          </a:p>
          <a:p xmlns:a="http://schemas.openxmlformats.org/drawingml/2006/main">
            <a:r>
              <a:t>- What makes two ideas genuinely different?</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Teaching visual: assets/visuals/theory/m05-genuine-alternatives.png.</a:t>
            </a:r>
          </a:p>
          <a:p xmlns:a="http://schemas.openxmlformats.org/drawingml/2006/main">
            <a:r>
              <a:t>- OpenAI image generation for this course, 24 Aug 2026; conceptual teaching still life; final prompt: Four genuinely different nonfunctional cardboard lever studies with blank comparison tokens; no complete Catapult, dimensions or student 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pictorial drawing communicates overall form. Orthographic front, top and side views communicate features without perspective. Labels and dimensions make the drawing useful for production only when corresponding features align and the views do not contradict one another.</a:t>
            </a:r>
          </a:p>
          <a:p xmlns:a="http://schemas.openxmlformats.org/drawingml/2006/main">
            <a:r>
              <a:t>- Use the visual to emphasise: Trace one feature across the front, top and side views and check that its position agrees.</a:t>
            </a:r>
          </a:p>
          <a:p xmlns:a="http://schemas.openxmlformats.org/drawingml/2006/main">
            <a:r>
              <a:t/>
            </a:r>
          </a:p>
          <a:p xmlns:a="http://schemas.openxmlformats.org/drawingml/2006/main">
            <a:r>
              <a:t>Prompt</a:t>
            </a:r>
          </a:p>
          <a:p xmlns:a="http://schemas.openxmlformats.org/drawingml/2006/main">
            <a:r>
              <a:t>- Check: choose one feature and trace it across the front, top and side views.</a:t>
            </a:r>
          </a:p>
          <a:p xmlns:a="http://schemas.openxmlformats.org/drawingml/2006/main">
            <a:r>
              <a:t/>
            </a:r>
          </a:p>
          <a:p xmlns:a="http://schemas.openxmlformats.org/drawingml/2006/main">
            <a:r>
              <a:t>Likely misconception</a:t>
            </a:r>
          </a:p>
          <a:p xmlns:a="http://schemas.openxmlformats.org/drawingml/2006/main">
            <a:r>
              <a:t>- Why must orthographic views align?</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Teaching visual: assets/visuals/theory/m05-agreeing-views.png.</a:t>
            </a:r>
          </a:p>
          <a:p xmlns:a="http://schemas.openxmlformats.org/drawingml/2006/main">
            <a:r>
              <a:t>- OpenAI image generation for this course, 24 Aug 2026; conceptual teaching still life; final prompt: Generic stepped block beside newly created front, top and side outline views; no dimensions, project form or copied source drawing.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For each part, planned length multiplied by quantity gives the row total. Adding every row total checks the design against the authorised 2400 mm maximum. Correct arithmetic still needs teacher review for missing parts, realistic sequencing and any process allowance.</a:t>
            </a:r>
          </a:p>
          <a:p xmlns:a="http://schemas.openxmlformats.org/drawingml/2006/main">
            <a:r>
              <a:t>- Use the visual to emphasise: Check that every component is traceable to a view and that row totals reconcile with the confirmed limit.</a:t>
            </a:r>
          </a:p>
          <a:p xmlns:a="http://schemas.openxmlformats.org/drawingml/2006/main">
            <a:r>
              <a:t/>
            </a:r>
          </a:p>
          <a:p xmlns:a="http://schemas.openxmlformats.org/drawingml/2006/main">
            <a:r>
              <a:t>Prompt</a:t>
            </a:r>
          </a:p>
          <a:p xmlns:a="http://schemas.openxmlformats.org/drawingml/2006/main">
            <a:r>
              <a:t>- Worked check: 200 mm × 4 = 800 mm, leaving 1600 mm from the authorised total for other planned pine parts.</a:t>
            </a:r>
          </a:p>
          <a:p xmlns:a="http://schemas.openxmlformats.org/drawingml/2006/main">
            <a:r>
              <a:t/>
            </a:r>
          </a:p>
          <a:p xmlns:a="http://schemas.openxmlformats.org/drawingml/2006/main">
            <a:r>
              <a:t>Likely misconception</a:t>
            </a:r>
          </a:p>
          <a:p xmlns:a="http://schemas.openxmlformats.org/drawingml/2006/main">
            <a:r>
              <a:t>- How is a row total calculated?</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Teaching visual: assets/visuals/theory/m05-drawing-to-cutting-list.png.</a:t>
            </a:r>
          </a:p>
          <a:p xmlns:a="http://schemas.openxmlformats.org/drawingml/2006/main">
            <a:r>
              <a:t>- OpenAI image generation for this course, 24 Aug 2026; conceptual teaching still life; final prompt: Generic component samples beside blank planning cards, ruler and unlabelled calculator; no project parts, lengths, totals or readable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Two concepts meet the constraints. One is simpler to produce; the other may allow better adjustment. Explain what evidence would help you choose and how drawings could reduce uncertainty.</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plan a production sequence around dependencies, load paths and checkpoints.</a:t>
            </a:r>
          </a:p>
          <a:p xmlns:a="http://schemas.openxmlformats.org/drawingml/2006/main">
            <a:r>
              <a:t/>
            </a:r>
          </a:p>
          <a:p xmlns:a="http://schemas.openxmlformats.org/drawingml/2006/main">
            <a:r>
              <a:t>[Sources]</a:t>
            </a:r>
          </a:p>
          <a:p xmlns:a="http://schemas.openxmlformats.org/drawingml/2006/main">
            <a:r>
              <a:t>- Year 8 Catapult student theory draft v1.0, module-05, 24 Aug 2026.</a:t>
            </a:r>
          </a:p>
          <a:p xmlns:a="http://schemas.openxmlformats.org/drawingml/2006/main">
            <a:r>
              <a:t>- Catapult Booklet 2026.pdf, pp. 8–13; theory draft module-05.</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eca284f9f447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bfa5afc147441c" /><Relationship Type="http://schemas.openxmlformats.org/officeDocument/2006/relationships/slideLayout" Target="/ppt/slideLayouts/slideLayout1.xml" Id="R887b8cf0557740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7b8cf0557740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c9b4f3b9d244a8" /><Relationship Type="http://schemas.openxmlformats.org/officeDocument/2006/relationships/image" Target="/ppt/media/image.png" Id="R48eb06c3aabe4c42" /><Relationship Type="http://schemas.openxmlformats.org/officeDocument/2006/relationships/notesSlide" Target="/ppt/notesSlides/notesSlide1.xml" Id="Rfa609bbc4ac546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7810fdea314e61" /><Relationship Type="http://schemas.openxmlformats.org/officeDocument/2006/relationships/notesSlide" Target="/ppt/notesSlides/notesSlide2.xml" Id="R0b062bf13d4848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54052f854f4195" /><Relationship Type="http://schemas.openxmlformats.org/officeDocument/2006/relationships/image" Target="/ppt/media/image2.png" Id="R8423eeaaa29e44a4" /><Relationship Type="http://schemas.openxmlformats.org/officeDocument/2006/relationships/notesSlide" Target="/ppt/notesSlides/notesSlide3.xml" Id="R7441b692cdcd43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380cfb0d7443cb" /><Relationship Type="http://schemas.openxmlformats.org/officeDocument/2006/relationships/image" Target="/ppt/media/image3.png" Id="R5de9067266ae4d62" /><Relationship Type="http://schemas.openxmlformats.org/officeDocument/2006/relationships/notesSlide" Target="/ppt/notesSlides/notesSlide4.xml" Id="Rea3a6df9382249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c3b97e053149b4" /><Relationship Type="http://schemas.openxmlformats.org/officeDocument/2006/relationships/image" Target="/ppt/media/image4.png" Id="R85c08b7fded142ca" /><Relationship Type="http://schemas.openxmlformats.org/officeDocument/2006/relationships/notesSlide" Target="/ppt/notesSlides/notesSlide5.xml" Id="Rc850714ad60147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9501737eb54bb3" /><Relationship Type="http://schemas.openxmlformats.org/officeDocument/2006/relationships/notesSlide" Target="/ppt/notesSlides/notesSlide6.xml" Id="R00adb27efccb45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aee063a860420a" /><Relationship Type="http://schemas.openxmlformats.org/officeDocument/2006/relationships/notesSlide" Target="/ppt/notesSlides/notesSlide7.xml" Id="R1751558426c94e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4624eebcbe4e20" /><Relationship Type="http://schemas.openxmlformats.org/officeDocument/2006/relationships/notesSlide" Target="/ppt/notesSlides/notesSlide8.xml" Id="R0bddef9f7dee409a"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8eb06c3aabe4c42"/>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9181EF-648E-4893-BEB5-BE62BA4EA41E}"/>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DBF326-AAED-4780-8921-B559A0003387}"/>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05</a:t>
            </a:r>
          </a:p>
        </p:txBody>
      </p:sp>
      <p:sp>
        <p:nvSpPr>
          <p:cNvPr id="4" name="">
            <a:extLst xmlns:a="http://schemas.openxmlformats.org/drawingml/2006/main">
              <a:ext uri="{FF2B5EF4-FFF2-40B4-BE49-F238E27FC236}">
                <a16:creationId xmlns:a16="http://schemas.microsoft.com/office/drawing/2014/main" id="{241CB6FA-22C3-42BA-A2E1-49992F2D8E56}"/>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Communicating a Buildable Design</a:t>
            </a:r>
          </a:p>
        </p:txBody>
      </p:sp>
      <p:sp>
        <p:nvSpPr>
          <p:cNvPr id="5" name="">
            <a:extLst xmlns:a="http://schemas.openxmlformats.org/drawingml/2006/main">
              <a:ext uri="{FF2B5EF4-FFF2-40B4-BE49-F238E27FC236}">
                <a16:creationId xmlns:a16="http://schemas.microsoft.com/office/drawing/2014/main" id="{A70D5228-480C-4B5B-8C3D-EFC6FDC31421}"/>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Develop, justify and communicate a design through agreeing drawings and a checked cutting list.</a:t>
            </a:r>
          </a:p>
        </p:txBody>
      </p:sp>
      <p:sp>
        <p:nvSpPr>
          <p:cNvPr id="6" name="">
            <a:extLst xmlns:a="http://schemas.openxmlformats.org/drawingml/2006/main">
              <a:ext uri="{FF2B5EF4-FFF2-40B4-BE49-F238E27FC236}">
                <a16:creationId xmlns:a16="http://schemas.microsoft.com/office/drawing/2014/main" id="{120F8DF9-D7A9-4E7B-91F9-611C2BD7A4C4}"/>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148823976"/>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00ED3FF-1CCD-4A18-8EC6-ED8A89B2306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10513D-0B0E-4B7A-AC9F-2A55FAE13922}"/>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05  /  BUILDABLE DESIGN</a:t>
            </a:r>
          </a:p>
        </p:txBody>
      </p:sp>
      <p:sp>
        <p:nvSpPr>
          <p:cNvPr id="3" name="">
            <a:extLst xmlns:a="http://schemas.openxmlformats.org/drawingml/2006/main">
              <a:ext uri="{FF2B5EF4-FFF2-40B4-BE49-F238E27FC236}">
                <a16:creationId xmlns:a16="http://schemas.microsoft.com/office/drawing/2014/main" id="{3643E2C3-F3B6-41FC-A80B-2DDCF31594FF}"/>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06AB60FD-9C0B-4B50-B011-437F7298DEB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DADCD0D2-0EED-441F-BB16-FBC06AC8AB1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05</a:t>
            </a:r>
          </a:p>
        </p:txBody>
      </p:sp>
      <p:sp>
        <p:nvSpPr>
          <p:cNvPr id="6" name="">
            <a:extLst xmlns:a="http://schemas.openxmlformats.org/drawingml/2006/main">
              <a:ext uri="{FF2B5EF4-FFF2-40B4-BE49-F238E27FC236}">
                <a16:creationId xmlns:a16="http://schemas.microsoft.com/office/drawing/2014/main" id="{31E65E93-F513-4F91-9574-FDC654E8D2B9}"/>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710635AA-30F8-4968-B815-4203F6B425D8}"/>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What makes design information clear enough for another person to check?</a:t>
            </a:r>
          </a:p>
        </p:txBody>
      </p:sp>
      <p:sp>
        <p:nvSpPr>
          <p:cNvPr id="8" name="">
            <a:extLst xmlns:a="http://schemas.openxmlformats.org/drawingml/2006/main">
              <a:ext uri="{FF2B5EF4-FFF2-40B4-BE49-F238E27FC236}">
                <a16:creationId xmlns:a16="http://schemas.microsoft.com/office/drawing/2014/main" id="{42E0CF2F-94D1-4012-B69D-F7CBF4755E82}"/>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D477F75-44CA-43FD-A132-4252D8F92152}"/>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28A1DD-5B33-4BB1-B942-980B0A3A627D}"/>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ADA071-E9AF-4DF3-B825-830019902FAF}"/>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043C5BF5-EA1E-43EB-B830-B8C9C3899006}"/>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Compare genuine alternatives</a:t>
            </a:r>
          </a:p>
        </p:txBody>
      </p:sp>
      <p:sp>
        <p:nvSpPr>
          <p:cNvPr id="13" name="">
            <a:extLst xmlns:a="http://schemas.openxmlformats.org/drawingml/2006/main">
              <a:ext uri="{FF2B5EF4-FFF2-40B4-BE49-F238E27FC236}">
                <a16:creationId xmlns:a16="http://schemas.microsoft.com/office/drawing/2014/main" id="{40118776-2874-40D8-B4E8-784489C1FFDB}"/>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2C2149-D693-4891-BCE6-216F18182C85}"/>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BB3FE9EE-5CE7-4CF7-8654-8A9272EEB7CF}"/>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Views must agree</a:t>
            </a:r>
          </a:p>
        </p:txBody>
      </p:sp>
      <p:sp>
        <p:nvSpPr>
          <p:cNvPr id="16" name="">
            <a:extLst xmlns:a="http://schemas.openxmlformats.org/drawingml/2006/main">
              <a:ext uri="{FF2B5EF4-FFF2-40B4-BE49-F238E27FC236}">
                <a16:creationId xmlns:a16="http://schemas.microsoft.com/office/drawing/2014/main" id="{9B892542-C3C5-40E7-B4B8-83247D619D4F}"/>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57D317A-CC1A-48C3-8BF6-4BB8A2C34AA0}"/>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08954CA5-6BA1-4B8A-AC98-450D5D46B0BB}"/>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Plan material with arithmetic</a:t>
            </a:r>
          </a:p>
        </p:txBody>
      </p:sp>
      <p:sp>
        <p:nvSpPr>
          <p:cNvPr id="19" name="">
            <a:extLst xmlns:a="http://schemas.openxmlformats.org/drawingml/2006/main">
              <a:ext uri="{FF2B5EF4-FFF2-40B4-BE49-F238E27FC236}">
                <a16:creationId xmlns:a16="http://schemas.microsoft.com/office/drawing/2014/main" id="{42994F08-8D88-4DCB-9E30-DE9485B13772}"/>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27618999-1D87-4804-84B3-417554183D29}"/>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243C685E-FC68-4C82-A6F0-0A3F72554BB0}"/>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Why is a neat sketch not yet complete production information?</a:t>
            </a:r>
          </a:p>
        </p:txBody>
      </p:sp>
    </p:spTree>
    <p:extLst>
      <p:ext uri="{BB962C8B-B14F-4D97-AF65-F5344CB8AC3E}">
        <p14:creationId xmlns:p14="http://schemas.microsoft.com/office/powerpoint/2010/main" val="6661156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FC4ECB2-D033-4EFB-B615-FB272A293D2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98569B-C6D4-4484-BA73-BC85BFA99A30}"/>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05  /  BUILDABLE DESIGN</a:t>
            </a:r>
          </a:p>
        </p:txBody>
      </p:sp>
      <p:sp>
        <p:nvSpPr>
          <p:cNvPr id="3" name="">
            <a:extLst xmlns:a="http://schemas.openxmlformats.org/drawingml/2006/main">
              <a:ext uri="{FF2B5EF4-FFF2-40B4-BE49-F238E27FC236}">
                <a16:creationId xmlns:a16="http://schemas.microsoft.com/office/drawing/2014/main" id="{ED166048-4178-467B-8BB5-0618C3B9C46E}"/>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Strong selection begins with genuinely different ideas</a:t>
            </a:r>
          </a:p>
        </p:txBody>
      </p:sp>
      <p:sp>
        <p:nvSpPr>
          <p:cNvPr id="4" name="">
            <a:extLst xmlns:a="http://schemas.openxmlformats.org/drawingml/2006/main">
              <a:ext uri="{FF2B5EF4-FFF2-40B4-BE49-F238E27FC236}">
                <a16:creationId xmlns:a16="http://schemas.microsoft.com/office/drawing/2014/main" id="{545868D1-E79A-4005-A80D-D1968B9A347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E6C066B2-DE35-4C8E-BADB-1E0E85EDAA42}"/>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05</a:t>
            </a:r>
          </a:p>
        </p:txBody>
      </p:sp>
      <p:sp>
        <p:nvSpPr>
          <p:cNvPr id="6" name="">
            <a:extLst xmlns:a="http://schemas.openxmlformats.org/drawingml/2006/main">
              <a:ext uri="{FF2B5EF4-FFF2-40B4-BE49-F238E27FC236}">
                <a16:creationId xmlns:a16="http://schemas.microsoft.com/office/drawing/2014/main" id="{663097B9-E5CF-4057-BAD8-EBCE33EEDCDE}"/>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5ECBE8F5-90AD-43F0-A43C-D07A0D9D9581}"/>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Divergent thinking produces alternatives that differ in system organisation, stability or component relationships—not just colour. A PMI records plusses, minusses and interesting points against the brief, materials, likely performance and production demands. The chosen concept needs an evidence-based trade-off.</a:t>
            </a:r>
          </a:p>
        </p:txBody>
      </p:sp>
      <p:sp>
        <p:nvSpPr>
          <p:cNvPr id="8" name="">
            <a:extLst xmlns:a="http://schemas.openxmlformats.org/drawingml/2006/main">
              <a:ext uri="{FF2B5EF4-FFF2-40B4-BE49-F238E27FC236}">
                <a16:creationId xmlns:a16="http://schemas.microsoft.com/office/drawing/2014/main" id="{137968BB-1D9F-4B05-BEF2-8F165242E588}"/>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E71F6570-4175-4552-8315-E9A98A6FC050}"/>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Decision: identify the evidence that makes one concept a stronger candidate within the confirmed constraints.</a:t>
            </a:r>
          </a:p>
        </p:txBody>
      </p:sp>
      <p:sp>
        <p:nvSpPr>
          <p:cNvPr id="10" name="">
            <a:extLst xmlns:a="http://schemas.openxmlformats.org/drawingml/2006/main">
              <a:ext uri="{FF2B5EF4-FFF2-40B4-BE49-F238E27FC236}">
                <a16:creationId xmlns:a16="http://schemas.microsoft.com/office/drawing/2014/main" id="{43326C52-E3E0-444A-9F2D-81DE701CD4D1}"/>
              </a:ext>
            </a:extLst>
          </p:cNvPr>
          <p:cNvSpPr>
            <a:spLocks xmlns:a="http://schemas.openxmlformats.org/drawingml/2006/main" noGrp="1"/>
          </p:cNvSpPr>
          <p:nvPr/>
        </p:nvSpPr>
        <p:spPr>
          <a:xfrm xmlns:a="http://schemas.openxmlformats.org/drawingml/2006/main">
            <a:off x="619125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423eeaaa29e44a4"/>
          <a:srcRect xmlns:a="http://schemas.openxmlformats.org/drawingml/2006/main" l="0" t="71" r="0" b="71"/>
          <a:stretch xmlns:a="http://schemas.openxmlformats.org/drawingml/2006/main">
            <a:fillRect l="0" t="0" r="0" b="0"/>
          </a:stretch>
        </p:blipFill>
        <p:spPr>
          <a:xfrm xmlns:a="http://schemas.openxmlformats.org/drawingml/2006/main">
            <a:off x="619125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AE10FB02-6E34-45C7-AC2A-F80BB2717493}"/>
              </a:ext>
            </a:extLst>
          </p:cNvPr>
          <p:cNvSpPr>
            <a:spLocks xmlns:a="http://schemas.openxmlformats.org/drawingml/2006/main" noGrp="1"/>
          </p:cNvSpPr>
          <p:nvPr/>
        </p:nvSpPr>
        <p:spPr>
          <a:xfrm xmlns:a="http://schemas.openxmlformats.org/drawingml/2006/main">
            <a:off x="61912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Selection begins with genuinely different system ideas, then uses evidence and trade-offs.</a:t>
            </a:r>
          </a:p>
        </p:txBody>
      </p:sp>
      <p:sp>
        <p:nvSpPr>
          <p:cNvPr id="13" name="">
            <a:extLst xmlns:a="http://schemas.openxmlformats.org/drawingml/2006/main">
              <a:ext uri="{FF2B5EF4-FFF2-40B4-BE49-F238E27FC236}">
                <a16:creationId xmlns:a16="http://schemas.microsoft.com/office/drawing/2014/main" id="{74AF7C0C-73EC-4CF5-B913-C9482C26826E}"/>
              </a:ext>
            </a:extLst>
          </p:cNvPr>
          <p:cNvSpPr>
            <a:spLocks xmlns:a="http://schemas.openxmlformats.org/drawingml/2006/main" noGrp="1"/>
          </p:cNvSpPr>
          <p:nvPr/>
        </p:nvSpPr>
        <p:spPr>
          <a:xfrm xmlns:a="http://schemas.openxmlformats.org/drawingml/2006/main">
            <a:off x="619125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Look for differences in component relationships—not colour or decoration.</a:t>
            </a:r>
          </a:p>
        </p:txBody>
      </p:sp>
    </p:spTree>
    <p:extLst>
      <p:ext uri="{BB962C8B-B14F-4D97-AF65-F5344CB8AC3E}">
        <p14:creationId xmlns:p14="http://schemas.microsoft.com/office/powerpoint/2010/main" val="2115111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8FF3282-15F0-453B-9BCF-4856F0307B8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FBB150-C3B6-4F7B-BB85-CCC23DFE604E}"/>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05  /  BUILDABLE DESIGN</a:t>
            </a:r>
          </a:p>
        </p:txBody>
      </p:sp>
      <p:sp>
        <p:nvSpPr>
          <p:cNvPr id="3" name="">
            <a:extLst xmlns:a="http://schemas.openxmlformats.org/drawingml/2006/main">
              <a:ext uri="{FF2B5EF4-FFF2-40B4-BE49-F238E27FC236}">
                <a16:creationId xmlns:a16="http://schemas.microsoft.com/office/drawing/2014/main" id="{1FF51FBA-6E03-434F-B892-68FB268D4B4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Every view must describe the same object</a:t>
            </a:r>
          </a:p>
        </p:txBody>
      </p:sp>
      <p:sp>
        <p:nvSpPr>
          <p:cNvPr id="4" name="">
            <a:extLst xmlns:a="http://schemas.openxmlformats.org/drawingml/2006/main">
              <a:ext uri="{FF2B5EF4-FFF2-40B4-BE49-F238E27FC236}">
                <a16:creationId xmlns:a16="http://schemas.microsoft.com/office/drawing/2014/main" id="{EEA56191-1175-427E-AA10-CC49710233DA}"/>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6C85DE4F-984E-4021-89C1-77BCD75639DC}"/>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05</a:t>
            </a:r>
          </a:p>
        </p:txBody>
      </p:sp>
      <p:sp>
        <p:nvSpPr>
          <p:cNvPr id="6" name="">
            <a:extLst xmlns:a="http://schemas.openxmlformats.org/drawingml/2006/main">
              <a:ext uri="{FF2B5EF4-FFF2-40B4-BE49-F238E27FC236}">
                <a16:creationId xmlns:a16="http://schemas.microsoft.com/office/drawing/2014/main" id="{3649D069-CD7D-4EA7-871E-6E1151A5383F}"/>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FB66AA87-EAB7-49DA-828F-61A991D57041}"/>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pictorial drawing communicates overall form. Orthographic front, top and side views communicate features without perspective. Labels and dimensions make the drawing useful for production only when corresponding features align and the views do not contradict one another.</a:t>
            </a:r>
          </a:p>
        </p:txBody>
      </p:sp>
      <p:sp>
        <p:nvSpPr>
          <p:cNvPr id="8" name="">
            <a:extLst xmlns:a="http://schemas.openxmlformats.org/drawingml/2006/main">
              <a:ext uri="{FF2B5EF4-FFF2-40B4-BE49-F238E27FC236}">
                <a16:creationId xmlns:a16="http://schemas.microsoft.com/office/drawing/2014/main" id="{F7DBDA1B-521F-4FDA-A23F-F18A67CA6921}"/>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DCF94066-5D29-4FA6-8B7F-2F3E1F4DBC3F}"/>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Check: choose one feature and trace it across the front, top and side views.</a:t>
            </a:r>
          </a:p>
        </p:txBody>
      </p:sp>
      <p:sp>
        <p:nvSpPr>
          <p:cNvPr id="10" name="">
            <a:extLst xmlns:a="http://schemas.openxmlformats.org/drawingml/2006/main">
              <a:ext uri="{FF2B5EF4-FFF2-40B4-BE49-F238E27FC236}">
                <a16:creationId xmlns:a16="http://schemas.microsoft.com/office/drawing/2014/main" id="{BBD98AF8-4B07-4466-9522-5A980F1D5105}"/>
              </a:ext>
            </a:extLst>
          </p:cNvPr>
          <p:cNvSpPr>
            <a:spLocks xmlns:a="http://schemas.openxmlformats.org/drawingml/2006/main" noGrp="1"/>
          </p:cNvSpPr>
          <p:nvPr/>
        </p:nvSpPr>
        <p:spPr>
          <a:xfrm xmlns:a="http://schemas.openxmlformats.org/drawingml/2006/main">
            <a:off x="68580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de9067266ae4d62"/>
          <a:srcRect xmlns:a="http://schemas.openxmlformats.org/drawingml/2006/main" l="0" t="71" r="0" b="71"/>
          <a:stretch xmlns:a="http://schemas.openxmlformats.org/drawingml/2006/main">
            <a:fillRect l="0" t="0" r="0" b="0"/>
          </a:stretch>
        </p:blipFill>
        <p:spPr>
          <a:xfrm xmlns:a="http://schemas.openxmlformats.org/drawingml/2006/main">
            <a:off x="68580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992CFCA4-A32A-479E-9852-CF4F185A6EB5}"/>
              </a:ext>
            </a:extLst>
          </p:cNvPr>
          <p:cNvSpPr>
            <a:spLocks xmlns:a="http://schemas.openxmlformats.org/drawingml/2006/main" noGrp="1"/>
          </p:cNvSpPr>
          <p:nvPr/>
        </p:nvSpPr>
        <p:spPr>
          <a:xfrm xmlns:a="http://schemas.openxmlformats.org/drawingml/2006/main">
            <a:off x="6858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Every view must describe the same object.</a:t>
            </a:r>
          </a:p>
        </p:txBody>
      </p:sp>
      <p:sp>
        <p:nvSpPr>
          <p:cNvPr id="13" name="">
            <a:extLst xmlns:a="http://schemas.openxmlformats.org/drawingml/2006/main">
              <a:ext uri="{FF2B5EF4-FFF2-40B4-BE49-F238E27FC236}">
                <a16:creationId xmlns:a16="http://schemas.microsoft.com/office/drawing/2014/main" id="{52CD554D-85AC-4DF7-9FA7-2037995AFBF7}"/>
              </a:ext>
            </a:extLst>
          </p:cNvPr>
          <p:cNvSpPr>
            <a:spLocks xmlns:a="http://schemas.openxmlformats.org/drawingml/2006/main" noGrp="1"/>
          </p:cNvSpPr>
          <p:nvPr/>
        </p:nvSpPr>
        <p:spPr>
          <a:xfrm xmlns:a="http://schemas.openxmlformats.org/drawingml/2006/main">
            <a:off x="68580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Trace one feature across the front, top and side views and check that its position agrees.</a:t>
            </a:r>
          </a:p>
        </p:txBody>
      </p:sp>
    </p:spTree>
    <p:extLst>
      <p:ext uri="{BB962C8B-B14F-4D97-AF65-F5344CB8AC3E}">
        <p14:creationId xmlns:p14="http://schemas.microsoft.com/office/powerpoint/2010/main" val="9067373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44380D-0409-43CD-ADAD-CE91A9B091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31118F-CEF8-436A-A031-3F2CEBFB97F2}"/>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05  /  BUILDABLE DESIGN</a:t>
            </a:r>
          </a:p>
        </p:txBody>
      </p:sp>
      <p:sp>
        <p:nvSpPr>
          <p:cNvPr id="3" name="">
            <a:extLst xmlns:a="http://schemas.openxmlformats.org/drawingml/2006/main">
              <a:ext uri="{FF2B5EF4-FFF2-40B4-BE49-F238E27FC236}">
                <a16:creationId xmlns:a16="http://schemas.microsoft.com/office/drawing/2014/main" id="{8B725428-898E-41C5-8F98-6CD132B937B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cutting list links drawings to material decisions</a:t>
            </a:r>
          </a:p>
        </p:txBody>
      </p:sp>
      <p:sp>
        <p:nvSpPr>
          <p:cNvPr id="4" name="">
            <a:extLst xmlns:a="http://schemas.openxmlformats.org/drawingml/2006/main">
              <a:ext uri="{FF2B5EF4-FFF2-40B4-BE49-F238E27FC236}">
                <a16:creationId xmlns:a16="http://schemas.microsoft.com/office/drawing/2014/main" id="{A8563505-5C8C-4BE8-99A0-BBE4B5FB010C}"/>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0A5CF1E3-8D13-4A51-AECA-3FDA20061E89}"/>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05</a:t>
            </a:r>
          </a:p>
        </p:txBody>
      </p:sp>
      <p:sp>
        <p:nvSpPr>
          <p:cNvPr id="6" name="">
            <a:extLst xmlns:a="http://schemas.openxmlformats.org/drawingml/2006/main">
              <a:ext uri="{FF2B5EF4-FFF2-40B4-BE49-F238E27FC236}">
                <a16:creationId xmlns:a16="http://schemas.microsoft.com/office/drawing/2014/main" id="{00DA13EC-D65F-41EE-BD80-FC5C5BB71086}"/>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B59A3ED0-C848-4145-ADF3-DA70C471A18A}"/>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For each part, planned length multiplied by quantity gives the row total. Adding every row total checks the design against the authorised 2400 mm maximum. Correct arithmetic still needs teacher review for missing parts, realistic sequencing and any process allowance.</a:t>
            </a:r>
          </a:p>
        </p:txBody>
      </p:sp>
      <p:sp>
        <p:nvSpPr>
          <p:cNvPr id="8" name="">
            <a:extLst xmlns:a="http://schemas.openxmlformats.org/drawingml/2006/main">
              <a:ext uri="{FF2B5EF4-FFF2-40B4-BE49-F238E27FC236}">
                <a16:creationId xmlns:a16="http://schemas.microsoft.com/office/drawing/2014/main" id="{B093E879-FD42-4B74-947C-46B0052717F0}"/>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366CCDED-34CD-43CA-9AD7-E8F89363DE45}"/>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Worked check: 200 mm × 4 = 800 mm, leaving 1600 mm from the authorised total for other planned pine parts.</a:t>
            </a:r>
          </a:p>
        </p:txBody>
      </p:sp>
      <p:sp>
        <p:nvSpPr>
          <p:cNvPr id="10" name="">
            <a:extLst xmlns:a="http://schemas.openxmlformats.org/drawingml/2006/main">
              <a:ext uri="{FF2B5EF4-FFF2-40B4-BE49-F238E27FC236}">
                <a16:creationId xmlns:a16="http://schemas.microsoft.com/office/drawing/2014/main" id="{914B9C41-33D1-4329-ADCF-E4A7576C0784}"/>
              </a:ext>
            </a:extLst>
          </p:cNvPr>
          <p:cNvSpPr>
            <a:spLocks xmlns:a="http://schemas.openxmlformats.org/drawingml/2006/main" noGrp="1"/>
          </p:cNvSpPr>
          <p:nvPr/>
        </p:nvSpPr>
        <p:spPr>
          <a:xfrm xmlns:a="http://schemas.openxmlformats.org/drawingml/2006/main">
            <a:off x="6191250" y="1295400"/>
            <a:ext cx="4762500" cy="2676525"/>
          </a:xfrm>
          <a:prstGeom xmlns:a="http://schemas.openxmlformats.org/drawingml/2006/main" prst="roundRect">
            <a:avLst>
              <a:gd name="adj" fmla="val 2847"/>
            </a:avLst>
          </a:prstGeom>
          <a:solidFill xmlns:a="http://schemas.openxmlformats.org/drawingml/2006/main">
            <a:srgbClr val="FFFFFF"/>
          </a:solidFill>
          <a:ln xmlns:a="http://schemas.openxmlformats.org/drawingml/2006/main" w="9525">
            <a:solidFill>
              <a:srgbClr val="CAD4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5c08b7fded142ca"/>
          <a:srcRect xmlns:a="http://schemas.openxmlformats.org/drawingml/2006/main" l="0" t="71" r="0" b="71"/>
          <a:stretch xmlns:a="http://schemas.openxmlformats.org/drawingml/2006/main">
            <a:fillRect l="0" t="0" r="0" b="0"/>
          </a:stretch>
        </p:blipFill>
        <p:spPr>
          <a:xfrm xmlns:a="http://schemas.openxmlformats.org/drawingml/2006/main">
            <a:off x="6191250" y="1295400"/>
            <a:ext cx="4762500" cy="2676525"/>
          </a:xfrm>
          <a:prstGeom xmlns:a="http://schemas.openxmlformats.org/drawingml/2006/main" prst="roundRect">
            <a:avLst>
              <a:gd name="adj" fmla="val 4270"/>
            </a:avLst>
          </a:prstGeom>
        </p:spPr>
      </p:pic>
      <p:sp>
        <p:nvSpPr>
          <p:cNvPr id="12" name="">
            <a:extLst xmlns:a="http://schemas.openxmlformats.org/drawingml/2006/main">
              <a:ext uri="{FF2B5EF4-FFF2-40B4-BE49-F238E27FC236}">
                <a16:creationId xmlns:a16="http://schemas.microsoft.com/office/drawing/2014/main" id="{5A2213DC-81F8-4007-ABFC-C6DFD11C9C34}"/>
              </a:ext>
            </a:extLst>
          </p:cNvPr>
          <p:cNvSpPr>
            <a:spLocks xmlns:a="http://schemas.openxmlformats.org/drawingml/2006/main" noGrp="1"/>
          </p:cNvSpPr>
          <p:nvPr/>
        </p:nvSpPr>
        <p:spPr>
          <a:xfrm xmlns:a="http://schemas.openxmlformats.org/drawingml/2006/main">
            <a:off x="61912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232B"/>
                </a:solidFill>
              </a:defRPr>
            </a:pPr>
            <a:r>
              <a:rPr sz="1125" b="1">
                <a:solidFill>
                  <a:srgbClr val="17232B"/>
                </a:solidFill>
              </a:rPr>
              <a:t>A cutting list connects each drawn component to material, quantity and total length.</a:t>
            </a:r>
          </a:p>
        </p:txBody>
      </p:sp>
      <p:sp>
        <p:nvSpPr>
          <p:cNvPr id="13" name="">
            <a:extLst xmlns:a="http://schemas.openxmlformats.org/drawingml/2006/main">
              <a:ext uri="{FF2B5EF4-FFF2-40B4-BE49-F238E27FC236}">
                <a16:creationId xmlns:a16="http://schemas.microsoft.com/office/drawing/2014/main" id="{B2EA4C68-A824-44B1-B11E-144A12EDC84D}"/>
              </a:ext>
            </a:extLst>
          </p:cNvPr>
          <p:cNvSpPr>
            <a:spLocks xmlns:a="http://schemas.openxmlformats.org/drawingml/2006/main" noGrp="1"/>
          </p:cNvSpPr>
          <p:nvPr/>
        </p:nvSpPr>
        <p:spPr>
          <a:xfrm xmlns:a="http://schemas.openxmlformats.org/drawingml/2006/main">
            <a:off x="6191250" y="4610100"/>
            <a:ext cx="4762500" cy="7810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125" b="1">
                <a:solidFill>
                  <a:srgbClr val="184F5E"/>
                </a:solidFill>
              </a:defRPr>
            </a:pPr>
            <a:r>
              <a:rPr sz="1125" b="1">
                <a:solidFill>
                  <a:srgbClr val="184F5E"/>
                </a:solidFill>
              </a:rPr>
              <a:t>NOTICE  Check that every component is traceable to a view and that row totals reconcile with the confirmed limit.</a:t>
            </a:r>
          </a:p>
        </p:txBody>
      </p:sp>
    </p:spTree>
    <p:extLst>
      <p:ext uri="{BB962C8B-B14F-4D97-AF65-F5344CB8AC3E}">
        <p14:creationId xmlns:p14="http://schemas.microsoft.com/office/powerpoint/2010/main" val="75997849"/>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80C805-70E1-4DAC-B6DB-15D474BB9AE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11AF6B-D39C-4305-8789-2241F23C3D56}"/>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05  /  BUILDABLE DESIGN</a:t>
            </a:r>
          </a:p>
        </p:txBody>
      </p:sp>
      <p:sp>
        <p:nvSpPr>
          <p:cNvPr id="3" name="">
            <a:extLst xmlns:a="http://schemas.openxmlformats.org/drawingml/2006/main">
              <a:ext uri="{FF2B5EF4-FFF2-40B4-BE49-F238E27FC236}">
                <a16:creationId xmlns:a16="http://schemas.microsoft.com/office/drawing/2014/main" id="{76AD2848-38CD-429D-9E06-081C3D56FAA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04DD6A4C-2786-41FA-BF64-3C7F187DBDD1}"/>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2BC4464D-CCB7-4931-90E7-4E1A3BA1B366}"/>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05</a:t>
            </a:r>
          </a:p>
        </p:txBody>
      </p:sp>
      <p:sp>
        <p:nvSpPr>
          <p:cNvPr id="6" name="">
            <a:extLst xmlns:a="http://schemas.openxmlformats.org/drawingml/2006/main">
              <a:ext uri="{FF2B5EF4-FFF2-40B4-BE49-F238E27FC236}">
                <a16:creationId xmlns:a16="http://schemas.microsoft.com/office/drawing/2014/main" id="{6BA252B2-34D8-44CE-9778-BA86EC122B98}"/>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1154B8C4-9FC6-41FD-B35D-458326A3C91E}"/>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FE301EDC-A6FA-4BFB-B0B1-C98337DA65D5}"/>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B6FBF1F9-D18C-4B67-9381-8FC6AF8F956F}"/>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two ideas genuinely different?</a:t>
            </a:r>
          </a:p>
        </p:txBody>
      </p:sp>
      <p:sp>
        <p:nvSpPr>
          <p:cNvPr id="10" name="">
            <a:extLst xmlns:a="http://schemas.openxmlformats.org/drawingml/2006/main">
              <a:ext uri="{FF2B5EF4-FFF2-40B4-BE49-F238E27FC236}">
                <a16:creationId xmlns:a16="http://schemas.microsoft.com/office/drawing/2014/main" id="{CD12D815-B0FF-4BEE-969B-0AA0E9C93658}"/>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72DC8563-C38B-4AFB-9ED9-389F36CFECB9}"/>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66D045B5-EDE4-49DA-AB6E-A3C18BD26E64}"/>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must orthographic views align?</a:t>
            </a:r>
          </a:p>
        </p:txBody>
      </p:sp>
      <p:sp>
        <p:nvSpPr>
          <p:cNvPr id="13" name="">
            <a:extLst xmlns:a="http://schemas.openxmlformats.org/drawingml/2006/main">
              <a:ext uri="{FF2B5EF4-FFF2-40B4-BE49-F238E27FC236}">
                <a16:creationId xmlns:a16="http://schemas.microsoft.com/office/drawing/2014/main" id="{D2445F02-306C-434F-AD87-7262D7506A36}"/>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AD2BECFD-F340-4AC5-A1A6-3832857ED064}"/>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E0AAA056-E0AF-4D14-AC18-433E9491003B}"/>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is a row total calculated?</a:t>
            </a:r>
          </a:p>
        </p:txBody>
      </p:sp>
      <p:sp>
        <p:nvSpPr>
          <p:cNvPr id="16" name="">
            <a:extLst xmlns:a="http://schemas.openxmlformats.org/drawingml/2006/main">
              <a:ext uri="{FF2B5EF4-FFF2-40B4-BE49-F238E27FC236}">
                <a16:creationId xmlns:a16="http://schemas.microsoft.com/office/drawing/2014/main" id="{BFE0B9C6-8FB1-4A43-AA47-2DF04C0A9372}"/>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014F02E9-7970-477B-A1F4-533638CB4063}"/>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BC86A3C7-F6C2-4105-814C-5C0F5C39912E}"/>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can correct arithmetic still fail to reveal?</a:t>
            </a:r>
          </a:p>
        </p:txBody>
      </p:sp>
    </p:spTree>
    <p:extLst>
      <p:ext uri="{BB962C8B-B14F-4D97-AF65-F5344CB8AC3E}">
        <p14:creationId xmlns:p14="http://schemas.microsoft.com/office/powerpoint/2010/main" val="116075880"/>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8098C19-BB3C-45EE-8BC9-C7A67968182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CF1A0A-F81A-410E-99F5-DD30B7D24C29}"/>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05  /  BUILDABLE DESIGN</a:t>
            </a:r>
          </a:p>
        </p:txBody>
      </p:sp>
      <p:sp>
        <p:nvSpPr>
          <p:cNvPr id="3" name="">
            <a:extLst xmlns:a="http://schemas.openxmlformats.org/drawingml/2006/main">
              <a:ext uri="{FF2B5EF4-FFF2-40B4-BE49-F238E27FC236}">
                <a16:creationId xmlns:a16="http://schemas.microsoft.com/office/drawing/2014/main" id="{B5FD7DA2-4B25-4A56-AC70-8035AC1E9A03}"/>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5D93DCD1-9DED-496F-9E68-A56394E97FC0}"/>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BAFD9652-6813-4721-B945-FF248600AA57}"/>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05</a:t>
            </a:r>
          </a:p>
        </p:txBody>
      </p:sp>
      <p:sp>
        <p:nvSpPr>
          <p:cNvPr id="6" name="">
            <a:extLst xmlns:a="http://schemas.openxmlformats.org/drawingml/2006/main">
              <a:ext uri="{FF2B5EF4-FFF2-40B4-BE49-F238E27FC236}">
                <a16:creationId xmlns:a16="http://schemas.microsoft.com/office/drawing/2014/main" id="{89D749A3-915E-47C0-B8C9-DAD6820DBD05}"/>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15DDE125-E983-42E7-BF1E-D9D6738BC24A}"/>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6D133CCD-01E1-4C5B-886F-CF420E00F56B}"/>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Two concepts meet the constraints. One is simpler to produce; the other may allow better adjustment. Explain what evidence would help you choose and how drawings could reduce uncertainty.</a:t>
            </a:r>
          </a:p>
        </p:txBody>
      </p:sp>
      <p:sp>
        <p:nvSpPr>
          <p:cNvPr id="9" name="">
            <a:extLst xmlns:a="http://schemas.openxmlformats.org/drawingml/2006/main">
              <a:ext uri="{FF2B5EF4-FFF2-40B4-BE49-F238E27FC236}">
                <a16:creationId xmlns:a16="http://schemas.microsoft.com/office/drawing/2014/main" id="{060161B8-6825-4C58-BB76-54984C0D7283}"/>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811762-27BC-40E4-8A71-0FEE84264132}"/>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B7244F-F9C2-4FFF-97E6-CFC16E795C8C}"/>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BBBC77-5B08-4299-874F-6E0C830A2F5B}"/>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C79F93CB-1764-4EA9-B741-1ED86B547841}"/>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BFD5D9FA-EFEF-49DC-A56B-2D36D46C150D}"/>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ED4B64AE-9397-4A44-99A1-D125ED2D8C7A}"/>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CC7FE309-E23D-4E2F-AAA7-E3FD37D05A92}"/>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A542C1CE-5A43-4707-9BC7-B566D9CF96ED}"/>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F4152A5B-2A8E-4EE1-99CF-DB81DA42B078}"/>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Concept A is stronger for … while Concept B allows … The most useful evidence would be … My drawings would reduce uncertainty by …</a:t>
            </a:r>
          </a:p>
        </p:txBody>
      </p:sp>
    </p:spTree>
    <p:extLst>
      <p:ext uri="{BB962C8B-B14F-4D97-AF65-F5344CB8AC3E}">
        <p14:creationId xmlns:p14="http://schemas.microsoft.com/office/powerpoint/2010/main" val="809443684"/>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EFF0B73-4634-4A03-B481-4A5D499B580E}"/>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87D98A88-6963-47E9-86F1-D0598EAE84D5}"/>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B2C86FED-931F-4DAE-8DA5-2D527ECCC4AB}"/>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87FA58-AAC8-43D0-B2DA-2FCC98457B8D}"/>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feature that must agree across views …</a:t>
            </a:r>
          </a:p>
        </p:txBody>
      </p:sp>
      <p:sp>
        <p:nvSpPr>
          <p:cNvPr id="5" name="">
            <a:extLst xmlns:a="http://schemas.openxmlformats.org/drawingml/2006/main">
              <a:ext uri="{FF2B5EF4-FFF2-40B4-BE49-F238E27FC236}">
                <a16:creationId xmlns:a16="http://schemas.microsoft.com/office/drawing/2014/main" id="{14630513-F812-498E-A85C-A9A34EA90E8A}"/>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A3338E-0A05-4353-853F-AB3E22A6C574}"/>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trade-off my selection should acknowledge …</a:t>
            </a:r>
          </a:p>
        </p:txBody>
      </p:sp>
      <p:sp>
        <p:nvSpPr>
          <p:cNvPr id="7" name="">
            <a:extLst xmlns:a="http://schemas.openxmlformats.org/drawingml/2006/main">
              <a:ext uri="{FF2B5EF4-FFF2-40B4-BE49-F238E27FC236}">
                <a16:creationId xmlns:a16="http://schemas.microsoft.com/office/drawing/2014/main" id="{32496283-80F8-4A35-BF7C-71221089F243}"/>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E066B2-3A0A-491E-831B-9535EAEC3805}"/>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cutting-list check I can perform …</a:t>
            </a:r>
          </a:p>
        </p:txBody>
      </p:sp>
      <p:sp>
        <p:nvSpPr>
          <p:cNvPr id="9" name="">
            <a:extLst xmlns:a="http://schemas.openxmlformats.org/drawingml/2006/main">
              <a:ext uri="{FF2B5EF4-FFF2-40B4-BE49-F238E27FC236}">
                <a16:creationId xmlns:a16="http://schemas.microsoft.com/office/drawing/2014/main" id="{3608E337-4F9A-4D2E-96A2-FFBC56A1A4DE}"/>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50DF6B0-1B2F-48D5-A4BC-7292AB6A7A48}"/>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FA8016AE-FEBE-4141-B381-F4CF77A93972}"/>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C1B777DF-6615-4A8C-8EA3-29D651423E47}"/>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plan a production sequence around dependencies, load paths and checkpoints.</a:t>
            </a:r>
          </a:p>
        </p:txBody>
      </p:sp>
      <p:sp>
        <p:nvSpPr>
          <p:cNvPr id="13" name="">
            <a:extLst xmlns:a="http://schemas.openxmlformats.org/drawingml/2006/main">
              <a:ext uri="{FF2B5EF4-FFF2-40B4-BE49-F238E27FC236}">
                <a16:creationId xmlns:a16="http://schemas.microsoft.com/office/drawing/2014/main" id="{5B066DA5-7D7E-43F2-81D1-69831F531CD3}"/>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46594CC2-F6DA-4C0B-9DB5-286AFC4EF7F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05</a:t>
            </a:r>
          </a:p>
        </p:txBody>
      </p:sp>
      <p:sp>
        <p:nvSpPr>
          <p:cNvPr id="15" name="">
            <a:extLst xmlns:a="http://schemas.openxmlformats.org/drawingml/2006/main">
              <a:ext uri="{FF2B5EF4-FFF2-40B4-BE49-F238E27FC236}">
                <a16:creationId xmlns:a16="http://schemas.microsoft.com/office/drawing/2014/main" id="{3161FCC5-A75D-4ACB-8302-5DD32DAA11B1}"/>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10333568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2026-08-24T09:20:26.4460000Z</dcterms:created>
  <dcterms:modified xsi:type="dcterms:W3CDTF">2026-08-24T09:20:26.4460000Z</dcterms:modified>
</coreProperties>
</file>