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9e8b705cda640ba" /><Relationship Type="http://schemas.openxmlformats.org/officeDocument/2006/relationships/extended-properties" Target="/docProps/app.xml" Id="Re6fac9083f364e66" /><Relationship Type="http://schemas.openxmlformats.org/officeDocument/2006/relationships/officeDocument" Target="/ppt/presentation.xml" Id="Rf5fbc8a21f3d44b6" /></Relationships>
</file>

<file path=ppt/presentation.xml><?xml version="1.0" encoding="utf-8"?>
<p:presentation xmlns:p="http://schemas.openxmlformats.org/presentationml/2006/main">
  <p:sldMasterIdLst>
    <p:sldMasterId xmlns:r="http://schemas.openxmlformats.org/officeDocument/2006/relationships" id="2147483648" r:id="Ra1a92bc7a99a46b1"/>
  </p:sldMasterIdLst>
  <p:notesMasterIdLst>
    <p:notesMasterId xmlns:r="http://schemas.openxmlformats.org/officeDocument/2006/relationships" r:id="Rb80da63484d24ec0"/>
  </p:notesMasterIdLst>
  <p:sldIdLst>
    <p:sldId xmlns:r="http://schemas.openxmlformats.org/officeDocument/2006/relationships" id="256" r:id="R7757cf5f9bed4fa8"/>
    <p:sldId xmlns:r="http://schemas.openxmlformats.org/officeDocument/2006/relationships" id="257" r:id="R89d9c7df837d47b1"/>
    <p:sldId xmlns:r="http://schemas.openxmlformats.org/officeDocument/2006/relationships" id="258" r:id="Rf1090e558c484957"/>
    <p:sldId xmlns:r="http://schemas.openxmlformats.org/officeDocument/2006/relationships" id="259" r:id="Reb8aa918023242f0"/>
    <p:sldId xmlns:r="http://schemas.openxmlformats.org/officeDocument/2006/relationships" id="260" r:id="R2b4976b8b8ff407b"/>
    <p:sldId xmlns:r="http://schemas.openxmlformats.org/officeDocument/2006/relationships" id="261" r:id="R55a221258ba74121"/>
    <p:sldId xmlns:r="http://schemas.openxmlformats.org/officeDocument/2006/relationships" id="262" r:id="Ra026b80338c14bfe"/>
    <p:sldId xmlns:r="http://schemas.openxmlformats.org/officeDocument/2006/relationships" id="263" r:id="R8aa4914783cc458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65798b948434fd8" /><Relationship Type="http://schemas.openxmlformats.org/officeDocument/2006/relationships/slideMaster" Target="/ppt/slideMasters/slideMaster1.xml" Id="Ra1a92bc7a99a46b1" /><Relationship Type="http://schemas.openxmlformats.org/officeDocument/2006/relationships/notesMaster" Target="/ppt/notesMasters/notesMaster1.xml" Id="Rb80da63484d24ec0" /><Relationship Type="http://schemas.openxmlformats.org/officeDocument/2006/relationships/presProps" Target="/ppt/presProps.xml" Id="Rf90a07e30d7c4cb7" /><Relationship Type="http://schemas.openxmlformats.org/officeDocument/2006/relationships/tableStyles" Target="/ppt/tableStyles.xml" Id="R8706e6ed08bb4891" /><Relationship Type="http://schemas.openxmlformats.org/officeDocument/2006/relationships/slide" Target="/ppt/slides/slide1.xml" Id="R7757cf5f9bed4fa8" /><Relationship Type="http://schemas.openxmlformats.org/officeDocument/2006/relationships/slide" Target="/ppt/slides/slide2.xml" Id="R89d9c7df837d47b1" /><Relationship Type="http://schemas.openxmlformats.org/officeDocument/2006/relationships/slide" Target="/ppt/slides/slide3.xml" Id="Rf1090e558c484957" /><Relationship Type="http://schemas.openxmlformats.org/officeDocument/2006/relationships/slide" Target="/ppt/slides/slide4.xml" Id="Reb8aa918023242f0" /><Relationship Type="http://schemas.openxmlformats.org/officeDocument/2006/relationships/slide" Target="/ppt/slides/slide5.xml" Id="R2b4976b8b8ff407b" /><Relationship Type="http://schemas.openxmlformats.org/officeDocument/2006/relationships/slide" Target="/ppt/slides/slide6.xml" Id="R55a221258ba74121" /><Relationship Type="http://schemas.openxmlformats.org/officeDocument/2006/relationships/slide" Target="/ppt/slides/slide7.xml" Id="Ra026b80338c14bfe" /><Relationship Type="http://schemas.openxmlformats.org/officeDocument/2006/relationships/slide" Target="/ppt/slides/slide8.xml" Id="R8aa4914783cc458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83e8410e06a4dd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9d58df8b9434bec" /><Relationship Type="http://schemas.openxmlformats.org/officeDocument/2006/relationships/notesMaster" Target="/ppt/notesMasters/notesMaster1.xml" Id="R2db232273b00448d" /></Relationships>
</file>

<file path=ppt/notesSlides/_rels/notesSlide2.xml.rels>&#65279;<?xml version="1.0" encoding="utf-8"?><Relationships xmlns="http://schemas.openxmlformats.org/package/2006/relationships"><Relationship Type="http://schemas.openxmlformats.org/officeDocument/2006/relationships/slide" Target="/ppt/slides/slide2.xml" Id="R50bd712c3ab84916" /><Relationship Type="http://schemas.openxmlformats.org/officeDocument/2006/relationships/notesMaster" Target="/ppt/notesMasters/notesMaster1.xml" Id="Rfc86a55ae3564640" /></Relationships>
</file>

<file path=ppt/notesSlides/_rels/notesSlide3.xml.rels>&#65279;<?xml version="1.0" encoding="utf-8"?><Relationships xmlns="http://schemas.openxmlformats.org/package/2006/relationships"><Relationship Type="http://schemas.openxmlformats.org/officeDocument/2006/relationships/slide" Target="/ppt/slides/slide3.xml" Id="R6f8acb4d076340df" /><Relationship Type="http://schemas.openxmlformats.org/officeDocument/2006/relationships/notesMaster" Target="/ppt/notesMasters/notesMaster1.xml" Id="R44cfbcb03c474389" /></Relationships>
</file>

<file path=ppt/notesSlides/_rels/notesSlide4.xml.rels>&#65279;<?xml version="1.0" encoding="utf-8"?><Relationships xmlns="http://schemas.openxmlformats.org/package/2006/relationships"><Relationship Type="http://schemas.openxmlformats.org/officeDocument/2006/relationships/slide" Target="/ppt/slides/slide4.xml" Id="R0d64add044ab49e7" /><Relationship Type="http://schemas.openxmlformats.org/officeDocument/2006/relationships/notesMaster" Target="/ppt/notesMasters/notesMaster1.xml" Id="Rc89ec50bbe2a43b8" /></Relationships>
</file>

<file path=ppt/notesSlides/_rels/notesSlide5.xml.rels>&#65279;<?xml version="1.0" encoding="utf-8"?><Relationships xmlns="http://schemas.openxmlformats.org/package/2006/relationships"><Relationship Type="http://schemas.openxmlformats.org/officeDocument/2006/relationships/slide" Target="/ppt/slides/slide5.xml" Id="R33a7a9fe40774bf8" /><Relationship Type="http://schemas.openxmlformats.org/officeDocument/2006/relationships/notesMaster" Target="/ppt/notesMasters/notesMaster1.xml" Id="R737a72aae7dc4ee9" /></Relationships>
</file>

<file path=ppt/notesSlides/_rels/notesSlide6.xml.rels>&#65279;<?xml version="1.0" encoding="utf-8"?><Relationships xmlns="http://schemas.openxmlformats.org/package/2006/relationships"><Relationship Type="http://schemas.openxmlformats.org/officeDocument/2006/relationships/slide" Target="/ppt/slides/slide6.xml" Id="R9e58b1cfd3db4bb2" /><Relationship Type="http://schemas.openxmlformats.org/officeDocument/2006/relationships/notesMaster" Target="/ppt/notesMasters/notesMaster1.xml" Id="R6d9a17445342412e" /></Relationships>
</file>

<file path=ppt/notesSlides/_rels/notesSlide7.xml.rels>&#65279;<?xml version="1.0" encoding="utf-8"?><Relationships xmlns="http://schemas.openxmlformats.org/package/2006/relationships"><Relationship Type="http://schemas.openxmlformats.org/officeDocument/2006/relationships/slide" Target="/ppt/slides/slide7.xml" Id="Ref23f8c5a5014e68" /><Relationship Type="http://schemas.openxmlformats.org/officeDocument/2006/relationships/notesMaster" Target="/ppt/notesMasters/notesMaster1.xml" Id="R872af0b8e99d48e0" /></Relationships>
</file>

<file path=ppt/notesSlides/_rels/notesSlide8.xml.rels>&#65279;<?xml version="1.0" encoding="utf-8"?><Relationships xmlns="http://schemas.openxmlformats.org/package/2006/relationships"><Relationship Type="http://schemas.openxmlformats.org/officeDocument/2006/relationships/slide" Target="/ppt/slides/slide8.xml" Id="Rc4e1a2b0368f49e9" /><Relationship Type="http://schemas.openxmlformats.org/officeDocument/2006/relationships/notesMaster" Target="/ppt/notesMasters/notesMaster1.xml" Id="R58eec26b6c9141e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State the learning purpose in one sentence.</a:t>
            </a:r>
          </a:p>
          <a:p xmlns:a="http://schemas.openxmlformats.org/drawingml/2006/main">
            <a:r>
              <a:t>- Use the image only as a conceptual project cue; it is not a plan or model specification.</a:t>
            </a:r>
          </a:p>
          <a:p xmlns:a="http://schemas.openxmlformats.org/drawingml/2006/main">
            <a:r>
              <a:t/>
            </a:r>
          </a:p>
          <a:p xmlns:a="http://schemas.openxmlformats.org/drawingml/2006/main">
            <a:r>
              <a:t>Prompt</a:t>
            </a:r>
          </a:p>
          <a:p xmlns:a="http://schemas.openxmlformats.org/drawingml/2006/main">
            <a:r>
              <a:t>- What relationship or evidence do you expect to matter in this module?</a:t>
            </a:r>
          </a:p>
          <a:p xmlns:a="http://schemas.openxmlformats.org/drawingml/2006/main">
            <a:r>
              <a:t/>
            </a:r>
          </a:p>
          <a:p xmlns:a="http://schemas.openxmlformats.org/drawingml/2006/main">
            <a:r>
              <a:t>Likely misconception</a:t>
            </a:r>
          </a:p>
          <a:p xmlns:a="http://schemas.openxmlformats.org/drawingml/2006/main">
            <a:r>
              <a:t>- A realistic image must show the exact project design.</a:t>
            </a:r>
          </a:p>
          <a:p xmlns:a="http://schemas.openxmlformats.org/drawingml/2006/main">
            <a:r>
              <a:t/>
            </a:r>
          </a:p>
          <a:p xmlns:a="http://schemas.openxmlformats.org/drawingml/2006/main">
            <a:r>
              <a:t>Transition</a:t>
            </a:r>
          </a:p>
          <a:p xmlns:a="http://schemas.openxmlformats.org/drawingml/2006/main">
            <a:r>
              <a:t>- Move from the project cue to the three ideas students will learn.</a:t>
            </a:r>
          </a:p>
          <a:p xmlns:a="http://schemas.openxmlformats.org/drawingml/2006/main">
            <a:r>
              <a:t/>
            </a:r>
          </a:p>
          <a:p xmlns:a="http://schemas.openxmlformats.org/drawingml/2006/main">
            <a:r>
              <a:t>[Sources]</a:t>
            </a:r>
          </a:p>
          <a:p xmlns:a="http://schemas.openxmlformats.org/drawingml/2006/main">
            <a:r>
              <a:t>- Year 8 Catapult student theory draft v1.0, module-09, 24 Aug 2026.</a:t>
            </a:r>
          </a:p>
          <a:p xmlns:a="http://schemas.openxmlformats.org/drawingml/2006/main">
            <a:r>
              <a:t>- Catapult Booklet 2026.pdf, pp. 18–21; source map; theory draft module-09.</a:t>
            </a:r>
          </a:p>
          <a:p xmlns:a="http://schemas.openxmlformats.org/drawingml/2006/main">
            <a:r>
              <a:t>- OpenAI image generation for this course, 24 Aug 2026, conceptual only; file: timber-life-cycle-still-life.png.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Frame the module as a cumulative learning sequence.</a:t>
            </a:r>
          </a:p>
          <a:p xmlns:a="http://schemas.openxmlformats.org/drawingml/2006/main">
            <a:r>
              <a:t>- Invite a brief retrieval response before introducing new content.</a:t>
            </a:r>
          </a:p>
          <a:p xmlns:a="http://schemas.openxmlformats.org/drawingml/2006/main">
            <a:r>
              <a:t/>
            </a:r>
          </a:p>
          <a:p xmlns:a="http://schemas.openxmlformats.org/drawingml/2006/main">
            <a:r>
              <a:t>Prompt</a:t>
            </a:r>
          </a:p>
          <a:p xmlns:a="http://schemas.openxmlformats.org/drawingml/2006/main">
            <a:r>
              <a:t>- Why does a limitation strengthen rather than weaken an honest conclusion?</a:t>
            </a:r>
          </a:p>
          <a:p xmlns:a="http://schemas.openxmlformats.org/drawingml/2006/main">
            <a:r>
              <a:t/>
            </a:r>
          </a:p>
          <a:p xmlns:a="http://schemas.openxmlformats.org/drawingml/2006/main">
            <a:r>
              <a:t>Likely misconception</a:t>
            </a:r>
          </a:p>
          <a:p xmlns:a="http://schemas.openxmlformats.org/drawingml/2006/main">
            <a:r>
              <a:t>- The three ideas are separate facts rather than parts of one explanation.</a:t>
            </a:r>
          </a:p>
          <a:p xmlns:a="http://schemas.openxmlformats.org/drawingml/2006/main">
            <a:r>
              <a:t/>
            </a:r>
          </a:p>
          <a:p xmlns:a="http://schemas.openxmlformats.org/drawingml/2006/main">
            <a:r>
              <a:t>Transition</a:t>
            </a:r>
          </a:p>
          <a:p xmlns:a="http://schemas.openxmlformats.org/drawingml/2006/main">
            <a:r>
              <a:t>- Tell students that each theory slide will supply evidence for the final response.</a:t>
            </a:r>
          </a:p>
          <a:p xmlns:a="http://schemas.openxmlformats.org/drawingml/2006/main">
            <a:r>
              <a:t/>
            </a:r>
          </a:p>
          <a:p xmlns:a="http://schemas.openxmlformats.org/drawingml/2006/main">
            <a:r>
              <a:t>[Sources]</a:t>
            </a:r>
          </a:p>
          <a:p xmlns:a="http://schemas.openxmlformats.org/drawingml/2006/main">
            <a:r>
              <a:t>- Year 8 Catapult student theory draft v1.0, module-09, 24 Aug 2026.</a:t>
            </a:r>
          </a:p>
          <a:p xmlns:a="http://schemas.openxmlformats.org/drawingml/2006/main">
            <a:r>
              <a:t>- Catapult Booklet 2026.pdf, pp. 18–21; source map; theory draft module-09.</a:t>
            </a:r>
          </a:p>
          <a:p xmlns:a="http://schemas.openxmlformats.org/drawingml/2006/main">
            <a:r>
              <a:t>- Native pathway diagram authored for this deck from the approved module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A clear engineering report moves from brief and design decision through production evidence, test method, results, discussion, sustainability and conclusion. The conclusion answers the original problem using the strongest evidence and states limits such as few trials or unresolved variation.</a:t>
            </a:r>
          </a:p>
          <a:p xmlns:a="http://schemas.openxmlformats.org/drawingml/2006/main">
            <a:r>
              <a:t>- Use the visual to emphasise: Each report section has a job; the conclusion resolves the original question.</a:t>
            </a:r>
          </a:p>
          <a:p xmlns:a="http://schemas.openxmlformats.org/drawingml/2006/main">
            <a:r>
              <a:t/>
            </a:r>
          </a:p>
          <a:p xmlns:a="http://schemas.openxmlformats.org/drawingml/2006/main">
            <a:r>
              <a:t>Prompt</a:t>
            </a:r>
          </a:p>
          <a:p xmlns:a="http://schemas.openxmlformats.org/drawingml/2006/main">
            <a:r>
              <a:t>- Structure: place one existing project record into the report section where it can do the most explanatory work.</a:t>
            </a:r>
          </a:p>
          <a:p xmlns:a="http://schemas.openxmlformats.org/drawingml/2006/main">
            <a:r>
              <a:t/>
            </a:r>
          </a:p>
          <a:p xmlns:a="http://schemas.openxmlformats.org/drawingml/2006/main">
            <a:r>
              <a:t>Likely misconception</a:t>
            </a:r>
          </a:p>
          <a:p xmlns:a="http://schemas.openxmlformats.org/drawingml/2006/main">
            <a:r>
              <a:t>- What should a conclusion answer?</a:t>
            </a:r>
          </a:p>
          <a:p xmlns:a="http://schemas.openxmlformats.org/drawingml/2006/main">
            <a:r>
              <a:t/>
            </a:r>
          </a:p>
          <a:p xmlns:a="http://schemas.openxmlformats.org/drawingml/2006/main">
            <a:r>
              <a:t>Transition</a:t>
            </a:r>
          </a:p>
          <a:p xmlns:a="http://schemas.openxmlformats.org/drawingml/2006/main">
            <a:r>
              <a:t>- Link this idea to the next relationship in the module.</a:t>
            </a:r>
          </a:p>
          <a:p xmlns:a="http://schemas.openxmlformats.org/drawingml/2006/main">
            <a:r>
              <a:t/>
            </a:r>
          </a:p>
          <a:p xmlns:a="http://schemas.openxmlformats.org/drawingml/2006/main">
            <a:r>
              <a:t>[Sources]</a:t>
            </a:r>
          </a:p>
          <a:p xmlns:a="http://schemas.openxmlformats.org/drawingml/2006/main">
            <a:r>
              <a:t>- Year 8 Catapult student theory draft v1.0, module-09, 24 Aug 2026.</a:t>
            </a:r>
          </a:p>
          <a:p xmlns:a="http://schemas.openxmlformats.org/drawingml/2006/main">
            <a:r>
              <a:t>- Catapult Booklet 2026.pdf, pp. 18–21; source map; theory draft module-09.</a:t>
            </a:r>
          </a:p>
          <a:p xmlns:a="http://schemas.openxmlformats.org/drawingml/2006/main">
            <a:r>
              <a:t>- Editable native diagram authored for this deck from the approved course theory.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A claim is a focused judgement. Evidence is the specific observation, measurement, drawing, photograph or production record that supports it. Reasoning uses engineering knowledge to explain the connection. A folder full of unlabelled photos is not automatically strong evidence.</a:t>
            </a:r>
          </a:p>
          <a:p xmlns:a="http://schemas.openxmlformats.org/drawingml/2006/main">
            <a:r>
              <a:t>- Use the visual to emphasise: The explanation lives in the connection between the selected evidence and the claim.</a:t>
            </a:r>
          </a:p>
          <a:p xmlns:a="http://schemas.openxmlformats.org/drawingml/2006/main">
            <a:r>
              <a:t/>
            </a:r>
          </a:p>
          <a:p xmlns:a="http://schemas.openxmlformats.org/drawingml/2006/main">
            <a:r>
              <a:t>Prompt</a:t>
            </a:r>
          </a:p>
          <a:p xmlns:a="http://schemas.openxmlformats.org/drawingml/2006/main">
            <a:r>
              <a:t>- Improve: choose one clear item, label what it shows and explain why it matters to the claim.</a:t>
            </a:r>
          </a:p>
          <a:p xmlns:a="http://schemas.openxmlformats.org/drawingml/2006/main">
            <a:r>
              <a:t/>
            </a:r>
          </a:p>
          <a:p xmlns:a="http://schemas.openxmlformats.org/drawingml/2006/main">
            <a:r>
              <a:t>Likely misconception</a:t>
            </a:r>
          </a:p>
          <a:p xmlns:a="http://schemas.openxmlformats.org/drawingml/2006/main">
            <a:r>
              <a:t>- How is evidence different from reasoning?</a:t>
            </a:r>
          </a:p>
          <a:p xmlns:a="http://schemas.openxmlformats.org/drawingml/2006/main">
            <a:r>
              <a:t/>
            </a:r>
          </a:p>
          <a:p xmlns:a="http://schemas.openxmlformats.org/drawingml/2006/main">
            <a:r>
              <a:t>Transition</a:t>
            </a:r>
          </a:p>
          <a:p xmlns:a="http://schemas.openxmlformats.org/drawingml/2006/main">
            <a:r>
              <a:t>- Link this idea to the next relationship in the module.</a:t>
            </a:r>
          </a:p>
          <a:p xmlns:a="http://schemas.openxmlformats.org/drawingml/2006/main">
            <a:r>
              <a:t/>
            </a:r>
          </a:p>
          <a:p xmlns:a="http://schemas.openxmlformats.org/drawingml/2006/main">
            <a:r>
              <a:t>[Sources]</a:t>
            </a:r>
          </a:p>
          <a:p xmlns:a="http://schemas.openxmlformats.org/drawingml/2006/main">
            <a:r>
              <a:t>- Year 8 Catapult student theory draft v1.0, module-09, 24 Aug 2026.</a:t>
            </a:r>
          </a:p>
          <a:p xmlns:a="http://schemas.openxmlformats.org/drawingml/2006/main">
            <a:r>
              <a:t>- Catapult Booklet 2026.pdf, pp. 18–21; source map; theory draft module-09.</a:t>
            </a:r>
          </a:p>
          <a:p xmlns:a="http://schemas.openxmlformats.org/drawingml/2006/main">
            <a:r>
              <a:t>- Editable native diagram authored for this deck from the approved course theory.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Environmental, social and economic effects interact. Consider sourcing, processing, material efficiency, lifespan, repair, waste, people, access, time and cost. Calling timber natural or recyclable does not prove the whole solution is sustainable; the judgement must match available evidence.</a:t>
            </a:r>
          </a:p>
          <a:p xmlns:a="http://schemas.openxmlformats.org/drawingml/2006/main">
            <a:r>
              <a:t>- Use the visual to emphasise: A defensible judgement considers interactions and avoids unsupported green claims.</a:t>
            </a:r>
          </a:p>
          <a:p xmlns:a="http://schemas.openxmlformats.org/drawingml/2006/main">
            <a:r>
              <a:t/>
            </a:r>
          </a:p>
          <a:p xmlns:a="http://schemas.openxmlformats.org/drawingml/2006/main">
            <a:r>
              <a:t>Prompt</a:t>
            </a:r>
          </a:p>
          <a:p xmlns:a="http://schemas.openxmlformats.org/drawingml/2006/main">
            <a:r>
              <a:t>- Balance: identify one benefit, one cost or trade-off and one missing piece of life-cycle evidence.</a:t>
            </a:r>
          </a:p>
          <a:p xmlns:a="http://schemas.openxmlformats.org/drawingml/2006/main">
            <a:r>
              <a:t/>
            </a:r>
          </a:p>
          <a:p xmlns:a="http://schemas.openxmlformats.org/drawingml/2006/main">
            <a:r>
              <a:t>Likely misconception</a:t>
            </a:r>
          </a:p>
          <a:p xmlns:a="http://schemas.openxmlformats.org/drawingml/2006/main">
            <a:r>
              <a:t>- Why are selected, labelled photos stronger than a large folder?</a:t>
            </a:r>
          </a:p>
          <a:p xmlns:a="http://schemas.openxmlformats.org/drawingml/2006/main">
            <a:r>
              <a:t/>
            </a:r>
          </a:p>
          <a:p xmlns:a="http://schemas.openxmlformats.org/drawingml/2006/main">
            <a:r>
              <a:t>Transition</a:t>
            </a:r>
          </a:p>
          <a:p xmlns:a="http://schemas.openxmlformats.org/drawingml/2006/main">
            <a:r>
              <a:t>- Prepare students to retrieve and apply all three ideas.</a:t>
            </a:r>
          </a:p>
          <a:p xmlns:a="http://schemas.openxmlformats.org/drawingml/2006/main">
            <a:r>
              <a:t/>
            </a:r>
          </a:p>
          <a:p xmlns:a="http://schemas.openxmlformats.org/drawingml/2006/main">
            <a:r>
              <a:t>[Sources]</a:t>
            </a:r>
          </a:p>
          <a:p xmlns:a="http://schemas.openxmlformats.org/drawingml/2006/main">
            <a:r>
              <a:t>- Year 8 Catapult student theory draft v1.0, module-09, 24 Aug 2026.</a:t>
            </a:r>
          </a:p>
          <a:p xmlns:a="http://schemas.openxmlformats.org/drawingml/2006/main">
            <a:r>
              <a:t>- Catapult Booklet 2026.pdf, pp. 18–21; source map; theory draft module-09.</a:t>
            </a:r>
          </a:p>
          <a:p xmlns:a="http://schemas.openxmlformats.org/drawingml/2006/main">
            <a:r>
              <a:t>- Editable native diagram authored for this deck from the approved course theory.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Give individual thinking time before partner discussion.</a:t>
            </a:r>
          </a:p>
          <a:p xmlns:a="http://schemas.openxmlformats.org/drawingml/2006/main">
            <a:r>
              <a:t>- Ask for evidence or a because-clause, not just the answer.</a:t>
            </a:r>
          </a:p>
          <a:p xmlns:a="http://schemas.openxmlformats.org/drawingml/2006/main">
            <a:r>
              <a:t/>
            </a:r>
          </a:p>
          <a:p xmlns:a="http://schemas.openxmlformats.org/drawingml/2006/main">
            <a:r>
              <a:t>Prompt</a:t>
            </a:r>
          </a:p>
          <a:p xmlns:a="http://schemas.openxmlformats.org/drawingml/2006/main">
            <a:r>
              <a:t>- Which answer changed after discussion, and what evidence changed it?</a:t>
            </a:r>
          </a:p>
          <a:p xmlns:a="http://schemas.openxmlformats.org/drawingml/2006/main">
            <a:r>
              <a:t/>
            </a:r>
          </a:p>
          <a:p xmlns:a="http://schemas.openxmlformats.org/drawingml/2006/main">
            <a:r>
              <a:t>Likely misconception</a:t>
            </a:r>
          </a:p>
          <a:p xmlns:a="http://schemas.openxmlformats.org/drawingml/2006/main">
            <a:r>
              <a:t>- Retrieval is a memory race rather than a chance to repair understanding.</a:t>
            </a:r>
          </a:p>
          <a:p xmlns:a="http://schemas.openxmlformats.org/drawingml/2006/main">
            <a:r>
              <a:t/>
            </a:r>
          </a:p>
          <a:p xmlns:a="http://schemas.openxmlformats.org/drawingml/2006/main">
            <a:r>
              <a:t>Transition</a:t>
            </a:r>
          </a:p>
          <a:p xmlns:a="http://schemas.openxmlformats.org/drawingml/2006/main">
            <a:r>
              <a:t>- Use the strongest unresolved question to launch the evidence scaffold.</a:t>
            </a:r>
          </a:p>
          <a:p xmlns:a="http://schemas.openxmlformats.org/drawingml/2006/main">
            <a:r>
              <a:t/>
            </a:r>
          </a:p>
          <a:p xmlns:a="http://schemas.openxmlformats.org/drawingml/2006/main">
            <a:r>
              <a:t>[Sources]</a:t>
            </a:r>
          </a:p>
          <a:p xmlns:a="http://schemas.openxmlformats.org/drawingml/2006/main">
            <a:r>
              <a:t>- Year 8 Catapult student theory draft v1.0, module-09, 24 Aug 2026.</a:t>
            </a:r>
          </a:p>
          <a:p xmlns:a="http://schemas.openxmlformats.org/drawingml/2006/main">
            <a:r>
              <a:t>- Catapult Booklet 2026.pdf, pp. 18–21; source map; theory draft module-09.</a:t>
            </a:r>
          </a:p>
          <a:p xmlns:a="http://schemas.openxmlformats.org/drawingml/2006/main">
            <a:r>
              <a:t>- Questions derived from the approved module theory; no external asset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Model how to select evidence before writing the explanation.</a:t>
            </a:r>
          </a:p>
          <a:p xmlns:a="http://schemas.openxmlformats.org/drawingml/2006/main">
            <a:r>
              <a:t>- Read the sentence support aloud, then let students change its wording to suit their evidence.</a:t>
            </a:r>
          </a:p>
          <a:p xmlns:a="http://schemas.openxmlformats.org/drawingml/2006/main">
            <a:r>
              <a:t/>
            </a:r>
          </a:p>
          <a:p xmlns:a="http://schemas.openxmlformats.org/drawingml/2006/main">
            <a:r>
              <a:t>Prompt</a:t>
            </a:r>
          </a:p>
          <a:p xmlns:a="http://schemas.openxmlformats.org/drawingml/2006/main">
            <a:r>
              <a:t>- A redesign improves consistency but uses more material and production time. Write a balanced judgement across environmental, social and economic effects, then state missing evidence.</a:t>
            </a:r>
          </a:p>
          <a:p xmlns:a="http://schemas.openxmlformats.org/drawingml/2006/main">
            <a:r>
              <a:t/>
            </a:r>
          </a:p>
          <a:p xmlns:a="http://schemas.openxmlformats.org/drawingml/2006/main">
            <a:r>
              <a:t>Likely misconception</a:t>
            </a:r>
          </a:p>
          <a:p xmlns:a="http://schemas.openxmlformats.org/drawingml/2006/main">
            <a:r>
              <a:t>- Longer writing is automatically stronger evidence.</a:t>
            </a:r>
          </a:p>
          <a:p xmlns:a="http://schemas.openxmlformats.org/drawingml/2006/main">
            <a:r>
              <a:t/>
            </a:r>
          </a:p>
          <a:p xmlns:a="http://schemas.openxmlformats.org/drawingml/2006/main">
            <a:r>
              <a:t>Transition</a:t>
            </a:r>
          </a:p>
          <a:p xmlns:a="http://schemas.openxmlformats.org/drawingml/2006/main">
            <a:r>
              <a:t>- Move from the scaffold to a concise exit ticket and evidence-save action.</a:t>
            </a:r>
          </a:p>
          <a:p xmlns:a="http://schemas.openxmlformats.org/drawingml/2006/main">
            <a:r>
              <a:t/>
            </a:r>
          </a:p>
          <a:p xmlns:a="http://schemas.openxmlformats.org/drawingml/2006/main">
            <a:r>
              <a:t>[Sources]</a:t>
            </a:r>
          </a:p>
          <a:p xmlns:a="http://schemas.openxmlformats.org/drawingml/2006/main">
            <a:r>
              <a:t>- Year 8 Catapult student theory draft v1.0, module-09, 24 Aug 2026.</a:t>
            </a:r>
          </a:p>
          <a:p xmlns:a="http://schemas.openxmlformats.org/drawingml/2006/main">
            <a:r>
              <a:t>- Catapult Booklet 2026.pdf, pp. 18–21; source map; theory draft module-09.</a:t>
            </a:r>
          </a:p>
          <a:p xmlns:a="http://schemas.openxmlformats.org/drawingml/2006/main">
            <a:r>
              <a:t>- Read–Select–Explain–Check scaffold follows the TAS course presentation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Collect a short answer to each exit prompt.</a:t>
            </a:r>
          </a:p>
          <a:p xmlns:a="http://schemas.openxmlformats.org/drawingml/2006/main">
            <a:r>
              <a:t>- Make the evidence destination explicit without turning the slide into assessment administration.</a:t>
            </a:r>
          </a:p>
          <a:p xmlns:a="http://schemas.openxmlformats.org/drawingml/2006/main">
            <a:r>
              <a:t/>
            </a:r>
          </a:p>
          <a:p xmlns:a="http://schemas.openxmlformats.org/drawingml/2006/main">
            <a:r>
              <a:t>Prompt</a:t>
            </a:r>
          </a:p>
          <a:p xmlns:a="http://schemas.openxmlformats.org/drawingml/2006/main">
            <a:r>
              <a:t>- Which exit response best shows a changed decision or deeper explanation?</a:t>
            </a:r>
          </a:p>
          <a:p xmlns:a="http://schemas.openxmlformats.org/drawingml/2006/main">
            <a:r>
              <a:t/>
            </a:r>
          </a:p>
          <a:p xmlns:a="http://schemas.openxmlformats.org/drawingml/2006/main">
            <a:r>
              <a:t>Likely misconception</a:t>
            </a:r>
          </a:p>
          <a:p xmlns:a="http://schemas.openxmlformats.org/drawingml/2006/main">
            <a:r>
              <a:t>- The exit ticket is a generic summary with no next evidence action.</a:t>
            </a:r>
          </a:p>
          <a:p xmlns:a="http://schemas.openxmlformats.org/drawingml/2006/main">
            <a:r>
              <a:t/>
            </a:r>
          </a:p>
          <a:p xmlns:a="http://schemas.openxmlformats.org/drawingml/2006/main">
            <a:r>
              <a:t>Transition</a:t>
            </a:r>
          </a:p>
          <a:p xmlns:a="http://schemas.openxmlformats.org/drawingml/2006/main">
            <a:r>
              <a:t>- Next: demonstrate function, evaluate against evidence and connect systems thinking responsibly.</a:t>
            </a:r>
          </a:p>
          <a:p xmlns:a="http://schemas.openxmlformats.org/drawingml/2006/main">
            <a:r>
              <a:t/>
            </a:r>
          </a:p>
          <a:p xmlns:a="http://schemas.openxmlformats.org/drawingml/2006/main">
            <a:r>
              <a:t>[Sources]</a:t>
            </a:r>
          </a:p>
          <a:p xmlns:a="http://schemas.openxmlformats.org/drawingml/2006/main">
            <a:r>
              <a:t>- Year 8 Catapult student theory draft v1.0, module-09, 24 Aug 2026.</a:t>
            </a:r>
          </a:p>
          <a:p xmlns:a="http://schemas.openxmlformats.org/drawingml/2006/main">
            <a:r>
              <a:t>- Catapult Booklet 2026.pdf, pp. 18–21; source map; theory draft module-09.</a:t>
            </a:r>
          </a:p>
          <a:p xmlns:a="http://schemas.openxmlformats.org/drawingml/2006/main">
            <a:r>
              <a:t>- Exit-evidence structure follows the TAS course presentation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479fe69ad97446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d66db8d2a0c4ee3" /><Relationship Type="http://schemas.openxmlformats.org/officeDocument/2006/relationships/slideLayout" Target="/ppt/slideLayouts/slideLayout1.xml" Id="Rd14b511f62fe4ad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14b511f62fe4ad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32a8b28685f44a2" /><Relationship Type="http://schemas.openxmlformats.org/officeDocument/2006/relationships/image" Target="/ppt/media/image.png" Id="R03ecd9c222624812" /><Relationship Type="http://schemas.openxmlformats.org/officeDocument/2006/relationships/notesSlide" Target="/ppt/notesSlides/notesSlide1.xml" Id="R524ca3ab8a72450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c1ba6c17aa24ded" /><Relationship Type="http://schemas.openxmlformats.org/officeDocument/2006/relationships/notesSlide" Target="/ppt/notesSlides/notesSlide2.xml" Id="R5d518d9c6832471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b142660050e4d20" /><Relationship Type="http://schemas.openxmlformats.org/officeDocument/2006/relationships/notesSlide" Target="/ppt/notesSlides/notesSlide3.xml" Id="R02bdacd420fb4a2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b3ed0014aa042de" /><Relationship Type="http://schemas.openxmlformats.org/officeDocument/2006/relationships/notesSlide" Target="/ppt/notesSlides/notesSlide4.xml" Id="R270bc56d6f84482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e7d07112f6f45dd" /><Relationship Type="http://schemas.openxmlformats.org/officeDocument/2006/relationships/notesSlide" Target="/ppt/notesSlides/notesSlide5.xml" Id="R80cb4157dfc34f9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338aeb02f264124" /><Relationship Type="http://schemas.openxmlformats.org/officeDocument/2006/relationships/notesSlide" Target="/ppt/notesSlides/notesSlide6.xml" Id="R8fe3124e8bf340d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a5474e7f9ac46b9" /><Relationship Type="http://schemas.openxmlformats.org/officeDocument/2006/relationships/notesSlide" Target="/ppt/notesSlides/notesSlide7.xml" Id="R123100ffe31b407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a278447ee034f67" /><Relationship Type="http://schemas.openxmlformats.org/officeDocument/2006/relationships/notesSlide" Target="/ppt/notesSlides/notesSlide8.xml" Id="R249bcf7468a8429f" /></Relationships>
</file>

<file path=ppt/slides/slide1.xml><?xml version="1.0" encoding="utf-8"?>
<p:sld xmlns:p="http://schemas.openxmlformats.org/presentationml/2006/main">
  <p:cSld>
    <p:bg>
      <p:bgPr>
        <a:solidFill xmlns:a="http://schemas.openxmlformats.org/drawingml/2006/main">
          <a:srgbClr val="0B3541"/>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03ecd9c222624812"/>
          <a:srcRect xmlns:a="http://schemas.openxmlformats.org/drawingml/2006/main" l="25926" t="0" r="25926" b="0"/>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40538F3-4B0A-4BB8-ACB4-4147510AF934}"/>
              </a:ext>
            </a:extLst>
          </p:cNvPr>
          <p:cNvSpPr>
            <a:spLocks xmlns:a="http://schemas.openxmlformats.org/drawingml/2006/main" noGrp="1"/>
          </p:cNvSpPr>
          <p:nvPr/>
        </p:nvSpPr>
        <p:spPr>
          <a:xfrm xmlns:a="http://schemas.openxmlformats.org/drawingml/2006/main">
            <a:off x="7029450" y="0"/>
            <a:ext cx="285750" cy="685800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AE92D79-EECC-42E0-A87F-8EC21E42A24B}"/>
              </a:ext>
            </a:extLst>
          </p:cNvPr>
          <p:cNvSpPr>
            <a:spLocks xmlns:a="http://schemas.openxmlformats.org/drawingml/2006/main" noGrp="1"/>
          </p:cNvSpPr>
          <p:nvPr/>
        </p:nvSpPr>
        <p:spPr>
          <a:xfrm xmlns:a="http://schemas.openxmlformats.org/drawingml/2006/main">
            <a:off x="685800" y="7239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MODULE 09</a:t>
            </a:r>
          </a:p>
        </p:txBody>
      </p:sp>
      <p:sp>
        <p:nvSpPr>
          <p:cNvPr id="4" name="">
            <a:extLst xmlns:a="http://schemas.openxmlformats.org/drawingml/2006/main">
              <a:ext uri="{FF2B5EF4-FFF2-40B4-BE49-F238E27FC236}">
                <a16:creationId xmlns:a16="http://schemas.microsoft.com/office/drawing/2014/main" id="{56B02F69-E941-4CD6-A060-06911379EDB8}"/>
              </a:ext>
            </a:extLst>
          </p:cNvPr>
          <p:cNvSpPr>
            <a:spLocks xmlns:a="http://schemas.openxmlformats.org/drawingml/2006/main" noGrp="1"/>
          </p:cNvSpPr>
          <p:nvPr/>
        </p:nvSpPr>
        <p:spPr>
          <a:xfrm xmlns:a="http://schemas.openxmlformats.org/drawingml/2006/main">
            <a:off x="685800" y="1428750"/>
            <a:ext cx="5810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350" b="1">
                <a:solidFill>
                  <a:srgbClr val="FFFFFF"/>
                </a:solidFill>
              </a:defRPr>
            </a:pPr>
            <a:r>
              <a:rPr sz="4350" b="1">
                <a:solidFill>
                  <a:srgbClr val="FFFFFF"/>
                </a:solidFill>
              </a:rPr>
              <a:t>Engineering Report and Sustainability</a:t>
            </a:r>
          </a:p>
        </p:txBody>
      </p:sp>
      <p:sp>
        <p:nvSpPr>
          <p:cNvPr id="5" name="">
            <a:extLst xmlns:a="http://schemas.openxmlformats.org/drawingml/2006/main">
              <a:ext uri="{FF2B5EF4-FFF2-40B4-BE49-F238E27FC236}">
                <a16:creationId xmlns:a16="http://schemas.microsoft.com/office/drawing/2014/main" id="{CFB25184-5D4B-4A13-830F-EC7F222AED1B}"/>
              </a:ext>
            </a:extLst>
          </p:cNvPr>
          <p:cNvSpPr>
            <a:spLocks xmlns:a="http://schemas.openxmlformats.org/drawingml/2006/main" noGrp="1"/>
          </p:cNvSpPr>
          <p:nvPr/>
        </p:nvSpPr>
        <p:spPr>
          <a:xfrm xmlns:a="http://schemas.openxmlformats.org/drawingml/2006/main">
            <a:off x="685800" y="3943350"/>
            <a:ext cx="5762625"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a:solidFill>
                  <a:srgbClr val="D7E5E8"/>
                </a:solidFill>
              </a:defRPr>
            </a:pPr>
            <a:r>
              <a:rPr sz="1875" b="0">
                <a:solidFill>
                  <a:srgbClr val="D7E5E8"/>
                </a:solidFill>
              </a:rPr>
              <a:t>Build an engineering report that links claims to evidence and makes a balanced sustainability judgement.</a:t>
            </a:r>
          </a:p>
        </p:txBody>
      </p:sp>
      <p:sp>
        <p:nvSpPr>
          <p:cNvPr id="6" name="">
            <a:extLst xmlns:a="http://schemas.openxmlformats.org/drawingml/2006/main">
              <a:ext uri="{FF2B5EF4-FFF2-40B4-BE49-F238E27FC236}">
                <a16:creationId xmlns:a16="http://schemas.microsoft.com/office/drawing/2014/main" id="{DBFE35AD-7954-44BD-87CA-8A4D072092F8}"/>
              </a:ext>
            </a:extLst>
          </p:cNvPr>
          <p:cNvSpPr>
            <a:spLocks xmlns:a="http://schemas.openxmlformats.org/drawingml/2006/main" noGrp="1"/>
          </p:cNvSpPr>
          <p:nvPr/>
        </p:nvSpPr>
        <p:spPr>
          <a:xfrm xmlns:a="http://schemas.openxmlformats.org/drawingml/2006/main">
            <a:off x="685800" y="59245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D7E5E8"/>
                </a:solidFill>
              </a:defRPr>
            </a:pPr>
            <a:r>
              <a:rPr sz="1125" b="1">
                <a:solidFill>
                  <a:srgbClr val="D7E5E8"/>
                </a:solidFill>
              </a:rPr>
              <a:t>YEAR 8  •  ENGINEERING TECHNOLOGIES AND SYSTEMS</a:t>
            </a:r>
          </a:p>
        </p:txBody>
      </p:sp>
    </p:spTree>
    <p:extLst>
      <p:ext uri="{BB962C8B-B14F-4D97-AF65-F5344CB8AC3E}">
        <p14:creationId xmlns:p14="http://schemas.microsoft.com/office/powerpoint/2010/main" val="1619844757"/>
      </p:ext>
    </p:extLst>
  </p:cSld>
</p:sld>
</file>

<file path=ppt/slides/slide2.xml><?xml version="1.0" encoding="utf-8"?>
<p:sld xmlns:p="http://schemas.openxmlformats.org/presentationml/2006/main">
  <p:cSld>
    <p:bg>
      <p:bgPr>
        <a:solidFill xmlns:a="http://schemas.openxmlformats.org/drawingml/2006/main">
          <a:srgbClr val="F3F6F7"/>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D2714280-469C-4D76-9535-CB4957F1931E}"/>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A72696E-324A-4EF5-96B8-58B64FABFE06}"/>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09  /  REPORT AND SUSTAINABILITY</a:t>
            </a:r>
          </a:p>
        </p:txBody>
      </p:sp>
      <p:sp>
        <p:nvSpPr>
          <p:cNvPr id="3" name="">
            <a:extLst xmlns:a="http://schemas.openxmlformats.org/drawingml/2006/main">
              <a:ext uri="{FF2B5EF4-FFF2-40B4-BE49-F238E27FC236}">
                <a16:creationId xmlns:a16="http://schemas.microsoft.com/office/drawing/2014/main" id="{7E2CBE2C-B877-44A6-89B2-777962339CF2}"/>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The learning question</a:t>
            </a:r>
          </a:p>
        </p:txBody>
      </p:sp>
      <p:sp>
        <p:nvSpPr>
          <p:cNvPr id="4" name="">
            <a:extLst xmlns:a="http://schemas.openxmlformats.org/drawingml/2006/main">
              <a:ext uri="{FF2B5EF4-FFF2-40B4-BE49-F238E27FC236}">
                <a16:creationId xmlns:a16="http://schemas.microsoft.com/office/drawing/2014/main" id="{E4BB21C9-0F70-48C8-B6D2-9EFAB81FC847}"/>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A1E1AEBD-7706-4CE1-970B-B885A88B480E}"/>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09</a:t>
            </a:r>
          </a:p>
        </p:txBody>
      </p:sp>
      <p:sp>
        <p:nvSpPr>
          <p:cNvPr id="6" name="">
            <a:extLst xmlns:a="http://schemas.openxmlformats.org/drawingml/2006/main">
              <a:ext uri="{FF2B5EF4-FFF2-40B4-BE49-F238E27FC236}">
                <a16:creationId xmlns:a16="http://schemas.microsoft.com/office/drawing/2014/main" id="{AA08BEA3-9333-41F6-9E0A-A6A90A036317}"/>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02</a:t>
            </a:r>
          </a:p>
        </p:txBody>
      </p:sp>
      <p:sp>
        <p:nvSpPr>
          <p:cNvPr id="7" name="">
            <a:extLst xmlns:a="http://schemas.openxmlformats.org/drawingml/2006/main">
              <a:ext uri="{FF2B5EF4-FFF2-40B4-BE49-F238E27FC236}">
                <a16:creationId xmlns:a16="http://schemas.microsoft.com/office/drawing/2014/main" id="{C7C875FF-74EC-47C2-A51A-604E217FE8B7}"/>
              </a:ext>
            </a:extLst>
          </p:cNvPr>
          <p:cNvSpPr>
            <a:spLocks xmlns:a="http://schemas.openxmlformats.org/drawingml/2006/main" noGrp="1"/>
          </p:cNvSpPr>
          <p:nvPr/>
        </p:nvSpPr>
        <p:spPr>
          <a:xfrm xmlns:a="http://schemas.openxmlformats.org/drawingml/2006/main">
            <a:off x="685800" y="1333500"/>
            <a:ext cx="1047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a:solidFill>
                  <a:srgbClr val="184F5E"/>
                </a:solidFill>
              </a:defRPr>
            </a:pPr>
            <a:r>
              <a:rPr sz="2250" b="1">
                <a:solidFill>
                  <a:srgbClr val="184F5E"/>
                </a:solidFill>
              </a:rPr>
              <a:t>How does a report turn project records into a credible engineering conclusion?</a:t>
            </a:r>
          </a:p>
        </p:txBody>
      </p:sp>
      <p:sp>
        <p:nvSpPr>
          <p:cNvPr id="8" name="">
            <a:extLst xmlns:a="http://schemas.openxmlformats.org/drawingml/2006/main">
              <a:ext uri="{FF2B5EF4-FFF2-40B4-BE49-F238E27FC236}">
                <a16:creationId xmlns:a16="http://schemas.microsoft.com/office/drawing/2014/main" id="{1F84DB35-2D89-4C31-8E27-15FDD1EF1C86}"/>
              </a:ext>
            </a:extLst>
          </p:cNvPr>
          <p:cNvSpPr>
            <a:spLocks xmlns:a="http://schemas.openxmlformats.org/drawingml/2006/main" noGrp="1"/>
          </p:cNvSpPr>
          <p:nvPr/>
        </p:nvSpPr>
        <p:spPr>
          <a:xfrm xmlns:a="http://schemas.openxmlformats.org/drawingml/2006/main">
            <a:off x="3543300" y="3181350"/>
            <a:ext cx="66675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AF9F446-10E1-4B48-A799-3A2001522DEC}"/>
              </a:ext>
            </a:extLst>
          </p:cNvPr>
          <p:cNvSpPr>
            <a:spLocks xmlns:a="http://schemas.openxmlformats.org/drawingml/2006/main" noGrp="1"/>
          </p:cNvSpPr>
          <p:nvPr/>
        </p:nvSpPr>
        <p:spPr>
          <a:xfrm xmlns:a="http://schemas.openxmlformats.org/drawingml/2006/main">
            <a:off x="6972300" y="3181350"/>
            <a:ext cx="66675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34777D5-1E5C-48DC-B2A7-1E93D9C2ABAA}"/>
              </a:ext>
            </a:extLst>
          </p:cNvPr>
          <p:cNvSpPr>
            <a:spLocks xmlns:a="http://schemas.openxmlformats.org/drawingml/2006/main" noGrp="1"/>
          </p:cNvSpPr>
          <p:nvPr/>
        </p:nvSpPr>
        <p:spPr>
          <a:xfrm xmlns:a="http://schemas.openxmlformats.org/drawingml/2006/main">
            <a:off x="819150" y="2743200"/>
            <a:ext cx="819150" cy="819150"/>
          </a:xfrm>
          <a:prstGeom xmlns:a="http://schemas.openxmlformats.org/drawingml/2006/main" prst="ellipse">
            <a:avLst/>
          </a:prstGeom>
          <a:solidFill xmlns:a="http://schemas.openxmlformats.org/drawingml/2006/main">
            <a:srgbClr val="184F5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713D729-191D-4376-93D7-D802B04B4508}"/>
              </a:ext>
            </a:extLst>
          </p:cNvPr>
          <p:cNvSpPr>
            <a:spLocks xmlns:a="http://schemas.openxmlformats.org/drawingml/2006/main" noGrp="1"/>
          </p:cNvSpPr>
          <p:nvPr/>
        </p:nvSpPr>
        <p:spPr>
          <a:xfrm xmlns:a="http://schemas.openxmlformats.org/drawingml/2006/main">
            <a:off x="819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FFFFFF"/>
                </a:solidFill>
              </a:defRPr>
            </a:pPr>
            <a:r>
              <a:rPr sz="2400" b="1">
                <a:solidFill>
                  <a:srgbClr val="FFFFFF"/>
                </a:solidFill>
              </a:rPr>
              <a:t>1</a:t>
            </a:r>
          </a:p>
        </p:txBody>
      </p:sp>
      <p:sp>
        <p:nvSpPr>
          <p:cNvPr id="12" name="">
            <a:extLst xmlns:a="http://schemas.openxmlformats.org/drawingml/2006/main">
              <a:ext uri="{FF2B5EF4-FFF2-40B4-BE49-F238E27FC236}">
                <a16:creationId xmlns:a16="http://schemas.microsoft.com/office/drawing/2014/main" id="{4EE71B98-9BD4-4517-B6DE-AB8CEF2553A1}"/>
              </a:ext>
            </a:extLst>
          </p:cNvPr>
          <p:cNvSpPr>
            <a:spLocks xmlns:a="http://schemas.openxmlformats.org/drawingml/2006/main" noGrp="1"/>
          </p:cNvSpPr>
          <p:nvPr/>
        </p:nvSpPr>
        <p:spPr>
          <a:xfrm xmlns:a="http://schemas.openxmlformats.org/drawingml/2006/main">
            <a:off x="1790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Report the design journey</a:t>
            </a:r>
          </a:p>
        </p:txBody>
      </p:sp>
      <p:sp>
        <p:nvSpPr>
          <p:cNvPr id="13" name="">
            <a:extLst xmlns:a="http://schemas.openxmlformats.org/drawingml/2006/main">
              <a:ext uri="{FF2B5EF4-FFF2-40B4-BE49-F238E27FC236}">
                <a16:creationId xmlns:a16="http://schemas.microsoft.com/office/drawing/2014/main" id="{51EF8A31-4971-48A8-8F43-8687467D00F5}"/>
              </a:ext>
            </a:extLst>
          </p:cNvPr>
          <p:cNvSpPr>
            <a:spLocks xmlns:a="http://schemas.openxmlformats.org/drawingml/2006/main" noGrp="1"/>
          </p:cNvSpPr>
          <p:nvPr/>
        </p:nvSpPr>
        <p:spPr>
          <a:xfrm xmlns:a="http://schemas.openxmlformats.org/drawingml/2006/main">
            <a:off x="4248150" y="2743200"/>
            <a:ext cx="819150" cy="819150"/>
          </a:xfrm>
          <a:prstGeom xmlns:a="http://schemas.openxmlformats.org/drawingml/2006/main" prst="ellipse">
            <a:avLst/>
          </a:prstGeom>
          <a:solidFill xmlns:a="http://schemas.openxmlformats.org/drawingml/2006/main">
            <a:srgbClr val="F0B84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4BD7A94-DB4D-45DE-B634-43D87233CB2A}"/>
              </a:ext>
            </a:extLst>
          </p:cNvPr>
          <p:cNvSpPr>
            <a:spLocks xmlns:a="http://schemas.openxmlformats.org/drawingml/2006/main" noGrp="1"/>
          </p:cNvSpPr>
          <p:nvPr/>
        </p:nvSpPr>
        <p:spPr>
          <a:xfrm xmlns:a="http://schemas.openxmlformats.org/drawingml/2006/main">
            <a:off x="4248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17232B"/>
                </a:solidFill>
              </a:defRPr>
            </a:pPr>
            <a:r>
              <a:rPr sz="2400" b="1">
                <a:solidFill>
                  <a:srgbClr val="17232B"/>
                </a:solidFill>
              </a:rPr>
              <a:t>2</a:t>
            </a:r>
          </a:p>
        </p:txBody>
      </p:sp>
      <p:sp>
        <p:nvSpPr>
          <p:cNvPr id="15" name="">
            <a:extLst xmlns:a="http://schemas.openxmlformats.org/drawingml/2006/main">
              <a:ext uri="{FF2B5EF4-FFF2-40B4-BE49-F238E27FC236}">
                <a16:creationId xmlns:a16="http://schemas.microsoft.com/office/drawing/2014/main" id="{249A2369-5081-4ABE-9B68-B0DE1167DBA6}"/>
              </a:ext>
            </a:extLst>
          </p:cNvPr>
          <p:cNvSpPr>
            <a:spLocks xmlns:a="http://schemas.openxmlformats.org/drawingml/2006/main" noGrp="1"/>
          </p:cNvSpPr>
          <p:nvPr/>
        </p:nvSpPr>
        <p:spPr>
          <a:xfrm xmlns:a="http://schemas.openxmlformats.org/drawingml/2006/main">
            <a:off x="5219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Link claim, evidence and reasoning</a:t>
            </a:r>
          </a:p>
        </p:txBody>
      </p:sp>
      <p:sp>
        <p:nvSpPr>
          <p:cNvPr id="16" name="">
            <a:extLst xmlns:a="http://schemas.openxmlformats.org/drawingml/2006/main">
              <a:ext uri="{FF2B5EF4-FFF2-40B4-BE49-F238E27FC236}">
                <a16:creationId xmlns:a16="http://schemas.microsoft.com/office/drawing/2014/main" id="{D309426E-C73E-4077-9FA5-09B9DD2A6C70}"/>
              </a:ext>
            </a:extLst>
          </p:cNvPr>
          <p:cNvSpPr>
            <a:spLocks xmlns:a="http://schemas.openxmlformats.org/drawingml/2006/main" noGrp="1"/>
          </p:cNvSpPr>
          <p:nvPr/>
        </p:nvSpPr>
        <p:spPr>
          <a:xfrm xmlns:a="http://schemas.openxmlformats.org/drawingml/2006/main">
            <a:off x="7677150" y="2743200"/>
            <a:ext cx="819150" cy="819150"/>
          </a:xfrm>
          <a:prstGeom xmlns:a="http://schemas.openxmlformats.org/drawingml/2006/main" prst="ellipse">
            <a:avLst/>
          </a:prstGeom>
          <a:solidFill xmlns:a="http://schemas.openxmlformats.org/drawingml/2006/main">
            <a:srgbClr val="184F5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7D314C0-E7B7-49FF-BEB4-8319BE577025}"/>
              </a:ext>
            </a:extLst>
          </p:cNvPr>
          <p:cNvSpPr>
            <a:spLocks xmlns:a="http://schemas.openxmlformats.org/drawingml/2006/main" noGrp="1"/>
          </p:cNvSpPr>
          <p:nvPr/>
        </p:nvSpPr>
        <p:spPr>
          <a:xfrm xmlns:a="http://schemas.openxmlformats.org/drawingml/2006/main">
            <a:off x="7677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FFFFFF"/>
                </a:solidFill>
              </a:defRPr>
            </a:pPr>
            <a:r>
              <a:rPr sz="2400" b="1">
                <a:solidFill>
                  <a:srgbClr val="FFFFFF"/>
                </a:solidFill>
              </a:rPr>
              <a:t>3</a:t>
            </a:r>
          </a:p>
        </p:txBody>
      </p:sp>
      <p:sp>
        <p:nvSpPr>
          <p:cNvPr id="18" name="">
            <a:extLst xmlns:a="http://schemas.openxmlformats.org/drawingml/2006/main">
              <a:ext uri="{FF2B5EF4-FFF2-40B4-BE49-F238E27FC236}">
                <a16:creationId xmlns:a16="http://schemas.microsoft.com/office/drawing/2014/main" id="{707D2859-3443-4D5E-9740-BDFD44AA2618}"/>
              </a:ext>
            </a:extLst>
          </p:cNvPr>
          <p:cNvSpPr>
            <a:spLocks xmlns:a="http://schemas.openxmlformats.org/drawingml/2006/main" noGrp="1"/>
          </p:cNvSpPr>
          <p:nvPr/>
        </p:nvSpPr>
        <p:spPr>
          <a:xfrm xmlns:a="http://schemas.openxmlformats.org/drawingml/2006/main">
            <a:off x="8648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Think across a life cycle</a:t>
            </a:r>
          </a:p>
        </p:txBody>
      </p:sp>
      <p:sp>
        <p:nvSpPr>
          <p:cNvPr id="19" name="">
            <a:extLst xmlns:a="http://schemas.openxmlformats.org/drawingml/2006/main">
              <a:ext uri="{FF2B5EF4-FFF2-40B4-BE49-F238E27FC236}">
                <a16:creationId xmlns:a16="http://schemas.microsoft.com/office/drawing/2014/main" id="{C9A8D30E-7C30-4E17-AB04-98FA56DD355A}"/>
              </a:ext>
            </a:extLst>
          </p:cNvPr>
          <p:cNvSpPr>
            <a:spLocks xmlns:a="http://schemas.openxmlformats.org/drawingml/2006/main" noGrp="1"/>
          </p:cNvSpPr>
          <p:nvPr/>
        </p:nvSpPr>
        <p:spPr>
          <a:xfrm xmlns:a="http://schemas.openxmlformats.org/drawingml/2006/main">
            <a:off x="685800" y="4686300"/>
            <a:ext cx="10820400" cy="1047750"/>
          </a:xfrm>
          <a:prstGeom xmlns:a="http://schemas.openxmlformats.org/drawingml/2006/main" prst="rect">
            <a:avLst/>
          </a:prstGeom>
          <a:solidFill xmlns:a="http://schemas.openxmlformats.org/drawingml/2006/main">
            <a:srgbClr val="FFFFFF"/>
          </a:solidFill>
          <a:ln xmlns:a="http://schemas.openxmlformats.org/drawingml/2006/main" w="9525">
            <a:solidFill>
              <a:srgbClr val="CAD4D8"/>
            </a:solidFill>
            <a:prstDash val="solid"/>
          </a:ln>
        </p:spPr>
      </p:sp>
      <p:sp>
        <p:nvSpPr>
          <p:cNvPr id="20" name="">
            <a:extLst xmlns:a="http://schemas.openxmlformats.org/drawingml/2006/main">
              <a:ext uri="{FF2B5EF4-FFF2-40B4-BE49-F238E27FC236}">
                <a16:creationId xmlns:a16="http://schemas.microsoft.com/office/drawing/2014/main" id="{CA0B32EF-2CDF-4AE3-9C25-B99A87B49E94}"/>
              </a:ext>
            </a:extLst>
          </p:cNvPr>
          <p:cNvSpPr>
            <a:spLocks xmlns:a="http://schemas.openxmlformats.org/drawingml/2006/main" noGrp="1"/>
          </p:cNvSpPr>
          <p:nvPr/>
        </p:nvSpPr>
        <p:spPr>
          <a:xfrm xmlns:a="http://schemas.openxmlformats.org/drawingml/2006/main">
            <a:off x="933450" y="48958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RETRIEVAL WARM-UP</a:t>
            </a:r>
          </a:p>
        </p:txBody>
      </p:sp>
      <p:sp>
        <p:nvSpPr>
          <p:cNvPr id="21" name="">
            <a:extLst xmlns:a="http://schemas.openxmlformats.org/drawingml/2006/main">
              <a:ext uri="{FF2B5EF4-FFF2-40B4-BE49-F238E27FC236}">
                <a16:creationId xmlns:a16="http://schemas.microsoft.com/office/drawing/2014/main" id="{EF17C0D7-7DAC-472D-A1C3-80CF6554C131}"/>
              </a:ext>
            </a:extLst>
          </p:cNvPr>
          <p:cNvSpPr>
            <a:spLocks xmlns:a="http://schemas.openxmlformats.org/drawingml/2006/main" noGrp="1"/>
          </p:cNvSpPr>
          <p:nvPr/>
        </p:nvSpPr>
        <p:spPr>
          <a:xfrm xmlns:a="http://schemas.openxmlformats.org/drawingml/2006/main">
            <a:off x="933450" y="5219700"/>
            <a:ext cx="1009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Why does a limitation strengthen rather than weaken an honest conclusion?</a:t>
            </a:r>
          </a:p>
        </p:txBody>
      </p:sp>
    </p:spTree>
    <p:extLst>
      <p:ext uri="{BB962C8B-B14F-4D97-AF65-F5344CB8AC3E}">
        <p14:creationId xmlns:p14="http://schemas.microsoft.com/office/powerpoint/2010/main" val="155350465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16F5A54-F179-4554-8387-80ADD48FEEC5}"/>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8337E41-0E55-463B-B499-2D4AEF55D83F}"/>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09  /  REPORT AND SUSTAINABILITY</a:t>
            </a:r>
          </a:p>
        </p:txBody>
      </p:sp>
      <p:sp>
        <p:nvSpPr>
          <p:cNvPr id="3" name="">
            <a:extLst xmlns:a="http://schemas.openxmlformats.org/drawingml/2006/main">
              <a:ext uri="{FF2B5EF4-FFF2-40B4-BE49-F238E27FC236}">
                <a16:creationId xmlns:a16="http://schemas.microsoft.com/office/drawing/2014/main" id="{B242A145-7FB3-4FEC-9F5D-F11A77250641}"/>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A report follows the design journey</a:t>
            </a:r>
          </a:p>
        </p:txBody>
      </p:sp>
      <p:sp>
        <p:nvSpPr>
          <p:cNvPr id="4" name="">
            <a:extLst xmlns:a="http://schemas.openxmlformats.org/drawingml/2006/main">
              <a:ext uri="{FF2B5EF4-FFF2-40B4-BE49-F238E27FC236}">
                <a16:creationId xmlns:a16="http://schemas.microsoft.com/office/drawing/2014/main" id="{03E048BA-C786-42C2-9131-AC0C7E972F3F}"/>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7A54A3F7-0392-4EEB-93EA-38B5A82C0041}"/>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09</a:t>
            </a:r>
          </a:p>
        </p:txBody>
      </p:sp>
      <p:sp>
        <p:nvSpPr>
          <p:cNvPr id="6" name="">
            <a:extLst xmlns:a="http://schemas.openxmlformats.org/drawingml/2006/main">
              <a:ext uri="{FF2B5EF4-FFF2-40B4-BE49-F238E27FC236}">
                <a16:creationId xmlns:a16="http://schemas.microsoft.com/office/drawing/2014/main" id="{5372B030-2161-4EA5-B496-613223064290}"/>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03</a:t>
            </a:r>
          </a:p>
        </p:txBody>
      </p:sp>
      <p:sp>
        <p:nvSpPr>
          <p:cNvPr id="7" name="">
            <a:extLst xmlns:a="http://schemas.openxmlformats.org/drawingml/2006/main">
              <a:ext uri="{FF2B5EF4-FFF2-40B4-BE49-F238E27FC236}">
                <a16:creationId xmlns:a16="http://schemas.microsoft.com/office/drawing/2014/main" id="{3435E23F-B5A2-4C06-A7D5-7E4798786A97}"/>
              </a:ext>
            </a:extLst>
          </p:cNvPr>
          <p:cNvSpPr>
            <a:spLocks xmlns:a="http://schemas.openxmlformats.org/drawingml/2006/main" noGrp="1"/>
          </p:cNvSpPr>
          <p:nvPr/>
        </p:nvSpPr>
        <p:spPr>
          <a:xfrm xmlns:a="http://schemas.openxmlformats.org/drawingml/2006/main">
            <a:off x="6858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A clear engineering report moves from brief and design decision through production evidence, test method, results, discussion, sustainability and conclusion. The conclusion answers the original problem using the strongest evidence and states limits such as few trials or unresolved variation.</a:t>
            </a:r>
          </a:p>
        </p:txBody>
      </p:sp>
      <p:sp>
        <p:nvSpPr>
          <p:cNvPr id="8" name="">
            <a:extLst xmlns:a="http://schemas.openxmlformats.org/drawingml/2006/main">
              <a:ext uri="{FF2B5EF4-FFF2-40B4-BE49-F238E27FC236}">
                <a16:creationId xmlns:a16="http://schemas.microsoft.com/office/drawing/2014/main" id="{0237B7B9-4426-4572-B175-3C46A8CBE468}"/>
              </a:ext>
            </a:extLst>
          </p:cNvPr>
          <p:cNvSpPr>
            <a:spLocks xmlns:a="http://schemas.openxmlformats.org/drawingml/2006/main" noGrp="1"/>
          </p:cNvSpPr>
          <p:nvPr/>
        </p:nvSpPr>
        <p:spPr>
          <a:xfrm xmlns:a="http://schemas.openxmlformats.org/drawingml/2006/main">
            <a:off x="6858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3926E7E7-6631-4284-B3A7-95ADE931AF0F}"/>
              </a:ext>
            </a:extLst>
          </p:cNvPr>
          <p:cNvSpPr>
            <a:spLocks xmlns:a="http://schemas.openxmlformats.org/drawingml/2006/main" noGrp="1"/>
          </p:cNvSpPr>
          <p:nvPr/>
        </p:nvSpPr>
        <p:spPr>
          <a:xfrm xmlns:a="http://schemas.openxmlformats.org/drawingml/2006/main">
            <a:off x="6858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Structure: place one existing project record into the report section where it can do the most explanatory work.</a:t>
            </a:r>
          </a:p>
        </p:txBody>
      </p:sp>
      <p:sp>
        <p:nvSpPr>
          <p:cNvPr id="10" name="">
            <a:extLst xmlns:a="http://schemas.openxmlformats.org/drawingml/2006/main">
              <a:ext uri="{FF2B5EF4-FFF2-40B4-BE49-F238E27FC236}">
                <a16:creationId xmlns:a16="http://schemas.microsoft.com/office/drawing/2014/main" id="{FD0D3272-BFB8-4464-9FC0-DA1283CADF6C}"/>
              </a:ext>
            </a:extLst>
          </p:cNvPr>
          <p:cNvSpPr>
            <a:spLocks xmlns:a="http://schemas.openxmlformats.org/drawingml/2006/main" noGrp="1"/>
          </p:cNvSpPr>
          <p:nvPr/>
        </p:nvSpPr>
        <p:spPr>
          <a:xfrm xmlns:a="http://schemas.openxmlformats.org/drawingml/2006/main">
            <a:off x="7512050" y="2362200"/>
            <a:ext cx="36195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C80B198-A63A-4E8F-B03B-8165EAA542D4}"/>
              </a:ext>
            </a:extLst>
          </p:cNvPr>
          <p:cNvSpPr>
            <a:spLocks xmlns:a="http://schemas.openxmlformats.org/drawingml/2006/main" noGrp="1"/>
          </p:cNvSpPr>
          <p:nvPr/>
        </p:nvSpPr>
        <p:spPr>
          <a:xfrm xmlns:a="http://schemas.openxmlformats.org/drawingml/2006/main">
            <a:off x="9271000" y="2362200"/>
            <a:ext cx="36195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80229FE-F35A-40F2-A1E2-EC545CDDF9A6}"/>
              </a:ext>
            </a:extLst>
          </p:cNvPr>
          <p:cNvSpPr>
            <a:spLocks xmlns:a="http://schemas.openxmlformats.org/drawingml/2006/main" noGrp="1"/>
          </p:cNvSpPr>
          <p:nvPr/>
        </p:nvSpPr>
        <p:spPr>
          <a:xfrm xmlns:a="http://schemas.openxmlformats.org/drawingml/2006/main">
            <a:off x="6191250" y="1962150"/>
            <a:ext cx="1244600" cy="876300"/>
          </a:xfrm>
          <a:prstGeom xmlns:a="http://schemas.openxmlformats.org/drawingml/2006/main" prst="roundRect">
            <a:avLst>
              <a:gd name="adj" fmla="val 8696"/>
            </a:avLst>
          </a:prstGeom>
          <a:solidFill xmlns:a="http://schemas.openxmlformats.org/drawingml/2006/main">
            <a:srgbClr val="E7EEF0"/>
          </a:solidFill>
          <a:ln xmlns:a="http://schemas.openxmlformats.org/drawingml/2006/main" w="9525">
            <a:solidFill>
              <a:srgbClr val="CAD4D8"/>
            </a:solidFill>
            <a:prstDash val="solid"/>
          </a:ln>
        </p:spPr>
        <p:txBody>
          <a:bodyPr xmlns:a="http://schemas.openxmlformats.org/drawingml/2006/main"/>
          <a:lstStyle xmlns:a="http://schemas.openxmlformats.org/drawingml/2006/main"/>
          <a:p xmlns:a="http://schemas.openxmlformats.org/drawingml/2006/main">
            <a:pPr algn="ctr">
              <a:defRPr sz="1200" b="1">
                <a:solidFill>
                  <a:srgbClr val="17232B"/>
                </a:solidFill>
              </a:defRPr>
            </a:pPr>
            <a:r>
              <a:rPr sz="1200" b="1">
                <a:solidFill>
                  <a:srgbClr val="17232B"/>
                </a:solidFill>
              </a:rPr>
              <a:t>BRIEF + DECISION</a:t>
            </a:r>
          </a:p>
        </p:txBody>
      </p:sp>
      <p:sp>
        <p:nvSpPr>
          <p:cNvPr id="13" name="">
            <a:extLst xmlns:a="http://schemas.openxmlformats.org/drawingml/2006/main">
              <a:ext uri="{FF2B5EF4-FFF2-40B4-BE49-F238E27FC236}">
                <a16:creationId xmlns:a16="http://schemas.microsoft.com/office/drawing/2014/main" id="{8AE2C774-9D94-415A-9A18-3E3A9838F057}"/>
              </a:ext>
            </a:extLst>
          </p:cNvPr>
          <p:cNvSpPr>
            <a:spLocks xmlns:a="http://schemas.openxmlformats.org/drawingml/2006/main" noGrp="1"/>
          </p:cNvSpPr>
          <p:nvPr/>
        </p:nvSpPr>
        <p:spPr>
          <a:xfrm xmlns:a="http://schemas.openxmlformats.org/drawingml/2006/main">
            <a:off x="7950200" y="2228850"/>
            <a:ext cx="1244600" cy="876300"/>
          </a:xfrm>
          <a:prstGeom xmlns:a="http://schemas.openxmlformats.org/drawingml/2006/main" prst="roundRect">
            <a:avLst>
              <a:gd name="adj" fmla="val 8696"/>
            </a:avLst>
          </a:prstGeom>
          <a:solidFill xmlns:a="http://schemas.openxmlformats.org/drawingml/2006/main">
            <a:srgbClr val="FFFFFF"/>
          </a:solidFill>
          <a:ln xmlns:a="http://schemas.openxmlformats.org/drawingml/2006/main" w="9525">
            <a:solidFill>
              <a:srgbClr val="CAD4D8"/>
            </a:solidFill>
            <a:prstDash val="solid"/>
          </a:ln>
        </p:spPr>
        <p:txBody>
          <a:bodyPr xmlns:a="http://schemas.openxmlformats.org/drawingml/2006/main"/>
          <a:lstStyle xmlns:a="http://schemas.openxmlformats.org/drawingml/2006/main"/>
          <a:p xmlns:a="http://schemas.openxmlformats.org/drawingml/2006/main">
            <a:pPr algn="ctr">
              <a:defRPr sz="1200" b="1">
                <a:solidFill>
                  <a:srgbClr val="17232B"/>
                </a:solidFill>
              </a:defRPr>
            </a:pPr>
            <a:r>
              <a:rPr sz="1200" b="1">
                <a:solidFill>
                  <a:srgbClr val="17232B"/>
                </a:solidFill>
              </a:rPr>
              <a:t>EVIDENCE + RESULTS</a:t>
            </a:r>
          </a:p>
        </p:txBody>
      </p:sp>
      <p:sp>
        <p:nvSpPr>
          <p:cNvPr id="14" name="">
            <a:extLst xmlns:a="http://schemas.openxmlformats.org/drawingml/2006/main">
              <a:ext uri="{FF2B5EF4-FFF2-40B4-BE49-F238E27FC236}">
                <a16:creationId xmlns:a16="http://schemas.microsoft.com/office/drawing/2014/main" id="{BD53F753-E87F-41C2-9C8C-7C4A6E10E186}"/>
              </a:ext>
            </a:extLst>
          </p:cNvPr>
          <p:cNvSpPr>
            <a:spLocks xmlns:a="http://schemas.openxmlformats.org/drawingml/2006/main" noGrp="1"/>
          </p:cNvSpPr>
          <p:nvPr/>
        </p:nvSpPr>
        <p:spPr>
          <a:xfrm xmlns:a="http://schemas.openxmlformats.org/drawingml/2006/main">
            <a:off x="9709150" y="2495550"/>
            <a:ext cx="1244600" cy="876300"/>
          </a:xfrm>
          <a:prstGeom xmlns:a="http://schemas.openxmlformats.org/drawingml/2006/main" prst="roundRect">
            <a:avLst>
              <a:gd name="adj" fmla="val 8696"/>
            </a:avLst>
          </a:prstGeom>
          <a:solidFill xmlns:a="http://schemas.openxmlformats.org/drawingml/2006/main">
            <a:srgbClr val="E7EEF0"/>
          </a:solidFill>
          <a:ln xmlns:a="http://schemas.openxmlformats.org/drawingml/2006/main" w="9525">
            <a:solidFill>
              <a:srgbClr val="CAD4D8"/>
            </a:solidFill>
            <a:prstDash val="solid"/>
          </a:ln>
        </p:spPr>
        <p:txBody>
          <a:bodyPr xmlns:a="http://schemas.openxmlformats.org/drawingml/2006/main"/>
          <a:lstStyle xmlns:a="http://schemas.openxmlformats.org/drawingml/2006/main"/>
          <a:p xmlns:a="http://schemas.openxmlformats.org/drawingml/2006/main">
            <a:pPr algn="ctr">
              <a:defRPr sz="1200" b="1">
                <a:solidFill>
                  <a:srgbClr val="17232B"/>
                </a:solidFill>
              </a:defRPr>
            </a:pPr>
            <a:r>
              <a:rPr sz="1200" b="1">
                <a:solidFill>
                  <a:srgbClr val="17232B"/>
                </a:solidFill>
              </a:rPr>
              <a:t>DISCUSSION + CONCLUSION</a:t>
            </a:r>
          </a:p>
        </p:txBody>
      </p:sp>
      <p:sp>
        <p:nvSpPr>
          <p:cNvPr id="15" name="">
            <a:extLst xmlns:a="http://schemas.openxmlformats.org/drawingml/2006/main">
              <a:ext uri="{FF2B5EF4-FFF2-40B4-BE49-F238E27FC236}">
                <a16:creationId xmlns:a16="http://schemas.microsoft.com/office/drawing/2014/main" id="{4755F5A2-18FE-416B-9B38-6BA1E861BB80}"/>
              </a:ext>
            </a:extLst>
          </p:cNvPr>
          <p:cNvSpPr>
            <a:spLocks xmlns:a="http://schemas.openxmlformats.org/drawingml/2006/main" noGrp="1"/>
          </p:cNvSpPr>
          <p:nvPr/>
        </p:nvSpPr>
        <p:spPr>
          <a:xfrm xmlns:a="http://schemas.openxmlformats.org/drawingml/2006/main">
            <a:off x="6191250" y="4762500"/>
            <a:ext cx="4762500" cy="5524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350" b="1">
                <a:solidFill>
                  <a:srgbClr val="184F5E"/>
                </a:solidFill>
              </a:defRPr>
            </a:pPr>
            <a:r>
              <a:rPr sz="1350" b="1">
                <a:solidFill>
                  <a:srgbClr val="184F5E"/>
                </a:solidFill>
              </a:rPr>
              <a:t>NOTICE  Each report section has a job; the conclusion resolves the original question.</a:t>
            </a:r>
          </a:p>
        </p:txBody>
      </p:sp>
    </p:spTree>
    <p:extLst>
      <p:ext uri="{BB962C8B-B14F-4D97-AF65-F5344CB8AC3E}">
        <p14:creationId xmlns:p14="http://schemas.microsoft.com/office/powerpoint/2010/main" val="88971880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8836070-570A-4D33-8E27-B5BE4DEBA5E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5E0AA8B-555C-4F83-8D5F-31F4241EA205}"/>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09  /  REPORT AND SUSTAINABILITY</a:t>
            </a:r>
          </a:p>
        </p:txBody>
      </p:sp>
      <p:sp>
        <p:nvSpPr>
          <p:cNvPr id="3" name="">
            <a:extLst xmlns:a="http://schemas.openxmlformats.org/drawingml/2006/main">
              <a:ext uri="{FF2B5EF4-FFF2-40B4-BE49-F238E27FC236}">
                <a16:creationId xmlns:a16="http://schemas.microsoft.com/office/drawing/2014/main" id="{99AC3168-6737-4B9D-9A63-89D1B6FE38B5}"/>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Claim, evidence and reasoning build credibility</a:t>
            </a:r>
          </a:p>
        </p:txBody>
      </p:sp>
      <p:sp>
        <p:nvSpPr>
          <p:cNvPr id="4" name="">
            <a:extLst xmlns:a="http://schemas.openxmlformats.org/drawingml/2006/main">
              <a:ext uri="{FF2B5EF4-FFF2-40B4-BE49-F238E27FC236}">
                <a16:creationId xmlns:a16="http://schemas.microsoft.com/office/drawing/2014/main" id="{EEA85A6D-7C5B-41AC-9A64-97F5EABFE007}"/>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8178CE14-65D5-4896-9121-B0F19FCAF7A7}"/>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09</a:t>
            </a:r>
          </a:p>
        </p:txBody>
      </p:sp>
      <p:sp>
        <p:nvSpPr>
          <p:cNvPr id="6" name="">
            <a:extLst xmlns:a="http://schemas.openxmlformats.org/drawingml/2006/main">
              <a:ext uri="{FF2B5EF4-FFF2-40B4-BE49-F238E27FC236}">
                <a16:creationId xmlns:a16="http://schemas.microsoft.com/office/drawing/2014/main" id="{5FAACDC8-1B9F-4D15-8F3B-FCF0BDBACE9B}"/>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04</a:t>
            </a:r>
          </a:p>
        </p:txBody>
      </p:sp>
      <p:sp>
        <p:nvSpPr>
          <p:cNvPr id="7" name="">
            <a:extLst xmlns:a="http://schemas.openxmlformats.org/drawingml/2006/main">
              <a:ext uri="{FF2B5EF4-FFF2-40B4-BE49-F238E27FC236}">
                <a16:creationId xmlns:a16="http://schemas.microsoft.com/office/drawing/2014/main" id="{04AE9AF0-8ABE-4EAA-BD18-AE74070A2414}"/>
              </a:ext>
            </a:extLst>
          </p:cNvPr>
          <p:cNvSpPr>
            <a:spLocks xmlns:a="http://schemas.openxmlformats.org/drawingml/2006/main" noGrp="1"/>
          </p:cNvSpPr>
          <p:nvPr/>
        </p:nvSpPr>
        <p:spPr>
          <a:xfrm xmlns:a="http://schemas.openxmlformats.org/drawingml/2006/main">
            <a:off x="67056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A claim is a focused judgement. Evidence is the specific observation, measurement, drawing, photograph or production record that supports it. Reasoning uses engineering knowledge to explain the connection. A folder full of unlabelled photos is not automatically strong evidence.</a:t>
            </a:r>
          </a:p>
        </p:txBody>
      </p:sp>
      <p:sp>
        <p:nvSpPr>
          <p:cNvPr id="8" name="">
            <a:extLst xmlns:a="http://schemas.openxmlformats.org/drawingml/2006/main">
              <a:ext uri="{FF2B5EF4-FFF2-40B4-BE49-F238E27FC236}">
                <a16:creationId xmlns:a16="http://schemas.microsoft.com/office/drawing/2014/main" id="{EB358E64-956E-4A92-964A-95DE7B475C32}"/>
              </a:ext>
            </a:extLst>
          </p:cNvPr>
          <p:cNvSpPr>
            <a:spLocks xmlns:a="http://schemas.openxmlformats.org/drawingml/2006/main" noGrp="1"/>
          </p:cNvSpPr>
          <p:nvPr/>
        </p:nvSpPr>
        <p:spPr>
          <a:xfrm xmlns:a="http://schemas.openxmlformats.org/drawingml/2006/main">
            <a:off x="67056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075C1356-E2B4-4C77-88FD-CDC657191523}"/>
              </a:ext>
            </a:extLst>
          </p:cNvPr>
          <p:cNvSpPr>
            <a:spLocks xmlns:a="http://schemas.openxmlformats.org/drawingml/2006/main" noGrp="1"/>
          </p:cNvSpPr>
          <p:nvPr/>
        </p:nvSpPr>
        <p:spPr>
          <a:xfrm xmlns:a="http://schemas.openxmlformats.org/drawingml/2006/main">
            <a:off x="67056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Improve: choose one clear item, label what it shows and explain why it matters to the claim.</a:t>
            </a:r>
          </a:p>
        </p:txBody>
      </p:sp>
      <p:sp>
        <p:nvSpPr>
          <p:cNvPr id="10" name="">
            <a:extLst xmlns:a="http://schemas.openxmlformats.org/drawingml/2006/main">
              <a:ext uri="{FF2B5EF4-FFF2-40B4-BE49-F238E27FC236}">
                <a16:creationId xmlns:a16="http://schemas.microsoft.com/office/drawing/2014/main" id="{3D4FDFE2-30E9-4E47-9C79-76C78D48BA4A}"/>
              </a:ext>
            </a:extLst>
          </p:cNvPr>
          <p:cNvSpPr>
            <a:spLocks xmlns:a="http://schemas.openxmlformats.org/drawingml/2006/main" noGrp="1"/>
          </p:cNvSpPr>
          <p:nvPr/>
        </p:nvSpPr>
        <p:spPr>
          <a:xfrm xmlns:a="http://schemas.openxmlformats.org/drawingml/2006/main">
            <a:off x="2076450" y="2371725"/>
            <a:ext cx="2667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E724431-7D1D-46D0-9F81-C07F330CC2BF}"/>
              </a:ext>
            </a:extLst>
          </p:cNvPr>
          <p:cNvSpPr>
            <a:spLocks xmlns:a="http://schemas.openxmlformats.org/drawingml/2006/main" noGrp="1"/>
          </p:cNvSpPr>
          <p:nvPr/>
        </p:nvSpPr>
        <p:spPr>
          <a:xfrm xmlns:a="http://schemas.openxmlformats.org/drawingml/2006/main">
            <a:off x="3790950" y="2371725"/>
            <a:ext cx="2667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255813E-6A49-4E26-AA88-7B3351869191}"/>
              </a:ext>
            </a:extLst>
          </p:cNvPr>
          <p:cNvSpPr>
            <a:spLocks xmlns:a="http://schemas.openxmlformats.org/drawingml/2006/main" noGrp="1"/>
          </p:cNvSpPr>
          <p:nvPr/>
        </p:nvSpPr>
        <p:spPr>
          <a:xfrm xmlns:a="http://schemas.openxmlformats.org/drawingml/2006/main">
            <a:off x="685800" y="2076450"/>
            <a:ext cx="1333500" cy="838200"/>
          </a:xfrm>
          <a:prstGeom xmlns:a="http://schemas.openxmlformats.org/drawingml/2006/main" prst="roundRect">
            <a:avLst>
              <a:gd name="adj" fmla="val 9091"/>
            </a:avLst>
          </a:prstGeom>
          <a:solidFill xmlns:a="http://schemas.openxmlformats.org/drawingml/2006/main">
            <a:srgbClr val="E7EEF0"/>
          </a:solidFill>
          <a:ln xmlns:a="http://schemas.openxmlformats.org/drawingml/2006/main" w="9525">
            <a:solidFill>
              <a:srgbClr val="CAD4D8"/>
            </a:solidFill>
            <a:prstDash val="solid"/>
          </a:ln>
        </p:spPr>
        <p:txBody>
          <a:bodyPr xmlns:a="http://schemas.openxmlformats.org/drawingml/2006/main"/>
          <a:lstStyle xmlns:a="http://schemas.openxmlformats.org/drawingml/2006/main"/>
          <a:p xmlns:a="http://schemas.openxmlformats.org/drawingml/2006/main">
            <a:pPr algn="ctr">
              <a:defRPr sz="1200" b="1">
                <a:solidFill>
                  <a:srgbClr val="17232B"/>
                </a:solidFill>
              </a:defRPr>
            </a:pPr>
            <a:r>
              <a:rPr sz="1200" b="1">
                <a:solidFill>
                  <a:srgbClr val="17232B"/>
                </a:solidFill>
              </a:rPr>
              <a:t>CLAIM</a:t>
            </a:r>
          </a:p>
        </p:txBody>
      </p:sp>
      <p:sp>
        <p:nvSpPr>
          <p:cNvPr id="13" name="">
            <a:extLst xmlns:a="http://schemas.openxmlformats.org/drawingml/2006/main">
              <a:ext uri="{FF2B5EF4-FFF2-40B4-BE49-F238E27FC236}">
                <a16:creationId xmlns:a16="http://schemas.microsoft.com/office/drawing/2014/main" id="{C67F5ED1-DC8E-4CB5-A230-A7AE24492E10}"/>
              </a:ext>
            </a:extLst>
          </p:cNvPr>
          <p:cNvSpPr>
            <a:spLocks xmlns:a="http://schemas.openxmlformats.org/drawingml/2006/main" noGrp="1"/>
          </p:cNvSpPr>
          <p:nvPr/>
        </p:nvSpPr>
        <p:spPr>
          <a:xfrm xmlns:a="http://schemas.openxmlformats.org/drawingml/2006/main">
            <a:off x="2400300" y="2076450"/>
            <a:ext cx="1333500" cy="838200"/>
          </a:xfrm>
          <a:prstGeom xmlns:a="http://schemas.openxmlformats.org/drawingml/2006/main" prst="roundRect">
            <a:avLst>
              <a:gd name="adj" fmla="val 9091"/>
            </a:avLst>
          </a:prstGeom>
          <a:solidFill xmlns:a="http://schemas.openxmlformats.org/drawingml/2006/main">
            <a:srgbClr val="FFFFFF"/>
          </a:solidFill>
          <a:ln xmlns:a="http://schemas.openxmlformats.org/drawingml/2006/main" w="9525">
            <a:solidFill>
              <a:srgbClr val="CAD4D8"/>
            </a:solidFill>
            <a:prstDash val="solid"/>
          </a:ln>
        </p:spPr>
        <p:txBody>
          <a:bodyPr xmlns:a="http://schemas.openxmlformats.org/drawingml/2006/main"/>
          <a:lstStyle xmlns:a="http://schemas.openxmlformats.org/drawingml/2006/main"/>
          <a:p xmlns:a="http://schemas.openxmlformats.org/drawingml/2006/main">
            <a:pPr algn="ctr">
              <a:defRPr sz="1200" b="1">
                <a:solidFill>
                  <a:srgbClr val="17232B"/>
                </a:solidFill>
              </a:defRPr>
            </a:pPr>
            <a:r>
              <a:rPr sz="1200" b="1">
                <a:solidFill>
                  <a:srgbClr val="17232B"/>
                </a:solidFill>
              </a:rPr>
              <a:t>EVIDENCE</a:t>
            </a:r>
          </a:p>
        </p:txBody>
      </p:sp>
      <p:sp>
        <p:nvSpPr>
          <p:cNvPr id="14" name="">
            <a:extLst xmlns:a="http://schemas.openxmlformats.org/drawingml/2006/main">
              <a:ext uri="{FF2B5EF4-FFF2-40B4-BE49-F238E27FC236}">
                <a16:creationId xmlns:a16="http://schemas.microsoft.com/office/drawing/2014/main" id="{7436FA93-37C6-4782-A3BE-5E67A6015B3C}"/>
              </a:ext>
            </a:extLst>
          </p:cNvPr>
          <p:cNvSpPr>
            <a:spLocks xmlns:a="http://schemas.openxmlformats.org/drawingml/2006/main" noGrp="1"/>
          </p:cNvSpPr>
          <p:nvPr/>
        </p:nvSpPr>
        <p:spPr>
          <a:xfrm xmlns:a="http://schemas.openxmlformats.org/drawingml/2006/main">
            <a:off x="4114800" y="2076450"/>
            <a:ext cx="1333500" cy="838200"/>
          </a:xfrm>
          <a:prstGeom xmlns:a="http://schemas.openxmlformats.org/drawingml/2006/main" prst="roundRect">
            <a:avLst>
              <a:gd name="adj" fmla="val 9091"/>
            </a:avLst>
          </a:prstGeom>
          <a:solidFill xmlns:a="http://schemas.openxmlformats.org/drawingml/2006/main">
            <a:srgbClr val="FFFFFF"/>
          </a:solidFill>
          <a:ln xmlns:a="http://schemas.openxmlformats.org/drawingml/2006/main" w="9525">
            <a:solidFill>
              <a:srgbClr val="CAD4D8"/>
            </a:solidFill>
            <a:prstDash val="solid"/>
          </a:ln>
        </p:spPr>
        <p:txBody>
          <a:bodyPr xmlns:a="http://schemas.openxmlformats.org/drawingml/2006/main"/>
          <a:lstStyle xmlns:a="http://schemas.openxmlformats.org/drawingml/2006/main"/>
          <a:p xmlns:a="http://schemas.openxmlformats.org/drawingml/2006/main">
            <a:pPr algn="ctr">
              <a:defRPr sz="1200" b="1">
                <a:solidFill>
                  <a:srgbClr val="17232B"/>
                </a:solidFill>
              </a:defRPr>
            </a:pPr>
            <a:r>
              <a:rPr sz="1200" b="1">
                <a:solidFill>
                  <a:srgbClr val="17232B"/>
                </a:solidFill>
              </a:rPr>
              <a:t>REASONING</a:t>
            </a:r>
          </a:p>
        </p:txBody>
      </p:sp>
      <p:sp>
        <p:nvSpPr>
          <p:cNvPr id="15" name="">
            <a:extLst xmlns:a="http://schemas.openxmlformats.org/drawingml/2006/main">
              <a:ext uri="{FF2B5EF4-FFF2-40B4-BE49-F238E27FC236}">
                <a16:creationId xmlns:a16="http://schemas.microsoft.com/office/drawing/2014/main" id="{A55927E1-9C7F-4C72-8CDD-9D3CA625D243}"/>
              </a:ext>
            </a:extLst>
          </p:cNvPr>
          <p:cNvSpPr>
            <a:spLocks xmlns:a="http://schemas.openxmlformats.org/drawingml/2006/main" noGrp="1"/>
          </p:cNvSpPr>
          <p:nvPr/>
        </p:nvSpPr>
        <p:spPr>
          <a:xfrm xmlns:a="http://schemas.openxmlformats.org/drawingml/2006/main">
            <a:off x="685800" y="4762500"/>
            <a:ext cx="4762500" cy="5524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350" b="1">
                <a:solidFill>
                  <a:srgbClr val="184F5E"/>
                </a:solidFill>
              </a:defRPr>
            </a:pPr>
            <a:r>
              <a:rPr sz="1350" b="1">
                <a:solidFill>
                  <a:srgbClr val="184F5E"/>
                </a:solidFill>
              </a:rPr>
              <a:t>NOTICE  The explanation lives in the connection between the selected evidence and the claim.</a:t>
            </a:r>
          </a:p>
        </p:txBody>
      </p:sp>
    </p:spTree>
    <p:extLst>
      <p:ext uri="{BB962C8B-B14F-4D97-AF65-F5344CB8AC3E}">
        <p14:creationId xmlns:p14="http://schemas.microsoft.com/office/powerpoint/2010/main" val="139929125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80F2CDC-9C46-4990-892A-B1051BF4892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937F446-07A8-4D2B-9976-C49A32AA574F}"/>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09  /  REPORT AND SUSTAINABILITY</a:t>
            </a:r>
          </a:p>
        </p:txBody>
      </p:sp>
      <p:sp>
        <p:nvSpPr>
          <p:cNvPr id="3" name="">
            <a:extLst xmlns:a="http://schemas.openxmlformats.org/drawingml/2006/main">
              <a:ext uri="{FF2B5EF4-FFF2-40B4-BE49-F238E27FC236}">
                <a16:creationId xmlns:a16="http://schemas.microsoft.com/office/drawing/2014/main" id="{5154A7D0-6A76-4E20-8844-B92B0DE3E571}"/>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Sustainability is a life-cycle judgement</a:t>
            </a:r>
          </a:p>
        </p:txBody>
      </p:sp>
      <p:sp>
        <p:nvSpPr>
          <p:cNvPr id="4" name="">
            <a:extLst xmlns:a="http://schemas.openxmlformats.org/drawingml/2006/main">
              <a:ext uri="{FF2B5EF4-FFF2-40B4-BE49-F238E27FC236}">
                <a16:creationId xmlns:a16="http://schemas.microsoft.com/office/drawing/2014/main" id="{46562E5B-27C3-42E2-95CD-982CBD62DC8C}"/>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ADD2E266-1270-438B-9EBE-F4307A9931A6}"/>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09</a:t>
            </a:r>
          </a:p>
        </p:txBody>
      </p:sp>
      <p:sp>
        <p:nvSpPr>
          <p:cNvPr id="6" name="">
            <a:extLst xmlns:a="http://schemas.openxmlformats.org/drawingml/2006/main">
              <a:ext uri="{FF2B5EF4-FFF2-40B4-BE49-F238E27FC236}">
                <a16:creationId xmlns:a16="http://schemas.microsoft.com/office/drawing/2014/main" id="{EB29FCDA-20B9-46AB-96AF-F7BFAC2C007B}"/>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05</a:t>
            </a:r>
          </a:p>
        </p:txBody>
      </p:sp>
      <p:sp>
        <p:nvSpPr>
          <p:cNvPr id="7" name="">
            <a:extLst xmlns:a="http://schemas.openxmlformats.org/drawingml/2006/main">
              <a:ext uri="{FF2B5EF4-FFF2-40B4-BE49-F238E27FC236}">
                <a16:creationId xmlns:a16="http://schemas.microsoft.com/office/drawing/2014/main" id="{2DBAFB8D-1243-437F-B47B-AA3D848DCEA1}"/>
              </a:ext>
            </a:extLst>
          </p:cNvPr>
          <p:cNvSpPr>
            <a:spLocks xmlns:a="http://schemas.openxmlformats.org/drawingml/2006/main" noGrp="1"/>
          </p:cNvSpPr>
          <p:nvPr/>
        </p:nvSpPr>
        <p:spPr>
          <a:xfrm xmlns:a="http://schemas.openxmlformats.org/drawingml/2006/main">
            <a:off x="6858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Environmental, social and economic effects interact. Consider sourcing, processing, material efficiency, lifespan, repair, waste, people, access, time and cost. Calling timber natural or recyclable does not prove the whole solution is sustainable; the judgement must match available evidence.</a:t>
            </a:r>
          </a:p>
        </p:txBody>
      </p:sp>
      <p:sp>
        <p:nvSpPr>
          <p:cNvPr id="8" name="">
            <a:extLst xmlns:a="http://schemas.openxmlformats.org/drawingml/2006/main">
              <a:ext uri="{FF2B5EF4-FFF2-40B4-BE49-F238E27FC236}">
                <a16:creationId xmlns:a16="http://schemas.microsoft.com/office/drawing/2014/main" id="{6BC202C9-7794-45B4-B00C-0C7007535F01}"/>
              </a:ext>
            </a:extLst>
          </p:cNvPr>
          <p:cNvSpPr>
            <a:spLocks xmlns:a="http://schemas.openxmlformats.org/drawingml/2006/main" noGrp="1"/>
          </p:cNvSpPr>
          <p:nvPr/>
        </p:nvSpPr>
        <p:spPr>
          <a:xfrm xmlns:a="http://schemas.openxmlformats.org/drawingml/2006/main">
            <a:off x="6858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457E7759-A313-4723-8BCD-A91DA752F786}"/>
              </a:ext>
            </a:extLst>
          </p:cNvPr>
          <p:cNvSpPr>
            <a:spLocks xmlns:a="http://schemas.openxmlformats.org/drawingml/2006/main" noGrp="1"/>
          </p:cNvSpPr>
          <p:nvPr/>
        </p:nvSpPr>
        <p:spPr>
          <a:xfrm xmlns:a="http://schemas.openxmlformats.org/drawingml/2006/main">
            <a:off x="6858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Balance: identify one benefit, one cost or trade-off and one missing piece of life-cycle evidence.</a:t>
            </a:r>
          </a:p>
        </p:txBody>
      </p:sp>
      <p:sp>
        <p:nvSpPr>
          <p:cNvPr id="10" name="">
            <a:extLst xmlns:a="http://schemas.openxmlformats.org/drawingml/2006/main">
              <a:ext uri="{FF2B5EF4-FFF2-40B4-BE49-F238E27FC236}">
                <a16:creationId xmlns:a16="http://schemas.microsoft.com/office/drawing/2014/main" id="{075A1F2D-18DA-4F57-B159-1E9CB287FCE7}"/>
              </a:ext>
            </a:extLst>
          </p:cNvPr>
          <p:cNvSpPr>
            <a:spLocks xmlns:a="http://schemas.openxmlformats.org/drawingml/2006/main" noGrp="1"/>
          </p:cNvSpPr>
          <p:nvPr/>
        </p:nvSpPr>
        <p:spPr>
          <a:xfrm xmlns:a="http://schemas.openxmlformats.org/drawingml/2006/main">
            <a:off x="7277100" y="3105150"/>
            <a:ext cx="2590800" cy="647700"/>
          </a:xfrm>
          <a:prstGeom xmlns:a="http://schemas.openxmlformats.org/drawingml/2006/main" prst="rect">
            <a:avLst/>
          </a:prstGeom>
          <a:solidFill xmlns:a="http://schemas.openxmlformats.org/drawingml/2006/main">
            <a:srgbClr val="E7EEF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BF53DD1-C5D9-4B33-94ED-0FCFB4D6B5A0}"/>
              </a:ext>
            </a:extLst>
          </p:cNvPr>
          <p:cNvSpPr>
            <a:spLocks xmlns:a="http://schemas.openxmlformats.org/drawingml/2006/main" noGrp="1"/>
          </p:cNvSpPr>
          <p:nvPr/>
        </p:nvSpPr>
        <p:spPr>
          <a:xfrm xmlns:a="http://schemas.openxmlformats.org/drawingml/2006/main">
            <a:off x="7419975" y="3295650"/>
            <a:ext cx="2305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7232B"/>
                </a:solidFill>
              </a:defRPr>
            </a:pPr>
            <a:r>
              <a:rPr sz="1500" b="1">
                <a:solidFill>
                  <a:srgbClr val="17232B"/>
                </a:solidFill>
              </a:rPr>
              <a:t>ECONOMIC</a:t>
            </a:r>
          </a:p>
        </p:txBody>
      </p:sp>
      <p:sp>
        <p:nvSpPr>
          <p:cNvPr id="12" name="">
            <a:extLst xmlns:a="http://schemas.openxmlformats.org/drawingml/2006/main">
              <a:ext uri="{FF2B5EF4-FFF2-40B4-BE49-F238E27FC236}">
                <a16:creationId xmlns:a16="http://schemas.microsoft.com/office/drawing/2014/main" id="{EBD3DB94-B57B-4DD9-A173-63BA7E6286DE}"/>
              </a:ext>
            </a:extLst>
          </p:cNvPr>
          <p:cNvSpPr>
            <a:spLocks xmlns:a="http://schemas.openxmlformats.org/drawingml/2006/main" noGrp="1"/>
          </p:cNvSpPr>
          <p:nvPr/>
        </p:nvSpPr>
        <p:spPr>
          <a:xfrm xmlns:a="http://schemas.openxmlformats.org/drawingml/2006/main">
            <a:off x="6877050" y="2438400"/>
            <a:ext cx="3390900" cy="647700"/>
          </a:xfrm>
          <a:prstGeom xmlns:a="http://schemas.openxmlformats.org/drawingml/2006/main" prst="rect">
            <a:avLst/>
          </a:prstGeom>
          <a:solidFill xmlns:a="http://schemas.openxmlformats.org/drawingml/2006/main">
            <a:srgbClr val="184F5E"/>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454160B-D4C6-480E-8DB8-645E0BC65894}"/>
              </a:ext>
            </a:extLst>
          </p:cNvPr>
          <p:cNvSpPr>
            <a:spLocks xmlns:a="http://schemas.openxmlformats.org/drawingml/2006/main" noGrp="1"/>
          </p:cNvSpPr>
          <p:nvPr/>
        </p:nvSpPr>
        <p:spPr>
          <a:xfrm xmlns:a="http://schemas.openxmlformats.org/drawingml/2006/main">
            <a:off x="7019925" y="2628900"/>
            <a:ext cx="3105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FFFFFF"/>
                </a:solidFill>
              </a:defRPr>
            </a:pPr>
            <a:r>
              <a:rPr sz="1500" b="1">
                <a:solidFill>
                  <a:srgbClr val="FFFFFF"/>
                </a:solidFill>
              </a:rPr>
              <a:t>SOCIAL</a:t>
            </a:r>
          </a:p>
        </p:txBody>
      </p:sp>
      <p:sp>
        <p:nvSpPr>
          <p:cNvPr id="14" name="">
            <a:extLst xmlns:a="http://schemas.openxmlformats.org/drawingml/2006/main">
              <a:ext uri="{FF2B5EF4-FFF2-40B4-BE49-F238E27FC236}">
                <a16:creationId xmlns:a16="http://schemas.microsoft.com/office/drawing/2014/main" id="{4E751406-66E0-48E0-B30A-DFF422F4D66D}"/>
              </a:ext>
            </a:extLst>
          </p:cNvPr>
          <p:cNvSpPr>
            <a:spLocks xmlns:a="http://schemas.openxmlformats.org/drawingml/2006/main" noGrp="1"/>
          </p:cNvSpPr>
          <p:nvPr/>
        </p:nvSpPr>
        <p:spPr>
          <a:xfrm xmlns:a="http://schemas.openxmlformats.org/drawingml/2006/main">
            <a:off x="6477000" y="1771650"/>
            <a:ext cx="4191000" cy="647700"/>
          </a:xfrm>
          <a:prstGeom xmlns:a="http://schemas.openxmlformats.org/drawingml/2006/main" prst="rect">
            <a:avLst/>
          </a:prstGeom>
          <a:solidFill xmlns:a="http://schemas.openxmlformats.org/drawingml/2006/main">
            <a:srgbClr val="0B354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0F92FDB7-D0B9-43D4-B99B-07D652A52056}"/>
              </a:ext>
            </a:extLst>
          </p:cNvPr>
          <p:cNvSpPr>
            <a:spLocks xmlns:a="http://schemas.openxmlformats.org/drawingml/2006/main" noGrp="1"/>
          </p:cNvSpPr>
          <p:nvPr/>
        </p:nvSpPr>
        <p:spPr>
          <a:xfrm xmlns:a="http://schemas.openxmlformats.org/drawingml/2006/main">
            <a:off x="6619875" y="1962150"/>
            <a:ext cx="3905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FFFFFF"/>
                </a:solidFill>
              </a:defRPr>
            </a:pPr>
            <a:r>
              <a:rPr sz="1500" b="1">
                <a:solidFill>
                  <a:srgbClr val="FFFFFF"/>
                </a:solidFill>
              </a:rPr>
              <a:t>ENVIRONMENTAL</a:t>
            </a:r>
          </a:p>
        </p:txBody>
      </p:sp>
      <p:sp>
        <p:nvSpPr>
          <p:cNvPr id="16" name="">
            <a:extLst xmlns:a="http://schemas.openxmlformats.org/drawingml/2006/main">
              <a:ext uri="{FF2B5EF4-FFF2-40B4-BE49-F238E27FC236}">
                <a16:creationId xmlns:a16="http://schemas.microsoft.com/office/drawing/2014/main" id="{76CDB4E0-6995-4ACF-B811-764DB7720F4D}"/>
              </a:ext>
            </a:extLst>
          </p:cNvPr>
          <p:cNvSpPr>
            <a:spLocks xmlns:a="http://schemas.openxmlformats.org/drawingml/2006/main" noGrp="1"/>
          </p:cNvSpPr>
          <p:nvPr/>
        </p:nvSpPr>
        <p:spPr>
          <a:xfrm xmlns:a="http://schemas.openxmlformats.org/drawingml/2006/main">
            <a:off x="6191250" y="4762500"/>
            <a:ext cx="4762500" cy="5524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350" b="1">
                <a:solidFill>
                  <a:srgbClr val="184F5E"/>
                </a:solidFill>
              </a:defRPr>
            </a:pPr>
            <a:r>
              <a:rPr sz="1350" b="1">
                <a:solidFill>
                  <a:srgbClr val="184F5E"/>
                </a:solidFill>
              </a:rPr>
              <a:t>NOTICE  A defensible judgement considers interactions and avoids unsupported green claims.</a:t>
            </a:r>
          </a:p>
        </p:txBody>
      </p:sp>
    </p:spTree>
    <p:extLst>
      <p:ext uri="{BB962C8B-B14F-4D97-AF65-F5344CB8AC3E}">
        <p14:creationId xmlns:p14="http://schemas.microsoft.com/office/powerpoint/2010/main" val="456028666"/>
      </p:ext>
    </p:extLst>
  </p:cSld>
</p:sld>
</file>

<file path=ppt/slides/slide6.xml><?xml version="1.0" encoding="utf-8"?>
<p:sld xmlns:p="http://schemas.openxmlformats.org/presentationml/2006/main">
  <p:cSld>
    <p:bg>
      <p:bgPr>
        <a:solidFill xmlns:a="http://schemas.openxmlformats.org/drawingml/2006/main">
          <a:srgbClr val="0B3541"/>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81F66CE-7A13-419C-B7D8-1EBA4A65522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A8B16E8-02BB-46A5-8C5C-CAE06C4BFE07}"/>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F0B84B"/>
                </a:solidFill>
              </a:defRPr>
            </a:pPr>
            <a:r>
              <a:rPr sz="1050" b="1">
                <a:solidFill>
                  <a:srgbClr val="F0B84B"/>
                </a:solidFill>
              </a:rPr>
              <a:t>MODULE 09  /  REPORT AND SUSTAINABILITY</a:t>
            </a:r>
          </a:p>
        </p:txBody>
      </p:sp>
      <p:sp>
        <p:nvSpPr>
          <p:cNvPr id="3" name="">
            <a:extLst xmlns:a="http://schemas.openxmlformats.org/drawingml/2006/main">
              <a:ext uri="{FF2B5EF4-FFF2-40B4-BE49-F238E27FC236}">
                <a16:creationId xmlns:a16="http://schemas.microsoft.com/office/drawing/2014/main" id="{35D0EC46-0C21-4FD5-9474-E39AFA4D7134}"/>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FFFFFF"/>
                </a:solidFill>
              </a:defRPr>
            </a:pPr>
            <a:r>
              <a:rPr sz="2850" b="1">
                <a:solidFill>
                  <a:srgbClr val="FFFFFF"/>
                </a:solidFill>
              </a:rPr>
              <a:t>Stop. Think. Explain.</a:t>
            </a:r>
          </a:p>
        </p:txBody>
      </p:sp>
      <p:sp>
        <p:nvSpPr>
          <p:cNvPr id="4" name="">
            <a:extLst xmlns:a="http://schemas.openxmlformats.org/drawingml/2006/main">
              <a:ext uri="{FF2B5EF4-FFF2-40B4-BE49-F238E27FC236}">
                <a16:creationId xmlns:a16="http://schemas.microsoft.com/office/drawing/2014/main" id="{10B40780-2EAB-4B73-80B3-B093351B1FD2}"/>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FFFFFF">
                <a:alpha val="33333"/>
              </a:srgbClr>
            </a:solidFill>
            <a:prstDash val="solid"/>
          </a:ln>
        </p:spPr>
      </p:sp>
      <p:sp>
        <p:nvSpPr>
          <p:cNvPr id="5" name="">
            <a:extLst xmlns:a="http://schemas.openxmlformats.org/drawingml/2006/main">
              <a:ext uri="{FF2B5EF4-FFF2-40B4-BE49-F238E27FC236}">
                <a16:creationId xmlns:a16="http://schemas.microsoft.com/office/drawing/2014/main" id="{2079FD93-2C0B-45AD-8C28-9035B875B879}"/>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7E5E8"/>
                </a:solidFill>
              </a:defRPr>
            </a:pPr>
            <a:r>
              <a:rPr sz="975" b="1">
                <a:solidFill>
                  <a:srgbClr val="D7E5E8"/>
                </a:solidFill>
              </a:rPr>
              <a:t>YEAR 8 CATAPULT  •  MODULE 09</a:t>
            </a:r>
          </a:p>
        </p:txBody>
      </p:sp>
      <p:sp>
        <p:nvSpPr>
          <p:cNvPr id="6" name="">
            <a:extLst xmlns:a="http://schemas.openxmlformats.org/drawingml/2006/main">
              <a:ext uri="{FF2B5EF4-FFF2-40B4-BE49-F238E27FC236}">
                <a16:creationId xmlns:a16="http://schemas.microsoft.com/office/drawing/2014/main" id="{9BA8AABE-DE55-4B5B-97DB-77F6D62A3197}"/>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F0B84B"/>
                </a:solidFill>
              </a:defRPr>
            </a:pPr>
            <a:r>
              <a:rPr sz="975" b="1">
                <a:solidFill>
                  <a:srgbClr val="F0B84B"/>
                </a:solidFill>
              </a:rPr>
              <a:t>06</a:t>
            </a:r>
          </a:p>
        </p:txBody>
      </p:sp>
      <p:sp>
        <p:nvSpPr>
          <p:cNvPr id="7" name="">
            <a:extLst xmlns:a="http://schemas.openxmlformats.org/drawingml/2006/main">
              <a:ext uri="{FF2B5EF4-FFF2-40B4-BE49-F238E27FC236}">
                <a16:creationId xmlns:a16="http://schemas.microsoft.com/office/drawing/2014/main" id="{02486D72-C459-4BBC-94E5-6CEB41064A7D}"/>
              </a:ext>
            </a:extLst>
          </p:cNvPr>
          <p:cNvSpPr>
            <a:spLocks xmlns:a="http://schemas.openxmlformats.org/drawingml/2006/main" noGrp="1"/>
          </p:cNvSpPr>
          <p:nvPr/>
        </p:nvSpPr>
        <p:spPr>
          <a:xfrm xmlns:a="http://schemas.openxmlformats.org/drawingml/2006/main">
            <a:off x="685800" y="1219200"/>
            <a:ext cx="981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D7E5E8"/>
                </a:solidFill>
              </a:defRPr>
            </a:pPr>
            <a:r>
              <a:rPr sz="1500" b="0">
                <a:solidFill>
                  <a:srgbClr val="D7E5E8"/>
                </a:solidFill>
              </a:rPr>
              <a:t>Answer silently first. Then justify one answer with a partner.</a:t>
            </a:r>
          </a:p>
        </p:txBody>
      </p:sp>
      <p:sp>
        <p:nvSpPr>
          <p:cNvPr id="8" name="">
            <a:extLst xmlns:a="http://schemas.openxmlformats.org/drawingml/2006/main">
              <a:ext uri="{FF2B5EF4-FFF2-40B4-BE49-F238E27FC236}">
                <a16:creationId xmlns:a16="http://schemas.microsoft.com/office/drawing/2014/main" id="{B917498B-776F-41CA-8070-ABBE97AB65EE}"/>
              </a:ext>
            </a:extLst>
          </p:cNvPr>
          <p:cNvSpPr>
            <a:spLocks xmlns:a="http://schemas.openxmlformats.org/drawingml/2006/main" noGrp="1"/>
          </p:cNvSpPr>
          <p:nvPr/>
        </p:nvSpPr>
        <p:spPr>
          <a:xfrm xmlns:a="http://schemas.openxmlformats.org/drawingml/2006/main">
            <a:off x="781050" y="1933575"/>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1</a:t>
            </a:r>
          </a:p>
        </p:txBody>
      </p:sp>
      <p:sp>
        <p:nvSpPr>
          <p:cNvPr id="9" name="">
            <a:extLst xmlns:a="http://schemas.openxmlformats.org/drawingml/2006/main">
              <a:ext uri="{FF2B5EF4-FFF2-40B4-BE49-F238E27FC236}">
                <a16:creationId xmlns:a16="http://schemas.microsoft.com/office/drawing/2014/main" id="{683EF863-F358-4858-A614-127512C85AB2}"/>
              </a:ext>
            </a:extLst>
          </p:cNvPr>
          <p:cNvSpPr>
            <a:spLocks xmlns:a="http://schemas.openxmlformats.org/drawingml/2006/main" noGrp="1"/>
          </p:cNvSpPr>
          <p:nvPr/>
        </p:nvSpPr>
        <p:spPr>
          <a:xfrm xmlns:a="http://schemas.openxmlformats.org/drawingml/2006/main">
            <a:off x="1485900" y="1847850"/>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should a conclusion answer?</a:t>
            </a:r>
          </a:p>
        </p:txBody>
      </p:sp>
      <p:sp>
        <p:nvSpPr>
          <p:cNvPr id="10" name="">
            <a:extLst xmlns:a="http://schemas.openxmlformats.org/drawingml/2006/main">
              <a:ext uri="{FF2B5EF4-FFF2-40B4-BE49-F238E27FC236}">
                <a16:creationId xmlns:a16="http://schemas.microsoft.com/office/drawing/2014/main" id="{522AE3D0-52BC-4E62-9B0A-9D5A45261844}"/>
              </a:ext>
            </a:extLst>
          </p:cNvPr>
          <p:cNvSpPr>
            <a:spLocks xmlns:a="http://schemas.openxmlformats.org/drawingml/2006/main" noGrp="1"/>
          </p:cNvSpPr>
          <p:nvPr/>
        </p:nvSpPr>
        <p:spPr>
          <a:xfrm xmlns:a="http://schemas.openxmlformats.org/drawingml/2006/main">
            <a:off x="1485900" y="2533650"/>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1" name="">
            <a:extLst xmlns:a="http://schemas.openxmlformats.org/drawingml/2006/main">
              <a:ext uri="{FF2B5EF4-FFF2-40B4-BE49-F238E27FC236}">
                <a16:creationId xmlns:a16="http://schemas.microsoft.com/office/drawing/2014/main" id="{E070A186-F56A-46C4-A78E-AE3886AD0BBF}"/>
              </a:ext>
            </a:extLst>
          </p:cNvPr>
          <p:cNvSpPr>
            <a:spLocks xmlns:a="http://schemas.openxmlformats.org/drawingml/2006/main" noGrp="1"/>
          </p:cNvSpPr>
          <p:nvPr/>
        </p:nvSpPr>
        <p:spPr>
          <a:xfrm xmlns:a="http://schemas.openxmlformats.org/drawingml/2006/main">
            <a:off x="781050" y="2914650"/>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2</a:t>
            </a:r>
          </a:p>
        </p:txBody>
      </p:sp>
      <p:sp>
        <p:nvSpPr>
          <p:cNvPr id="12" name="">
            <a:extLst xmlns:a="http://schemas.openxmlformats.org/drawingml/2006/main">
              <a:ext uri="{FF2B5EF4-FFF2-40B4-BE49-F238E27FC236}">
                <a16:creationId xmlns:a16="http://schemas.microsoft.com/office/drawing/2014/main" id="{D0B21974-BA2C-4480-A6FE-987BA9C6633C}"/>
              </a:ext>
            </a:extLst>
          </p:cNvPr>
          <p:cNvSpPr>
            <a:spLocks xmlns:a="http://schemas.openxmlformats.org/drawingml/2006/main" noGrp="1"/>
          </p:cNvSpPr>
          <p:nvPr/>
        </p:nvSpPr>
        <p:spPr>
          <a:xfrm xmlns:a="http://schemas.openxmlformats.org/drawingml/2006/main">
            <a:off x="1485900" y="2828925"/>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How is evidence different from reasoning?</a:t>
            </a:r>
          </a:p>
        </p:txBody>
      </p:sp>
      <p:sp>
        <p:nvSpPr>
          <p:cNvPr id="13" name="">
            <a:extLst xmlns:a="http://schemas.openxmlformats.org/drawingml/2006/main">
              <a:ext uri="{FF2B5EF4-FFF2-40B4-BE49-F238E27FC236}">
                <a16:creationId xmlns:a16="http://schemas.microsoft.com/office/drawing/2014/main" id="{8F163351-13EF-4F5A-A430-2C8FF073C2E9}"/>
              </a:ext>
            </a:extLst>
          </p:cNvPr>
          <p:cNvSpPr>
            <a:spLocks xmlns:a="http://schemas.openxmlformats.org/drawingml/2006/main" noGrp="1"/>
          </p:cNvSpPr>
          <p:nvPr/>
        </p:nvSpPr>
        <p:spPr>
          <a:xfrm xmlns:a="http://schemas.openxmlformats.org/drawingml/2006/main">
            <a:off x="1485900" y="3514725"/>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4" name="">
            <a:extLst xmlns:a="http://schemas.openxmlformats.org/drawingml/2006/main">
              <a:ext uri="{FF2B5EF4-FFF2-40B4-BE49-F238E27FC236}">
                <a16:creationId xmlns:a16="http://schemas.microsoft.com/office/drawing/2014/main" id="{D570915A-A457-4714-A704-E78B0ADA0AF9}"/>
              </a:ext>
            </a:extLst>
          </p:cNvPr>
          <p:cNvSpPr>
            <a:spLocks xmlns:a="http://schemas.openxmlformats.org/drawingml/2006/main" noGrp="1"/>
          </p:cNvSpPr>
          <p:nvPr/>
        </p:nvSpPr>
        <p:spPr>
          <a:xfrm xmlns:a="http://schemas.openxmlformats.org/drawingml/2006/main">
            <a:off x="781050" y="3895725"/>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3</a:t>
            </a:r>
          </a:p>
        </p:txBody>
      </p:sp>
      <p:sp>
        <p:nvSpPr>
          <p:cNvPr id="15" name="">
            <a:extLst xmlns:a="http://schemas.openxmlformats.org/drawingml/2006/main">
              <a:ext uri="{FF2B5EF4-FFF2-40B4-BE49-F238E27FC236}">
                <a16:creationId xmlns:a16="http://schemas.microsoft.com/office/drawing/2014/main" id="{45F709FE-71AA-489C-AB0F-31987625A33C}"/>
              </a:ext>
            </a:extLst>
          </p:cNvPr>
          <p:cNvSpPr>
            <a:spLocks xmlns:a="http://schemas.openxmlformats.org/drawingml/2006/main" noGrp="1"/>
          </p:cNvSpPr>
          <p:nvPr/>
        </p:nvSpPr>
        <p:spPr>
          <a:xfrm xmlns:a="http://schemas.openxmlformats.org/drawingml/2006/main">
            <a:off x="1485900" y="3810000"/>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Why are selected, labelled photos stronger than a large folder?</a:t>
            </a:r>
          </a:p>
        </p:txBody>
      </p:sp>
      <p:sp>
        <p:nvSpPr>
          <p:cNvPr id="16" name="">
            <a:extLst xmlns:a="http://schemas.openxmlformats.org/drawingml/2006/main">
              <a:ext uri="{FF2B5EF4-FFF2-40B4-BE49-F238E27FC236}">
                <a16:creationId xmlns:a16="http://schemas.microsoft.com/office/drawing/2014/main" id="{0C19F69F-6BD1-40E4-B89D-F177AA988304}"/>
              </a:ext>
            </a:extLst>
          </p:cNvPr>
          <p:cNvSpPr>
            <a:spLocks xmlns:a="http://schemas.openxmlformats.org/drawingml/2006/main" noGrp="1"/>
          </p:cNvSpPr>
          <p:nvPr/>
        </p:nvSpPr>
        <p:spPr>
          <a:xfrm xmlns:a="http://schemas.openxmlformats.org/drawingml/2006/main">
            <a:off x="1485900" y="4495800"/>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7" name="">
            <a:extLst xmlns:a="http://schemas.openxmlformats.org/drawingml/2006/main">
              <a:ext uri="{FF2B5EF4-FFF2-40B4-BE49-F238E27FC236}">
                <a16:creationId xmlns:a16="http://schemas.microsoft.com/office/drawing/2014/main" id="{8479FB21-0FF5-40B6-8E2C-3D99BF906ABC}"/>
              </a:ext>
            </a:extLst>
          </p:cNvPr>
          <p:cNvSpPr>
            <a:spLocks xmlns:a="http://schemas.openxmlformats.org/drawingml/2006/main" noGrp="1"/>
          </p:cNvSpPr>
          <p:nvPr/>
        </p:nvSpPr>
        <p:spPr>
          <a:xfrm xmlns:a="http://schemas.openxmlformats.org/drawingml/2006/main">
            <a:off x="781050" y="4876800"/>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4</a:t>
            </a:r>
          </a:p>
        </p:txBody>
      </p:sp>
      <p:sp>
        <p:nvSpPr>
          <p:cNvPr id="18" name="">
            <a:extLst xmlns:a="http://schemas.openxmlformats.org/drawingml/2006/main">
              <a:ext uri="{FF2B5EF4-FFF2-40B4-BE49-F238E27FC236}">
                <a16:creationId xmlns:a16="http://schemas.microsoft.com/office/drawing/2014/main" id="{DBDEF52F-2A2F-4669-AA2B-C1ABC329DD33}"/>
              </a:ext>
            </a:extLst>
          </p:cNvPr>
          <p:cNvSpPr>
            <a:spLocks xmlns:a="http://schemas.openxmlformats.org/drawingml/2006/main" noGrp="1"/>
          </p:cNvSpPr>
          <p:nvPr/>
        </p:nvSpPr>
        <p:spPr>
          <a:xfrm xmlns:a="http://schemas.openxmlformats.org/drawingml/2006/main">
            <a:off x="1485900" y="4791075"/>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Why is ‘natural’ not enough to prove sustainability?</a:t>
            </a:r>
          </a:p>
        </p:txBody>
      </p:sp>
    </p:spTree>
    <p:extLst>
      <p:ext uri="{BB962C8B-B14F-4D97-AF65-F5344CB8AC3E}">
        <p14:creationId xmlns:p14="http://schemas.microsoft.com/office/powerpoint/2010/main" val="1822499400"/>
      </p:ext>
    </p:extLst>
  </p:cSld>
</p:sld>
</file>

<file path=ppt/slides/slide7.xml><?xml version="1.0" encoding="utf-8"?>
<p:sld xmlns:p="http://schemas.openxmlformats.org/presentationml/2006/main">
  <p:cSld>
    <p:bg>
      <p:bgPr>
        <a:solidFill xmlns:a="http://schemas.openxmlformats.org/drawingml/2006/main">
          <a:srgbClr val="FFFAF0"/>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1834238-3DCD-46CA-82C7-CCA6D9DA375F}"/>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3AFE3C2-420D-4CFE-A537-4376BDF2F8F1}"/>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09  /  REPORT AND SUSTAINABILITY</a:t>
            </a:r>
          </a:p>
        </p:txBody>
      </p:sp>
      <p:sp>
        <p:nvSpPr>
          <p:cNvPr id="3" name="">
            <a:extLst xmlns:a="http://schemas.openxmlformats.org/drawingml/2006/main">
              <a:ext uri="{FF2B5EF4-FFF2-40B4-BE49-F238E27FC236}">
                <a16:creationId xmlns:a16="http://schemas.microsoft.com/office/drawing/2014/main" id="{D76EE1CF-17AC-495C-9575-D9A55EAFDB9F}"/>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Build the evidence, not just an answer</a:t>
            </a:r>
          </a:p>
        </p:txBody>
      </p:sp>
      <p:sp>
        <p:nvSpPr>
          <p:cNvPr id="4" name="">
            <a:extLst xmlns:a="http://schemas.openxmlformats.org/drawingml/2006/main">
              <a:ext uri="{FF2B5EF4-FFF2-40B4-BE49-F238E27FC236}">
                <a16:creationId xmlns:a16="http://schemas.microsoft.com/office/drawing/2014/main" id="{A3927D65-E776-414B-823A-910FD82A0629}"/>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C58AC0D9-E5E8-48C4-B392-6078F9A05276}"/>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09</a:t>
            </a:r>
          </a:p>
        </p:txBody>
      </p:sp>
      <p:sp>
        <p:nvSpPr>
          <p:cNvPr id="6" name="">
            <a:extLst xmlns:a="http://schemas.openxmlformats.org/drawingml/2006/main">
              <a:ext uri="{FF2B5EF4-FFF2-40B4-BE49-F238E27FC236}">
                <a16:creationId xmlns:a16="http://schemas.microsoft.com/office/drawing/2014/main" id="{8BFA5680-1992-47EC-916C-56DB18E544AF}"/>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07</a:t>
            </a:r>
          </a:p>
        </p:txBody>
      </p:sp>
      <p:sp>
        <p:nvSpPr>
          <p:cNvPr id="7" name="">
            <a:extLst xmlns:a="http://schemas.openxmlformats.org/drawingml/2006/main">
              <a:ext uri="{FF2B5EF4-FFF2-40B4-BE49-F238E27FC236}">
                <a16:creationId xmlns:a16="http://schemas.microsoft.com/office/drawing/2014/main" id="{FE8C6639-3AAD-4628-8051-089ED25647CF}"/>
              </a:ext>
            </a:extLst>
          </p:cNvPr>
          <p:cNvSpPr>
            <a:spLocks xmlns:a="http://schemas.openxmlformats.org/drawingml/2006/main" noGrp="1"/>
          </p:cNvSpPr>
          <p:nvPr/>
        </p:nvSpPr>
        <p:spPr>
          <a:xfrm xmlns:a="http://schemas.openxmlformats.org/drawingml/2006/main">
            <a:off x="685800" y="12573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THE QUESTION</a:t>
            </a:r>
          </a:p>
        </p:txBody>
      </p:sp>
      <p:sp>
        <p:nvSpPr>
          <p:cNvPr id="8" name="">
            <a:extLst xmlns:a="http://schemas.openxmlformats.org/drawingml/2006/main">
              <a:ext uri="{FF2B5EF4-FFF2-40B4-BE49-F238E27FC236}">
                <a16:creationId xmlns:a16="http://schemas.microsoft.com/office/drawing/2014/main" id="{1FFCA7D3-57BB-475D-9216-A6BA9A94C0C6}"/>
              </a:ext>
            </a:extLst>
          </p:cNvPr>
          <p:cNvSpPr>
            <a:spLocks xmlns:a="http://schemas.openxmlformats.org/drawingml/2006/main" noGrp="1"/>
          </p:cNvSpPr>
          <p:nvPr/>
        </p:nvSpPr>
        <p:spPr>
          <a:xfrm xmlns:a="http://schemas.openxmlformats.org/drawingml/2006/main">
            <a:off x="685800" y="1581150"/>
            <a:ext cx="108204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17232B"/>
                </a:solidFill>
              </a:defRPr>
            </a:pPr>
            <a:r>
              <a:rPr sz="1800" b="1">
                <a:solidFill>
                  <a:srgbClr val="17232B"/>
                </a:solidFill>
              </a:rPr>
              <a:t>A redesign improves consistency but uses more material and production time. Write a balanced judgement across environmental, social and economic effects, then state missing evidence.</a:t>
            </a:r>
          </a:p>
        </p:txBody>
      </p:sp>
      <p:sp>
        <p:nvSpPr>
          <p:cNvPr id="9" name="">
            <a:extLst xmlns:a="http://schemas.openxmlformats.org/drawingml/2006/main">
              <a:ext uri="{FF2B5EF4-FFF2-40B4-BE49-F238E27FC236}">
                <a16:creationId xmlns:a16="http://schemas.microsoft.com/office/drawing/2014/main" id="{36CD5878-5E74-4257-B13D-A4244E2A642E}"/>
              </a:ext>
            </a:extLst>
          </p:cNvPr>
          <p:cNvSpPr>
            <a:spLocks xmlns:a="http://schemas.openxmlformats.org/drawingml/2006/main" noGrp="1"/>
          </p:cNvSpPr>
          <p:nvPr/>
        </p:nvSpPr>
        <p:spPr>
          <a:xfrm xmlns:a="http://schemas.openxmlformats.org/drawingml/2006/main">
            <a:off x="314325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C671705-55B8-45A9-9004-CFA90E4A82F5}"/>
              </a:ext>
            </a:extLst>
          </p:cNvPr>
          <p:cNvSpPr>
            <a:spLocks xmlns:a="http://schemas.openxmlformats.org/drawingml/2006/main" noGrp="1"/>
          </p:cNvSpPr>
          <p:nvPr/>
        </p:nvSpPr>
        <p:spPr>
          <a:xfrm xmlns:a="http://schemas.openxmlformats.org/drawingml/2006/main">
            <a:off x="586740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73BAA58-7731-4783-B160-254D7C2F3AC6}"/>
              </a:ext>
            </a:extLst>
          </p:cNvPr>
          <p:cNvSpPr>
            <a:spLocks xmlns:a="http://schemas.openxmlformats.org/drawingml/2006/main" noGrp="1"/>
          </p:cNvSpPr>
          <p:nvPr/>
        </p:nvSpPr>
        <p:spPr>
          <a:xfrm xmlns:a="http://schemas.openxmlformats.org/drawingml/2006/main">
            <a:off x="859155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883144B-87C0-413A-B60A-2F4EE67CA210}"/>
              </a:ext>
            </a:extLst>
          </p:cNvPr>
          <p:cNvSpPr>
            <a:spLocks xmlns:a="http://schemas.openxmlformats.org/drawingml/2006/main" noGrp="1"/>
          </p:cNvSpPr>
          <p:nvPr/>
        </p:nvSpPr>
        <p:spPr>
          <a:xfrm xmlns:a="http://schemas.openxmlformats.org/drawingml/2006/main">
            <a:off x="68580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84F5E"/>
                </a:solidFill>
              </a:defRPr>
            </a:pPr>
            <a:r>
              <a:rPr sz="1500" b="1">
                <a:solidFill>
                  <a:srgbClr val="184F5E"/>
                </a:solidFill>
              </a:rPr>
              <a:t>READ</a:t>
            </a:r>
          </a:p>
          <a:p xmlns:a="http://schemas.openxmlformats.org/drawingml/2006/main">
            <a:pPr algn="ctr">
              <a:defRPr sz="1500" b="1">
                <a:solidFill>
                  <a:srgbClr val="184F5E"/>
                </a:solidFill>
              </a:defRPr>
            </a:pPr>
            <a:r>
              <a:rPr sz="1500" b="1">
                <a:solidFill>
                  <a:srgbClr val="184F5E"/>
                </a:solidFill>
              </a:rPr>
              <a:t>Underline the decision</a:t>
            </a:r>
          </a:p>
        </p:txBody>
      </p:sp>
      <p:sp>
        <p:nvSpPr>
          <p:cNvPr id="13" name="">
            <a:extLst xmlns:a="http://schemas.openxmlformats.org/drawingml/2006/main">
              <a:ext uri="{FF2B5EF4-FFF2-40B4-BE49-F238E27FC236}">
                <a16:creationId xmlns:a16="http://schemas.microsoft.com/office/drawing/2014/main" id="{237D9FA0-626E-4E0B-9155-B44E23AB3DBE}"/>
              </a:ext>
            </a:extLst>
          </p:cNvPr>
          <p:cNvSpPr>
            <a:spLocks xmlns:a="http://schemas.openxmlformats.org/drawingml/2006/main" noGrp="1"/>
          </p:cNvSpPr>
          <p:nvPr/>
        </p:nvSpPr>
        <p:spPr>
          <a:xfrm xmlns:a="http://schemas.openxmlformats.org/drawingml/2006/main">
            <a:off x="340995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A94424"/>
                </a:solidFill>
              </a:defRPr>
            </a:pPr>
            <a:r>
              <a:rPr sz="1500" b="1">
                <a:solidFill>
                  <a:srgbClr val="A94424"/>
                </a:solidFill>
              </a:rPr>
              <a:t>SELECT</a:t>
            </a:r>
          </a:p>
          <a:p xmlns:a="http://schemas.openxmlformats.org/drawingml/2006/main">
            <a:pPr algn="ctr">
              <a:defRPr sz="1500" b="1">
                <a:solidFill>
                  <a:srgbClr val="A94424"/>
                </a:solidFill>
              </a:defRPr>
            </a:pPr>
            <a:r>
              <a:rPr sz="1500" b="1">
                <a:solidFill>
                  <a:srgbClr val="A94424"/>
                </a:solidFill>
              </a:rPr>
              <a:t>Choose precise evidence</a:t>
            </a:r>
          </a:p>
        </p:txBody>
      </p:sp>
      <p:sp>
        <p:nvSpPr>
          <p:cNvPr id="14" name="">
            <a:extLst xmlns:a="http://schemas.openxmlformats.org/drawingml/2006/main">
              <a:ext uri="{FF2B5EF4-FFF2-40B4-BE49-F238E27FC236}">
                <a16:creationId xmlns:a16="http://schemas.microsoft.com/office/drawing/2014/main" id="{D0F04CDB-E2D8-497F-B038-86C2EB2E7037}"/>
              </a:ext>
            </a:extLst>
          </p:cNvPr>
          <p:cNvSpPr>
            <a:spLocks xmlns:a="http://schemas.openxmlformats.org/drawingml/2006/main" noGrp="1"/>
          </p:cNvSpPr>
          <p:nvPr/>
        </p:nvSpPr>
        <p:spPr>
          <a:xfrm xmlns:a="http://schemas.openxmlformats.org/drawingml/2006/main">
            <a:off x="613410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84F5E"/>
                </a:solidFill>
              </a:defRPr>
            </a:pPr>
            <a:r>
              <a:rPr sz="1500" b="1">
                <a:solidFill>
                  <a:srgbClr val="184F5E"/>
                </a:solidFill>
              </a:rPr>
              <a:t>EXPLAIN</a:t>
            </a:r>
          </a:p>
          <a:p xmlns:a="http://schemas.openxmlformats.org/drawingml/2006/main">
            <a:pPr algn="ctr">
              <a:defRPr sz="1500" b="1">
                <a:solidFill>
                  <a:srgbClr val="184F5E"/>
                </a:solidFill>
              </a:defRPr>
            </a:pPr>
            <a:r>
              <a:rPr sz="1500" b="1">
                <a:solidFill>
                  <a:srgbClr val="184F5E"/>
                </a:solidFill>
              </a:rPr>
              <a:t>Connect with theory</a:t>
            </a:r>
          </a:p>
        </p:txBody>
      </p:sp>
      <p:sp>
        <p:nvSpPr>
          <p:cNvPr id="15" name="">
            <a:extLst xmlns:a="http://schemas.openxmlformats.org/drawingml/2006/main">
              <a:ext uri="{FF2B5EF4-FFF2-40B4-BE49-F238E27FC236}">
                <a16:creationId xmlns:a16="http://schemas.microsoft.com/office/drawing/2014/main" id="{4781890B-A387-41EC-8E7C-9349C1C59930}"/>
              </a:ext>
            </a:extLst>
          </p:cNvPr>
          <p:cNvSpPr>
            <a:spLocks xmlns:a="http://schemas.openxmlformats.org/drawingml/2006/main" noGrp="1"/>
          </p:cNvSpPr>
          <p:nvPr/>
        </p:nvSpPr>
        <p:spPr>
          <a:xfrm xmlns:a="http://schemas.openxmlformats.org/drawingml/2006/main">
            <a:off x="885825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A94424"/>
                </a:solidFill>
              </a:defRPr>
            </a:pPr>
            <a:r>
              <a:rPr sz="1500" b="1">
                <a:solidFill>
                  <a:srgbClr val="A94424"/>
                </a:solidFill>
              </a:rPr>
              <a:t>CHECK</a:t>
            </a:r>
          </a:p>
          <a:p xmlns:a="http://schemas.openxmlformats.org/drawingml/2006/main">
            <a:pPr algn="ctr">
              <a:defRPr sz="1500" b="1">
                <a:solidFill>
                  <a:srgbClr val="A94424"/>
                </a:solidFill>
              </a:defRPr>
            </a:pPr>
            <a:r>
              <a:rPr sz="1500" b="1">
                <a:solidFill>
                  <a:srgbClr val="A94424"/>
                </a:solidFill>
              </a:rPr>
              <a:t>Answer every part</a:t>
            </a:r>
          </a:p>
        </p:txBody>
      </p:sp>
      <p:sp>
        <p:nvSpPr>
          <p:cNvPr id="16" name="">
            <a:extLst xmlns:a="http://schemas.openxmlformats.org/drawingml/2006/main">
              <a:ext uri="{FF2B5EF4-FFF2-40B4-BE49-F238E27FC236}">
                <a16:creationId xmlns:a16="http://schemas.microsoft.com/office/drawing/2014/main" id="{B24BE333-36F2-4053-BFEC-6689FF7711F4}"/>
              </a:ext>
            </a:extLst>
          </p:cNvPr>
          <p:cNvSpPr>
            <a:spLocks xmlns:a="http://schemas.openxmlformats.org/drawingml/2006/main" noGrp="1"/>
          </p:cNvSpPr>
          <p:nvPr/>
        </p:nvSpPr>
        <p:spPr>
          <a:xfrm xmlns:a="http://schemas.openxmlformats.org/drawingml/2006/main">
            <a:off x="685800" y="4476750"/>
            <a:ext cx="10820400" cy="1219200"/>
          </a:xfrm>
          <a:prstGeom xmlns:a="http://schemas.openxmlformats.org/drawingml/2006/main" prst="rect">
            <a:avLst/>
          </a:prstGeom>
          <a:solidFill xmlns:a="http://schemas.openxmlformats.org/drawingml/2006/main">
            <a:srgbClr val="FFFFFF"/>
          </a:solidFill>
          <a:ln xmlns:a="http://schemas.openxmlformats.org/drawingml/2006/main" w="9525">
            <a:solidFill>
              <a:srgbClr val="CAD4D8"/>
            </a:solidFill>
            <a:prstDash val="solid"/>
          </a:ln>
        </p:spPr>
      </p:sp>
      <p:sp>
        <p:nvSpPr>
          <p:cNvPr id="17" name="">
            <a:extLst xmlns:a="http://schemas.openxmlformats.org/drawingml/2006/main">
              <a:ext uri="{FF2B5EF4-FFF2-40B4-BE49-F238E27FC236}">
                <a16:creationId xmlns:a16="http://schemas.microsoft.com/office/drawing/2014/main" id="{4B3D4ED7-0EB5-4230-8C0D-FA6CB5E1116D}"/>
              </a:ext>
            </a:extLst>
          </p:cNvPr>
          <p:cNvSpPr>
            <a:spLocks xmlns:a="http://schemas.openxmlformats.org/drawingml/2006/main" noGrp="1"/>
          </p:cNvSpPr>
          <p:nvPr/>
        </p:nvSpPr>
        <p:spPr>
          <a:xfrm xmlns:a="http://schemas.openxmlformats.org/drawingml/2006/main">
            <a:off x="914400" y="46672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SENTENCE SUPPORT</a:t>
            </a:r>
          </a:p>
        </p:txBody>
      </p:sp>
      <p:sp>
        <p:nvSpPr>
          <p:cNvPr id="18" name="">
            <a:extLst xmlns:a="http://schemas.openxmlformats.org/drawingml/2006/main">
              <a:ext uri="{FF2B5EF4-FFF2-40B4-BE49-F238E27FC236}">
                <a16:creationId xmlns:a16="http://schemas.microsoft.com/office/drawing/2014/main" id="{E5BB4ADF-91D4-44D2-93E2-3C075973D7AB}"/>
              </a:ext>
            </a:extLst>
          </p:cNvPr>
          <p:cNvSpPr>
            <a:spLocks xmlns:a="http://schemas.openxmlformats.org/drawingml/2006/main" noGrp="1"/>
          </p:cNvSpPr>
          <p:nvPr/>
        </p:nvSpPr>
        <p:spPr>
          <a:xfrm xmlns:a="http://schemas.openxmlformats.org/drawingml/2006/main">
            <a:off x="914400" y="5029200"/>
            <a:ext cx="10144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7232B"/>
                </a:solidFill>
              </a:defRPr>
            </a:pPr>
            <a:r>
              <a:rPr sz="1575" b="0">
                <a:solidFill>
                  <a:srgbClr val="17232B"/>
                </a:solidFill>
              </a:rPr>
              <a:t>The redesign improves … Environmentally … Socially … Economically … Overall … This judgement is limited because …</a:t>
            </a:r>
          </a:p>
        </p:txBody>
      </p:sp>
    </p:spTree>
    <p:extLst>
      <p:ext uri="{BB962C8B-B14F-4D97-AF65-F5344CB8AC3E}">
        <p14:creationId xmlns:p14="http://schemas.microsoft.com/office/powerpoint/2010/main" val="810748559"/>
      </p:ext>
    </p:extLst>
  </p:cSld>
</p:sld>
</file>

<file path=ppt/slides/slide8.xml><?xml version="1.0" encoding="utf-8"?>
<p:sld xmlns:p="http://schemas.openxmlformats.org/presentationml/2006/main">
  <p:cSld>
    <p:bg>
      <p:bgPr>
        <a:solidFill xmlns:a="http://schemas.openxmlformats.org/drawingml/2006/main">
          <a:srgbClr val="A9442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C111659-F013-437C-99A6-52DF55183350}"/>
              </a:ext>
            </a:extLst>
          </p:cNvPr>
          <p:cNvSpPr>
            <a:spLocks xmlns:a="http://schemas.openxmlformats.org/drawingml/2006/main" noGrp="1"/>
          </p:cNvSpPr>
          <p:nvPr/>
        </p:nvSpPr>
        <p:spPr>
          <a:xfrm xmlns:a="http://schemas.openxmlformats.org/drawingml/2006/main">
            <a:off x="685800" y="552450"/>
            <a:ext cx="619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BEFORE YOU PACK UP …</a:t>
            </a:r>
          </a:p>
        </p:txBody>
      </p:sp>
      <p:sp>
        <p:nvSpPr>
          <p:cNvPr id="2" name="">
            <a:extLst xmlns:a="http://schemas.openxmlformats.org/drawingml/2006/main">
              <a:ext uri="{FF2B5EF4-FFF2-40B4-BE49-F238E27FC236}">
                <a16:creationId xmlns:a16="http://schemas.microsoft.com/office/drawing/2014/main" id="{D572478A-6415-41A1-BFF5-11ACF23BCC7C}"/>
              </a:ext>
            </a:extLst>
          </p:cNvPr>
          <p:cNvSpPr>
            <a:spLocks xmlns:a="http://schemas.openxmlformats.org/drawingml/2006/main" noGrp="1"/>
          </p:cNvSpPr>
          <p:nvPr/>
        </p:nvSpPr>
        <p:spPr>
          <a:xfrm xmlns:a="http://schemas.openxmlformats.org/drawingml/2006/main">
            <a:off x="685800" y="1066800"/>
            <a:ext cx="8001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150" b="1">
                <a:solidFill>
                  <a:srgbClr val="FFFFFF"/>
                </a:solidFill>
              </a:defRPr>
            </a:pPr>
            <a:r>
              <a:rPr sz="3150" b="1">
                <a:solidFill>
                  <a:srgbClr val="FFFFFF"/>
                </a:solidFill>
              </a:rPr>
              <a:t>Close the design loop</a:t>
            </a:r>
          </a:p>
        </p:txBody>
      </p:sp>
      <p:sp>
        <p:nvSpPr>
          <p:cNvPr id="3" name="">
            <a:extLst xmlns:a="http://schemas.openxmlformats.org/drawingml/2006/main">
              <a:ext uri="{FF2B5EF4-FFF2-40B4-BE49-F238E27FC236}">
                <a16:creationId xmlns:a16="http://schemas.microsoft.com/office/drawing/2014/main" id="{238A48A2-3BDA-4CA7-A158-C54EAE04B54F}"/>
              </a:ext>
            </a:extLst>
          </p:cNvPr>
          <p:cNvSpPr>
            <a:spLocks xmlns:a="http://schemas.openxmlformats.org/drawingml/2006/main" noGrp="1"/>
          </p:cNvSpPr>
          <p:nvPr/>
        </p:nvSpPr>
        <p:spPr>
          <a:xfrm xmlns:a="http://schemas.openxmlformats.org/drawingml/2006/main">
            <a:off x="685800" y="209550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2642E2E-35B1-4B67-8962-E1FD5E94BCF0}"/>
              </a:ext>
            </a:extLst>
          </p:cNvPr>
          <p:cNvSpPr>
            <a:spLocks xmlns:a="http://schemas.openxmlformats.org/drawingml/2006/main" noGrp="1"/>
          </p:cNvSpPr>
          <p:nvPr/>
        </p:nvSpPr>
        <p:spPr>
          <a:xfrm xmlns:a="http://schemas.openxmlformats.org/drawingml/2006/main">
            <a:off x="933450" y="226695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1. One claim I can support …</a:t>
            </a:r>
          </a:p>
        </p:txBody>
      </p:sp>
      <p:sp>
        <p:nvSpPr>
          <p:cNvPr id="5" name="">
            <a:extLst xmlns:a="http://schemas.openxmlformats.org/drawingml/2006/main">
              <a:ext uri="{FF2B5EF4-FFF2-40B4-BE49-F238E27FC236}">
                <a16:creationId xmlns:a16="http://schemas.microsoft.com/office/drawing/2014/main" id="{B8C8E116-27E2-4060-873B-A7F7C641DB0F}"/>
              </a:ext>
            </a:extLst>
          </p:cNvPr>
          <p:cNvSpPr>
            <a:spLocks xmlns:a="http://schemas.openxmlformats.org/drawingml/2006/main" noGrp="1"/>
          </p:cNvSpPr>
          <p:nvPr/>
        </p:nvSpPr>
        <p:spPr>
          <a:xfrm xmlns:a="http://schemas.openxmlformats.org/drawingml/2006/main">
            <a:off x="685800" y="302895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0B49188-E0B8-4A85-8500-3C9CD7467924}"/>
              </a:ext>
            </a:extLst>
          </p:cNvPr>
          <p:cNvSpPr>
            <a:spLocks xmlns:a="http://schemas.openxmlformats.org/drawingml/2006/main" noGrp="1"/>
          </p:cNvSpPr>
          <p:nvPr/>
        </p:nvSpPr>
        <p:spPr>
          <a:xfrm xmlns:a="http://schemas.openxmlformats.org/drawingml/2006/main">
            <a:off x="933450" y="320040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2. One record I can turn into evidence …</a:t>
            </a:r>
          </a:p>
        </p:txBody>
      </p:sp>
      <p:sp>
        <p:nvSpPr>
          <p:cNvPr id="7" name="">
            <a:extLst xmlns:a="http://schemas.openxmlformats.org/drawingml/2006/main">
              <a:ext uri="{FF2B5EF4-FFF2-40B4-BE49-F238E27FC236}">
                <a16:creationId xmlns:a16="http://schemas.microsoft.com/office/drawing/2014/main" id="{12C874FB-4CF1-427E-8769-09725A41D3CC}"/>
              </a:ext>
            </a:extLst>
          </p:cNvPr>
          <p:cNvSpPr>
            <a:spLocks xmlns:a="http://schemas.openxmlformats.org/drawingml/2006/main" noGrp="1"/>
          </p:cNvSpPr>
          <p:nvPr/>
        </p:nvSpPr>
        <p:spPr>
          <a:xfrm xmlns:a="http://schemas.openxmlformats.org/drawingml/2006/main">
            <a:off x="685800" y="396240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5FEDF8F-B22B-48D3-85EC-50E342A14CE7}"/>
              </a:ext>
            </a:extLst>
          </p:cNvPr>
          <p:cNvSpPr>
            <a:spLocks xmlns:a="http://schemas.openxmlformats.org/drawingml/2006/main" noGrp="1"/>
          </p:cNvSpPr>
          <p:nvPr/>
        </p:nvSpPr>
        <p:spPr>
          <a:xfrm xmlns:a="http://schemas.openxmlformats.org/drawingml/2006/main">
            <a:off x="933450" y="413385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3. One sustainability trade-off I can explain …</a:t>
            </a:r>
          </a:p>
        </p:txBody>
      </p:sp>
      <p:sp>
        <p:nvSpPr>
          <p:cNvPr id="9" name="">
            <a:extLst xmlns:a="http://schemas.openxmlformats.org/drawingml/2006/main">
              <a:ext uri="{FF2B5EF4-FFF2-40B4-BE49-F238E27FC236}">
                <a16:creationId xmlns:a16="http://schemas.microsoft.com/office/drawing/2014/main" id="{1CBB2034-1EE1-4C9F-B2C2-ED8F94821A0A}"/>
              </a:ext>
            </a:extLst>
          </p:cNvPr>
          <p:cNvSpPr>
            <a:spLocks xmlns:a="http://schemas.openxmlformats.org/drawingml/2006/main" noGrp="1"/>
          </p:cNvSpPr>
          <p:nvPr/>
        </p:nvSpPr>
        <p:spPr>
          <a:xfrm xmlns:a="http://schemas.openxmlformats.org/drawingml/2006/main">
            <a:off x="9353550" y="2419350"/>
            <a:ext cx="1828800" cy="1828800"/>
          </a:xfrm>
          <a:prstGeom xmlns:a="http://schemas.openxmlformats.org/drawingml/2006/main" prst="ellipse">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965D58B-5175-4369-8EFC-0B17C7F7CD4E}"/>
              </a:ext>
            </a:extLst>
          </p:cNvPr>
          <p:cNvSpPr>
            <a:spLocks xmlns:a="http://schemas.openxmlformats.org/drawingml/2006/main" noGrp="1"/>
          </p:cNvSpPr>
          <p:nvPr/>
        </p:nvSpPr>
        <p:spPr>
          <a:xfrm xmlns:a="http://schemas.openxmlformats.org/drawingml/2006/main">
            <a:off x="9610725" y="2800350"/>
            <a:ext cx="13144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17232B"/>
                </a:solidFill>
              </a:defRPr>
            </a:pPr>
            <a:r>
              <a:rPr sz="1875" b="1">
                <a:solidFill>
                  <a:srgbClr val="17232B"/>
                </a:solidFill>
              </a:rPr>
              <a:t>SAVE</a:t>
            </a:r>
          </a:p>
          <a:p xmlns:a="http://schemas.openxmlformats.org/drawingml/2006/main">
            <a:pPr algn="ctr">
              <a:defRPr sz="1875" b="1">
                <a:solidFill>
                  <a:srgbClr val="17232B"/>
                </a:solidFill>
              </a:defRPr>
            </a:pPr>
            <a:r>
              <a:rPr sz="1875" b="1">
                <a:solidFill>
                  <a:srgbClr val="17232B"/>
                </a:solidFill>
              </a:rPr>
              <a:t>YOUR</a:t>
            </a:r>
          </a:p>
          <a:p xmlns:a="http://schemas.openxmlformats.org/drawingml/2006/main">
            <a:pPr algn="ctr">
              <a:defRPr sz="1875" b="1">
                <a:solidFill>
                  <a:srgbClr val="17232B"/>
                </a:solidFill>
              </a:defRPr>
            </a:pPr>
            <a:r>
              <a:rPr sz="1875" b="1">
                <a:solidFill>
                  <a:srgbClr val="17232B"/>
                </a:solidFill>
              </a:rPr>
              <a:t>EVIDENCE</a:t>
            </a:r>
          </a:p>
        </p:txBody>
      </p:sp>
      <p:sp>
        <p:nvSpPr>
          <p:cNvPr id="11" name="">
            <a:extLst xmlns:a="http://schemas.openxmlformats.org/drawingml/2006/main">
              <a:ext uri="{FF2B5EF4-FFF2-40B4-BE49-F238E27FC236}">
                <a16:creationId xmlns:a16="http://schemas.microsoft.com/office/drawing/2014/main" id="{4FDBDC05-2078-41AA-8072-73581E5B3F0F}"/>
              </a:ext>
            </a:extLst>
          </p:cNvPr>
          <p:cNvSpPr>
            <a:spLocks xmlns:a="http://schemas.openxmlformats.org/drawingml/2006/main" noGrp="1"/>
          </p:cNvSpPr>
          <p:nvPr/>
        </p:nvSpPr>
        <p:spPr>
          <a:xfrm xmlns:a="http://schemas.openxmlformats.org/drawingml/2006/main">
            <a:off x="685800" y="5219700"/>
            <a:ext cx="809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FFFFFF"/>
                </a:solidFill>
              </a:defRPr>
            </a:pPr>
            <a:r>
              <a:rPr sz="1425" b="0">
                <a:solidFill>
                  <a:srgbClr val="FFFFFF"/>
                </a:solidFill>
              </a:rPr>
              <a:t>Evidence destination: your module response and folio where your teacher directs.</a:t>
            </a:r>
          </a:p>
        </p:txBody>
      </p:sp>
      <p:sp>
        <p:nvSpPr>
          <p:cNvPr id="12" name="">
            <a:extLst xmlns:a="http://schemas.openxmlformats.org/drawingml/2006/main">
              <a:ext uri="{FF2B5EF4-FFF2-40B4-BE49-F238E27FC236}">
                <a16:creationId xmlns:a16="http://schemas.microsoft.com/office/drawing/2014/main" id="{CB87344C-08F8-432D-9D13-628F498428DD}"/>
              </a:ext>
            </a:extLst>
          </p:cNvPr>
          <p:cNvSpPr>
            <a:spLocks xmlns:a="http://schemas.openxmlformats.org/drawingml/2006/main" noGrp="1"/>
          </p:cNvSpPr>
          <p:nvPr/>
        </p:nvSpPr>
        <p:spPr>
          <a:xfrm xmlns:a="http://schemas.openxmlformats.org/drawingml/2006/main">
            <a:off x="685800" y="5886450"/>
            <a:ext cx="10572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Next: demonstrate function, evaluate against evidence and connect systems thinking responsibly.</a:t>
            </a:r>
          </a:p>
        </p:txBody>
      </p:sp>
      <p:sp>
        <p:nvSpPr>
          <p:cNvPr id="13" name="">
            <a:extLst xmlns:a="http://schemas.openxmlformats.org/drawingml/2006/main">
              <a:ext uri="{FF2B5EF4-FFF2-40B4-BE49-F238E27FC236}">
                <a16:creationId xmlns:a16="http://schemas.microsoft.com/office/drawing/2014/main" id="{18518B62-70E4-498C-BF2A-26AEEECDDF97}"/>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FFFFFF">
                <a:alpha val="33333"/>
              </a:srgbClr>
            </a:solidFill>
            <a:prstDash val="solid"/>
          </a:ln>
        </p:spPr>
      </p:sp>
      <p:sp>
        <p:nvSpPr>
          <p:cNvPr id="14" name="">
            <a:extLst xmlns:a="http://schemas.openxmlformats.org/drawingml/2006/main">
              <a:ext uri="{FF2B5EF4-FFF2-40B4-BE49-F238E27FC236}">
                <a16:creationId xmlns:a16="http://schemas.microsoft.com/office/drawing/2014/main" id="{8D2260FE-DCAE-4008-9149-1EBE39746895}"/>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7E5E8"/>
                </a:solidFill>
              </a:defRPr>
            </a:pPr>
            <a:r>
              <a:rPr sz="975" b="1">
                <a:solidFill>
                  <a:srgbClr val="D7E5E8"/>
                </a:solidFill>
              </a:rPr>
              <a:t>YEAR 8 CATAPULT  •  MODULE 09</a:t>
            </a:r>
          </a:p>
        </p:txBody>
      </p:sp>
      <p:sp>
        <p:nvSpPr>
          <p:cNvPr id="15" name="">
            <a:extLst xmlns:a="http://schemas.openxmlformats.org/drawingml/2006/main">
              <a:ext uri="{FF2B5EF4-FFF2-40B4-BE49-F238E27FC236}">
                <a16:creationId xmlns:a16="http://schemas.microsoft.com/office/drawing/2014/main" id="{D1F97DC3-A918-4D85-8A70-F1CAFBD20C4C}"/>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F0B84B"/>
                </a:solidFill>
              </a:defRPr>
            </a:pPr>
            <a:r>
              <a:rPr sz="975" b="1">
                <a:solidFill>
                  <a:srgbClr val="F0B84B"/>
                </a:solidFill>
              </a:rPr>
              <a:t>08</a:t>
            </a:r>
          </a:p>
        </p:txBody>
      </p:sp>
    </p:spTree>
    <p:extLst>
      <p:ext uri="{BB962C8B-B14F-4D97-AF65-F5344CB8AC3E}">
        <p14:creationId xmlns:p14="http://schemas.microsoft.com/office/powerpoint/2010/main" val="10751270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2026-08-24T03:19:44.8130000Z</dcterms:created>
  <dcterms:modified xsi:type="dcterms:W3CDTF">2026-08-24T03:19:44.8130000Z</dcterms:modified>
</coreProperties>
</file>