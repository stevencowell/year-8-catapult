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7c40543d38450d" /><Relationship Type="http://schemas.openxmlformats.org/officeDocument/2006/relationships/extended-properties" Target="/docProps/app.xml" Id="R94e52e40fb924789" /><Relationship Type="http://schemas.openxmlformats.org/officeDocument/2006/relationships/officeDocument" Target="/ppt/presentation.xml" Id="Rea776f8af7da4995" /></Relationships>
</file>

<file path=ppt/presentation.xml><?xml version="1.0" encoding="utf-8"?>
<p:presentation xmlns:p="http://schemas.openxmlformats.org/presentationml/2006/main">
  <p:sldMasterIdLst>
    <p:sldMasterId xmlns:r="http://schemas.openxmlformats.org/officeDocument/2006/relationships" id="2147483648" r:id="Rb950ec489a1d49ae"/>
  </p:sldMasterIdLst>
  <p:notesMasterIdLst>
    <p:notesMasterId xmlns:r="http://schemas.openxmlformats.org/officeDocument/2006/relationships" r:id="R0af60070ee2e4168"/>
  </p:notesMasterIdLst>
  <p:sldIdLst>
    <p:sldId xmlns:r="http://schemas.openxmlformats.org/officeDocument/2006/relationships" id="256" r:id="Rdf0f19354429496e"/>
    <p:sldId xmlns:r="http://schemas.openxmlformats.org/officeDocument/2006/relationships" id="257" r:id="Rf8853aaa7a2140cb"/>
    <p:sldId xmlns:r="http://schemas.openxmlformats.org/officeDocument/2006/relationships" id="258" r:id="R4a7dc0db6e00402e"/>
    <p:sldId xmlns:r="http://schemas.openxmlformats.org/officeDocument/2006/relationships" id="259" r:id="Re3f847c883d64069"/>
    <p:sldId xmlns:r="http://schemas.openxmlformats.org/officeDocument/2006/relationships" id="260" r:id="R6a9889c1c928466c"/>
    <p:sldId xmlns:r="http://schemas.openxmlformats.org/officeDocument/2006/relationships" id="261" r:id="R08f6f966eacf48b4"/>
    <p:sldId xmlns:r="http://schemas.openxmlformats.org/officeDocument/2006/relationships" id="262" r:id="R6d2caa525c5b4545"/>
    <p:sldId xmlns:r="http://schemas.openxmlformats.org/officeDocument/2006/relationships" id="263" r:id="R8af5f390274d47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3d0b5ae0e94d9d" /><Relationship Type="http://schemas.openxmlformats.org/officeDocument/2006/relationships/slideMaster" Target="/ppt/slideMasters/slideMaster1.xml" Id="Rb950ec489a1d49ae" /><Relationship Type="http://schemas.openxmlformats.org/officeDocument/2006/relationships/notesMaster" Target="/ppt/notesMasters/notesMaster1.xml" Id="R0af60070ee2e4168" /><Relationship Type="http://schemas.openxmlformats.org/officeDocument/2006/relationships/presProps" Target="/ppt/presProps.xml" Id="Rf8031232ba444515" /><Relationship Type="http://schemas.openxmlformats.org/officeDocument/2006/relationships/tableStyles" Target="/ppt/tableStyles.xml" Id="Ra8da7787bab94f97" /><Relationship Type="http://schemas.openxmlformats.org/officeDocument/2006/relationships/slide" Target="/ppt/slides/slide1.xml" Id="Rdf0f19354429496e" /><Relationship Type="http://schemas.openxmlformats.org/officeDocument/2006/relationships/slide" Target="/ppt/slides/slide2.xml" Id="Rf8853aaa7a2140cb" /><Relationship Type="http://schemas.openxmlformats.org/officeDocument/2006/relationships/slide" Target="/ppt/slides/slide3.xml" Id="R4a7dc0db6e00402e" /><Relationship Type="http://schemas.openxmlformats.org/officeDocument/2006/relationships/slide" Target="/ppt/slides/slide4.xml" Id="Re3f847c883d64069" /><Relationship Type="http://schemas.openxmlformats.org/officeDocument/2006/relationships/slide" Target="/ppt/slides/slide5.xml" Id="R6a9889c1c928466c" /><Relationship Type="http://schemas.openxmlformats.org/officeDocument/2006/relationships/slide" Target="/ppt/slides/slide6.xml" Id="R08f6f966eacf48b4" /><Relationship Type="http://schemas.openxmlformats.org/officeDocument/2006/relationships/slide" Target="/ppt/slides/slide7.xml" Id="R6d2caa525c5b4545" /><Relationship Type="http://schemas.openxmlformats.org/officeDocument/2006/relationships/slide" Target="/ppt/slides/slide8.xml" Id="R8af5f390274d47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c7f53d722d47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898f5beca64af3" /><Relationship Type="http://schemas.openxmlformats.org/officeDocument/2006/relationships/notesMaster" Target="/ppt/notesMasters/notesMaster1.xml" Id="Re0bd452e87e54e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e97877ab73467f" /><Relationship Type="http://schemas.openxmlformats.org/officeDocument/2006/relationships/notesMaster" Target="/ppt/notesMasters/notesMaster1.xml" Id="R8eb8dd9c19f344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29a30a62ae443f" /><Relationship Type="http://schemas.openxmlformats.org/officeDocument/2006/relationships/notesMaster" Target="/ppt/notesMasters/notesMaster1.xml" Id="R2e1f8485e0c54d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ddb62b35ec42a4" /><Relationship Type="http://schemas.openxmlformats.org/officeDocument/2006/relationships/notesMaster" Target="/ppt/notesMasters/notesMaster1.xml" Id="R14fe580b676e4f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62bb94b2a7486d" /><Relationship Type="http://schemas.openxmlformats.org/officeDocument/2006/relationships/notesMaster" Target="/ppt/notesMasters/notesMaster1.xml" Id="R07584b80625b4f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fc53cd514244d6" /><Relationship Type="http://schemas.openxmlformats.org/officeDocument/2006/relationships/notesMaster" Target="/ppt/notesMasters/notesMaster1.xml" Id="Rd03bbf560afd4e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dc3e3fa4804826" /><Relationship Type="http://schemas.openxmlformats.org/officeDocument/2006/relationships/notesMaster" Target="/ppt/notesMasters/notesMaster1.xml" Id="Rff85952224e441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982ab07c0d4fb5" /><Relationship Type="http://schemas.openxmlformats.org/officeDocument/2006/relationships/notesMaster" Target="/ppt/notesMasters/notesMaster1.xml" Id="Rdf387311f95c41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OpenAI image generation for this course, 24 Aug 2026, conceptual only; file: timber-life-cycle-still-life.png.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Why does a limitation strengthen rather than weaken an honest conclusion?</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clear engineering report moves from brief and design decision through production evidence, test method, results, discussion, sustainability and conclusion. The conclusion answers the original problem using the strongest evidence and states limits such as few trials or unresolved variation.</a:t>
            </a:r>
          </a:p>
          <a:p xmlns:a="http://schemas.openxmlformats.org/drawingml/2006/main">
            <a:r>
              <a:t>- Use the visual to emphasise: Trace which record answers each stage and where a limitation would be acknowledged.</a:t>
            </a:r>
          </a:p>
          <a:p xmlns:a="http://schemas.openxmlformats.org/drawingml/2006/main">
            <a:r>
              <a:t/>
            </a:r>
          </a:p>
          <a:p xmlns:a="http://schemas.openxmlformats.org/drawingml/2006/main">
            <a:r>
              <a:t>Prompt</a:t>
            </a:r>
          </a:p>
          <a:p xmlns:a="http://schemas.openxmlformats.org/drawingml/2006/main">
            <a:r>
              <a:t>- Structure: place one existing project record into the report section where it can do the most explanatory work.</a:t>
            </a:r>
          </a:p>
          <a:p xmlns:a="http://schemas.openxmlformats.org/drawingml/2006/main">
            <a:r>
              <a:t/>
            </a:r>
          </a:p>
          <a:p xmlns:a="http://schemas.openxmlformats.org/drawingml/2006/main">
            <a:r>
              <a:t>Likely misconception</a:t>
            </a:r>
          </a:p>
          <a:p xmlns:a="http://schemas.openxmlformats.org/drawingml/2006/main">
            <a:r>
              <a:t>- What should a conclusion answer?</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Teaching visual: assets/visuals/theory/m09-report-evidence-journey.png.</a:t>
            </a:r>
          </a:p>
          <a:p xmlns:a="http://schemas.openxmlformats.org/drawingml/2006/main">
            <a:r>
              <a:t>- OpenAI image generation for this course, 24 Aug 2026; conceptual teaching still life; final prompt: Teacher-created photo-essay desk arranged left to right with brief folder, concept, production photo, blank results sheet, repair item and conclusion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claim is a focused judgement. Evidence is the specific observation, measurement, drawing, photograph or production record that supports it. Reasoning uses engineering knowledge to explain the connection. A folder full of unlabelled photos is not automatically strong evidence.</a:t>
            </a:r>
          </a:p>
          <a:p xmlns:a="http://schemas.openxmlformats.org/drawingml/2006/main">
            <a:r>
              <a:t>- Use the visual to emphasise: Identify the one feature the evidence shows and the idea needed to explain why it matters.</a:t>
            </a:r>
          </a:p>
          <a:p xmlns:a="http://schemas.openxmlformats.org/drawingml/2006/main">
            <a:r>
              <a:t/>
            </a:r>
          </a:p>
          <a:p xmlns:a="http://schemas.openxmlformats.org/drawingml/2006/main">
            <a:r>
              <a:t>Prompt</a:t>
            </a:r>
          </a:p>
          <a:p xmlns:a="http://schemas.openxmlformats.org/drawingml/2006/main">
            <a:r>
              <a:t>- Improve: choose one clear item, label what it shows and explain why it matters to the claim.</a:t>
            </a:r>
          </a:p>
          <a:p xmlns:a="http://schemas.openxmlformats.org/drawingml/2006/main">
            <a:r>
              <a:t/>
            </a:r>
          </a:p>
          <a:p xmlns:a="http://schemas.openxmlformats.org/drawingml/2006/main">
            <a:r>
              <a:t>Likely misconception</a:t>
            </a:r>
          </a:p>
          <a:p xmlns:a="http://schemas.openxmlformats.org/drawingml/2006/main">
            <a:r>
              <a:t>- How is evidence different from reasoning?</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Teaching visual: assets/visuals/theory/m09-claim-evidence-reasoning.png.</a:t>
            </a:r>
          </a:p>
          <a:p xmlns:a="http://schemas.openxmlformats.org/drawingml/2006/main">
            <a:r>
              <a:t>- OpenAI image generation for this course, 24 Aug 2026; conceptual teaching still life; final prompt: Close-up generic pine feature beside one teacher-created photo print, blank observation card and open blank notebook; no claim, result or student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Environmental, social and economic effects interact. Consider sourcing, processing, material efficiency, lifespan, repair, waste, people, access, time and cost. Calling timber natural or recyclable does not prove the whole solution is sustainable; the judgement must match available evidence.</a:t>
            </a:r>
          </a:p>
          <a:p xmlns:a="http://schemas.openxmlformats.org/drawingml/2006/main">
            <a:r>
              <a:t>- Use the visual to emphasise: Look beyond the material label: consider sourcing, waste, useful life, repair and end of life.</a:t>
            </a:r>
          </a:p>
          <a:p xmlns:a="http://schemas.openxmlformats.org/drawingml/2006/main">
            <a:r>
              <a:t/>
            </a:r>
          </a:p>
          <a:p xmlns:a="http://schemas.openxmlformats.org/drawingml/2006/main">
            <a:r>
              <a:t>Prompt</a:t>
            </a:r>
          </a:p>
          <a:p xmlns:a="http://schemas.openxmlformats.org/drawingml/2006/main">
            <a:r>
              <a:t>- Balance: identify one benefit, one cost or trade-off and one missing piece of life-cycle evidence.</a:t>
            </a:r>
          </a:p>
          <a:p xmlns:a="http://schemas.openxmlformats.org/drawingml/2006/main">
            <a:r>
              <a:t/>
            </a:r>
          </a:p>
          <a:p xmlns:a="http://schemas.openxmlformats.org/drawingml/2006/main">
            <a:r>
              <a:t>Likely misconception</a:t>
            </a:r>
          </a:p>
          <a:p xmlns:a="http://schemas.openxmlformats.org/drawingml/2006/main">
            <a:r>
              <a:t>- Why are selected, labelled photos stronger than a large folder?</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Teaching visual: assets/visuals/theory/m09-life-cycle-judgement.png.</a:t>
            </a:r>
          </a:p>
          <a:p xmlns:a="http://schemas.openxmlformats.org/drawingml/2006/main">
            <a:r>
              <a:t>- OpenAI image generation for this course, 24 Aug 2026; conceptual teaching still life; final prompt: Durable generic timber object beside a worn replaceable part, repair materials and reusable offcuts; no certification or green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A redesign improves consistency but uses more material and production time. Write a balanced judgement across environmental, social and economic effects, then state missing evidence.</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demonstrate function, evaluate against evidence and connect systems thinking responsibly.</a:t>
            </a:r>
          </a:p>
          <a:p xmlns:a="http://schemas.openxmlformats.org/drawingml/2006/main">
            <a:r>
              <a:t/>
            </a:r>
          </a:p>
          <a:p xmlns:a="http://schemas.openxmlformats.org/drawingml/2006/main">
            <a:r>
              <a:t>[Sources]</a:t>
            </a:r>
          </a:p>
          <a:p xmlns:a="http://schemas.openxmlformats.org/drawingml/2006/main">
            <a:r>
              <a:t>- Year 8 Catapult student theory draft v1.0, module-09, 24 Aug 2026.</a:t>
            </a:r>
          </a:p>
          <a:p xmlns:a="http://schemas.openxmlformats.org/drawingml/2006/main">
            <a:r>
              <a:t>- Catapult Booklet 2026.pdf, pp. 18–21; source map; theory draft module-09.</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56d4991e0249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3fb942e58243a2" /><Relationship Type="http://schemas.openxmlformats.org/officeDocument/2006/relationships/slideLayout" Target="/ppt/slideLayouts/slideLayout1.xml" Id="Rafc248bdf2eb47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c248bdf2eb47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f5e55fc5024ece" /><Relationship Type="http://schemas.openxmlformats.org/officeDocument/2006/relationships/image" Target="/ppt/media/image.png" Id="R7cf41dd4ca644830" /><Relationship Type="http://schemas.openxmlformats.org/officeDocument/2006/relationships/notesSlide" Target="/ppt/notesSlides/notesSlide1.xml" Id="Rf656879db8d042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2aa51b5f46474e" /><Relationship Type="http://schemas.openxmlformats.org/officeDocument/2006/relationships/notesSlide" Target="/ppt/notesSlides/notesSlide2.xml" Id="Re923ea48730744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401429a155455e" /><Relationship Type="http://schemas.openxmlformats.org/officeDocument/2006/relationships/image" Target="/ppt/media/image2.png" Id="R56d1ff9a80e54e7a" /><Relationship Type="http://schemas.openxmlformats.org/officeDocument/2006/relationships/notesSlide" Target="/ppt/notesSlides/notesSlide3.xml" Id="Rdd07d348217740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572e1107c5454e" /><Relationship Type="http://schemas.openxmlformats.org/officeDocument/2006/relationships/image" Target="/ppt/media/image3.png" Id="Rcbb367679960450a" /><Relationship Type="http://schemas.openxmlformats.org/officeDocument/2006/relationships/notesSlide" Target="/ppt/notesSlides/notesSlide4.xml" Id="Rfa75ac0acf874c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39291d8e894144" /><Relationship Type="http://schemas.openxmlformats.org/officeDocument/2006/relationships/image" Target="/ppt/media/image4.png" Id="R20dd8114e68548f7" /><Relationship Type="http://schemas.openxmlformats.org/officeDocument/2006/relationships/notesSlide" Target="/ppt/notesSlides/notesSlide5.xml" Id="Rb98e0a0148c049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556a688d7b4f90" /><Relationship Type="http://schemas.openxmlformats.org/officeDocument/2006/relationships/notesSlide" Target="/ppt/notesSlides/notesSlide6.xml" Id="R36a4f6431c2b47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6fde0d27024c3b" /><Relationship Type="http://schemas.openxmlformats.org/officeDocument/2006/relationships/notesSlide" Target="/ppt/notesSlides/notesSlide7.xml" Id="Rf24d23cb0c944e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134bca3afa44d5" /><Relationship Type="http://schemas.openxmlformats.org/officeDocument/2006/relationships/notesSlide" Target="/ppt/notesSlides/notesSlide8.xml" Id="Ra2a09faa85f24301"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f41dd4ca644830"/>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EBDC1A-9088-4022-AAEA-16C0DE75795C}"/>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8AF5C6-4824-4A8A-9F0A-2398C84567C8}"/>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09</a:t>
            </a:r>
          </a:p>
        </p:txBody>
      </p:sp>
      <p:sp>
        <p:nvSpPr>
          <p:cNvPr id="4" name="">
            <a:extLst xmlns:a="http://schemas.openxmlformats.org/drawingml/2006/main">
              <a:ext uri="{FF2B5EF4-FFF2-40B4-BE49-F238E27FC236}">
                <a16:creationId xmlns:a16="http://schemas.microsoft.com/office/drawing/2014/main" id="{DFD74D0D-D7B3-47BD-8F44-4665A0343170}"/>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Engineering Report and Sustainability</a:t>
            </a:r>
          </a:p>
        </p:txBody>
      </p:sp>
      <p:sp>
        <p:nvSpPr>
          <p:cNvPr id="5" name="">
            <a:extLst xmlns:a="http://schemas.openxmlformats.org/drawingml/2006/main">
              <a:ext uri="{FF2B5EF4-FFF2-40B4-BE49-F238E27FC236}">
                <a16:creationId xmlns:a16="http://schemas.microsoft.com/office/drawing/2014/main" id="{04A15844-5483-4C4D-A1CB-041DBCA1A03B}"/>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Build an engineering report that links claims to evidence and makes a balanced sustainability judgement.</a:t>
            </a:r>
          </a:p>
        </p:txBody>
      </p:sp>
      <p:sp>
        <p:nvSpPr>
          <p:cNvPr id="6" name="">
            <a:extLst xmlns:a="http://schemas.openxmlformats.org/drawingml/2006/main">
              <a:ext uri="{FF2B5EF4-FFF2-40B4-BE49-F238E27FC236}">
                <a16:creationId xmlns:a16="http://schemas.microsoft.com/office/drawing/2014/main" id="{0A4C073E-0B20-4747-AA69-34ACBBA27116}"/>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827470804"/>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12A323D-1387-461D-AC75-F486B7EDAFE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9993C6-8A6F-43BD-85D7-C030F7FD42BC}"/>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09  /  REPORT AND SUSTAINABILITY</a:t>
            </a:r>
          </a:p>
        </p:txBody>
      </p:sp>
      <p:sp>
        <p:nvSpPr>
          <p:cNvPr id="3" name="">
            <a:extLst xmlns:a="http://schemas.openxmlformats.org/drawingml/2006/main">
              <a:ext uri="{FF2B5EF4-FFF2-40B4-BE49-F238E27FC236}">
                <a16:creationId xmlns:a16="http://schemas.microsoft.com/office/drawing/2014/main" id="{40D2B91B-DBDB-4C1E-917D-76AC4A2C9CC2}"/>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8ED0F049-0F93-4054-8F12-01E8AA11784B}"/>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411124F3-68EB-4D8F-8B17-4373F23DB79D}"/>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09</a:t>
            </a:r>
          </a:p>
        </p:txBody>
      </p:sp>
      <p:sp>
        <p:nvSpPr>
          <p:cNvPr id="6" name="">
            <a:extLst xmlns:a="http://schemas.openxmlformats.org/drawingml/2006/main">
              <a:ext uri="{FF2B5EF4-FFF2-40B4-BE49-F238E27FC236}">
                <a16:creationId xmlns:a16="http://schemas.microsoft.com/office/drawing/2014/main" id="{4BA2A1F0-BC84-449C-87CB-0F983FD6069F}"/>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94B1907C-A5DD-4F86-9711-E5A0FAF3CA96}"/>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How does a report turn project records into a credible engineering conclusion?</a:t>
            </a:r>
          </a:p>
        </p:txBody>
      </p:sp>
      <p:sp>
        <p:nvSpPr>
          <p:cNvPr id="8" name="">
            <a:extLst xmlns:a="http://schemas.openxmlformats.org/drawingml/2006/main">
              <a:ext uri="{FF2B5EF4-FFF2-40B4-BE49-F238E27FC236}">
                <a16:creationId xmlns:a16="http://schemas.microsoft.com/office/drawing/2014/main" id="{F2804643-38A8-4675-9E62-7427697AC18A}"/>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9C40FA4-BD2A-4E75-8BD2-FDDA35C29778}"/>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662D52-DBAD-48E6-BCC5-8ED5E1E3D718}"/>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748178-874C-4690-8252-F53A26EA21DB}"/>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37EE9E9B-605B-476E-AC56-4FE6EA61C729}"/>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Report the design journey</a:t>
            </a:r>
          </a:p>
        </p:txBody>
      </p:sp>
      <p:sp>
        <p:nvSpPr>
          <p:cNvPr id="13" name="">
            <a:extLst xmlns:a="http://schemas.openxmlformats.org/drawingml/2006/main">
              <a:ext uri="{FF2B5EF4-FFF2-40B4-BE49-F238E27FC236}">
                <a16:creationId xmlns:a16="http://schemas.microsoft.com/office/drawing/2014/main" id="{AB8E7297-84B8-40BE-AF4C-CCE0F491E9ED}"/>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3FD497-3794-4D72-A925-96247B4A3A69}"/>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4EB6FEFC-1D83-4745-BA64-C9E024198A0C}"/>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Link claim, evidence and reasoning</a:t>
            </a:r>
          </a:p>
        </p:txBody>
      </p:sp>
      <p:sp>
        <p:nvSpPr>
          <p:cNvPr id="16" name="">
            <a:extLst xmlns:a="http://schemas.openxmlformats.org/drawingml/2006/main">
              <a:ext uri="{FF2B5EF4-FFF2-40B4-BE49-F238E27FC236}">
                <a16:creationId xmlns:a16="http://schemas.microsoft.com/office/drawing/2014/main" id="{96962339-22DD-4148-920A-DB0602F69068}"/>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3E1C703-0654-40E5-9CF7-CCF83C8588C3}"/>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8C286065-B2F4-4EAE-9FAE-96F48A8B7B62}"/>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Think across a life cycle</a:t>
            </a:r>
          </a:p>
        </p:txBody>
      </p:sp>
      <p:sp>
        <p:nvSpPr>
          <p:cNvPr id="19" name="">
            <a:extLst xmlns:a="http://schemas.openxmlformats.org/drawingml/2006/main">
              <a:ext uri="{FF2B5EF4-FFF2-40B4-BE49-F238E27FC236}">
                <a16:creationId xmlns:a16="http://schemas.microsoft.com/office/drawing/2014/main" id="{0650E715-6687-4532-B2A1-3D6C2082139D}"/>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B240C03F-7713-4336-8DDE-67B94696795B}"/>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37E3F32E-297F-49E7-B2CE-CA18730BA034}"/>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Why does a limitation strengthen rather than weaken an honest conclusion?</a:t>
            </a:r>
          </a:p>
        </p:txBody>
      </p:sp>
    </p:spTree>
    <p:extLst>
      <p:ext uri="{BB962C8B-B14F-4D97-AF65-F5344CB8AC3E}">
        <p14:creationId xmlns:p14="http://schemas.microsoft.com/office/powerpoint/2010/main" val="9068234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74FEFE4-EF40-4358-BE90-A649974C23E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D54BB9-8FC4-492C-A87A-19145CCB3371}"/>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09  /  REPORT AND SUSTAINABILITY</a:t>
            </a:r>
          </a:p>
        </p:txBody>
      </p:sp>
      <p:sp>
        <p:nvSpPr>
          <p:cNvPr id="3" name="">
            <a:extLst xmlns:a="http://schemas.openxmlformats.org/drawingml/2006/main">
              <a:ext uri="{FF2B5EF4-FFF2-40B4-BE49-F238E27FC236}">
                <a16:creationId xmlns:a16="http://schemas.microsoft.com/office/drawing/2014/main" id="{82E909F0-79DA-4DA0-B1F6-A465ECEA2DF8}"/>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report follows the design journey</a:t>
            </a:r>
          </a:p>
        </p:txBody>
      </p:sp>
      <p:sp>
        <p:nvSpPr>
          <p:cNvPr id="4" name="">
            <a:extLst xmlns:a="http://schemas.openxmlformats.org/drawingml/2006/main">
              <a:ext uri="{FF2B5EF4-FFF2-40B4-BE49-F238E27FC236}">
                <a16:creationId xmlns:a16="http://schemas.microsoft.com/office/drawing/2014/main" id="{639836E9-A9B4-4077-A3CA-6F1243F33D4D}"/>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A524BC76-3021-434D-9AED-BE53A9D88E8B}"/>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09</a:t>
            </a:r>
          </a:p>
        </p:txBody>
      </p:sp>
      <p:sp>
        <p:nvSpPr>
          <p:cNvPr id="6" name="">
            <a:extLst xmlns:a="http://schemas.openxmlformats.org/drawingml/2006/main">
              <a:ext uri="{FF2B5EF4-FFF2-40B4-BE49-F238E27FC236}">
                <a16:creationId xmlns:a16="http://schemas.microsoft.com/office/drawing/2014/main" id="{7E1F3607-D7C4-4273-91E5-2DD1F21F0425}"/>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B9FF32A6-58F4-44B8-8583-38DDF0DC69CB}"/>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clear engineering report moves from brief and design decision through production evidence, test method, results, discussion, sustainability and conclusion. The conclusion answers the original problem using the strongest evidence and states limits such as few trials or unresolved variation.</a:t>
            </a:r>
          </a:p>
        </p:txBody>
      </p:sp>
      <p:sp>
        <p:nvSpPr>
          <p:cNvPr id="8" name="">
            <a:extLst xmlns:a="http://schemas.openxmlformats.org/drawingml/2006/main">
              <a:ext uri="{FF2B5EF4-FFF2-40B4-BE49-F238E27FC236}">
                <a16:creationId xmlns:a16="http://schemas.microsoft.com/office/drawing/2014/main" id="{176FFEBA-7743-4569-A811-C70A9662A4E1}"/>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AE3A283F-78DA-47E7-9819-12FEDABDD5F7}"/>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Structure: place one existing project record into the report section where it can do the most explanatory work.</a:t>
            </a:r>
          </a:p>
        </p:txBody>
      </p:sp>
      <p:sp>
        <p:nvSpPr>
          <p:cNvPr id="10" name="">
            <a:extLst xmlns:a="http://schemas.openxmlformats.org/drawingml/2006/main">
              <a:ext uri="{FF2B5EF4-FFF2-40B4-BE49-F238E27FC236}">
                <a16:creationId xmlns:a16="http://schemas.microsoft.com/office/drawing/2014/main" id="{9DD99E0B-CD02-4D90-A72C-0E76F4DB04EE}"/>
              </a:ext>
            </a:extLst>
          </p:cNvPr>
          <p:cNvSpPr>
            <a:spLocks xmlns:a="http://schemas.openxmlformats.org/drawingml/2006/main" noGrp="1"/>
          </p:cNvSpPr>
          <p:nvPr/>
        </p:nvSpPr>
        <p:spPr>
          <a:xfrm xmlns:a="http://schemas.openxmlformats.org/drawingml/2006/main">
            <a:off x="619125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6d1ff9a80e54e7a"/>
          <a:srcRect xmlns:a="http://schemas.openxmlformats.org/drawingml/2006/main" l="0" t="71" r="0" b="71"/>
          <a:stretch xmlns:a="http://schemas.openxmlformats.org/drawingml/2006/main">
            <a:fillRect l="0" t="0" r="0" b="0"/>
          </a:stretch>
        </p:blipFill>
        <p:spPr>
          <a:xfrm xmlns:a="http://schemas.openxmlformats.org/drawingml/2006/main">
            <a:off x="619125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D897CE0F-07DB-436A-B814-A6C21E235377}"/>
              </a:ext>
            </a:extLst>
          </p:cNvPr>
          <p:cNvSpPr>
            <a:spLocks xmlns:a="http://schemas.openxmlformats.org/drawingml/2006/main" noGrp="1"/>
          </p:cNvSpPr>
          <p:nvPr/>
        </p:nvSpPr>
        <p:spPr>
          <a:xfrm xmlns:a="http://schemas.openxmlformats.org/drawingml/2006/main">
            <a:off x="61912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An engineering report follows the evidence from need and decisions to testing, evaluation and conclusion.</a:t>
            </a:r>
          </a:p>
        </p:txBody>
      </p:sp>
      <p:sp>
        <p:nvSpPr>
          <p:cNvPr id="13" name="">
            <a:extLst xmlns:a="http://schemas.openxmlformats.org/drawingml/2006/main">
              <a:ext uri="{FF2B5EF4-FFF2-40B4-BE49-F238E27FC236}">
                <a16:creationId xmlns:a16="http://schemas.microsoft.com/office/drawing/2014/main" id="{54BF56DB-5A6B-4560-BE0D-7F7D72D6465B}"/>
              </a:ext>
            </a:extLst>
          </p:cNvPr>
          <p:cNvSpPr>
            <a:spLocks xmlns:a="http://schemas.openxmlformats.org/drawingml/2006/main" noGrp="1"/>
          </p:cNvSpPr>
          <p:nvPr/>
        </p:nvSpPr>
        <p:spPr>
          <a:xfrm xmlns:a="http://schemas.openxmlformats.org/drawingml/2006/main">
            <a:off x="619125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Trace which record answers each stage and where a limitation would be acknowledged.</a:t>
            </a:r>
          </a:p>
        </p:txBody>
      </p:sp>
    </p:spTree>
    <p:extLst>
      <p:ext uri="{BB962C8B-B14F-4D97-AF65-F5344CB8AC3E}">
        <p14:creationId xmlns:p14="http://schemas.microsoft.com/office/powerpoint/2010/main" val="17174263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DCDEFB6-254C-4FFB-95FC-408D13535F1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16C807-5B5C-41E6-8B3C-FC2961FFD848}"/>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09  /  REPORT AND SUSTAINABILITY</a:t>
            </a:r>
          </a:p>
        </p:txBody>
      </p:sp>
      <p:sp>
        <p:nvSpPr>
          <p:cNvPr id="3" name="">
            <a:extLst xmlns:a="http://schemas.openxmlformats.org/drawingml/2006/main">
              <a:ext uri="{FF2B5EF4-FFF2-40B4-BE49-F238E27FC236}">
                <a16:creationId xmlns:a16="http://schemas.microsoft.com/office/drawing/2014/main" id="{6AF2782A-A3E2-4B57-B2E8-2B7449178637}"/>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Claim, evidence and reasoning build credibility</a:t>
            </a:r>
          </a:p>
        </p:txBody>
      </p:sp>
      <p:sp>
        <p:nvSpPr>
          <p:cNvPr id="4" name="">
            <a:extLst xmlns:a="http://schemas.openxmlformats.org/drawingml/2006/main">
              <a:ext uri="{FF2B5EF4-FFF2-40B4-BE49-F238E27FC236}">
                <a16:creationId xmlns:a16="http://schemas.microsoft.com/office/drawing/2014/main" id="{A8EB4DFC-F4AF-4739-8B22-0B2889ED3D5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8936AA45-0479-4703-B5A8-105D8B3BA899}"/>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09</a:t>
            </a:r>
          </a:p>
        </p:txBody>
      </p:sp>
      <p:sp>
        <p:nvSpPr>
          <p:cNvPr id="6" name="">
            <a:extLst xmlns:a="http://schemas.openxmlformats.org/drawingml/2006/main">
              <a:ext uri="{FF2B5EF4-FFF2-40B4-BE49-F238E27FC236}">
                <a16:creationId xmlns:a16="http://schemas.microsoft.com/office/drawing/2014/main" id="{9E967059-A1A2-4214-BB8A-79EECBDAFC51}"/>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375A2E4F-90E1-4D82-AE56-84781F464D0C}"/>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claim is a focused judgement. Evidence is the specific observation, measurement, drawing, photograph or production record that supports it. Reasoning uses engineering knowledge to explain the connection. A folder full of unlabelled photos is not automatically strong evidence.</a:t>
            </a:r>
          </a:p>
        </p:txBody>
      </p:sp>
      <p:sp>
        <p:nvSpPr>
          <p:cNvPr id="8" name="">
            <a:extLst xmlns:a="http://schemas.openxmlformats.org/drawingml/2006/main">
              <a:ext uri="{FF2B5EF4-FFF2-40B4-BE49-F238E27FC236}">
                <a16:creationId xmlns:a16="http://schemas.microsoft.com/office/drawing/2014/main" id="{75FF3E10-41F1-4A62-87C0-27F4898F61D1}"/>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F5E8CF32-B359-450D-B81F-DF02DDB612FF}"/>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Improve: choose one clear item, label what it shows and explain why it matters to the claim.</a:t>
            </a:r>
          </a:p>
        </p:txBody>
      </p:sp>
      <p:sp>
        <p:nvSpPr>
          <p:cNvPr id="10" name="">
            <a:extLst xmlns:a="http://schemas.openxmlformats.org/drawingml/2006/main">
              <a:ext uri="{FF2B5EF4-FFF2-40B4-BE49-F238E27FC236}">
                <a16:creationId xmlns:a16="http://schemas.microsoft.com/office/drawing/2014/main" id="{A3BA19E7-53DA-4B5A-8B4D-6F0ABFE3C613}"/>
              </a:ext>
            </a:extLst>
          </p:cNvPr>
          <p:cNvSpPr>
            <a:spLocks xmlns:a="http://schemas.openxmlformats.org/drawingml/2006/main" noGrp="1"/>
          </p:cNvSpPr>
          <p:nvPr/>
        </p:nvSpPr>
        <p:spPr>
          <a:xfrm xmlns:a="http://schemas.openxmlformats.org/drawingml/2006/main">
            <a:off x="68580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bb367679960450a"/>
          <a:srcRect xmlns:a="http://schemas.openxmlformats.org/drawingml/2006/main" l="0" t="71" r="0" b="71"/>
          <a:stretch xmlns:a="http://schemas.openxmlformats.org/drawingml/2006/main">
            <a:fillRect l="0" t="0" r="0" b="0"/>
          </a:stretch>
        </p:blipFill>
        <p:spPr>
          <a:xfrm xmlns:a="http://schemas.openxmlformats.org/drawingml/2006/main">
            <a:off x="68580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6D6C7FC6-CFF3-4290-AEE6-DDC6C53160CB}"/>
              </a:ext>
            </a:extLst>
          </p:cNvPr>
          <p:cNvSpPr>
            <a:spLocks xmlns:a="http://schemas.openxmlformats.org/drawingml/2006/main" noGrp="1"/>
          </p:cNvSpPr>
          <p:nvPr/>
        </p:nvSpPr>
        <p:spPr>
          <a:xfrm xmlns:a="http://schemas.openxmlformats.org/drawingml/2006/main">
            <a:off x="6858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A claim gains credibility when selected evidence is connected to engineering reasoning.</a:t>
            </a:r>
          </a:p>
        </p:txBody>
      </p:sp>
      <p:sp>
        <p:nvSpPr>
          <p:cNvPr id="13" name="">
            <a:extLst xmlns:a="http://schemas.openxmlformats.org/drawingml/2006/main">
              <a:ext uri="{FF2B5EF4-FFF2-40B4-BE49-F238E27FC236}">
                <a16:creationId xmlns:a16="http://schemas.microsoft.com/office/drawing/2014/main" id="{A105491A-73FB-4D2A-AFFD-78226B899CB2}"/>
              </a:ext>
            </a:extLst>
          </p:cNvPr>
          <p:cNvSpPr>
            <a:spLocks xmlns:a="http://schemas.openxmlformats.org/drawingml/2006/main" noGrp="1"/>
          </p:cNvSpPr>
          <p:nvPr/>
        </p:nvSpPr>
        <p:spPr>
          <a:xfrm xmlns:a="http://schemas.openxmlformats.org/drawingml/2006/main">
            <a:off x="68580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Identify the one feature the evidence shows and the idea needed to explain why it matters.</a:t>
            </a:r>
          </a:p>
        </p:txBody>
      </p:sp>
    </p:spTree>
    <p:extLst>
      <p:ext uri="{BB962C8B-B14F-4D97-AF65-F5344CB8AC3E}">
        <p14:creationId xmlns:p14="http://schemas.microsoft.com/office/powerpoint/2010/main" val="1217606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96C774-FD35-47F8-BA47-488D6F88FF0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AD42BC-2A3B-4D0F-8439-B4087C7D864F}"/>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09  /  REPORT AND SUSTAINABILITY</a:t>
            </a:r>
          </a:p>
        </p:txBody>
      </p:sp>
      <p:sp>
        <p:nvSpPr>
          <p:cNvPr id="3" name="">
            <a:extLst xmlns:a="http://schemas.openxmlformats.org/drawingml/2006/main">
              <a:ext uri="{FF2B5EF4-FFF2-40B4-BE49-F238E27FC236}">
                <a16:creationId xmlns:a16="http://schemas.microsoft.com/office/drawing/2014/main" id="{A569358B-0405-45C1-B4E3-23BA07EF4227}"/>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Sustainability is a life-cycle judgement</a:t>
            </a:r>
          </a:p>
        </p:txBody>
      </p:sp>
      <p:sp>
        <p:nvSpPr>
          <p:cNvPr id="4" name="">
            <a:extLst xmlns:a="http://schemas.openxmlformats.org/drawingml/2006/main">
              <a:ext uri="{FF2B5EF4-FFF2-40B4-BE49-F238E27FC236}">
                <a16:creationId xmlns:a16="http://schemas.microsoft.com/office/drawing/2014/main" id="{531A8014-2959-41E3-8602-B7A499170C3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64DE9DE2-04E5-4E97-86D6-3A97403F07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09</a:t>
            </a:r>
          </a:p>
        </p:txBody>
      </p:sp>
      <p:sp>
        <p:nvSpPr>
          <p:cNvPr id="6" name="">
            <a:extLst xmlns:a="http://schemas.openxmlformats.org/drawingml/2006/main">
              <a:ext uri="{FF2B5EF4-FFF2-40B4-BE49-F238E27FC236}">
                <a16:creationId xmlns:a16="http://schemas.microsoft.com/office/drawing/2014/main" id="{87DE937C-4BB9-4C19-81BC-53AB4FBBB928}"/>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8ADBFEFD-40DF-4D0F-A082-D552C3297571}"/>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Environmental, social and economic effects interact. Consider sourcing, processing, material efficiency, lifespan, repair, waste, people, access, time and cost. Calling timber natural or recyclable does not prove the whole solution is sustainable; the judgement must match available evidence.</a:t>
            </a:r>
          </a:p>
        </p:txBody>
      </p:sp>
      <p:sp>
        <p:nvSpPr>
          <p:cNvPr id="8" name="">
            <a:extLst xmlns:a="http://schemas.openxmlformats.org/drawingml/2006/main">
              <a:ext uri="{FF2B5EF4-FFF2-40B4-BE49-F238E27FC236}">
                <a16:creationId xmlns:a16="http://schemas.microsoft.com/office/drawing/2014/main" id="{8E70649C-0525-41B4-AF45-B816F381AF67}"/>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C1E00160-CF06-4640-A7E2-B4DCADF8630A}"/>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Balance: identify one benefit, one cost or trade-off and one missing piece of life-cycle evidence.</a:t>
            </a:r>
          </a:p>
        </p:txBody>
      </p:sp>
      <p:sp>
        <p:nvSpPr>
          <p:cNvPr id="10" name="">
            <a:extLst xmlns:a="http://schemas.openxmlformats.org/drawingml/2006/main">
              <a:ext uri="{FF2B5EF4-FFF2-40B4-BE49-F238E27FC236}">
                <a16:creationId xmlns:a16="http://schemas.microsoft.com/office/drawing/2014/main" id="{33DFD939-51B9-42D9-8550-36E83669CB94}"/>
              </a:ext>
            </a:extLst>
          </p:cNvPr>
          <p:cNvSpPr>
            <a:spLocks xmlns:a="http://schemas.openxmlformats.org/drawingml/2006/main" noGrp="1"/>
          </p:cNvSpPr>
          <p:nvPr/>
        </p:nvSpPr>
        <p:spPr>
          <a:xfrm xmlns:a="http://schemas.openxmlformats.org/drawingml/2006/main">
            <a:off x="619125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0dd8114e68548f7"/>
          <a:srcRect xmlns:a="http://schemas.openxmlformats.org/drawingml/2006/main" l="0" t="71" r="0" b="71"/>
          <a:stretch xmlns:a="http://schemas.openxmlformats.org/drawingml/2006/main">
            <a:fillRect l="0" t="0" r="0" b="0"/>
          </a:stretch>
        </p:blipFill>
        <p:spPr>
          <a:xfrm xmlns:a="http://schemas.openxmlformats.org/drawingml/2006/main">
            <a:off x="619125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A1C99404-1C79-4C98-9C49-4D41FC9A06C9}"/>
              </a:ext>
            </a:extLst>
          </p:cNvPr>
          <p:cNvSpPr>
            <a:spLocks xmlns:a="http://schemas.openxmlformats.org/drawingml/2006/main" noGrp="1"/>
          </p:cNvSpPr>
          <p:nvPr/>
        </p:nvSpPr>
        <p:spPr>
          <a:xfrm xmlns:a="http://schemas.openxmlformats.org/drawingml/2006/main">
            <a:off x="61912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Sustainability is a life-cycle judgement across environmental, social and economic trade-offs.</a:t>
            </a:r>
          </a:p>
        </p:txBody>
      </p:sp>
      <p:sp>
        <p:nvSpPr>
          <p:cNvPr id="13" name="">
            <a:extLst xmlns:a="http://schemas.openxmlformats.org/drawingml/2006/main">
              <a:ext uri="{FF2B5EF4-FFF2-40B4-BE49-F238E27FC236}">
                <a16:creationId xmlns:a16="http://schemas.microsoft.com/office/drawing/2014/main" id="{0DD7D451-CDA6-4545-ACEF-571269B6D4D9}"/>
              </a:ext>
            </a:extLst>
          </p:cNvPr>
          <p:cNvSpPr>
            <a:spLocks xmlns:a="http://schemas.openxmlformats.org/drawingml/2006/main" noGrp="1"/>
          </p:cNvSpPr>
          <p:nvPr/>
        </p:nvSpPr>
        <p:spPr>
          <a:xfrm xmlns:a="http://schemas.openxmlformats.org/drawingml/2006/main">
            <a:off x="619125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Look beyond the material label: consider sourcing, waste, useful life, repair and end of life.</a:t>
            </a:r>
          </a:p>
        </p:txBody>
      </p:sp>
    </p:spTree>
    <p:extLst>
      <p:ext uri="{BB962C8B-B14F-4D97-AF65-F5344CB8AC3E}">
        <p14:creationId xmlns:p14="http://schemas.microsoft.com/office/powerpoint/2010/main" val="544044418"/>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A55136-CA86-4326-AFD5-433F1F01357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FA53AE-0547-4BA0-AFDC-FE116E338038}"/>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09  /  REPORT AND SUSTAINABILITY</a:t>
            </a:r>
          </a:p>
        </p:txBody>
      </p:sp>
      <p:sp>
        <p:nvSpPr>
          <p:cNvPr id="3" name="">
            <a:extLst xmlns:a="http://schemas.openxmlformats.org/drawingml/2006/main">
              <a:ext uri="{FF2B5EF4-FFF2-40B4-BE49-F238E27FC236}">
                <a16:creationId xmlns:a16="http://schemas.microsoft.com/office/drawing/2014/main" id="{B03FAA60-DD29-4D5F-83A0-10E6C77FCB64}"/>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6408D243-C69B-4525-BEE7-DDE62DF8CCEC}"/>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B884FB97-1654-4287-8986-46B6D5D443B6}"/>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09</a:t>
            </a:r>
          </a:p>
        </p:txBody>
      </p:sp>
      <p:sp>
        <p:nvSpPr>
          <p:cNvPr id="6" name="">
            <a:extLst xmlns:a="http://schemas.openxmlformats.org/drawingml/2006/main">
              <a:ext uri="{FF2B5EF4-FFF2-40B4-BE49-F238E27FC236}">
                <a16:creationId xmlns:a16="http://schemas.microsoft.com/office/drawing/2014/main" id="{D4DC59F6-B1F1-49F0-8B95-D98C45580EC0}"/>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4668113C-4755-41CE-AC4D-486CEAC3BC72}"/>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7A2F223B-5690-49EA-BD70-77C8B4840F7F}"/>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89E9FC99-DAB0-450C-A23F-3D971CFECA03}"/>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should a conclusion answer?</a:t>
            </a:r>
          </a:p>
        </p:txBody>
      </p:sp>
      <p:sp>
        <p:nvSpPr>
          <p:cNvPr id="10" name="">
            <a:extLst xmlns:a="http://schemas.openxmlformats.org/drawingml/2006/main">
              <a:ext uri="{FF2B5EF4-FFF2-40B4-BE49-F238E27FC236}">
                <a16:creationId xmlns:a16="http://schemas.microsoft.com/office/drawing/2014/main" id="{6DE850D5-5734-4E11-8A8C-1D51CB162F8E}"/>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8612E312-62BB-4B17-B6E1-BE4F8B1D7EB0}"/>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F03FB4B1-87DE-4BD3-BD9D-E99AA582CE21}"/>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is evidence different from reasoning?</a:t>
            </a:r>
          </a:p>
        </p:txBody>
      </p:sp>
      <p:sp>
        <p:nvSpPr>
          <p:cNvPr id="13" name="">
            <a:extLst xmlns:a="http://schemas.openxmlformats.org/drawingml/2006/main">
              <a:ext uri="{FF2B5EF4-FFF2-40B4-BE49-F238E27FC236}">
                <a16:creationId xmlns:a16="http://schemas.microsoft.com/office/drawing/2014/main" id="{5DFDEF15-9D0A-4D78-AC4E-284FF007B763}"/>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60B856D8-6847-4B16-9D2A-A6825C0C59DA}"/>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D16490FF-3EBD-4A77-8AD9-249BE15577CC}"/>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are selected, labelled photos stronger than a large folder?</a:t>
            </a:r>
          </a:p>
        </p:txBody>
      </p:sp>
      <p:sp>
        <p:nvSpPr>
          <p:cNvPr id="16" name="">
            <a:extLst xmlns:a="http://schemas.openxmlformats.org/drawingml/2006/main">
              <a:ext uri="{FF2B5EF4-FFF2-40B4-BE49-F238E27FC236}">
                <a16:creationId xmlns:a16="http://schemas.microsoft.com/office/drawing/2014/main" id="{99C14164-E547-4EE5-ABD8-3B969910E3F5}"/>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9EAA73B7-F746-4C0F-99CE-C9A4B2D9ED3F}"/>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3A7D401A-15DF-4B05-8290-5782907632A2}"/>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‘natural’ not enough to prove sustainability?</a:t>
            </a:r>
          </a:p>
        </p:txBody>
      </p:sp>
    </p:spTree>
    <p:extLst>
      <p:ext uri="{BB962C8B-B14F-4D97-AF65-F5344CB8AC3E}">
        <p14:creationId xmlns:p14="http://schemas.microsoft.com/office/powerpoint/2010/main" val="494142580"/>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AF28B16-91F8-46EB-A446-026513B5E03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100FB4-30C0-4DAA-99EB-3841287E15FC}"/>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09  /  REPORT AND SUSTAINABILITY</a:t>
            </a:r>
          </a:p>
        </p:txBody>
      </p:sp>
      <p:sp>
        <p:nvSpPr>
          <p:cNvPr id="3" name="">
            <a:extLst xmlns:a="http://schemas.openxmlformats.org/drawingml/2006/main">
              <a:ext uri="{FF2B5EF4-FFF2-40B4-BE49-F238E27FC236}">
                <a16:creationId xmlns:a16="http://schemas.microsoft.com/office/drawing/2014/main" id="{D6D5B9F9-30A6-4D9A-B578-5D77A74F8E4B}"/>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C63313A9-FDA1-4E94-909E-0219D750793A}"/>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66F9007E-A14B-466F-B7AE-42372ED0A4B9}"/>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09</a:t>
            </a:r>
          </a:p>
        </p:txBody>
      </p:sp>
      <p:sp>
        <p:nvSpPr>
          <p:cNvPr id="6" name="">
            <a:extLst xmlns:a="http://schemas.openxmlformats.org/drawingml/2006/main">
              <a:ext uri="{FF2B5EF4-FFF2-40B4-BE49-F238E27FC236}">
                <a16:creationId xmlns:a16="http://schemas.microsoft.com/office/drawing/2014/main" id="{CCB6B2A4-3670-4415-82EF-B93429D3B358}"/>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61A245AC-6B3E-4DD5-8532-D559D9F636D7}"/>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C0F080A5-8BC3-4EE2-8A44-7F5678ED68B6}"/>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A redesign improves consistency but uses more material and production time. Write a balanced judgement across environmental, social and economic effects, then state missing evidence.</a:t>
            </a:r>
          </a:p>
        </p:txBody>
      </p:sp>
      <p:sp>
        <p:nvSpPr>
          <p:cNvPr id="9" name="">
            <a:extLst xmlns:a="http://schemas.openxmlformats.org/drawingml/2006/main">
              <a:ext uri="{FF2B5EF4-FFF2-40B4-BE49-F238E27FC236}">
                <a16:creationId xmlns:a16="http://schemas.microsoft.com/office/drawing/2014/main" id="{38FCDFAE-FFF1-4874-9287-75E900133B25}"/>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0829E3C-C66D-4DA0-BE51-DCDCBA7046F2}"/>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C803A8F-28AE-4AE5-ACA2-AD254096A9D4}"/>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387D48D-36EA-4A84-9436-777B38FA4209}"/>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C7260785-5F84-425D-8D23-23B0E0951F8A}"/>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376123DF-F0C5-4CAD-9B6F-D98CDA315249}"/>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24901D99-BA73-4917-A84C-6DDB8DE9597C}"/>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057ADAA4-1995-474E-A6B7-8EA103C6C005}"/>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39CAE901-4F40-462F-B10B-4FD5A54123CA}"/>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69DDB08B-E2C6-4C58-8402-D3ECD29CC655}"/>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The redesign improves … Environmentally … Socially … Economically … Overall … This judgement is limited because …</a:t>
            </a:r>
          </a:p>
        </p:txBody>
      </p:sp>
    </p:spTree>
    <p:extLst>
      <p:ext uri="{BB962C8B-B14F-4D97-AF65-F5344CB8AC3E}">
        <p14:creationId xmlns:p14="http://schemas.microsoft.com/office/powerpoint/2010/main" val="540716858"/>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A74CA9D-61A9-4BC3-A592-508C6C07259A}"/>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4DE0FCB4-3774-4B44-A443-686A4E2F77FE}"/>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03A78C23-31DA-4D8B-A5FD-0E65FB8C2463}"/>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02EF6F-2DC5-4D2B-BF62-59A9415C1616}"/>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claim I can support …</a:t>
            </a:r>
          </a:p>
        </p:txBody>
      </p:sp>
      <p:sp>
        <p:nvSpPr>
          <p:cNvPr id="5" name="">
            <a:extLst xmlns:a="http://schemas.openxmlformats.org/drawingml/2006/main">
              <a:ext uri="{FF2B5EF4-FFF2-40B4-BE49-F238E27FC236}">
                <a16:creationId xmlns:a16="http://schemas.microsoft.com/office/drawing/2014/main" id="{2AD1DE10-1940-4D22-8A5B-14D63E13B1B7}"/>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C3733C-CF45-4E69-ACED-B73EF23C3B14}"/>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record I can turn into evidence …</a:t>
            </a:r>
          </a:p>
        </p:txBody>
      </p:sp>
      <p:sp>
        <p:nvSpPr>
          <p:cNvPr id="7" name="">
            <a:extLst xmlns:a="http://schemas.openxmlformats.org/drawingml/2006/main">
              <a:ext uri="{FF2B5EF4-FFF2-40B4-BE49-F238E27FC236}">
                <a16:creationId xmlns:a16="http://schemas.microsoft.com/office/drawing/2014/main" id="{6D0B7815-97F0-4107-8E7D-2F4F09660F83}"/>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E7E677-C8C6-4BDB-AC2D-411F1708CE2B}"/>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sustainability trade-off I can explain …</a:t>
            </a:r>
          </a:p>
        </p:txBody>
      </p:sp>
      <p:sp>
        <p:nvSpPr>
          <p:cNvPr id="9" name="">
            <a:extLst xmlns:a="http://schemas.openxmlformats.org/drawingml/2006/main">
              <a:ext uri="{FF2B5EF4-FFF2-40B4-BE49-F238E27FC236}">
                <a16:creationId xmlns:a16="http://schemas.microsoft.com/office/drawing/2014/main" id="{08ECD247-FEE4-4C7F-80F8-222616FC0B17}"/>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9B6B83-6C4E-4E43-A832-40FC65D004FA}"/>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935546E9-9D18-4977-85E8-5808196DC9ED}"/>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75D98B27-94EF-4560-96A7-9F581DF00F29}"/>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demonstrate function, evaluate against evidence and connect systems thinking responsibly.</a:t>
            </a:r>
          </a:p>
        </p:txBody>
      </p:sp>
      <p:sp>
        <p:nvSpPr>
          <p:cNvPr id="13" name="">
            <a:extLst xmlns:a="http://schemas.openxmlformats.org/drawingml/2006/main">
              <a:ext uri="{FF2B5EF4-FFF2-40B4-BE49-F238E27FC236}">
                <a16:creationId xmlns:a16="http://schemas.microsoft.com/office/drawing/2014/main" id="{51795489-664D-45B4-8259-0ABE56294C03}"/>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F6B61FBD-20D1-401A-A738-98E099B0069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09</a:t>
            </a:r>
          </a:p>
        </p:txBody>
      </p:sp>
      <p:sp>
        <p:nvSpPr>
          <p:cNvPr id="15" name="">
            <a:extLst xmlns:a="http://schemas.openxmlformats.org/drawingml/2006/main">
              <a:ext uri="{FF2B5EF4-FFF2-40B4-BE49-F238E27FC236}">
                <a16:creationId xmlns:a16="http://schemas.microsoft.com/office/drawing/2014/main" id="{C151809B-6E3C-4F37-9B56-04EA10DD7442}"/>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1250685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2026-08-24T09:20:32.8610000Z</dcterms:created>
  <dcterms:modified xsi:type="dcterms:W3CDTF">2026-08-24T09:20:32.8610000Z</dcterms:modified>
</coreProperties>
</file>