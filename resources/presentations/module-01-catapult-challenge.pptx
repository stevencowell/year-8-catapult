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c9d32001824906" /><Relationship Type="http://schemas.openxmlformats.org/officeDocument/2006/relationships/extended-properties" Target="/docProps/app.xml" Id="R7d028fce5c884c8c" /><Relationship Type="http://schemas.openxmlformats.org/officeDocument/2006/relationships/officeDocument" Target="/ppt/presentation.xml" Id="Rd20bb324883f4d54" /></Relationships>
</file>

<file path=ppt/presentation.xml><?xml version="1.0" encoding="utf-8"?>
<p:presentation xmlns:p="http://schemas.openxmlformats.org/presentationml/2006/main">
  <p:sldMasterIdLst>
    <p:sldMasterId xmlns:r="http://schemas.openxmlformats.org/officeDocument/2006/relationships" id="2147483648" r:id="R855fdf9245ae40b5"/>
  </p:sldMasterIdLst>
  <p:notesMasterIdLst>
    <p:notesMasterId xmlns:r="http://schemas.openxmlformats.org/officeDocument/2006/relationships" r:id="R5e7e72f134bb4e4d"/>
  </p:notesMasterIdLst>
  <p:sldIdLst>
    <p:sldId xmlns:r="http://schemas.openxmlformats.org/officeDocument/2006/relationships" id="256" r:id="Re05d10298c88469b"/>
    <p:sldId xmlns:r="http://schemas.openxmlformats.org/officeDocument/2006/relationships" id="257" r:id="Rd9e4a9095d2f40b5"/>
    <p:sldId xmlns:r="http://schemas.openxmlformats.org/officeDocument/2006/relationships" id="258" r:id="Rd00f7d1266e84f12"/>
    <p:sldId xmlns:r="http://schemas.openxmlformats.org/officeDocument/2006/relationships" id="259" r:id="Ra3716f5296bc4961"/>
    <p:sldId xmlns:r="http://schemas.openxmlformats.org/officeDocument/2006/relationships" id="260" r:id="R1afdf7bdc201478d"/>
    <p:sldId xmlns:r="http://schemas.openxmlformats.org/officeDocument/2006/relationships" id="261" r:id="Ra143e5f7ea6143b2"/>
    <p:sldId xmlns:r="http://schemas.openxmlformats.org/officeDocument/2006/relationships" id="262" r:id="R278e8e60b2be4014"/>
    <p:sldId xmlns:r="http://schemas.openxmlformats.org/officeDocument/2006/relationships" id="263" r:id="Re8b3bfd2034f44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8896c20cd04530" /><Relationship Type="http://schemas.openxmlformats.org/officeDocument/2006/relationships/slideMaster" Target="/ppt/slideMasters/slideMaster1.xml" Id="R855fdf9245ae40b5" /><Relationship Type="http://schemas.openxmlformats.org/officeDocument/2006/relationships/notesMaster" Target="/ppt/notesMasters/notesMaster1.xml" Id="R5e7e72f134bb4e4d" /><Relationship Type="http://schemas.openxmlformats.org/officeDocument/2006/relationships/presProps" Target="/ppt/presProps.xml" Id="Rc1af7a12a56f4bdb" /><Relationship Type="http://schemas.openxmlformats.org/officeDocument/2006/relationships/tableStyles" Target="/ppt/tableStyles.xml" Id="R9011488aef8949c3" /><Relationship Type="http://schemas.openxmlformats.org/officeDocument/2006/relationships/slide" Target="/ppt/slides/slide1.xml" Id="Re05d10298c88469b" /><Relationship Type="http://schemas.openxmlformats.org/officeDocument/2006/relationships/slide" Target="/ppt/slides/slide2.xml" Id="Rd9e4a9095d2f40b5" /><Relationship Type="http://schemas.openxmlformats.org/officeDocument/2006/relationships/slide" Target="/ppt/slides/slide3.xml" Id="Rd00f7d1266e84f12" /><Relationship Type="http://schemas.openxmlformats.org/officeDocument/2006/relationships/slide" Target="/ppt/slides/slide4.xml" Id="Ra3716f5296bc4961" /><Relationship Type="http://schemas.openxmlformats.org/officeDocument/2006/relationships/slide" Target="/ppt/slides/slide5.xml" Id="R1afdf7bdc201478d" /><Relationship Type="http://schemas.openxmlformats.org/officeDocument/2006/relationships/slide" Target="/ppt/slides/slide6.xml" Id="Ra143e5f7ea6143b2" /><Relationship Type="http://schemas.openxmlformats.org/officeDocument/2006/relationships/slide" Target="/ppt/slides/slide7.xml" Id="R278e8e60b2be4014" /><Relationship Type="http://schemas.openxmlformats.org/officeDocument/2006/relationships/slide" Target="/ppt/slides/slide8.xml" Id="Re8b3bfd2034f44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e71d1069784da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597052d2a8482c" /><Relationship Type="http://schemas.openxmlformats.org/officeDocument/2006/relationships/notesMaster" Target="/ppt/notesMasters/notesMaster1.xml" Id="R0a4490aa89194e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e9fb3b5a1e407c" /><Relationship Type="http://schemas.openxmlformats.org/officeDocument/2006/relationships/notesMaster" Target="/ppt/notesMasters/notesMaster1.xml" Id="Re400b387370c4c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2f45b75b664567" /><Relationship Type="http://schemas.openxmlformats.org/officeDocument/2006/relationships/notesMaster" Target="/ppt/notesMasters/notesMaster1.xml" Id="R32b8ef02b0db420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2bce01e4b44498" /><Relationship Type="http://schemas.openxmlformats.org/officeDocument/2006/relationships/notesMaster" Target="/ppt/notesMasters/notesMaster1.xml" Id="R5ab053b072d147a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f7aa04a44140d7" /><Relationship Type="http://schemas.openxmlformats.org/officeDocument/2006/relationships/notesMaster" Target="/ppt/notesMasters/notesMaster1.xml" Id="Rc1f76b990df6461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ef48ff74e94c55" /><Relationship Type="http://schemas.openxmlformats.org/officeDocument/2006/relationships/notesMaster" Target="/ppt/notesMasters/notesMaster1.xml" Id="R709ad46fd48b4a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ec9320eeb34b00" /><Relationship Type="http://schemas.openxmlformats.org/officeDocument/2006/relationships/notesMaster" Target="/ppt/notesMasters/notesMaster1.xml" Id="R24913da188e940d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69abd339b4480a" /><Relationship Type="http://schemas.openxmlformats.org/officeDocument/2006/relationships/notesMaster" Target="/ppt/notesMasters/notesMaster1.xml" Id="R05e586f0ad154c2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OpenAI image generation for this course, 24 Aug 2026, conceptual only; file: catapult-hero-concept.png.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Name one component, one interaction and one output you could observe.</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An engineered system is a group of connected components that work together for a purpose. Naming the base, frame, moving arm or energy store is only a start. The stronger explanation shows how one component affects another and how a change can alter the whole system.</a:t>
            </a:r>
          </a:p>
          <a:p xmlns:a="http://schemas.openxmlformats.org/drawingml/2006/main">
            <a:r>
              <a:t>- Use the visual to emphasise: Notice the links, not just the parts. A design decision must consider the whole system.</a:t>
            </a:r>
          </a:p>
          <a:p xmlns:a="http://schemas.openxmlformats.org/drawingml/2006/main">
            <a:r>
              <a:t/>
            </a:r>
          </a:p>
          <a:p xmlns:a="http://schemas.openxmlformats.org/drawingml/2006/main">
            <a:r>
              <a:t>Prompt</a:t>
            </a:r>
          </a:p>
          <a:p xmlns:a="http://schemas.openxmlformats.org/drawingml/2006/main">
            <a:r>
              <a:t>- Application: trace one component relationship and predict what else should be checked if it changes.</a:t>
            </a:r>
          </a:p>
          <a:p xmlns:a="http://schemas.openxmlformats.org/drawingml/2006/main">
            <a:r>
              <a:t/>
            </a:r>
          </a:p>
          <a:p xmlns:a="http://schemas.openxmlformats.org/drawingml/2006/main">
            <a:r>
              <a:t>Likely misconception</a:t>
            </a:r>
          </a:p>
          <a:p xmlns:a="http://schemas.openxmlformats.org/drawingml/2006/main">
            <a:r>
              <a:t>- Why is a list of parts not yet a system explanation?</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Inputs such as stored energy, materials and design information enter the system. Processes transfer or transform them. Outputs can include movement, sound, vibration and test data. Feedback is useful when an observed output guides the next decision.</a:t>
            </a:r>
          </a:p>
          <a:p xmlns:a="http://schemas.openxmlformats.org/drawingml/2006/main">
            <a:r>
              <a:t>- Use the visual to emphasise: Feedback returns evidence to the next decision instead of ending the process.</a:t>
            </a:r>
          </a:p>
          <a:p xmlns:a="http://schemas.openxmlformats.org/drawingml/2006/main">
            <a:r>
              <a:t/>
            </a:r>
          </a:p>
          <a:p xmlns:a="http://schemas.openxmlformats.org/drawingml/2006/main">
            <a:r>
              <a:t>Prompt</a:t>
            </a:r>
          </a:p>
          <a:p xmlns:a="http://schemas.openxmlformats.org/drawingml/2006/main">
            <a:r>
              <a:t>- Evidence move: turn one observed output into a specific question for the next check.</a:t>
            </a:r>
          </a:p>
          <a:p xmlns:a="http://schemas.openxmlformats.org/drawingml/2006/main">
            <a:r>
              <a:t/>
            </a:r>
          </a:p>
          <a:p xmlns:a="http://schemas.openxmlformats.org/drawingml/2006/main">
            <a:r>
              <a:t>Likely misconception</a:t>
            </a:r>
          </a:p>
          <a:p xmlns:a="http://schemas.openxmlformats.org/drawingml/2006/main">
            <a:r>
              <a:t>- What makes feedback useful in engineering?</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The authorised brief sets materials, a practical-plus-folio expectation and a maximum planned pine length of 2400 mm. These are constraints. A criterion states what successful performance would look like and must connect to observable evidence confirmed by the teacher.</a:t>
            </a:r>
          </a:p>
          <a:p xmlns:a="http://schemas.openxmlformats.org/drawingml/2006/main">
            <a:r>
              <a:t>- Use the visual to emphasise: Meeting a boundary does not automatically prove the solution performs well.</a:t>
            </a:r>
          </a:p>
          <a:p xmlns:a="http://schemas.openxmlformats.org/drawingml/2006/main">
            <a:r>
              <a:t/>
            </a:r>
          </a:p>
          <a:p xmlns:a="http://schemas.openxmlformats.org/drawingml/2006/main">
            <a:r>
              <a:t>Prompt</a:t>
            </a:r>
          </a:p>
          <a:p xmlns:a="http://schemas.openxmlformats.org/drawingml/2006/main">
            <a:r>
              <a:t>- Decision: sort each statement as a boundary to respect or evidence to judge.</a:t>
            </a:r>
          </a:p>
          <a:p xmlns:a="http://schemas.openxmlformats.org/drawingml/2006/main">
            <a:r>
              <a:t/>
            </a:r>
          </a:p>
          <a:p xmlns:a="http://schemas.openxmlformats.org/drawingml/2006/main">
            <a:r>
              <a:t>Likely misconception</a:t>
            </a:r>
          </a:p>
          <a:p xmlns:a="http://schemas.openxmlformats.org/drawingml/2006/main">
            <a:r>
              <a:t>- How is a criterion different from a constraint?</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Editable native diagram authored for this deck from the approved course theory.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A design meets every confirmed constraint but gives inconsistent results. Explain why it may still be unsuccessful and identify the evidence needed before one change is recommended.</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examine how tools and materials are selected within teacher-approved workshop systems.</a:t>
            </a:r>
          </a:p>
          <a:p xmlns:a="http://schemas.openxmlformats.org/drawingml/2006/main">
            <a:r>
              <a:t/>
            </a:r>
          </a:p>
          <a:p xmlns:a="http://schemas.openxmlformats.org/drawingml/2006/main">
            <a:r>
              <a:t>[Sources]</a:t>
            </a:r>
          </a:p>
          <a:p xmlns:a="http://schemas.openxmlformats.org/drawingml/2006/main">
            <a:r>
              <a:t>- Year 8 Catapult student theory draft v1.0, module-01, 24 Aug 2026.</a:t>
            </a:r>
          </a:p>
          <a:p xmlns:a="http://schemas.openxmlformats.org/drawingml/2006/main">
            <a:r>
              <a:t>- Catapult Booklet 2026.pdf, pp. 1–2; source map v1.0; theory draft module-01.</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66a89af0d44e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98152c096b4a9f" /><Relationship Type="http://schemas.openxmlformats.org/officeDocument/2006/relationships/slideLayout" Target="/ppt/slideLayouts/slideLayout1.xml" Id="R8b4793d11246458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4793d1124645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77b0e3c5a94bc3" /><Relationship Type="http://schemas.openxmlformats.org/officeDocument/2006/relationships/image" Target="/ppt/media/image.png" Id="Rbf0a36525d084e97" /><Relationship Type="http://schemas.openxmlformats.org/officeDocument/2006/relationships/notesSlide" Target="/ppt/notesSlides/notesSlide1.xml" Id="R84c37e36abef4c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3ed5d76bd664b0b" /><Relationship Type="http://schemas.openxmlformats.org/officeDocument/2006/relationships/notesSlide" Target="/ppt/notesSlides/notesSlide2.xml" Id="Rca877c7b39884f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55b78a1d03475f" /><Relationship Type="http://schemas.openxmlformats.org/officeDocument/2006/relationships/notesSlide" Target="/ppt/notesSlides/notesSlide3.xml" Id="Raaeeefc3190945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8dcdad8ea44d74" /><Relationship Type="http://schemas.openxmlformats.org/officeDocument/2006/relationships/notesSlide" Target="/ppt/notesSlides/notesSlide4.xml" Id="R2bc0bdba0db746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e369d635e5c4781" /><Relationship Type="http://schemas.openxmlformats.org/officeDocument/2006/relationships/notesSlide" Target="/ppt/notesSlides/notesSlide5.xml" Id="Rfa6882ccea8047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8af246b5944fd9" /><Relationship Type="http://schemas.openxmlformats.org/officeDocument/2006/relationships/notesSlide" Target="/ppt/notesSlides/notesSlide6.xml" Id="R38fbf5bb9e6644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432ce5270424aac" /><Relationship Type="http://schemas.openxmlformats.org/officeDocument/2006/relationships/notesSlide" Target="/ppt/notesSlides/notesSlide7.xml" Id="R43699223034c49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4f70ff7c9b24708" /><Relationship Type="http://schemas.openxmlformats.org/officeDocument/2006/relationships/notesSlide" Target="/ppt/notesSlides/notesSlide8.xml" Id="R1151b24da7494878"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f0a36525d084e97"/>
          <a:srcRect xmlns:a="http://schemas.openxmlformats.org/drawingml/2006/main" l="29677" t="0" r="29677"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A38F62B-FEFA-4E25-BF64-7D3315BBCCCF}"/>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BD4233-89F5-4CB9-AE63-A40D7EF1ACF3}"/>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01</a:t>
            </a:r>
          </a:p>
        </p:txBody>
      </p:sp>
      <p:sp>
        <p:nvSpPr>
          <p:cNvPr id="4" name="">
            <a:extLst xmlns:a="http://schemas.openxmlformats.org/drawingml/2006/main">
              <a:ext uri="{FF2B5EF4-FFF2-40B4-BE49-F238E27FC236}">
                <a16:creationId xmlns:a16="http://schemas.microsoft.com/office/drawing/2014/main" id="{D7E90F53-2334-431F-B319-CBA202FBB92A}"/>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The Catapult Engineering Challenge</a:t>
            </a:r>
          </a:p>
        </p:txBody>
      </p:sp>
      <p:sp>
        <p:nvSpPr>
          <p:cNvPr id="5" name="">
            <a:extLst xmlns:a="http://schemas.openxmlformats.org/drawingml/2006/main">
              <a:ext uri="{FF2B5EF4-FFF2-40B4-BE49-F238E27FC236}">
                <a16:creationId xmlns:a16="http://schemas.microsoft.com/office/drawing/2014/main" id="{077C9117-556D-4125-852E-A6086C08FC25}"/>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Explain the Catapult as a connected system and read the brief with evidence in mind.</a:t>
            </a:r>
          </a:p>
        </p:txBody>
      </p:sp>
      <p:sp>
        <p:nvSpPr>
          <p:cNvPr id="6" name="">
            <a:extLst xmlns:a="http://schemas.openxmlformats.org/drawingml/2006/main">
              <a:ext uri="{FF2B5EF4-FFF2-40B4-BE49-F238E27FC236}">
                <a16:creationId xmlns:a16="http://schemas.microsoft.com/office/drawing/2014/main" id="{F38C1C50-B412-4AE2-A061-CE97993D0F14}"/>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1133250430"/>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DB0E5A6-73B3-4B13-A1D9-E50DB60BC6F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3D952D-D2A8-4551-985B-03BF3331A09B}"/>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01  /  CATAPULT CHALLENGE</a:t>
            </a:r>
          </a:p>
        </p:txBody>
      </p:sp>
      <p:sp>
        <p:nvSpPr>
          <p:cNvPr id="3" name="">
            <a:extLst xmlns:a="http://schemas.openxmlformats.org/drawingml/2006/main">
              <a:ext uri="{FF2B5EF4-FFF2-40B4-BE49-F238E27FC236}">
                <a16:creationId xmlns:a16="http://schemas.microsoft.com/office/drawing/2014/main" id="{9811447A-0C87-4E65-AB01-256AC6B2E8A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D7C6B7E1-330F-4692-A87F-143A69B23972}"/>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131162AF-4F79-47B8-B640-4E9717013098}"/>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01</a:t>
            </a:r>
          </a:p>
        </p:txBody>
      </p:sp>
      <p:sp>
        <p:nvSpPr>
          <p:cNvPr id="6" name="">
            <a:extLst xmlns:a="http://schemas.openxmlformats.org/drawingml/2006/main">
              <a:ext uri="{FF2B5EF4-FFF2-40B4-BE49-F238E27FC236}">
                <a16:creationId xmlns:a16="http://schemas.microsoft.com/office/drawing/2014/main" id="{E8666588-182B-4F1F-8809-4C9AC4EB6EB9}"/>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D7695E4B-0096-434D-B739-B28932C55BC4}"/>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How do relationships, feedback and constraints shape an engineered system?</a:t>
            </a:r>
          </a:p>
        </p:txBody>
      </p:sp>
      <p:sp>
        <p:nvSpPr>
          <p:cNvPr id="8" name="">
            <a:extLst xmlns:a="http://schemas.openxmlformats.org/drawingml/2006/main">
              <a:ext uri="{FF2B5EF4-FFF2-40B4-BE49-F238E27FC236}">
                <a16:creationId xmlns:a16="http://schemas.microsoft.com/office/drawing/2014/main" id="{B69E25DC-B727-4471-A7EA-CC35B5934757}"/>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9CCAFC1-0B4B-431B-B80A-01024D841F00}"/>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CBF10D-2095-471C-A0F5-46AE4E2B9EC7}"/>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4CFA8C-EEC7-4DD0-A5DE-10E559503F0C}"/>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C9364729-9B64-4D9D-B8D9-82C08FCFC617}"/>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Components work together</a:t>
            </a:r>
          </a:p>
        </p:txBody>
      </p:sp>
      <p:sp>
        <p:nvSpPr>
          <p:cNvPr id="13" name="">
            <a:extLst xmlns:a="http://schemas.openxmlformats.org/drawingml/2006/main">
              <a:ext uri="{FF2B5EF4-FFF2-40B4-BE49-F238E27FC236}">
                <a16:creationId xmlns:a16="http://schemas.microsoft.com/office/drawing/2014/main" id="{17210368-27D7-4B2F-AEF7-40A38EED0CC7}"/>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B4FE49-DEB5-4288-996E-4D13F506BA09}"/>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505C627E-964A-4EDA-AA3F-E723DD9DB203}"/>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Feedback closes the loop</a:t>
            </a:r>
          </a:p>
        </p:txBody>
      </p:sp>
      <p:sp>
        <p:nvSpPr>
          <p:cNvPr id="16" name="">
            <a:extLst xmlns:a="http://schemas.openxmlformats.org/drawingml/2006/main">
              <a:ext uri="{FF2B5EF4-FFF2-40B4-BE49-F238E27FC236}">
                <a16:creationId xmlns:a16="http://schemas.microsoft.com/office/drawing/2014/main" id="{5B756193-469B-45F5-AF10-72F60EF3460F}"/>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038A69C-5E6B-432C-8C0D-F4607DE8AF80}"/>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81943C3A-DAD4-4A5A-8E1B-9F891B18A710}"/>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Constraints and criteria differ</a:t>
            </a:r>
          </a:p>
        </p:txBody>
      </p:sp>
      <p:sp>
        <p:nvSpPr>
          <p:cNvPr id="19" name="">
            <a:extLst xmlns:a="http://schemas.openxmlformats.org/drawingml/2006/main">
              <a:ext uri="{FF2B5EF4-FFF2-40B4-BE49-F238E27FC236}">
                <a16:creationId xmlns:a16="http://schemas.microsoft.com/office/drawing/2014/main" id="{BE085ADD-65A5-4403-BD7A-A53105848D27}"/>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2ECC5B2F-14D7-4C3C-B90E-B756079A640F}"/>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6A30CE78-B433-4B1B-BB08-072BAB1C8CF4}"/>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Name one component, one interaction and one output you could observe.</a:t>
            </a:r>
          </a:p>
        </p:txBody>
      </p:sp>
    </p:spTree>
    <p:extLst>
      <p:ext uri="{BB962C8B-B14F-4D97-AF65-F5344CB8AC3E}">
        <p14:creationId xmlns:p14="http://schemas.microsoft.com/office/powerpoint/2010/main" val="14979462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A84B4C5-7ADD-4474-BF37-5D119D0FDEB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628D580-8178-42E3-91B1-97F53B003864}"/>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01  /  CATAPULT CHALLENGE</a:t>
            </a:r>
          </a:p>
        </p:txBody>
      </p:sp>
      <p:sp>
        <p:nvSpPr>
          <p:cNvPr id="3" name="">
            <a:extLst xmlns:a="http://schemas.openxmlformats.org/drawingml/2006/main">
              <a:ext uri="{FF2B5EF4-FFF2-40B4-BE49-F238E27FC236}">
                <a16:creationId xmlns:a16="http://schemas.microsoft.com/office/drawing/2014/main" id="{B901001E-85F9-4C2A-8A66-D4B6CE747023}"/>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system is defined by relationships</a:t>
            </a:r>
          </a:p>
        </p:txBody>
      </p:sp>
      <p:sp>
        <p:nvSpPr>
          <p:cNvPr id="4" name="">
            <a:extLst xmlns:a="http://schemas.openxmlformats.org/drawingml/2006/main">
              <a:ext uri="{FF2B5EF4-FFF2-40B4-BE49-F238E27FC236}">
                <a16:creationId xmlns:a16="http://schemas.microsoft.com/office/drawing/2014/main" id="{A13DF812-F4F4-4DE4-88FF-8867E812C4D3}"/>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EF1A239D-F058-4443-A296-76353D4EB540}"/>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01</a:t>
            </a:r>
          </a:p>
        </p:txBody>
      </p:sp>
      <p:sp>
        <p:nvSpPr>
          <p:cNvPr id="6" name="">
            <a:extLst xmlns:a="http://schemas.openxmlformats.org/drawingml/2006/main">
              <a:ext uri="{FF2B5EF4-FFF2-40B4-BE49-F238E27FC236}">
                <a16:creationId xmlns:a16="http://schemas.microsoft.com/office/drawing/2014/main" id="{2180EB44-823E-4B82-AAFA-55C69E0258AC}"/>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6CBECE12-D5FB-4466-866A-2EC28EBA32B7}"/>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An engineered system is a group of connected components that work together for a purpose. Naming the base, frame, moving arm or energy store is only a start. The stronger explanation shows how one component affects another and how a change can alter the whole system.</a:t>
            </a:r>
          </a:p>
        </p:txBody>
      </p:sp>
      <p:sp>
        <p:nvSpPr>
          <p:cNvPr id="8" name="">
            <a:extLst xmlns:a="http://schemas.openxmlformats.org/drawingml/2006/main">
              <a:ext uri="{FF2B5EF4-FFF2-40B4-BE49-F238E27FC236}">
                <a16:creationId xmlns:a16="http://schemas.microsoft.com/office/drawing/2014/main" id="{6001881E-8987-4294-9EA5-FA5B3609962B}"/>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EBC12A47-95FE-40FF-AD55-7C6A1222BD65}"/>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Application: trace one component relationship and predict what else should be checked if it changes.</a:t>
            </a:r>
          </a:p>
        </p:txBody>
      </p:sp>
      <p:sp>
        <p:nvSpPr>
          <p:cNvPr id="10" name="">
            <a:extLst xmlns:a="http://schemas.openxmlformats.org/drawingml/2006/main">
              <a:ext uri="{FF2B5EF4-FFF2-40B4-BE49-F238E27FC236}">
                <a16:creationId xmlns:a16="http://schemas.microsoft.com/office/drawing/2014/main" id="{EA2842F3-9187-4012-81C0-23E17897AD70}"/>
              </a:ext>
            </a:extLst>
          </p:cNvPr>
          <p:cNvSpPr>
            <a:spLocks xmlns:a="http://schemas.openxmlformats.org/drawingml/2006/main" noGrp="1"/>
          </p:cNvSpPr>
          <p:nvPr/>
        </p:nvSpPr>
        <p:spPr>
          <a:xfrm xmlns:a="http://schemas.openxmlformats.org/drawingml/2006/main">
            <a:off x="758190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C5CEAB6-44D1-4053-9C6C-3D9E3A102F53}"/>
              </a:ext>
            </a:extLst>
          </p:cNvPr>
          <p:cNvSpPr>
            <a:spLocks xmlns:a="http://schemas.openxmlformats.org/drawingml/2006/main" noGrp="1"/>
          </p:cNvSpPr>
          <p:nvPr/>
        </p:nvSpPr>
        <p:spPr>
          <a:xfrm xmlns:a="http://schemas.openxmlformats.org/drawingml/2006/main">
            <a:off x="9296400" y="2371725"/>
            <a:ext cx="2667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5EC0B8-D6C8-4703-B0FB-38FFD458C47B}"/>
              </a:ext>
            </a:extLst>
          </p:cNvPr>
          <p:cNvSpPr>
            <a:spLocks xmlns:a="http://schemas.openxmlformats.org/drawingml/2006/main" noGrp="1"/>
          </p:cNvSpPr>
          <p:nvPr/>
        </p:nvSpPr>
        <p:spPr>
          <a:xfrm xmlns:a="http://schemas.openxmlformats.org/drawingml/2006/main">
            <a:off x="6191250" y="2076450"/>
            <a:ext cx="1333500" cy="838200"/>
          </a:xfrm>
          <a:prstGeom xmlns:a="http://schemas.openxmlformats.org/drawingml/2006/main" prst="roundRect">
            <a:avLst>
              <a:gd name="adj" fmla="val 9091"/>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PURPOSE</a:t>
            </a:r>
          </a:p>
        </p:txBody>
      </p:sp>
      <p:sp>
        <p:nvSpPr>
          <p:cNvPr id="13" name="">
            <a:extLst xmlns:a="http://schemas.openxmlformats.org/drawingml/2006/main">
              <a:ext uri="{FF2B5EF4-FFF2-40B4-BE49-F238E27FC236}">
                <a16:creationId xmlns:a16="http://schemas.microsoft.com/office/drawing/2014/main" id="{8DA3DC72-7F3A-432D-87BC-3D287A211B15}"/>
              </a:ext>
            </a:extLst>
          </p:cNvPr>
          <p:cNvSpPr>
            <a:spLocks xmlns:a="http://schemas.openxmlformats.org/drawingml/2006/main" noGrp="1"/>
          </p:cNvSpPr>
          <p:nvPr/>
        </p:nvSpPr>
        <p:spPr>
          <a:xfrm xmlns:a="http://schemas.openxmlformats.org/drawingml/2006/main">
            <a:off x="790575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COMPONENTS</a:t>
            </a:r>
          </a:p>
        </p:txBody>
      </p:sp>
      <p:sp>
        <p:nvSpPr>
          <p:cNvPr id="14" name="">
            <a:extLst xmlns:a="http://schemas.openxmlformats.org/drawingml/2006/main">
              <a:ext uri="{FF2B5EF4-FFF2-40B4-BE49-F238E27FC236}">
                <a16:creationId xmlns:a16="http://schemas.microsoft.com/office/drawing/2014/main" id="{7EC598F2-27A3-4DEF-A50C-162307AB1251}"/>
              </a:ext>
            </a:extLst>
          </p:cNvPr>
          <p:cNvSpPr>
            <a:spLocks xmlns:a="http://schemas.openxmlformats.org/drawingml/2006/main" noGrp="1"/>
          </p:cNvSpPr>
          <p:nvPr/>
        </p:nvSpPr>
        <p:spPr>
          <a:xfrm xmlns:a="http://schemas.openxmlformats.org/drawingml/2006/main">
            <a:off x="9620250" y="2076450"/>
            <a:ext cx="1333500" cy="8382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RELATIONSHIPS</a:t>
            </a:r>
          </a:p>
        </p:txBody>
      </p:sp>
      <p:sp>
        <p:nvSpPr>
          <p:cNvPr id="15" name="">
            <a:extLst xmlns:a="http://schemas.openxmlformats.org/drawingml/2006/main">
              <a:ext uri="{FF2B5EF4-FFF2-40B4-BE49-F238E27FC236}">
                <a16:creationId xmlns:a16="http://schemas.microsoft.com/office/drawing/2014/main" id="{1B512B5F-3391-4D4C-BEA1-F564038D66BD}"/>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Notice the links, not just the parts. A design decision must consider the whole system.</a:t>
            </a:r>
          </a:p>
        </p:txBody>
      </p:sp>
    </p:spTree>
    <p:extLst>
      <p:ext uri="{BB962C8B-B14F-4D97-AF65-F5344CB8AC3E}">
        <p14:creationId xmlns:p14="http://schemas.microsoft.com/office/powerpoint/2010/main" val="144057026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C748C37-84C3-4A3D-A88B-EABCAFBC77FC}"/>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4DFCB4-0695-45C3-8B4F-E0FBCABF4200}"/>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01  /  CATAPULT CHALLENGE</a:t>
            </a:r>
          </a:p>
        </p:txBody>
      </p:sp>
      <p:sp>
        <p:nvSpPr>
          <p:cNvPr id="3" name="">
            <a:extLst xmlns:a="http://schemas.openxmlformats.org/drawingml/2006/main">
              <a:ext uri="{FF2B5EF4-FFF2-40B4-BE49-F238E27FC236}">
                <a16:creationId xmlns:a16="http://schemas.microsoft.com/office/drawing/2014/main" id="{AEAFD044-9B47-4D1B-8A0F-BB141D421AFB}"/>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Feedback turns testing into a design loop</a:t>
            </a:r>
          </a:p>
        </p:txBody>
      </p:sp>
      <p:sp>
        <p:nvSpPr>
          <p:cNvPr id="4" name="">
            <a:extLst xmlns:a="http://schemas.openxmlformats.org/drawingml/2006/main">
              <a:ext uri="{FF2B5EF4-FFF2-40B4-BE49-F238E27FC236}">
                <a16:creationId xmlns:a16="http://schemas.microsoft.com/office/drawing/2014/main" id="{7B1A4028-5FC1-44B5-AA73-7790D14A0E7A}"/>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BF8F54B1-62E7-45F7-A901-84BFF98FB21B}"/>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01</a:t>
            </a:r>
          </a:p>
        </p:txBody>
      </p:sp>
      <p:sp>
        <p:nvSpPr>
          <p:cNvPr id="6" name="">
            <a:extLst xmlns:a="http://schemas.openxmlformats.org/drawingml/2006/main">
              <a:ext uri="{FF2B5EF4-FFF2-40B4-BE49-F238E27FC236}">
                <a16:creationId xmlns:a16="http://schemas.microsoft.com/office/drawing/2014/main" id="{7CACE0A2-EC48-4690-81B6-643053D87FC1}"/>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A2830136-3DEB-43CB-A52A-886A90F35FEA}"/>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Inputs such as stored energy, materials and design information enter the system. Processes transfer or transform them. Outputs can include movement, sound, vibration and test data. Feedback is useful when an observed output guides the next decision.</a:t>
            </a:r>
          </a:p>
        </p:txBody>
      </p:sp>
      <p:sp>
        <p:nvSpPr>
          <p:cNvPr id="8" name="">
            <a:extLst xmlns:a="http://schemas.openxmlformats.org/drawingml/2006/main">
              <a:ext uri="{FF2B5EF4-FFF2-40B4-BE49-F238E27FC236}">
                <a16:creationId xmlns:a16="http://schemas.microsoft.com/office/drawing/2014/main" id="{249806E7-EB91-431F-B543-730358EB76F0}"/>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8F4CD0FC-BBCE-4CEB-99F0-830160D9251F}"/>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Evidence move: turn one observed output into a specific question for the next check.</a:t>
            </a:r>
          </a:p>
        </p:txBody>
      </p:sp>
      <p:sp>
        <p:nvSpPr>
          <p:cNvPr id="10" name="">
            <a:extLst xmlns:a="http://schemas.openxmlformats.org/drawingml/2006/main">
              <a:ext uri="{FF2B5EF4-FFF2-40B4-BE49-F238E27FC236}">
                <a16:creationId xmlns:a16="http://schemas.microsoft.com/office/drawing/2014/main" id="{09B36D25-5944-4BDC-8DBF-E08D3CB9D857}"/>
              </a:ext>
            </a:extLst>
          </p:cNvPr>
          <p:cNvSpPr>
            <a:spLocks xmlns:a="http://schemas.openxmlformats.org/drawingml/2006/main" noGrp="1"/>
          </p:cNvSpPr>
          <p:nvPr/>
        </p:nvSpPr>
        <p:spPr>
          <a:xfrm xmlns:a="http://schemas.openxmlformats.org/drawingml/2006/main" rot="2280000">
            <a:off x="3829050" y="2114550"/>
            <a:ext cx="714375"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652F12-792B-46B1-B6D0-6A8218CCDCA2}"/>
              </a:ext>
            </a:extLst>
          </p:cNvPr>
          <p:cNvSpPr>
            <a:spLocks xmlns:a="http://schemas.openxmlformats.org/drawingml/2006/main" noGrp="1"/>
          </p:cNvSpPr>
          <p:nvPr/>
        </p:nvSpPr>
        <p:spPr>
          <a:xfrm xmlns:a="http://schemas.openxmlformats.org/drawingml/2006/main" rot="8520000">
            <a:off x="3829050" y="3295650"/>
            <a:ext cx="714375"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AC6935-1D48-46EE-92F4-15D809F53C87}"/>
              </a:ext>
            </a:extLst>
          </p:cNvPr>
          <p:cNvSpPr>
            <a:spLocks xmlns:a="http://schemas.openxmlformats.org/drawingml/2006/main" noGrp="1"/>
          </p:cNvSpPr>
          <p:nvPr/>
        </p:nvSpPr>
        <p:spPr>
          <a:xfrm xmlns:a="http://schemas.openxmlformats.org/drawingml/2006/main" rot="13080000">
            <a:off x="1428750" y="3295650"/>
            <a:ext cx="714375"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37FF7B3-9410-44C0-BAA0-9D7125C74D51}"/>
              </a:ext>
            </a:extLst>
          </p:cNvPr>
          <p:cNvSpPr>
            <a:spLocks xmlns:a="http://schemas.openxmlformats.org/drawingml/2006/main" noGrp="1"/>
          </p:cNvSpPr>
          <p:nvPr/>
        </p:nvSpPr>
        <p:spPr>
          <a:xfrm xmlns:a="http://schemas.openxmlformats.org/drawingml/2006/main" rot="19320000">
            <a:off x="1428750" y="2114550"/>
            <a:ext cx="714375"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726595-E51D-46BD-9E9C-118A11C5317B}"/>
              </a:ext>
            </a:extLst>
          </p:cNvPr>
          <p:cNvSpPr>
            <a:spLocks xmlns:a="http://schemas.openxmlformats.org/drawingml/2006/main" noGrp="1"/>
          </p:cNvSpPr>
          <p:nvPr/>
        </p:nvSpPr>
        <p:spPr>
          <a:xfrm xmlns:a="http://schemas.openxmlformats.org/drawingml/2006/main">
            <a:off x="2381250" y="1409700"/>
            <a:ext cx="1428750" cy="704850"/>
          </a:xfrm>
          <a:prstGeom xmlns:a="http://schemas.openxmlformats.org/drawingml/2006/main" prst="roundRect">
            <a:avLst>
              <a:gd name="adj" fmla="val 10811"/>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INPUT</a:t>
            </a:r>
          </a:p>
        </p:txBody>
      </p:sp>
      <p:sp>
        <p:nvSpPr>
          <p:cNvPr id="15" name="">
            <a:extLst xmlns:a="http://schemas.openxmlformats.org/drawingml/2006/main">
              <a:ext uri="{FF2B5EF4-FFF2-40B4-BE49-F238E27FC236}">
                <a16:creationId xmlns:a16="http://schemas.microsoft.com/office/drawing/2014/main" id="{B8B19AE8-431F-41B8-BDBF-6C0DDB9D33ED}"/>
              </a:ext>
            </a:extLst>
          </p:cNvPr>
          <p:cNvSpPr>
            <a:spLocks xmlns:a="http://schemas.openxmlformats.org/drawingml/2006/main" noGrp="1"/>
          </p:cNvSpPr>
          <p:nvPr/>
        </p:nvSpPr>
        <p:spPr>
          <a:xfrm xmlns:a="http://schemas.openxmlformats.org/drawingml/2006/main">
            <a:off x="4133850" y="2362200"/>
            <a:ext cx="1428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PROCESS</a:t>
            </a:r>
          </a:p>
        </p:txBody>
      </p:sp>
      <p:sp>
        <p:nvSpPr>
          <p:cNvPr id="16" name="">
            <a:extLst xmlns:a="http://schemas.openxmlformats.org/drawingml/2006/main">
              <a:ext uri="{FF2B5EF4-FFF2-40B4-BE49-F238E27FC236}">
                <a16:creationId xmlns:a16="http://schemas.microsoft.com/office/drawing/2014/main" id="{62932080-4FE9-441C-B707-84633260677B}"/>
              </a:ext>
            </a:extLst>
          </p:cNvPr>
          <p:cNvSpPr>
            <a:spLocks xmlns:a="http://schemas.openxmlformats.org/drawingml/2006/main" noGrp="1"/>
          </p:cNvSpPr>
          <p:nvPr/>
        </p:nvSpPr>
        <p:spPr>
          <a:xfrm xmlns:a="http://schemas.openxmlformats.org/drawingml/2006/main">
            <a:off x="2381250" y="3314700"/>
            <a:ext cx="1428750" cy="704850"/>
          </a:xfrm>
          <a:prstGeom xmlns:a="http://schemas.openxmlformats.org/drawingml/2006/main" prst="roundRect">
            <a:avLst>
              <a:gd name="adj" fmla="val 10811"/>
            </a:avLst>
          </a:prstGeom>
          <a:solidFill xmlns:a="http://schemas.openxmlformats.org/drawingml/2006/main">
            <a:srgbClr val="E7EEF0"/>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OUTPUT</a:t>
            </a:r>
          </a:p>
        </p:txBody>
      </p:sp>
      <p:sp>
        <p:nvSpPr>
          <p:cNvPr id="17" name="">
            <a:extLst xmlns:a="http://schemas.openxmlformats.org/drawingml/2006/main">
              <a:ext uri="{FF2B5EF4-FFF2-40B4-BE49-F238E27FC236}">
                <a16:creationId xmlns:a16="http://schemas.microsoft.com/office/drawing/2014/main" id="{D2F08E1B-9232-46AC-94B6-86DFC3AD8D2B}"/>
              </a:ext>
            </a:extLst>
          </p:cNvPr>
          <p:cNvSpPr>
            <a:spLocks xmlns:a="http://schemas.openxmlformats.org/drawingml/2006/main" noGrp="1"/>
          </p:cNvSpPr>
          <p:nvPr/>
        </p:nvSpPr>
        <p:spPr>
          <a:xfrm xmlns:a="http://schemas.openxmlformats.org/drawingml/2006/main">
            <a:off x="628650" y="2362200"/>
            <a:ext cx="1428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CAD4D8"/>
            </a:solidFill>
            <a:prstDash val="solid"/>
          </a:ln>
        </p:spPr>
        <p:txBody>
          <a:bodyPr xmlns:a="http://schemas.openxmlformats.org/drawingml/2006/main"/>
          <a:lstStyle xmlns:a="http://schemas.openxmlformats.org/drawingml/2006/main"/>
          <a:p xmlns:a="http://schemas.openxmlformats.org/drawingml/2006/main">
            <a:pPr algn="ctr">
              <a:defRPr sz="1200" b="1">
                <a:solidFill>
                  <a:srgbClr val="17232B"/>
                </a:solidFill>
              </a:defRPr>
            </a:pPr>
            <a:r>
              <a:rPr sz="1200" b="1">
                <a:solidFill>
                  <a:srgbClr val="17232B"/>
                </a:solidFill>
              </a:rPr>
              <a:t>FEEDBACK</a:t>
            </a:r>
          </a:p>
        </p:txBody>
      </p:sp>
      <p:sp>
        <p:nvSpPr>
          <p:cNvPr id="18" name="">
            <a:extLst xmlns:a="http://schemas.openxmlformats.org/drawingml/2006/main">
              <a:ext uri="{FF2B5EF4-FFF2-40B4-BE49-F238E27FC236}">
                <a16:creationId xmlns:a16="http://schemas.microsoft.com/office/drawing/2014/main" id="{59ABEE89-D31D-4240-8EA4-B7C77311B093}"/>
              </a:ext>
            </a:extLst>
          </p:cNvPr>
          <p:cNvSpPr>
            <a:spLocks xmlns:a="http://schemas.openxmlformats.org/drawingml/2006/main" noGrp="1"/>
          </p:cNvSpPr>
          <p:nvPr/>
        </p:nvSpPr>
        <p:spPr>
          <a:xfrm xmlns:a="http://schemas.openxmlformats.org/drawingml/2006/main">
            <a:off x="68580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Feedback returns evidence to the next decision instead of ending the process.</a:t>
            </a:r>
          </a:p>
        </p:txBody>
      </p:sp>
    </p:spTree>
    <p:extLst>
      <p:ext uri="{BB962C8B-B14F-4D97-AF65-F5344CB8AC3E}">
        <p14:creationId xmlns:p14="http://schemas.microsoft.com/office/powerpoint/2010/main" val="1685435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0A8CC2B-62F6-437A-9CAF-B400A391E51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FEDC049-D376-4C04-8DB2-D8E2E82C5A4C}"/>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01  /  CATAPULT CHALLENGE</a:t>
            </a:r>
          </a:p>
        </p:txBody>
      </p:sp>
      <p:sp>
        <p:nvSpPr>
          <p:cNvPr id="3" name="">
            <a:extLst xmlns:a="http://schemas.openxmlformats.org/drawingml/2006/main">
              <a:ext uri="{FF2B5EF4-FFF2-40B4-BE49-F238E27FC236}">
                <a16:creationId xmlns:a16="http://schemas.microsoft.com/office/drawing/2014/main" id="{6EA7534C-972E-4DDD-B230-0C5B0B76A517}"/>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Constraints are boundaries; criteria judge success</a:t>
            </a:r>
          </a:p>
        </p:txBody>
      </p:sp>
      <p:sp>
        <p:nvSpPr>
          <p:cNvPr id="4" name="">
            <a:extLst xmlns:a="http://schemas.openxmlformats.org/drawingml/2006/main">
              <a:ext uri="{FF2B5EF4-FFF2-40B4-BE49-F238E27FC236}">
                <a16:creationId xmlns:a16="http://schemas.microsoft.com/office/drawing/2014/main" id="{7EDE9035-7D6B-4CBD-915D-45EE32EB8395}"/>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78272E9E-1317-49B1-8954-0BA58D7CAAEC}"/>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01</a:t>
            </a:r>
          </a:p>
        </p:txBody>
      </p:sp>
      <p:sp>
        <p:nvSpPr>
          <p:cNvPr id="6" name="">
            <a:extLst xmlns:a="http://schemas.openxmlformats.org/drawingml/2006/main">
              <a:ext uri="{FF2B5EF4-FFF2-40B4-BE49-F238E27FC236}">
                <a16:creationId xmlns:a16="http://schemas.microsoft.com/office/drawing/2014/main" id="{501B0182-5157-4945-A4DD-85C0F90FD743}"/>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A032A075-334A-44FC-81B2-B38B4FFBC948}"/>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The authorised brief sets materials, a practical-plus-folio expectation and a maximum planned pine length of 2400 mm. These are constraints. A criterion states what successful performance would look like and must connect to observable evidence confirmed by the teacher.</a:t>
            </a:r>
          </a:p>
        </p:txBody>
      </p:sp>
      <p:sp>
        <p:nvSpPr>
          <p:cNvPr id="8" name="">
            <a:extLst xmlns:a="http://schemas.openxmlformats.org/drawingml/2006/main">
              <a:ext uri="{FF2B5EF4-FFF2-40B4-BE49-F238E27FC236}">
                <a16:creationId xmlns:a16="http://schemas.microsoft.com/office/drawing/2014/main" id="{66DEE2B6-8867-4773-8A28-DE0B917CF17B}"/>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20DFDE9A-A13D-4D5F-A2EF-7035B58EEC04}"/>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Decision: sort each statement as a boundary to respect or evidence to judge.</a:t>
            </a:r>
          </a:p>
        </p:txBody>
      </p:sp>
      <p:sp>
        <p:nvSpPr>
          <p:cNvPr id="10" name="">
            <a:extLst xmlns:a="http://schemas.openxmlformats.org/drawingml/2006/main">
              <a:ext uri="{FF2B5EF4-FFF2-40B4-BE49-F238E27FC236}">
                <a16:creationId xmlns:a16="http://schemas.microsoft.com/office/drawing/2014/main" id="{C99B804F-DDEA-4C6F-A42F-927E4E9B23AF}"/>
              </a:ext>
            </a:extLst>
          </p:cNvPr>
          <p:cNvSpPr>
            <a:spLocks xmlns:a="http://schemas.openxmlformats.org/drawingml/2006/main" noGrp="1"/>
          </p:cNvSpPr>
          <p:nvPr/>
        </p:nvSpPr>
        <p:spPr>
          <a:xfrm xmlns:a="http://schemas.openxmlformats.org/drawingml/2006/main">
            <a:off x="8572500" y="1752600"/>
            <a:ext cx="0" cy="2190750"/>
          </a:xfrm>
          <a:prstGeom xmlns:a="http://schemas.openxmlformats.org/drawingml/2006/main" prst="line">
            <a:avLst/>
          </a:prstGeom>
          <a:noFill xmlns:a="http://schemas.openxmlformats.org/drawingml/2006/main"/>
          <a:ln xmlns:a="http://schemas.openxmlformats.org/drawingml/2006/main" w="47625">
            <a:solidFill>
              <a:srgbClr val="F0B84B"/>
            </a:solidFill>
            <a:prstDash val="solid"/>
          </a:ln>
        </p:spPr>
      </p:sp>
      <p:sp>
        <p:nvSpPr>
          <p:cNvPr id="11" name="">
            <a:extLst xmlns:a="http://schemas.openxmlformats.org/drawingml/2006/main">
              <a:ext uri="{FF2B5EF4-FFF2-40B4-BE49-F238E27FC236}">
                <a16:creationId xmlns:a16="http://schemas.microsoft.com/office/drawing/2014/main" id="{7252BF54-FE11-4EA1-8894-495358C954B5}"/>
              </a:ext>
            </a:extLst>
          </p:cNvPr>
          <p:cNvSpPr>
            <a:spLocks xmlns:a="http://schemas.openxmlformats.org/drawingml/2006/main" noGrp="1"/>
          </p:cNvSpPr>
          <p:nvPr/>
        </p:nvSpPr>
        <p:spPr>
          <a:xfrm xmlns:a="http://schemas.openxmlformats.org/drawingml/2006/main">
            <a:off x="6191250" y="18097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84F5E"/>
                </a:solidFill>
              </a:defRPr>
            </a:pPr>
            <a:r>
              <a:rPr sz="1800" b="1">
                <a:solidFill>
                  <a:srgbClr val="184F5E"/>
                </a:solidFill>
              </a:rPr>
              <a:t>CONSTRAINTS</a:t>
            </a:r>
          </a:p>
        </p:txBody>
      </p:sp>
      <p:sp>
        <p:nvSpPr>
          <p:cNvPr id="12" name="">
            <a:extLst xmlns:a="http://schemas.openxmlformats.org/drawingml/2006/main">
              <a:ext uri="{FF2B5EF4-FFF2-40B4-BE49-F238E27FC236}">
                <a16:creationId xmlns:a16="http://schemas.microsoft.com/office/drawing/2014/main" id="{D360F6F3-A0EB-46C3-8C35-B635FEC0A49D}"/>
              </a:ext>
            </a:extLst>
          </p:cNvPr>
          <p:cNvSpPr>
            <a:spLocks xmlns:a="http://schemas.openxmlformats.org/drawingml/2006/main" noGrp="1"/>
          </p:cNvSpPr>
          <p:nvPr/>
        </p:nvSpPr>
        <p:spPr>
          <a:xfrm xmlns:a="http://schemas.openxmlformats.org/drawingml/2006/main">
            <a:off x="8858250" y="18097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A94424"/>
                </a:solidFill>
              </a:defRPr>
            </a:pPr>
            <a:r>
              <a:rPr sz="1800" b="1">
                <a:solidFill>
                  <a:srgbClr val="A94424"/>
                </a:solidFill>
              </a:rPr>
              <a:t>CRITERIA</a:t>
            </a:r>
          </a:p>
        </p:txBody>
      </p:sp>
      <p:sp>
        <p:nvSpPr>
          <p:cNvPr id="13" name="">
            <a:extLst xmlns:a="http://schemas.openxmlformats.org/drawingml/2006/main">
              <a:ext uri="{FF2B5EF4-FFF2-40B4-BE49-F238E27FC236}">
                <a16:creationId xmlns:a16="http://schemas.microsoft.com/office/drawing/2014/main" id="{1F527F8A-51BF-4704-8E42-BABC5B7C90BC}"/>
              </a:ext>
            </a:extLst>
          </p:cNvPr>
          <p:cNvSpPr>
            <a:spLocks xmlns:a="http://schemas.openxmlformats.org/drawingml/2006/main" noGrp="1"/>
          </p:cNvSpPr>
          <p:nvPr/>
        </p:nvSpPr>
        <p:spPr>
          <a:xfrm xmlns:a="http://schemas.openxmlformats.org/drawingml/2006/main">
            <a:off x="6381750" y="2486025"/>
            <a:ext cx="1809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0">
                <a:solidFill>
                  <a:srgbClr val="17232B"/>
                </a:solidFill>
              </a:defRPr>
            </a:pPr>
            <a:r>
              <a:rPr sz="1575" b="0">
                <a:solidFill>
                  <a:srgbClr val="17232B"/>
                </a:solidFill>
              </a:rPr>
              <a:t>What the solution must work within</a:t>
            </a:r>
          </a:p>
        </p:txBody>
      </p:sp>
      <p:sp>
        <p:nvSpPr>
          <p:cNvPr id="14" name="">
            <a:extLst xmlns:a="http://schemas.openxmlformats.org/drawingml/2006/main">
              <a:ext uri="{FF2B5EF4-FFF2-40B4-BE49-F238E27FC236}">
                <a16:creationId xmlns:a16="http://schemas.microsoft.com/office/drawing/2014/main" id="{22883129-6E06-497B-9595-55567B95B16D}"/>
              </a:ext>
            </a:extLst>
          </p:cNvPr>
          <p:cNvSpPr>
            <a:spLocks xmlns:a="http://schemas.openxmlformats.org/drawingml/2006/main" noGrp="1"/>
          </p:cNvSpPr>
          <p:nvPr/>
        </p:nvSpPr>
        <p:spPr>
          <a:xfrm xmlns:a="http://schemas.openxmlformats.org/drawingml/2006/main">
            <a:off x="8953500" y="2486025"/>
            <a:ext cx="1809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0">
                <a:solidFill>
                  <a:srgbClr val="17232B"/>
                </a:solidFill>
              </a:defRPr>
            </a:pPr>
            <a:r>
              <a:rPr sz="1575" b="0">
                <a:solidFill>
                  <a:srgbClr val="17232B"/>
                </a:solidFill>
              </a:rPr>
              <a:t>What evidence will show success</a:t>
            </a:r>
          </a:p>
        </p:txBody>
      </p:sp>
      <p:sp>
        <p:nvSpPr>
          <p:cNvPr id="15" name="">
            <a:extLst xmlns:a="http://schemas.openxmlformats.org/drawingml/2006/main">
              <a:ext uri="{FF2B5EF4-FFF2-40B4-BE49-F238E27FC236}">
                <a16:creationId xmlns:a16="http://schemas.microsoft.com/office/drawing/2014/main" id="{58669D3A-FED8-4B46-B8F6-44360556A16E}"/>
              </a:ext>
            </a:extLst>
          </p:cNvPr>
          <p:cNvSpPr>
            <a:spLocks xmlns:a="http://schemas.openxmlformats.org/drawingml/2006/main" noGrp="1"/>
          </p:cNvSpPr>
          <p:nvPr/>
        </p:nvSpPr>
        <p:spPr>
          <a:xfrm xmlns:a="http://schemas.openxmlformats.org/drawingml/2006/main">
            <a:off x="6191250" y="4762500"/>
            <a:ext cx="4762500" cy="5524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350" b="1">
                <a:solidFill>
                  <a:srgbClr val="184F5E"/>
                </a:solidFill>
              </a:defRPr>
            </a:pPr>
            <a:r>
              <a:rPr sz="1350" b="1">
                <a:solidFill>
                  <a:srgbClr val="184F5E"/>
                </a:solidFill>
              </a:rPr>
              <a:t>NOTICE  Meeting a boundary does not automatically prove the solution performs well.</a:t>
            </a:r>
          </a:p>
        </p:txBody>
      </p:sp>
    </p:spTree>
    <p:extLst>
      <p:ext uri="{BB962C8B-B14F-4D97-AF65-F5344CB8AC3E}">
        <p14:creationId xmlns:p14="http://schemas.microsoft.com/office/powerpoint/2010/main" val="1142373942"/>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5071DE6-4EB8-404D-BCD3-7BD040B63A5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BD41778-FDAE-4720-A625-1ADE8135B658}"/>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01  /  CATAPULT CHALLENGE</a:t>
            </a:r>
          </a:p>
        </p:txBody>
      </p:sp>
      <p:sp>
        <p:nvSpPr>
          <p:cNvPr id="3" name="">
            <a:extLst xmlns:a="http://schemas.openxmlformats.org/drawingml/2006/main">
              <a:ext uri="{FF2B5EF4-FFF2-40B4-BE49-F238E27FC236}">
                <a16:creationId xmlns:a16="http://schemas.microsoft.com/office/drawing/2014/main" id="{CCCB7BFA-E809-4C19-A40D-B6D976265747}"/>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BB3A3757-5222-440D-BB61-4FEFB53DFB43}"/>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6B16FD62-BDC6-4E98-91EA-6ED407F42512}"/>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01</a:t>
            </a:r>
          </a:p>
        </p:txBody>
      </p:sp>
      <p:sp>
        <p:nvSpPr>
          <p:cNvPr id="6" name="">
            <a:extLst xmlns:a="http://schemas.openxmlformats.org/drawingml/2006/main">
              <a:ext uri="{FF2B5EF4-FFF2-40B4-BE49-F238E27FC236}">
                <a16:creationId xmlns:a16="http://schemas.microsoft.com/office/drawing/2014/main" id="{DB6731D6-0E5F-42E0-BD23-06D1CE0DBE0C}"/>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848CDC3C-961F-4511-9AED-207E6A98D529}"/>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067BB592-FD51-4E49-B863-1DE53B4EDD1C}"/>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49676129-4AFC-481D-BF2E-C30692029776}"/>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is a list of parts not yet a system explanation?</a:t>
            </a:r>
          </a:p>
        </p:txBody>
      </p:sp>
      <p:sp>
        <p:nvSpPr>
          <p:cNvPr id="10" name="">
            <a:extLst xmlns:a="http://schemas.openxmlformats.org/drawingml/2006/main">
              <a:ext uri="{FF2B5EF4-FFF2-40B4-BE49-F238E27FC236}">
                <a16:creationId xmlns:a16="http://schemas.microsoft.com/office/drawing/2014/main" id="{B8BFF0D7-8E24-42DB-BF4C-5F0D35D8E1F7}"/>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6BE048EA-2306-4C2C-A9D0-15370BF9E76C}"/>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ABB9AA2C-CAB7-4256-B30F-62838C625A9A}"/>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feedback useful in engineering?</a:t>
            </a:r>
          </a:p>
        </p:txBody>
      </p:sp>
      <p:sp>
        <p:nvSpPr>
          <p:cNvPr id="13" name="">
            <a:extLst xmlns:a="http://schemas.openxmlformats.org/drawingml/2006/main">
              <a:ext uri="{FF2B5EF4-FFF2-40B4-BE49-F238E27FC236}">
                <a16:creationId xmlns:a16="http://schemas.microsoft.com/office/drawing/2014/main" id="{A97194D0-7B0E-4DAD-80BF-F194D3C5ED61}"/>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6E141717-8B36-4388-B529-913438B68CD0}"/>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D9871815-B689-4CC1-A0E1-407CCB0B286E}"/>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is a criterion different from a constraint?</a:t>
            </a:r>
          </a:p>
        </p:txBody>
      </p:sp>
      <p:sp>
        <p:nvSpPr>
          <p:cNvPr id="16" name="">
            <a:extLst xmlns:a="http://schemas.openxmlformats.org/drawingml/2006/main">
              <a:ext uri="{FF2B5EF4-FFF2-40B4-BE49-F238E27FC236}">
                <a16:creationId xmlns:a16="http://schemas.microsoft.com/office/drawing/2014/main" id="{81A655EB-0721-4B9A-88E3-9D97144F323C}"/>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BDA5B8A0-9181-484F-B24B-90698F87B613}"/>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99F7C089-7AA9-49F1-96BB-5A4003DA4A84}"/>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Which evidence would help explain an inconsistent result?</a:t>
            </a:r>
          </a:p>
        </p:txBody>
      </p:sp>
    </p:spTree>
    <p:extLst>
      <p:ext uri="{BB962C8B-B14F-4D97-AF65-F5344CB8AC3E}">
        <p14:creationId xmlns:p14="http://schemas.microsoft.com/office/powerpoint/2010/main" val="2052660583"/>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7D85526-E1AB-4048-8EDF-A8D93344E93B}"/>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205278E-0EBE-4618-88DA-97958AB86150}"/>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01  /  CATAPULT CHALLENGE</a:t>
            </a:r>
          </a:p>
        </p:txBody>
      </p:sp>
      <p:sp>
        <p:nvSpPr>
          <p:cNvPr id="3" name="">
            <a:extLst xmlns:a="http://schemas.openxmlformats.org/drawingml/2006/main">
              <a:ext uri="{FF2B5EF4-FFF2-40B4-BE49-F238E27FC236}">
                <a16:creationId xmlns:a16="http://schemas.microsoft.com/office/drawing/2014/main" id="{F1975F48-0619-4AE6-82DF-1015E9926E3A}"/>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92982F12-4A85-4452-B332-69E6347FBC53}"/>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9603CAA6-D069-4D54-9F77-20BAB81BD8CD}"/>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01</a:t>
            </a:r>
          </a:p>
        </p:txBody>
      </p:sp>
      <p:sp>
        <p:nvSpPr>
          <p:cNvPr id="6" name="">
            <a:extLst xmlns:a="http://schemas.openxmlformats.org/drawingml/2006/main">
              <a:ext uri="{FF2B5EF4-FFF2-40B4-BE49-F238E27FC236}">
                <a16:creationId xmlns:a16="http://schemas.microsoft.com/office/drawing/2014/main" id="{75C66442-BEA3-4BE5-9BA3-599913232837}"/>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3394F361-725D-4DE8-8C38-780397C8F79B}"/>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E8CD1CE6-8D8C-4A95-8F8F-A845F915F02B}"/>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A design meets every confirmed constraint but gives inconsistent results. Explain why it may still be unsuccessful and identify the evidence needed before one change is recommended.</a:t>
            </a:r>
          </a:p>
        </p:txBody>
      </p:sp>
      <p:sp>
        <p:nvSpPr>
          <p:cNvPr id="9" name="">
            <a:extLst xmlns:a="http://schemas.openxmlformats.org/drawingml/2006/main">
              <a:ext uri="{FF2B5EF4-FFF2-40B4-BE49-F238E27FC236}">
                <a16:creationId xmlns:a16="http://schemas.microsoft.com/office/drawing/2014/main" id="{55397770-CF60-42F4-92FB-8FCE048ACF8E}"/>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AF29AF-D254-4DCF-94C1-14261C4F9FB7}"/>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B19C76D-6BCE-43B2-9B8A-7673228E6EC2}"/>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B21E8B1-102C-414B-A020-C1C11FCE4228}"/>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FD3AF6BF-605A-4963-A77E-B32E1BEAB296}"/>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7BFC47AB-32F6-46B1-8FFD-04255A270DF6}"/>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8F06299A-FA1A-405C-AA80-2FE18E8E867E}"/>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DB6F039D-3757-493F-9D0E-3FED7543B177}"/>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BA11280D-FC3F-4347-939D-532D5BAA97FC}"/>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A273B301-19EC-4436-BDF7-01853AF527F2}"/>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Although the design meets the constraints, the evidence shows … This matters because … Before changing … I would check …</a:t>
            </a:r>
          </a:p>
        </p:txBody>
      </p:sp>
    </p:spTree>
    <p:extLst>
      <p:ext uri="{BB962C8B-B14F-4D97-AF65-F5344CB8AC3E}">
        <p14:creationId xmlns:p14="http://schemas.microsoft.com/office/powerpoint/2010/main" val="194996331"/>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CBB262E-4D25-4A2C-936A-E82843455897}"/>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B19AFA66-2036-4EEC-AD60-4345E9D2999D}"/>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E99AA9E8-4A10-479B-AF9B-CEF27C33BCD8}"/>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2C8F2E-C9E2-4DCF-9F12-98A4CCD78227}"/>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system relationship I can now explain …</a:t>
            </a:r>
          </a:p>
        </p:txBody>
      </p:sp>
      <p:sp>
        <p:nvSpPr>
          <p:cNvPr id="5" name="">
            <a:extLst xmlns:a="http://schemas.openxmlformats.org/drawingml/2006/main">
              <a:ext uri="{FF2B5EF4-FFF2-40B4-BE49-F238E27FC236}">
                <a16:creationId xmlns:a16="http://schemas.microsoft.com/office/drawing/2014/main" id="{0ABBD472-1335-4390-BF1F-916276641C1A}"/>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0A118B2-1C2E-4B9C-8062-08DB24BF71FA}"/>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piece of evidence that could guide a change …</a:t>
            </a:r>
          </a:p>
        </p:txBody>
      </p:sp>
      <p:sp>
        <p:nvSpPr>
          <p:cNvPr id="7" name="">
            <a:extLst xmlns:a="http://schemas.openxmlformats.org/drawingml/2006/main">
              <a:ext uri="{FF2B5EF4-FFF2-40B4-BE49-F238E27FC236}">
                <a16:creationId xmlns:a16="http://schemas.microsoft.com/office/drawing/2014/main" id="{37EF9772-B07A-4CD3-B9C9-0CE95B68BC5B}"/>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61486A-2A19-4770-BC07-D67FBA5FFE54}"/>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question about the confirmed brief …</a:t>
            </a:r>
          </a:p>
        </p:txBody>
      </p:sp>
      <p:sp>
        <p:nvSpPr>
          <p:cNvPr id="9" name="">
            <a:extLst xmlns:a="http://schemas.openxmlformats.org/drawingml/2006/main">
              <a:ext uri="{FF2B5EF4-FFF2-40B4-BE49-F238E27FC236}">
                <a16:creationId xmlns:a16="http://schemas.microsoft.com/office/drawing/2014/main" id="{9B7BEAB9-176C-4957-84E7-D465669E522B}"/>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11F228-8C26-47A1-A4D5-AC1436535CFE}"/>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E548E344-E782-4183-8B89-9DBC28203E7B}"/>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0FC0C607-ABC9-4735-B4BA-B0199C6D417D}"/>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examine how tools and materials are selected within teacher-approved workshop systems.</a:t>
            </a:r>
          </a:p>
        </p:txBody>
      </p:sp>
      <p:sp>
        <p:nvSpPr>
          <p:cNvPr id="13" name="">
            <a:extLst xmlns:a="http://schemas.openxmlformats.org/drawingml/2006/main">
              <a:ext uri="{FF2B5EF4-FFF2-40B4-BE49-F238E27FC236}">
                <a16:creationId xmlns:a16="http://schemas.microsoft.com/office/drawing/2014/main" id="{2AC906E5-A91A-4C69-BFA1-6A2F872F6F41}"/>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376A77CA-B4FD-44F9-9D8A-B9430D2FE8F2}"/>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01</a:t>
            </a:r>
          </a:p>
        </p:txBody>
      </p:sp>
      <p:sp>
        <p:nvSpPr>
          <p:cNvPr id="15" name="">
            <a:extLst xmlns:a="http://schemas.openxmlformats.org/drawingml/2006/main">
              <a:ext uri="{FF2B5EF4-FFF2-40B4-BE49-F238E27FC236}">
                <a16:creationId xmlns:a16="http://schemas.microsoft.com/office/drawing/2014/main" id="{D49D9A0E-5AB1-4433-A3AC-A35989F5CE32}"/>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20671726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2026-08-24T03:19:33.4550000Z</dcterms:created>
  <dcterms:modified xsi:type="dcterms:W3CDTF">2026-08-24T03:19:33.4550000Z</dcterms:modified>
</coreProperties>
</file>