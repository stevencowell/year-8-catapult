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404709fbe5d4862" /><Relationship Type="http://schemas.openxmlformats.org/officeDocument/2006/relationships/extended-properties" Target="/docProps/app.xml" Id="R95eac05d30d344ef" /><Relationship Type="http://schemas.openxmlformats.org/officeDocument/2006/relationships/officeDocument" Target="/ppt/presentation.xml" Id="Rdd5cf67a105b4838" /></Relationships>
</file>

<file path=ppt/presentation.xml><?xml version="1.0" encoding="utf-8"?>
<p:presentation xmlns:p="http://schemas.openxmlformats.org/presentationml/2006/main">
  <p:sldMasterIdLst>
    <p:sldMasterId xmlns:r="http://schemas.openxmlformats.org/officeDocument/2006/relationships" id="2147483648" r:id="Rcc4be1d0109b4e8a"/>
  </p:sldMasterIdLst>
  <p:notesMasterIdLst>
    <p:notesMasterId xmlns:r="http://schemas.openxmlformats.org/officeDocument/2006/relationships" r:id="Rdacc640d115c4e22"/>
  </p:notesMasterIdLst>
  <p:sldIdLst>
    <p:sldId xmlns:r="http://schemas.openxmlformats.org/officeDocument/2006/relationships" id="256" r:id="R37f046288c5f4c92"/>
    <p:sldId xmlns:r="http://schemas.openxmlformats.org/officeDocument/2006/relationships" id="257" r:id="R019299b2bea64409"/>
    <p:sldId xmlns:r="http://schemas.openxmlformats.org/officeDocument/2006/relationships" id="258" r:id="Rf07adf071dbb4b86"/>
    <p:sldId xmlns:r="http://schemas.openxmlformats.org/officeDocument/2006/relationships" id="259" r:id="R82c417c3c5754206"/>
    <p:sldId xmlns:r="http://schemas.openxmlformats.org/officeDocument/2006/relationships" id="260" r:id="R0d22b8521ecb424a"/>
    <p:sldId xmlns:r="http://schemas.openxmlformats.org/officeDocument/2006/relationships" id="261" r:id="R841489d3df6a4b78"/>
    <p:sldId xmlns:r="http://schemas.openxmlformats.org/officeDocument/2006/relationships" id="262" r:id="R1b5ac4e506564235"/>
    <p:sldId xmlns:r="http://schemas.openxmlformats.org/officeDocument/2006/relationships" id="263" r:id="R51587db85b34400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4ed435fcfcd4b54" /><Relationship Type="http://schemas.openxmlformats.org/officeDocument/2006/relationships/slideMaster" Target="/ppt/slideMasters/slideMaster1.xml" Id="Rcc4be1d0109b4e8a" /><Relationship Type="http://schemas.openxmlformats.org/officeDocument/2006/relationships/notesMaster" Target="/ppt/notesMasters/notesMaster1.xml" Id="Rdacc640d115c4e22" /><Relationship Type="http://schemas.openxmlformats.org/officeDocument/2006/relationships/presProps" Target="/ppt/presProps.xml" Id="Rac0f8897f7b84eea" /><Relationship Type="http://schemas.openxmlformats.org/officeDocument/2006/relationships/tableStyles" Target="/ppt/tableStyles.xml" Id="R388b71afab2044fb" /><Relationship Type="http://schemas.openxmlformats.org/officeDocument/2006/relationships/slide" Target="/ppt/slides/slide1.xml" Id="R37f046288c5f4c92" /><Relationship Type="http://schemas.openxmlformats.org/officeDocument/2006/relationships/slide" Target="/ppt/slides/slide2.xml" Id="R019299b2bea64409" /><Relationship Type="http://schemas.openxmlformats.org/officeDocument/2006/relationships/slide" Target="/ppt/slides/slide3.xml" Id="Rf07adf071dbb4b86" /><Relationship Type="http://schemas.openxmlformats.org/officeDocument/2006/relationships/slide" Target="/ppt/slides/slide4.xml" Id="R82c417c3c5754206" /><Relationship Type="http://schemas.openxmlformats.org/officeDocument/2006/relationships/slide" Target="/ppt/slides/slide5.xml" Id="R0d22b8521ecb424a" /><Relationship Type="http://schemas.openxmlformats.org/officeDocument/2006/relationships/slide" Target="/ppt/slides/slide6.xml" Id="R841489d3df6a4b78" /><Relationship Type="http://schemas.openxmlformats.org/officeDocument/2006/relationships/slide" Target="/ppt/slides/slide7.xml" Id="R1b5ac4e506564235" /><Relationship Type="http://schemas.openxmlformats.org/officeDocument/2006/relationships/slide" Target="/ppt/slides/slide8.xml" Id="R51587db85b3440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976f341b9cd4f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493a821613e468a" /><Relationship Type="http://schemas.openxmlformats.org/officeDocument/2006/relationships/notesMaster" Target="/ppt/notesMasters/notesMaster1.xml" Id="R1c0b50d61cf242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481f57e810d442a4" /><Relationship Type="http://schemas.openxmlformats.org/officeDocument/2006/relationships/notesMaster" Target="/ppt/notesMasters/notesMaster1.xml" Id="R1b62b0d076264b0e"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937b270675432b" /><Relationship Type="http://schemas.openxmlformats.org/officeDocument/2006/relationships/notesMaster" Target="/ppt/notesMasters/notesMaster1.xml" Id="R5aa5d6611a2f4e33"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cd2490710643da" /><Relationship Type="http://schemas.openxmlformats.org/officeDocument/2006/relationships/notesMaster" Target="/ppt/notesMasters/notesMaster1.xml" Id="R4673c1d356d341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9a3f5faf406b4abe" /><Relationship Type="http://schemas.openxmlformats.org/officeDocument/2006/relationships/notesMaster" Target="/ppt/notesMasters/notesMaster1.xml" Id="Rbf3aa746b7d74d4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15f926402e94d82" /><Relationship Type="http://schemas.openxmlformats.org/officeDocument/2006/relationships/notesMaster" Target="/ppt/notesMasters/notesMaster1.xml" Id="R8576f064a5624af7" /></Relationships>
</file>

<file path=ppt/notesSlides/_rels/notesSlide7.xml.rels>&#65279;<?xml version="1.0" encoding="utf-8"?><Relationships xmlns="http://schemas.openxmlformats.org/package/2006/relationships"><Relationship Type="http://schemas.openxmlformats.org/officeDocument/2006/relationships/slide" Target="/ppt/slides/slide7.xml" Id="Re3ed6b16e08145c8" /><Relationship Type="http://schemas.openxmlformats.org/officeDocument/2006/relationships/notesMaster" Target="/ppt/notesMasters/notesMaster1.xml" Id="R81dde7ddad284f6d" /></Relationships>
</file>

<file path=ppt/notesSlides/_rels/notesSlide8.xml.rels>&#65279;<?xml version="1.0" encoding="utf-8"?><Relationships xmlns="http://schemas.openxmlformats.org/package/2006/relationships"><Relationship Type="http://schemas.openxmlformats.org/officeDocument/2006/relationships/slide" Target="/ppt/slides/slide8.xml" Id="Rbc51ca7b74ad42a2" /><Relationship Type="http://schemas.openxmlformats.org/officeDocument/2006/relationships/notesMaster" Target="/ppt/notesMasters/notesMaster1.xml" Id="R59a6fe8a64b74e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State the learning purpose in one sentence.</a:t>
            </a:r>
          </a:p>
          <a:p xmlns:a="http://schemas.openxmlformats.org/drawingml/2006/main">
            <a:r>
              <a:t>- Use the image only as a conceptual project cue; it is not a plan or model specification.</a:t>
            </a:r>
          </a:p>
          <a:p xmlns:a="http://schemas.openxmlformats.org/drawingml/2006/main">
            <a:r>
              <a:t/>
            </a:r>
          </a:p>
          <a:p xmlns:a="http://schemas.openxmlformats.org/drawingml/2006/main">
            <a:r>
              <a:t>Prompt</a:t>
            </a:r>
          </a:p>
          <a:p xmlns:a="http://schemas.openxmlformats.org/drawingml/2006/main">
            <a:r>
              <a:t>- What relationship or evidence do you expect to matter in this module?</a:t>
            </a:r>
          </a:p>
          <a:p xmlns:a="http://schemas.openxmlformats.org/drawingml/2006/main">
            <a:r>
              <a:t/>
            </a:r>
          </a:p>
          <a:p xmlns:a="http://schemas.openxmlformats.org/drawingml/2006/main">
            <a:r>
              <a:t>Likely misconception</a:t>
            </a:r>
          </a:p>
          <a:p xmlns:a="http://schemas.openxmlformats.org/drawingml/2006/main">
            <a:r>
              <a:t>- A realistic image must show the exact project design.</a:t>
            </a:r>
          </a:p>
          <a:p xmlns:a="http://schemas.openxmlformats.org/drawingml/2006/main">
            <a:r>
              <a:t/>
            </a:r>
          </a:p>
          <a:p xmlns:a="http://schemas.openxmlformats.org/drawingml/2006/main">
            <a:r>
              <a:t>Transition</a:t>
            </a:r>
          </a:p>
          <a:p xmlns:a="http://schemas.openxmlformats.org/drawingml/2006/main">
            <a:r>
              <a:t>- Move from the project cue to the three ideas students will learn.</a:t>
            </a:r>
          </a:p>
          <a:p xmlns:a="http://schemas.openxmlformats.org/drawingml/2006/main">
            <a:r>
              <a:t/>
            </a:r>
          </a:p>
          <a:p xmlns:a="http://schemas.openxmlformats.org/drawingml/2006/main">
            <a:r>
              <a:t>[Sources]</a:t>
            </a:r>
          </a:p>
          <a:p xmlns:a="http://schemas.openxmlformats.org/drawingml/2006/main">
            <a:r>
              <a:t>- Year 8 Catapult student theory draft v1.0, module-01, 24 Aug 2026.</a:t>
            </a:r>
          </a:p>
          <a:p xmlns:a="http://schemas.openxmlformats.org/drawingml/2006/main">
            <a:r>
              <a:t>- Catapult Booklet 2026.pdf, pp. 1–2; source map v1.0; theory draft module-01.</a:t>
            </a:r>
          </a:p>
          <a:p xmlns:a="http://schemas.openxmlformats.org/drawingml/2006/main">
            <a:r>
              <a:t>- OpenAI image generation for this course, 24 Aug 2026, conceptual only; file: catapult-hero-concept.png.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Frame the module as a cumulative learning sequence.</a:t>
            </a:r>
          </a:p>
          <a:p xmlns:a="http://schemas.openxmlformats.org/drawingml/2006/main">
            <a:r>
              <a:t>- Invite a brief retrieval response before introducing new content.</a:t>
            </a:r>
          </a:p>
          <a:p xmlns:a="http://schemas.openxmlformats.org/drawingml/2006/main">
            <a:r>
              <a:t/>
            </a:r>
          </a:p>
          <a:p xmlns:a="http://schemas.openxmlformats.org/drawingml/2006/main">
            <a:r>
              <a:t>Prompt</a:t>
            </a:r>
          </a:p>
          <a:p xmlns:a="http://schemas.openxmlformats.org/drawingml/2006/main">
            <a:r>
              <a:t>- Name one component, one interaction and one output you could observe.</a:t>
            </a:r>
          </a:p>
          <a:p xmlns:a="http://schemas.openxmlformats.org/drawingml/2006/main">
            <a:r>
              <a:t/>
            </a:r>
          </a:p>
          <a:p xmlns:a="http://schemas.openxmlformats.org/drawingml/2006/main">
            <a:r>
              <a:t>Likely misconception</a:t>
            </a:r>
          </a:p>
          <a:p xmlns:a="http://schemas.openxmlformats.org/drawingml/2006/main">
            <a:r>
              <a:t>- The three ideas are separate facts rather than parts of one explanation.</a:t>
            </a:r>
          </a:p>
          <a:p xmlns:a="http://schemas.openxmlformats.org/drawingml/2006/main">
            <a:r>
              <a:t/>
            </a:r>
          </a:p>
          <a:p xmlns:a="http://schemas.openxmlformats.org/drawingml/2006/main">
            <a:r>
              <a:t>Transition</a:t>
            </a:r>
          </a:p>
          <a:p xmlns:a="http://schemas.openxmlformats.org/drawingml/2006/main">
            <a:r>
              <a:t>- Tell students that each theory slide will supply evidence for the final response.</a:t>
            </a:r>
          </a:p>
          <a:p xmlns:a="http://schemas.openxmlformats.org/drawingml/2006/main">
            <a:r>
              <a:t/>
            </a:r>
          </a:p>
          <a:p xmlns:a="http://schemas.openxmlformats.org/drawingml/2006/main">
            <a:r>
              <a:t>[Sources]</a:t>
            </a:r>
          </a:p>
          <a:p xmlns:a="http://schemas.openxmlformats.org/drawingml/2006/main">
            <a:r>
              <a:t>- Year 8 Catapult student theory draft v1.0, module-01, 24 Aug 2026.</a:t>
            </a:r>
          </a:p>
          <a:p xmlns:a="http://schemas.openxmlformats.org/drawingml/2006/main">
            <a:r>
              <a:t>- Catapult Booklet 2026.pdf, pp. 1–2; source map v1.0; theory draft module-01.</a:t>
            </a:r>
          </a:p>
          <a:p xmlns:a="http://schemas.openxmlformats.org/drawingml/2006/main">
            <a:r>
              <a:t>- Native pathway diagram authored for this deck from the approved module sequence.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An engineered system is a group of connected components that work together for a purpose. Naming the base, frame, moving arm or energy store is only a start. The stronger explanation shows how one component affects another and how a change can alter the whole system.</a:t>
            </a:r>
          </a:p>
          <a:p xmlns:a="http://schemas.openxmlformats.org/drawingml/2006/main">
            <a:r>
              <a:t>- Use the visual to emphasise: Trace how changing the pivot, arm or energy-store position could affect the other parts.</a:t>
            </a:r>
          </a:p>
          <a:p xmlns:a="http://schemas.openxmlformats.org/drawingml/2006/main">
            <a:r>
              <a:t/>
            </a:r>
          </a:p>
          <a:p xmlns:a="http://schemas.openxmlformats.org/drawingml/2006/main">
            <a:r>
              <a:t>Prompt</a:t>
            </a:r>
          </a:p>
          <a:p xmlns:a="http://schemas.openxmlformats.org/drawingml/2006/main">
            <a:r>
              <a:t>- Application: trace one component relationship and predict what else should be checked if it changes.</a:t>
            </a:r>
          </a:p>
          <a:p xmlns:a="http://schemas.openxmlformats.org/drawingml/2006/main">
            <a:r>
              <a:t/>
            </a:r>
          </a:p>
          <a:p xmlns:a="http://schemas.openxmlformats.org/drawingml/2006/main">
            <a:r>
              <a:t>Likely misconception</a:t>
            </a:r>
          </a:p>
          <a:p xmlns:a="http://schemas.openxmlformats.org/drawingml/2006/main">
            <a:r>
              <a:t>- Why is a list of parts not yet a system explanation?</a:t>
            </a:r>
          </a:p>
          <a:p xmlns:a="http://schemas.openxmlformats.org/drawingml/2006/main">
            <a:r>
              <a:t/>
            </a:r>
          </a:p>
          <a:p xmlns:a="http://schemas.openxmlformats.org/drawingml/2006/main">
            <a:r>
              <a:t>Transition</a:t>
            </a:r>
          </a:p>
          <a:p xmlns:a="http://schemas.openxmlformats.org/drawingml/2006/main">
            <a:r>
              <a:t>- Link this idea to the next relationship in the module.</a:t>
            </a:r>
          </a:p>
          <a:p xmlns:a="http://schemas.openxmlformats.org/drawingml/2006/main">
            <a:r>
              <a:t/>
            </a:r>
          </a:p>
          <a:p xmlns:a="http://schemas.openxmlformats.org/drawingml/2006/main">
            <a:r>
              <a:t>[Sources]</a:t>
            </a:r>
          </a:p>
          <a:p xmlns:a="http://schemas.openxmlformats.org/drawingml/2006/main">
            <a:r>
              <a:t>- Year 8 Catapult student theory draft v1.0, module-01, 24 Aug 2026.</a:t>
            </a:r>
          </a:p>
          <a:p xmlns:a="http://schemas.openxmlformats.org/drawingml/2006/main">
            <a:r>
              <a:t>- Catapult Booklet 2026.pdf, pp. 1–2; source map v1.0; theory draft module-01.</a:t>
            </a:r>
          </a:p>
          <a:p xmlns:a="http://schemas.openxmlformats.org/drawingml/2006/main">
            <a:r>
              <a:t>- Teaching visual: assets/visuals/theory/m01-system-relationships.png.</a:t>
            </a:r>
          </a:p>
          <a:p xmlns:a="http://schemas.openxmlformats.org/drawingml/2006/main">
            <a:r>
              <a:t>- OpenAI image generation for this course, 24 Aug 2026; conceptual teaching still life; final prompt: Abstract unassembled timber blocks, dowel pivot, separate lever strip and relaxed elastic loop; no complete Catapult or buildable geometry.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Inputs such as stored energy, materials and design information enter the system. Processes transfer or transform them. Outputs can include movement, sound, vibration and test data. Feedback is useful when an observed output guides the next decision.</a:t>
            </a:r>
          </a:p>
          <a:p xmlns:a="http://schemas.openxmlformats.org/drawingml/2006/main">
            <a:r>
              <a:t>- Use the visual to emphasise: Look for the observation that would make a designer keep, question or change one feature.</a:t>
            </a:r>
          </a:p>
          <a:p xmlns:a="http://schemas.openxmlformats.org/drawingml/2006/main">
            <a:r>
              <a:t/>
            </a:r>
          </a:p>
          <a:p xmlns:a="http://schemas.openxmlformats.org/drawingml/2006/main">
            <a:r>
              <a:t>Prompt</a:t>
            </a:r>
          </a:p>
          <a:p xmlns:a="http://schemas.openxmlformats.org/drawingml/2006/main">
            <a:r>
              <a:t>- Evidence move: turn one observed output into a specific question for the next check.</a:t>
            </a:r>
          </a:p>
          <a:p xmlns:a="http://schemas.openxmlformats.org/drawingml/2006/main">
            <a:r>
              <a:t/>
            </a:r>
          </a:p>
          <a:p xmlns:a="http://schemas.openxmlformats.org/drawingml/2006/main">
            <a:r>
              <a:t>Likely misconception</a:t>
            </a:r>
          </a:p>
          <a:p xmlns:a="http://schemas.openxmlformats.org/drawingml/2006/main">
            <a:r>
              <a:t>- What makes feedback useful in engineering?</a:t>
            </a:r>
          </a:p>
          <a:p xmlns:a="http://schemas.openxmlformats.org/drawingml/2006/main">
            <a:r>
              <a:t/>
            </a:r>
          </a:p>
          <a:p xmlns:a="http://schemas.openxmlformats.org/drawingml/2006/main">
            <a:r>
              <a:t>Transition</a:t>
            </a:r>
          </a:p>
          <a:p xmlns:a="http://schemas.openxmlformats.org/drawingml/2006/main">
            <a:r>
              <a:t>- Link this idea to the next relationship in the module.</a:t>
            </a:r>
          </a:p>
          <a:p xmlns:a="http://schemas.openxmlformats.org/drawingml/2006/main">
            <a:r>
              <a:t/>
            </a:r>
          </a:p>
          <a:p xmlns:a="http://schemas.openxmlformats.org/drawingml/2006/main">
            <a:r>
              <a:t>[Sources]</a:t>
            </a:r>
          </a:p>
          <a:p xmlns:a="http://schemas.openxmlformats.org/drawingml/2006/main">
            <a:r>
              <a:t>- Year 8 Catapult student theory draft v1.0, module-01, 24 Aug 2026.</a:t>
            </a:r>
          </a:p>
          <a:p xmlns:a="http://schemas.openxmlformats.org/drawingml/2006/main">
            <a:r>
              <a:t>- Catapult Booklet 2026.pdf, pp. 1–2; source map v1.0; theory draft module-01.</a:t>
            </a:r>
          </a:p>
          <a:p xmlns:a="http://schemas.openxmlformats.org/drawingml/2006/main">
            <a:r>
              <a:t>- Teaching visual: assets/visuals/theory/m01-feedback-from-observation.png.</a:t>
            </a:r>
          </a:p>
          <a:p xmlns:a="http://schemas.openxmlformats.org/drawingml/2006/main">
            <a:r>
              <a:t>- OpenAI image generation for this course, 24 Aug 2026; conceptual teaching still life; final prompt: Partial nonfunctional lever model beside blank observation and revision cards; no results, dimensions or complete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The authorised brief sets materials, a practical-plus-folio expectation and a maximum planned pine length of 2400 mm. These are constraints. A criterion states what successful performance would look like and must connect to observable evidence confirmed by the teacher.</a:t>
            </a:r>
          </a:p>
          <a:p xmlns:a="http://schemas.openxmlformats.org/drawingml/2006/main">
            <a:r>
              <a:t>- Use the visual to emphasise: Separate what the design must work within from what must be observed to judge success.</a:t>
            </a:r>
          </a:p>
          <a:p xmlns:a="http://schemas.openxmlformats.org/drawingml/2006/main">
            <a:r>
              <a:t/>
            </a:r>
          </a:p>
          <a:p xmlns:a="http://schemas.openxmlformats.org/drawingml/2006/main">
            <a:r>
              <a:t>Prompt</a:t>
            </a:r>
          </a:p>
          <a:p xmlns:a="http://schemas.openxmlformats.org/drawingml/2006/main">
            <a:r>
              <a:t>- Decision: sort each statement as a boundary to respect or evidence to judge.</a:t>
            </a:r>
          </a:p>
          <a:p xmlns:a="http://schemas.openxmlformats.org/drawingml/2006/main">
            <a:r>
              <a:t/>
            </a:r>
          </a:p>
          <a:p xmlns:a="http://schemas.openxmlformats.org/drawingml/2006/main">
            <a:r>
              <a:t>Likely misconception</a:t>
            </a:r>
          </a:p>
          <a:p xmlns:a="http://schemas.openxmlformats.org/drawingml/2006/main">
            <a:r>
              <a:t>- How is a criterion different from a constraint?</a:t>
            </a:r>
          </a:p>
          <a:p xmlns:a="http://schemas.openxmlformats.org/drawingml/2006/main">
            <a:r>
              <a:t/>
            </a:r>
          </a:p>
          <a:p xmlns:a="http://schemas.openxmlformats.org/drawingml/2006/main">
            <a:r>
              <a:t>Transition</a:t>
            </a:r>
          </a:p>
          <a:p xmlns:a="http://schemas.openxmlformats.org/drawingml/2006/main">
            <a:r>
              <a:t>- Prepare students to retrieve and apply all three ideas.</a:t>
            </a:r>
          </a:p>
          <a:p xmlns:a="http://schemas.openxmlformats.org/drawingml/2006/main">
            <a:r>
              <a:t/>
            </a:r>
          </a:p>
          <a:p xmlns:a="http://schemas.openxmlformats.org/drawingml/2006/main">
            <a:r>
              <a:t>[Sources]</a:t>
            </a:r>
          </a:p>
          <a:p xmlns:a="http://schemas.openxmlformats.org/drawingml/2006/main">
            <a:r>
              <a:t>- Year 8 Catapult student theory draft v1.0, module-01, 24 Aug 2026.</a:t>
            </a:r>
          </a:p>
          <a:p xmlns:a="http://schemas.openxmlformats.org/drawingml/2006/main">
            <a:r>
              <a:t>- Catapult Booklet 2026.pdf, pp. 1–2; source map v1.0; theory draft module-01.</a:t>
            </a:r>
          </a:p>
          <a:p xmlns:a="http://schemas.openxmlformats.org/drawingml/2006/main">
            <a:r>
              <a:t>- Teaching visual: assets/visuals/theory/m01-criteria-and-evidence.png.</a:t>
            </a:r>
          </a:p>
          <a:p xmlns:a="http://schemas.openxmlformats.org/drawingml/2006/main">
            <a:r>
              <a:t>- OpenAI image generation for this course, 24 Aug 2026; conceptual teaching still life; final prompt: Confirmed material categories in one tray beside a separate blank quality card and tools at rest; no project form or stock cross-section.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Give individual thinking time before partner discussion.</a:t>
            </a:r>
          </a:p>
          <a:p xmlns:a="http://schemas.openxmlformats.org/drawingml/2006/main">
            <a:r>
              <a:t>- Ask for evidence or a because-clause, not just the answer.</a:t>
            </a:r>
          </a:p>
          <a:p xmlns:a="http://schemas.openxmlformats.org/drawingml/2006/main">
            <a:r>
              <a:t/>
            </a:r>
          </a:p>
          <a:p xmlns:a="http://schemas.openxmlformats.org/drawingml/2006/main">
            <a:r>
              <a:t>Prompt</a:t>
            </a:r>
          </a:p>
          <a:p xmlns:a="http://schemas.openxmlformats.org/drawingml/2006/main">
            <a:r>
              <a:t>- Which answer changed after discussion, and what evidence changed it?</a:t>
            </a:r>
          </a:p>
          <a:p xmlns:a="http://schemas.openxmlformats.org/drawingml/2006/main">
            <a:r>
              <a:t/>
            </a:r>
          </a:p>
          <a:p xmlns:a="http://schemas.openxmlformats.org/drawingml/2006/main">
            <a:r>
              <a:t>Likely misconception</a:t>
            </a:r>
          </a:p>
          <a:p xmlns:a="http://schemas.openxmlformats.org/drawingml/2006/main">
            <a:r>
              <a:t>- Retrieval is a memory race rather than a chance to repair understanding.</a:t>
            </a:r>
          </a:p>
          <a:p xmlns:a="http://schemas.openxmlformats.org/drawingml/2006/main">
            <a:r>
              <a:t/>
            </a:r>
          </a:p>
          <a:p xmlns:a="http://schemas.openxmlformats.org/drawingml/2006/main">
            <a:r>
              <a:t>Transition</a:t>
            </a:r>
          </a:p>
          <a:p xmlns:a="http://schemas.openxmlformats.org/drawingml/2006/main">
            <a:r>
              <a:t>- Use the strongest unresolved question to launch the evidence scaffold.</a:t>
            </a:r>
          </a:p>
          <a:p xmlns:a="http://schemas.openxmlformats.org/drawingml/2006/main">
            <a:r>
              <a:t/>
            </a:r>
          </a:p>
          <a:p xmlns:a="http://schemas.openxmlformats.org/drawingml/2006/main">
            <a:r>
              <a:t>[Sources]</a:t>
            </a:r>
          </a:p>
          <a:p xmlns:a="http://schemas.openxmlformats.org/drawingml/2006/main">
            <a:r>
              <a:t>- Year 8 Catapult student theory draft v1.0, module-01, 24 Aug 2026.</a:t>
            </a:r>
          </a:p>
          <a:p xmlns:a="http://schemas.openxmlformats.org/drawingml/2006/main">
            <a:r>
              <a:t>- Catapult Booklet 2026.pdf, pp. 1–2; source map v1.0; theory draft module-01.</a:t>
            </a:r>
          </a:p>
          <a:p xmlns:a="http://schemas.openxmlformats.org/drawingml/2006/main">
            <a:r>
              <a:t>- Questions derived from the approved module theory; no external asset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Model how to select evidence before writing the explanation.</a:t>
            </a:r>
          </a:p>
          <a:p xmlns:a="http://schemas.openxmlformats.org/drawingml/2006/main">
            <a:r>
              <a:t>- Read the sentence support aloud, then let students change its wording to suit their evidence.</a:t>
            </a:r>
          </a:p>
          <a:p xmlns:a="http://schemas.openxmlformats.org/drawingml/2006/main">
            <a:r>
              <a:t/>
            </a:r>
          </a:p>
          <a:p xmlns:a="http://schemas.openxmlformats.org/drawingml/2006/main">
            <a:r>
              <a:t>Prompt</a:t>
            </a:r>
          </a:p>
          <a:p xmlns:a="http://schemas.openxmlformats.org/drawingml/2006/main">
            <a:r>
              <a:t>- A design meets every confirmed constraint but gives inconsistent results. Explain why it may still be unsuccessful and identify the evidence needed before one change is recommended.</a:t>
            </a:r>
          </a:p>
          <a:p xmlns:a="http://schemas.openxmlformats.org/drawingml/2006/main">
            <a:r>
              <a:t/>
            </a:r>
          </a:p>
          <a:p xmlns:a="http://schemas.openxmlformats.org/drawingml/2006/main">
            <a:r>
              <a:t>Likely misconception</a:t>
            </a:r>
          </a:p>
          <a:p xmlns:a="http://schemas.openxmlformats.org/drawingml/2006/main">
            <a:r>
              <a:t>- Longer writing is automatically stronger evidence.</a:t>
            </a:r>
          </a:p>
          <a:p xmlns:a="http://schemas.openxmlformats.org/drawingml/2006/main">
            <a:r>
              <a:t/>
            </a:r>
          </a:p>
          <a:p xmlns:a="http://schemas.openxmlformats.org/drawingml/2006/main">
            <a:r>
              <a:t>Transition</a:t>
            </a:r>
          </a:p>
          <a:p xmlns:a="http://schemas.openxmlformats.org/drawingml/2006/main">
            <a:r>
              <a:t>- Move from the scaffold to a concise exit ticket and evidence-save action.</a:t>
            </a:r>
          </a:p>
          <a:p xmlns:a="http://schemas.openxmlformats.org/drawingml/2006/main">
            <a:r>
              <a:t/>
            </a:r>
          </a:p>
          <a:p xmlns:a="http://schemas.openxmlformats.org/drawingml/2006/main">
            <a:r>
              <a:t>[Sources]</a:t>
            </a:r>
          </a:p>
          <a:p xmlns:a="http://schemas.openxmlformats.org/drawingml/2006/main">
            <a:r>
              <a:t>- Year 8 Catapult student theory draft v1.0, module-01, 24 Aug 2026.</a:t>
            </a:r>
          </a:p>
          <a:p xmlns:a="http://schemas.openxmlformats.org/drawingml/2006/main">
            <a:r>
              <a:t>- Catapult Booklet 2026.pdf, pp. 1–2; source map v1.0; theory draft module-01.</a:t>
            </a:r>
          </a:p>
          <a:p xmlns:a="http://schemas.openxmlformats.org/drawingml/2006/main">
            <a:r>
              <a:t>- Read–Select–Explain–Check scaffold follows the TAS course presentation standard.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Collect a short answer to each exit prompt.</a:t>
            </a:r>
          </a:p>
          <a:p xmlns:a="http://schemas.openxmlformats.org/drawingml/2006/main">
            <a:r>
              <a:t>- Make the evidence destination explicit without turning the slide into assessment administration.</a:t>
            </a:r>
          </a:p>
          <a:p xmlns:a="http://schemas.openxmlformats.org/drawingml/2006/main">
            <a:r>
              <a:t/>
            </a:r>
          </a:p>
          <a:p xmlns:a="http://schemas.openxmlformats.org/drawingml/2006/main">
            <a:r>
              <a:t>Prompt</a:t>
            </a:r>
          </a:p>
          <a:p xmlns:a="http://schemas.openxmlformats.org/drawingml/2006/main">
            <a:r>
              <a:t>- Which exit response best shows a changed decision or deeper explanation?</a:t>
            </a:r>
          </a:p>
          <a:p xmlns:a="http://schemas.openxmlformats.org/drawingml/2006/main">
            <a:r>
              <a:t/>
            </a:r>
          </a:p>
          <a:p xmlns:a="http://schemas.openxmlformats.org/drawingml/2006/main">
            <a:r>
              <a:t>Likely misconception</a:t>
            </a:r>
          </a:p>
          <a:p xmlns:a="http://schemas.openxmlformats.org/drawingml/2006/main">
            <a:r>
              <a:t>- The exit ticket is a generic summary with no next evidence action.</a:t>
            </a:r>
          </a:p>
          <a:p xmlns:a="http://schemas.openxmlformats.org/drawingml/2006/main">
            <a:r>
              <a:t/>
            </a:r>
          </a:p>
          <a:p xmlns:a="http://schemas.openxmlformats.org/drawingml/2006/main">
            <a:r>
              <a:t>Transition</a:t>
            </a:r>
          </a:p>
          <a:p xmlns:a="http://schemas.openxmlformats.org/drawingml/2006/main">
            <a:r>
              <a:t>- Next: examine how tools and materials are selected within teacher-approved workshop systems.</a:t>
            </a:r>
          </a:p>
          <a:p xmlns:a="http://schemas.openxmlformats.org/drawingml/2006/main">
            <a:r>
              <a:t/>
            </a:r>
          </a:p>
          <a:p xmlns:a="http://schemas.openxmlformats.org/drawingml/2006/main">
            <a:r>
              <a:t>[Sources]</a:t>
            </a:r>
          </a:p>
          <a:p xmlns:a="http://schemas.openxmlformats.org/drawingml/2006/main">
            <a:r>
              <a:t>- Year 8 Catapult student theory draft v1.0, module-01, 24 Aug 2026.</a:t>
            </a:r>
          </a:p>
          <a:p xmlns:a="http://schemas.openxmlformats.org/drawingml/2006/main">
            <a:r>
              <a:t>- Catapult Booklet 2026.pdf, pp. 1–2; source map v1.0; theory draft module-01.</a:t>
            </a:r>
          </a:p>
          <a:p xmlns:a="http://schemas.openxmlformats.org/drawingml/2006/main">
            <a:r>
              <a:t>- Exit-evidence structure follows the TAS course presentation standard.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2c4ed2bf79d479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2e038430b6d47dd" /><Relationship Type="http://schemas.openxmlformats.org/officeDocument/2006/relationships/slideLayout" Target="/ppt/slideLayouts/slideLayout1.xml" Id="R80757a57ee164f4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0757a57ee164f4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1b84db9cdb24af7" /><Relationship Type="http://schemas.openxmlformats.org/officeDocument/2006/relationships/image" Target="/ppt/media/image.png" Id="R7c89eb9933954f16" /><Relationship Type="http://schemas.openxmlformats.org/officeDocument/2006/relationships/notesSlide" Target="/ppt/notesSlides/notesSlide1.xml" Id="R416ec8390aef4da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050582544124c8b" /><Relationship Type="http://schemas.openxmlformats.org/officeDocument/2006/relationships/notesSlide" Target="/ppt/notesSlides/notesSlide2.xml" Id="R3138d377db304e2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afc229a7f8c4ce2" /><Relationship Type="http://schemas.openxmlformats.org/officeDocument/2006/relationships/image" Target="/ppt/media/image2.png" Id="R883451ad7f944371" /><Relationship Type="http://schemas.openxmlformats.org/officeDocument/2006/relationships/notesSlide" Target="/ppt/notesSlides/notesSlide3.xml" Id="R96b8e50e6b6e4b8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1684cda9d2f42bd" /><Relationship Type="http://schemas.openxmlformats.org/officeDocument/2006/relationships/image" Target="/ppt/media/image3.png" Id="Rcc2182f6a6684d98" /><Relationship Type="http://schemas.openxmlformats.org/officeDocument/2006/relationships/notesSlide" Target="/ppt/notesSlides/notesSlide4.xml" Id="R5f15aa8fa61b479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4a73babc1204ef3" /><Relationship Type="http://schemas.openxmlformats.org/officeDocument/2006/relationships/image" Target="/ppt/media/image4.png" Id="R00691cde6a824ea9" /><Relationship Type="http://schemas.openxmlformats.org/officeDocument/2006/relationships/notesSlide" Target="/ppt/notesSlides/notesSlide5.xml" Id="R37fb72a48df7430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990aa7ee2d94073" /><Relationship Type="http://schemas.openxmlformats.org/officeDocument/2006/relationships/notesSlide" Target="/ppt/notesSlides/notesSlide6.xml" Id="R6583679d195043d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b05661485c7408f" /><Relationship Type="http://schemas.openxmlformats.org/officeDocument/2006/relationships/notesSlide" Target="/ppt/notesSlides/notesSlide7.xml" Id="R0b2c7c18cdf548b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ffd2fb4c9914e9a" /><Relationship Type="http://schemas.openxmlformats.org/officeDocument/2006/relationships/notesSlide" Target="/ppt/notesSlides/notesSlide8.xml" Id="R54458a65a9ce4056" /></Relationships>
</file>

<file path=ppt/slides/slide1.xml><?xml version="1.0" encoding="utf-8"?>
<p:sld xmlns:p="http://schemas.openxmlformats.org/presentationml/2006/main">
  <p:cSld>
    <p:bg>
      <p:bgPr>
        <a:solidFill xmlns:a="http://schemas.openxmlformats.org/drawingml/2006/main">
          <a:srgbClr val="0B3541"/>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c89eb9933954f16"/>
          <a:srcRect xmlns:a="http://schemas.openxmlformats.org/drawingml/2006/main" l="29677" t="0" r="29677"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1AD4122-D702-4930-BDCE-EBAD3208E2E4}"/>
              </a:ext>
            </a:extLst>
          </p:cNvPr>
          <p:cNvSpPr>
            <a:spLocks xmlns:a="http://schemas.openxmlformats.org/drawingml/2006/main" noGrp="1"/>
          </p:cNvSpPr>
          <p:nvPr/>
        </p:nvSpPr>
        <p:spPr>
          <a:xfrm xmlns:a="http://schemas.openxmlformats.org/drawingml/2006/main">
            <a:off x="7029450" y="0"/>
            <a:ext cx="285750" cy="685800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E677E49-9000-4E37-8B45-1C5201D21AC6}"/>
              </a:ext>
            </a:extLst>
          </p:cNvPr>
          <p:cNvSpPr>
            <a:spLocks xmlns:a="http://schemas.openxmlformats.org/drawingml/2006/main" noGrp="1"/>
          </p:cNvSpPr>
          <p:nvPr/>
        </p:nvSpPr>
        <p:spPr>
          <a:xfrm xmlns:a="http://schemas.openxmlformats.org/drawingml/2006/main">
            <a:off x="685800" y="7239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0B84B"/>
                </a:solidFill>
              </a:defRPr>
            </a:pPr>
            <a:r>
              <a:rPr sz="1350" b="1">
                <a:solidFill>
                  <a:srgbClr val="F0B84B"/>
                </a:solidFill>
              </a:rPr>
              <a:t>MODULE 01</a:t>
            </a:r>
          </a:p>
        </p:txBody>
      </p:sp>
      <p:sp>
        <p:nvSpPr>
          <p:cNvPr id="4" name="">
            <a:extLst xmlns:a="http://schemas.openxmlformats.org/drawingml/2006/main">
              <a:ext uri="{FF2B5EF4-FFF2-40B4-BE49-F238E27FC236}">
                <a16:creationId xmlns:a16="http://schemas.microsoft.com/office/drawing/2014/main" id="{92047A3A-F66E-41A6-84C8-0B8E11F738FD}"/>
              </a:ext>
            </a:extLst>
          </p:cNvPr>
          <p:cNvSpPr>
            <a:spLocks xmlns:a="http://schemas.openxmlformats.org/drawingml/2006/main" noGrp="1"/>
          </p:cNvSpPr>
          <p:nvPr/>
        </p:nvSpPr>
        <p:spPr>
          <a:xfrm xmlns:a="http://schemas.openxmlformats.org/drawingml/2006/main">
            <a:off x="685800" y="1428750"/>
            <a:ext cx="5810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350" b="1">
                <a:solidFill>
                  <a:srgbClr val="FFFFFF"/>
                </a:solidFill>
              </a:defRPr>
            </a:pPr>
            <a:r>
              <a:rPr sz="4350" b="1">
                <a:solidFill>
                  <a:srgbClr val="FFFFFF"/>
                </a:solidFill>
              </a:rPr>
              <a:t>The Catapult Engineering Challenge</a:t>
            </a:r>
          </a:p>
        </p:txBody>
      </p:sp>
      <p:sp>
        <p:nvSpPr>
          <p:cNvPr id="5" name="">
            <a:extLst xmlns:a="http://schemas.openxmlformats.org/drawingml/2006/main">
              <a:ext uri="{FF2B5EF4-FFF2-40B4-BE49-F238E27FC236}">
                <a16:creationId xmlns:a16="http://schemas.microsoft.com/office/drawing/2014/main" id="{58961586-5652-48B5-B43C-D42F31B670B4}"/>
              </a:ext>
            </a:extLst>
          </p:cNvPr>
          <p:cNvSpPr>
            <a:spLocks xmlns:a="http://schemas.openxmlformats.org/drawingml/2006/main" noGrp="1"/>
          </p:cNvSpPr>
          <p:nvPr/>
        </p:nvSpPr>
        <p:spPr>
          <a:xfrm xmlns:a="http://schemas.openxmlformats.org/drawingml/2006/main">
            <a:off x="685800" y="3943350"/>
            <a:ext cx="576262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D7E5E8"/>
                </a:solidFill>
              </a:defRPr>
            </a:pPr>
            <a:r>
              <a:rPr sz="1875" b="0">
                <a:solidFill>
                  <a:srgbClr val="D7E5E8"/>
                </a:solidFill>
              </a:rPr>
              <a:t>Explain the Catapult as a connected system and read the brief with evidence in mind.</a:t>
            </a:r>
          </a:p>
        </p:txBody>
      </p:sp>
      <p:sp>
        <p:nvSpPr>
          <p:cNvPr id="6" name="">
            <a:extLst xmlns:a="http://schemas.openxmlformats.org/drawingml/2006/main">
              <a:ext uri="{FF2B5EF4-FFF2-40B4-BE49-F238E27FC236}">
                <a16:creationId xmlns:a16="http://schemas.microsoft.com/office/drawing/2014/main" id="{8F24B249-5485-4FE7-8C99-3C02A49593B7}"/>
              </a:ext>
            </a:extLst>
          </p:cNvPr>
          <p:cNvSpPr>
            <a:spLocks xmlns:a="http://schemas.openxmlformats.org/drawingml/2006/main" noGrp="1"/>
          </p:cNvSpPr>
          <p:nvPr/>
        </p:nvSpPr>
        <p:spPr>
          <a:xfrm xmlns:a="http://schemas.openxmlformats.org/drawingml/2006/main">
            <a:off x="685800" y="59245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7E5E8"/>
                </a:solidFill>
              </a:defRPr>
            </a:pPr>
            <a:r>
              <a:rPr sz="1125" b="1">
                <a:solidFill>
                  <a:srgbClr val="D7E5E8"/>
                </a:solidFill>
              </a:rPr>
              <a:t>YEAR 8  •  ENGINEERING TECHNOLOGIES AND SYSTEMS</a:t>
            </a:r>
          </a:p>
        </p:txBody>
      </p:sp>
    </p:spTree>
    <p:extLst>
      <p:ext uri="{BB962C8B-B14F-4D97-AF65-F5344CB8AC3E}">
        <p14:creationId xmlns:p14="http://schemas.microsoft.com/office/powerpoint/2010/main" val="195285810"/>
      </p:ext>
    </p:extLst>
  </p:cSld>
</p:sld>
</file>

<file path=ppt/slides/slide2.xml><?xml version="1.0" encoding="utf-8"?>
<p:sld xmlns:p="http://schemas.openxmlformats.org/presentationml/2006/main">
  <p:cSld>
    <p:bg>
      <p:bgPr>
        <a:solidFill xmlns:a="http://schemas.openxmlformats.org/drawingml/2006/main">
          <a:srgbClr val="F3F6F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4BF91C3-7D18-4855-8E6D-75BDE6D3E3AE}"/>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02C5DB5-C484-4315-848E-CB01868E345C}"/>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94424"/>
                </a:solidFill>
              </a:defRPr>
            </a:pPr>
            <a:r>
              <a:rPr sz="1050" b="1">
                <a:solidFill>
                  <a:srgbClr val="A94424"/>
                </a:solidFill>
              </a:rPr>
              <a:t>MODULE 01  /  CATAPULT CHALLENGE</a:t>
            </a:r>
          </a:p>
        </p:txBody>
      </p:sp>
      <p:sp>
        <p:nvSpPr>
          <p:cNvPr id="3" name="">
            <a:extLst xmlns:a="http://schemas.openxmlformats.org/drawingml/2006/main">
              <a:ext uri="{FF2B5EF4-FFF2-40B4-BE49-F238E27FC236}">
                <a16:creationId xmlns:a16="http://schemas.microsoft.com/office/drawing/2014/main" id="{FDA49B34-4653-41B2-B315-03A4F1964884}"/>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7232B"/>
                </a:solidFill>
              </a:defRPr>
            </a:pPr>
            <a:r>
              <a:rPr sz="2850" b="1">
                <a:solidFill>
                  <a:srgbClr val="17232B"/>
                </a:solidFill>
              </a:rPr>
              <a:t>The learning question</a:t>
            </a:r>
          </a:p>
        </p:txBody>
      </p:sp>
      <p:sp>
        <p:nvSpPr>
          <p:cNvPr id="4" name="">
            <a:extLst xmlns:a="http://schemas.openxmlformats.org/drawingml/2006/main">
              <a:ext uri="{FF2B5EF4-FFF2-40B4-BE49-F238E27FC236}">
                <a16:creationId xmlns:a16="http://schemas.microsoft.com/office/drawing/2014/main" id="{98F5EC19-14BA-4520-95CB-28653A867976}"/>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CAD4D8"/>
            </a:solidFill>
            <a:prstDash val="solid"/>
          </a:ln>
        </p:spPr>
      </p:sp>
      <p:sp>
        <p:nvSpPr>
          <p:cNvPr id="5" name="">
            <a:extLst xmlns:a="http://schemas.openxmlformats.org/drawingml/2006/main">
              <a:ext uri="{FF2B5EF4-FFF2-40B4-BE49-F238E27FC236}">
                <a16:creationId xmlns:a16="http://schemas.microsoft.com/office/drawing/2014/main" id="{C21C284C-D644-46A1-BFC9-74DE2D38FA9D}"/>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3636D"/>
                </a:solidFill>
              </a:defRPr>
            </a:pPr>
            <a:r>
              <a:rPr sz="975" b="1">
                <a:solidFill>
                  <a:srgbClr val="53636D"/>
                </a:solidFill>
              </a:rPr>
              <a:t>YEAR 8 CATAPULT  •  MODULE 01</a:t>
            </a:r>
          </a:p>
        </p:txBody>
      </p:sp>
      <p:sp>
        <p:nvSpPr>
          <p:cNvPr id="6" name="">
            <a:extLst xmlns:a="http://schemas.openxmlformats.org/drawingml/2006/main">
              <a:ext uri="{FF2B5EF4-FFF2-40B4-BE49-F238E27FC236}">
                <a16:creationId xmlns:a16="http://schemas.microsoft.com/office/drawing/2014/main" id="{099CDF29-615C-4D84-85D8-9C779BD72393}"/>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A94424"/>
                </a:solidFill>
              </a:defRPr>
            </a:pPr>
            <a:r>
              <a:rPr sz="975" b="1">
                <a:solidFill>
                  <a:srgbClr val="A94424"/>
                </a:solidFill>
              </a:rPr>
              <a:t>02</a:t>
            </a:r>
          </a:p>
        </p:txBody>
      </p:sp>
      <p:sp>
        <p:nvSpPr>
          <p:cNvPr id="7" name="">
            <a:extLst xmlns:a="http://schemas.openxmlformats.org/drawingml/2006/main">
              <a:ext uri="{FF2B5EF4-FFF2-40B4-BE49-F238E27FC236}">
                <a16:creationId xmlns:a16="http://schemas.microsoft.com/office/drawing/2014/main" id="{18055768-3927-49D1-B1A2-BD2660C7C692}"/>
              </a:ext>
            </a:extLst>
          </p:cNvPr>
          <p:cNvSpPr>
            <a:spLocks xmlns:a="http://schemas.openxmlformats.org/drawingml/2006/main" noGrp="1"/>
          </p:cNvSpPr>
          <p:nvPr/>
        </p:nvSpPr>
        <p:spPr>
          <a:xfrm xmlns:a="http://schemas.openxmlformats.org/drawingml/2006/main">
            <a:off x="685800" y="1333500"/>
            <a:ext cx="1047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84F5E"/>
                </a:solidFill>
              </a:defRPr>
            </a:pPr>
            <a:r>
              <a:rPr sz="2250" b="1">
                <a:solidFill>
                  <a:srgbClr val="184F5E"/>
                </a:solidFill>
              </a:rPr>
              <a:t>How do relationships, feedback and constraints shape an engineered system?</a:t>
            </a:r>
          </a:p>
        </p:txBody>
      </p:sp>
      <p:sp>
        <p:nvSpPr>
          <p:cNvPr id="8" name="">
            <a:extLst xmlns:a="http://schemas.openxmlformats.org/drawingml/2006/main">
              <a:ext uri="{FF2B5EF4-FFF2-40B4-BE49-F238E27FC236}">
                <a16:creationId xmlns:a16="http://schemas.microsoft.com/office/drawing/2014/main" id="{F10FC562-008C-4CC5-953D-E658ED3FDD60}"/>
              </a:ext>
            </a:extLst>
          </p:cNvPr>
          <p:cNvSpPr>
            <a:spLocks xmlns:a="http://schemas.openxmlformats.org/drawingml/2006/main" noGrp="1"/>
          </p:cNvSpPr>
          <p:nvPr/>
        </p:nvSpPr>
        <p:spPr>
          <a:xfrm xmlns:a="http://schemas.openxmlformats.org/drawingml/2006/main">
            <a:off x="3543300" y="3181350"/>
            <a:ext cx="66675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5FE357C-034F-44FA-BBE9-91B7810FB48B}"/>
              </a:ext>
            </a:extLst>
          </p:cNvPr>
          <p:cNvSpPr>
            <a:spLocks xmlns:a="http://schemas.openxmlformats.org/drawingml/2006/main" noGrp="1"/>
          </p:cNvSpPr>
          <p:nvPr/>
        </p:nvSpPr>
        <p:spPr>
          <a:xfrm xmlns:a="http://schemas.openxmlformats.org/drawingml/2006/main">
            <a:off x="6972300" y="3181350"/>
            <a:ext cx="66675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539F626-03B1-44FA-B533-4D0A587CA718}"/>
              </a:ext>
            </a:extLst>
          </p:cNvPr>
          <p:cNvSpPr>
            <a:spLocks xmlns:a="http://schemas.openxmlformats.org/drawingml/2006/main" noGrp="1"/>
          </p:cNvSpPr>
          <p:nvPr/>
        </p:nvSpPr>
        <p:spPr>
          <a:xfrm xmlns:a="http://schemas.openxmlformats.org/drawingml/2006/main">
            <a:off x="819150" y="2743200"/>
            <a:ext cx="819150" cy="819150"/>
          </a:xfrm>
          <a:prstGeom xmlns:a="http://schemas.openxmlformats.org/drawingml/2006/main" prst="ellipse">
            <a:avLst/>
          </a:prstGeom>
          <a:solidFill xmlns:a="http://schemas.openxmlformats.org/drawingml/2006/main">
            <a:srgbClr val="184F5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39B3499-488E-4E9D-B38D-40A2C3A93276}"/>
              </a:ext>
            </a:extLst>
          </p:cNvPr>
          <p:cNvSpPr>
            <a:spLocks xmlns:a="http://schemas.openxmlformats.org/drawingml/2006/main" noGrp="1"/>
          </p:cNvSpPr>
          <p:nvPr/>
        </p:nvSpPr>
        <p:spPr>
          <a:xfrm xmlns:a="http://schemas.openxmlformats.org/drawingml/2006/main">
            <a:off x="819150" y="2914650"/>
            <a:ext cx="819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FFFFFF"/>
                </a:solidFill>
              </a:defRPr>
            </a:pPr>
            <a:r>
              <a:rPr sz="2400" b="1">
                <a:solidFill>
                  <a:srgbClr val="FFFFFF"/>
                </a:solidFill>
              </a:rPr>
              <a:t>1</a:t>
            </a:r>
          </a:p>
        </p:txBody>
      </p:sp>
      <p:sp>
        <p:nvSpPr>
          <p:cNvPr id="12" name="">
            <a:extLst xmlns:a="http://schemas.openxmlformats.org/drawingml/2006/main">
              <a:ext uri="{FF2B5EF4-FFF2-40B4-BE49-F238E27FC236}">
                <a16:creationId xmlns:a16="http://schemas.microsoft.com/office/drawing/2014/main" id="{3270A207-A70F-45D3-8C6C-8A08C8D17304}"/>
              </a:ext>
            </a:extLst>
          </p:cNvPr>
          <p:cNvSpPr>
            <a:spLocks xmlns:a="http://schemas.openxmlformats.org/drawingml/2006/main" noGrp="1"/>
          </p:cNvSpPr>
          <p:nvPr/>
        </p:nvSpPr>
        <p:spPr>
          <a:xfrm xmlns:a="http://schemas.openxmlformats.org/drawingml/2006/main">
            <a:off x="1790700" y="2781300"/>
            <a:ext cx="2333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7232B"/>
                </a:solidFill>
              </a:defRPr>
            </a:pPr>
            <a:r>
              <a:rPr sz="1725" b="1">
                <a:solidFill>
                  <a:srgbClr val="17232B"/>
                </a:solidFill>
              </a:rPr>
              <a:t>Components work together</a:t>
            </a:r>
          </a:p>
        </p:txBody>
      </p:sp>
      <p:sp>
        <p:nvSpPr>
          <p:cNvPr id="13" name="">
            <a:extLst xmlns:a="http://schemas.openxmlformats.org/drawingml/2006/main">
              <a:ext uri="{FF2B5EF4-FFF2-40B4-BE49-F238E27FC236}">
                <a16:creationId xmlns:a16="http://schemas.microsoft.com/office/drawing/2014/main" id="{AE97238C-5CE7-4537-8090-C75868AC5A15}"/>
              </a:ext>
            </a:extLst>
          </p:cNvPr>
          <p:cNvSpPr>
            <a:spLocks xmlns:a="http://schemas.openxmlformats.org/drawingml/2006/main" noGrp="1"/>
          </p:cNvSpPr>
          <p:nvPr/>
        </p:nvSpPr>
        <p:spPr>
          <a:xfrm xmlns:a="http://schemas.openxmlformats.org/drawingml/2006/main">
            <a:off x="4248150" y="2743200"/>
            <a:ext cx="819150" cy="819150"/>
          </a:xfrm>
          <a:prstGeom xmlns:a="http://schemas.openxmlformats.org/drawingml/2006/main" prst="ellipse">
            <a:avLst/>
          </a:prstGeom>
          <a:solidFill xmlns:a="http://schemas.openxmlformats.org/drawingml/2006/main">
            <a:srgbClr val="F0B8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1D0BC4A-AE58-4169-9CB6-9EDE50803D39}"/>
              </a:ext>
            </a:extLst>
          </p:cNvPr>
          <p:cNvSpPr>
            <a:spLocks xmlns:a="http://schemas.openxmlformats.org/drawingml/2006/main" noGrp="1"/>
          </p:cNvSpPr>
          <p:nvPr/>
        </p:nvSpPr>
        <p:spPr>
          <a:xfrm xmlns:a="http://schemas.openxmlformats.org/drawingml/2006/main">
            <a:off x="4248150" y="2914650"/>
            <a:ext cx="819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17232B"/>
                </a:solidFill>
              </a:defRPr>
            </a:pPr>
            <a:r>
              <a:rPr sz="2400" b="1">
                <a:solidFill>
                  <a:srgbClr val="17232B"/>
                </a:solidFill>
              </a:rPr>
              <a:t>2</a:t>
            </a:r>
          </a:p>
        </p:txBody>
      </p:sp>
      <p:sp>
        <p:nvSpPr>
          <p:cNvPr id="15" name="">
            <a:extLst xmlns:a="http://schemas.openxmlformats.org/drawingml/2006/main">
              <a:ext uri="{FF2B5EF4-FFF2-40B4-BE49-F238E27FC236}">
                <a16:creationId xmlns:a16="http://schemas.microsoft.com/office/drawing/2014/main" id="{307C96C0-0CE0-4856-9D2A-42C7790EDA47}"/>
              </a:ext>
            </a:extLst>
          </p:cNvPr>
          <p:cNvSpPr>
            <a:spLocks xmlns:a="http://schemas.openxmlformats.org/drawingml/2006/main" noGrp="1"/>
          </p:cNvSpPr>
          <p:nvPr/>
        </p:nvSpPr>
        <p:spPr>
          <a:xfrm xmlns:a="http://schemas.openxmlformats.org/drawingml/2006/main">
            <a:off x="5219700" y="2781300"/>
            <a:ext cx="2333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7232B"/>
                </a:solidFill>
              </a:defRPr>
            </a:pPr>
            <a:r>
              <a:rPr sz="1725" b="1">
                <a:solidFill>
                  <a:srgbClr val="17232B"/>
                </a:solidFill>
              </a:rPr>
              <a:t>Feedback closes the loop</a:t>
            </a:r>
          </a:p>
        </p:txBody>
      </p:sp>
      <p:sp>
        <p:nvSpPr>
          <p:cNvPr id="16" name="">
            <a:extLst xmlns:a="http://schemas.openxmlformats.org/drawingml/2006/main">
              <a:ext uri="{FF2B5EF4-FFF2-40B4-BE49-F238E27FC236}">
                <a16:creationId xmlns:a16="http://schemas.microsoft.com/office/drawing/2014/main" id="{4F8B2D27-53F8-44E4-87C6-76C0ED03AA22}"/>
              </a:ext>
            </a:extLst>
          </p:cNvPr>
          <p:cNvSpPr>
            <a:spLocks xmlns:a="http://schemas.openxmlformats.org/drawingml/2006/main" noGrp="1"/>
          </p:cNvSpPr>
          <p:nvPr/>
        </p:nvSpPr>
        <p:spPr>
          <a:xfrm xmlns:a="http://schemas.openxmlformats.org/drawingml/2006/main">
            <a:off x="7677150" y="2743200"/>
            <a:ext cx="819150" cy="819150"/>
          </a:xfrm>
          <a:prstGeom xmlns:a="http://schemas.openxmlformats.org/drawingml/2006/main" prst="ellipse">
            <a:avLst/>
          </a:prstGeom>
          <a:solidFill xmlns:a="http://schemas.openxmlformats.org/drawingml/2006/main">
            <a:srgbClr val="184F5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05DB366-0D71-433A-A507-65641444F953}"/>
              </a:ext>
            </a:extLst>
          </p:cNvPr>
          <p:cNvSpPr>
            <a:spLocks xmlns:a="http://schemas.openxmlformats.org/drawingml/2006/main" noGrp="1"/>
          </p:cNvSpPr>
          <p:nvPr/>
        </p:nvSpPr>
        <p:spPr>
          <a:xfrm xmlns:a="http://schemas.openxmlformats.org/drawingml/2006/main">
            <a:off x="7677150" y="2914650"/>
            <a:ext cx="819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FFFFFF"/>
                </a:solidFill>
              </a:defRPr>
            </a:pPr>
            <a:r>
              <a:rPr sz="2400" b="1">
                <a:solidFill>
                  <a:srgbClr val="FFFFFF"/>
                </a:solidFill>
              </a:rPr>
              <a:t>3</a:t>
            </a:r>
          </a:p>
        </p:txBody>
      </p:sp>
      <p:sp>
        <p:nvSpPr>
          <p:cNvPr id="18" name="">
            <a:extLst xmlns:a="http://schemas.openxmlformats.org/drawingml/2006/main">
              <a:ext uri="{FF2B5EF4-FFF2-40B4-BE49-F238E27FC236}">
                <a16:creationId xmlns:a16="http://schemas.microsoft.com/office/drawing/2014/main" id="{387DACC9-33E8-4F7A-A3C1-A8DAE3C5B16C}"/>
              </a:ext>
            </a:extLst>
          </p:cNvPr>
          <p:cNvSpPr>
            <a:spLocks xmlns:a="http://schemas.openxmlformats.org/drawingml/2006/main" noGrp="1"/>
          </p:cNvSpPr>
          <p:nvPr/>
        </p:nvSpPr>
        <p:spPr>
          <a:xfrm xmlns:a="http://schemas.openxmlformats.org/drawingml/2006/main">
            <a:off x="8648700" y="2781300"/>
            <a:ext cx="2333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7232B"/>
                </a:solidFill>
              </a:defRPr>
            </a:pPr>
            <a:r>
              <a:rPr sz="1725" b="1">
                <a:solidFill>
                  <a:srgbClr val="17232B"/>
                </a:solidFill>
              </a:rPr>
              <a:t>Constraints and criteria differ</a:t>
            </a:r>
          </a:p>
        </p:txBody>
      </p:sp>
      <p:sp>
        <p:nvSpPr>
          <p:cNvPr id="19" name="">
            <a:extLst xmlns:a="http://schemas.openxmlformats.org/drawingml/2006/main">
              <a:ext uri="{FF2B5EF4-FFF2-40B4-BE49-F238E27FC236}">
                <a16:creationId xmlns:a16="http://schemas.microsoft.com/office/drawing/2014/main" id="{F2014622-91EB-4328-978A-124743C80F7C}"/>
              </a:ext>
            </a:extLst>
          </p:cNvPr>
          <p:cNvSpPr>
            <a:spLocks xmlns:a="http://schemas.openxmlformats.org/drawingml/2006/main" noGrp="1"/>
          </p:cNvSpPr>
          <p:nvPr/>
        </p:nvSpPr>
        <p:spPr>
          <a:xfrm xmlns:a="http://schemas.openxmlformats.org/drawingml/2006/main">
            <a:off x="685800" y="4686300"/>
            <a:ext cx="1082040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CAD4D8"/>
            </a:solidFill>
            <a:prstDash val="solid"/>
          </a:ln>
        </p:spPr>
      </p:sp>
      <p:sp>
        <p:nvSpPr>
          <p:cNvPr id="20" name="">
            <a:extLst xmlns:a="http://schemas.openxmlformats.org/drawingml/2006/main">
              <a:ext uri="{FF2B5EF4-FFF2-40B4-BE49-F238E27FC236}">
                <a16:creationId xmlns:a16="http://schemas.microsoft.com/office/drawing/2014/main" id="{FD677611-111B-495F-AAF2-51F64EBAEF4B}"/>
              </a:ext>
            </a:extLst>
          </p:cNvPr>
          <p:cNvSpPr>
            <a:spLocks xmlns:a="http://schemas.openxmlformats.org/drawingml/2006/main" noGrp="1"/>
          </p:cNvSpPr>
          <p:nvPr/>
        </p:nvSpPr>
        <p:spPr>
          <a:xfrm xmlns:a="http://schemas.openxmlformats.org/drawingml/2006/main">
            <a:off x="933450" y="489585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94424"/>
                </a:solidFill>
              </a:defRPr>
            </a:pPr>
            <a:r>
              <a:rPr sz="1200" b="1">
                <a:solidFill>
                  <a:srgbClr val="A94424"/>
                </a:solidFill>
              </a:rPr>
              <a:t>RETRIEVAL WARM-UP</a:t>
            </a:r>
          </a:p>
        </p:txBody>
      </p:sp>
      <p:sp>
        <p:nvSpPr>
          <p:cNvPr id="21" name="">
            <a:extLst xmlns:a="http://schemas.openxmlformats.org/drawingml/2006/main">
              <a:ext uri="{FF2B5EF4-FFF2-40B4-BE49-F238E27FC236}">
                <a16:creationId xmlns:a16="http://schemas.microsoft.com/office/drawing/2014/main" id="{3DBAEEAE-F9F6-4D8F-B467-92DC422A56E0}"/>
              </a:ext>
            </a:extLst>
          </p:cNvPr>
          <p:cNvSpPr>
            <a:spLocks xmlns:a="http://schemas.openxmlformats.org/drawingml/2006/main" noGrp="1"/>
          </p:cNvSpPr>
          <p:nvPr/>
        </p:nvSpPr>
        <p:spPr>
          <a:xfrm xmlns:a="http://schemas.openxmlformats.org/drawingml/2006/main">
            <a:off x="933450" y="5219700"/>
            <a:ext cx="1009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232B"/>
                </a:solidFill>
              </a:defRPr>
            </a:pPr>
            <a:r>
              <a:rPr sz="1650" b="1">
                <a:solidFill>
                  <a:srgbClr val="17232B"/>
                </a:solidFill>
              </a:rPr>
              <a:t>Name one component, one interaction and one output you could observe.</a:t>
            </a:r>
          </a:p>
        </p:txBody>
      </p:sp>
    </p:spTree>
    <p:extLst>
      <p:ext uri="{BB962C8B-B14F-4D97-AF65-F5344CB8AC3E}">
        <p14:creationId xmlns:p14="http://schemas.microsoft.com/office/powerpoint/2010/main" val="142395291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B87598E-F466-436A-81CC-70A1474199B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B942BE5-8605-40C7-BE2F-032B37361B8E}"/>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94424"/>
                </a:solidFill>
              </a:defRPr>
            </a:pPr>
            <a:r>
              <a:rPr sz="1050" b="1">
                <a:solidFill>
                  <a:srgbClr val="A94424"/>
                </a:solidFill>
              </a:rPr>
              <a:t>MODULE 01  /  CATAPULT CHALLENGE</a:t>
            </a:r>
          </a:p>
        </p:txBody>
      </p:sp>
      <p:sp>
        <p:nvSpPr>
          <p:cNvPr id="3" name="">
            <a:extLst xmlns:a="http://schemas.openxmlformats.org/drawingml/2006/main">
              <a:ext uri="{FF2B5EF4-FFF2-40B4-BE49-F238E27FC236}">
                <a16:creationId xmlns:a16="http://schemas.microsoft.com/office/drawing/2014/main" id="{BCA54132-AFEA-48F8-AD1E-D33051F1CAB1}"/>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7232B"/>
                </a:solidFill>
              </a:defRPr>
            </a:pPr>
            <a:r>
              <a:rPr sz="2850" b="1">
                <a:solidFill>
                  <a:srgbClr val="17232B"/>
                </a:solidFill>
              </a:rPr>
              <a:t>A system is defined by relationships</a:t>
            </a:r>
          </a:p>
        </p:txBody>
      </p:sp>
      <p:sp>
        <p:nvSpPr>
          <p:cNvPr id="4" name="">
            <a:extLst xmlns:a="http://schemas.openxmlformats.org/drawingml/2006/main">
              <a:ext uri="{FF2B5EF4-FFF2-40B4-BE49-F238E27FC236}">
                <a16:creationId xmlns:a16="http://schemas.microsoft.com/office/drawing/2014/main" id="{8D4E3C2F-D1EC-4351-9769-5955C3501CC4}"/>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CAD4D8"/>
            </a:solidFill>
            <a:prstDash val="solid"/>
          </a:ln>
        </p:spPr>
      </p:sp>
      <p:sp>
        <p:nvSpPr>
          <p:cNvPr id="5" name="">
            <a:extLst xmlns:a="http://schemas.openxmlformats.org/drawingml/2006/main">
              <a:ext uri="{FF2B5EF4-FFF2-40B4-BE49-F238E27FC236}">
                <a16:creationId xmlns:a16="http://schemas.microsoft.com/office/drawing/2014/main" id="{06B14932-32B1-4E93-8AAC-41BC4AEB2DE1}"/>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3636D"/>
                </a:solidFill>
              </a:defRPr>
            </a:pPr>
            <a:r>
              <a:rPr sz="975" b="1">
                <a:solidFill>
                  <a:srgbClr val="53636D"/>
                </a:solidFill>
              </a:rPr>
              <a:t>YEAR 8 CATAPULT  •  MODULE 01</a:t>
            </a:r>
          </a:p>
        </p:txBody>
      </p:sp>
      <p:sp>
        <p:nvSpPr>
          <p:cNvPr id="6" name="">
            <a:extLst xmlns:a="http://schemas.openxmlformats.org/drawingml/2006/main">
              <a:ext uri="{FF2B5EF4-FFF2-40B4-BE49-F238E27FC236}">
                <a16:creationId xmlns:a16="http://schemas.microsoft.com/office/drawing/2014/main" id="{AE266806-B8E5-4053-B6EB-7857F75B2406}"/>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A94424"/>
                </a:solidFill>
              </a:defRPr>
            </a:pPr>
            <a:r>
              <a:rPr sz="975" b="1">
                <a:solidFill>
                  <a:srgbClr val="A94424"/>
                </a:solidFill>
              </a:rPr>
              <a:t>03</a:t>
            </a:r>
          </a:p>
        </p:txBody>
      </p:sp>
      <p:sp>
        <p:nvSpPr>
          <p:cNvPr id="7" name="">
            <a:extLst xmlns:a="http://schemas.openxmlformats.org/drawingml/2006/main">
              <a:ext uri="{FF2B5EF4-FFF2-40B4-BE49-F238E27FC236}">
                <a16:creationId xmlns:a16="http://schemas.microsoft.com/office/drawing/2014/main" id="{92CEF96B-9DF3-404B-81AC-3F32FB4684BA}"/>
              </a:ext>
            </a:extLst>
          </p:cNvPr>
          <p:cNvSpPr>
            <a:spLocks xmlns:a="http://schemas.openxmlformats.org/drawingml/2006/main" noGrp="1"/>
          </p:cNvSpPr>
          <p:nvPr/>
        </p:nvSpPr>
        <p:spPr>
          <a:xfrm xmlns:a="http://schemas.openxmlformats.org/drawingml/2006/main">
            <a:off x="685800" y="1381125"/>
            <a:ext cx="48006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7232B"/>
                </a:solidFill>
              </a:defRPr>
            </a:pPr>
            <a:r>
              <a:rPr sz="1725" b="0">
                <a:solidFill>
                  <a:srgbClr val="17232B"/>
                </a:solidFill>
              </a:rPr>
              <a:t>An engineered system is a group of connected components that work together for a purpose. Naming the base, frame, moving arm or energy store is only a start. The stronger explanation shows how one component affects another and how a change can alter the whole system.</a:t>
            </a:r>
          </a:p>
        </p:txBody>
      </p:sp>
      <p:sp>
        <p:nvSpPr>
          <p:cNvPr id="8" name="">
            <a:extLst xmlns:a="http://schemas.openxmlformats.org/drawingml/2006/main">
              <a:ext uri="{FF2B5EF4-FFF2-40B4-BE49-F238E27FC236}">
                <a16:creationId xmlns:a16="http://schemas.microsoft.com/office/drawing/2014/main" id="{87511417-D255-4ECD-93B4-CAE94354BFD8}"/>
              </a:ext>
            </a:extLst>
          </p:cNvPr>
          <p:cNvSpPr>
            <a:spLocks xmlns:a="http://schemas.openxmlformats.org/drawingml/2006/main" noGrp="1"/>
          </p:cNvSpPr>
          <p:nvPr/>
        </p:nvSpPr>
        <p:spPr>
          <a:xfrm xmlns:a="http://schemas.openxmlformats.org/drawingml/2006/main">
            <a:off x="685800" y="3905250"/>
            <a:ext cx="4762500" cy="0"/>
          </a:xfrm>
          <a:prstGeom xmlns:a="http://schemas.openxmlformats.org/drawingml/2006/main" prst="line">
            <a:avLst/>
          </a:prstGeom>
          <a:noFill xmlns:a="http://schemas.openxmlformats.org/drawingml/2006/main"/>
          <a:ln xmlns:a="http://schemas.openxmlformats.org/drawingml/2006/main" w="38100">
            <a:solidFill>
              <a:srgbClr val="F0B84B"/>
            </a:solidFill>
            <a:prstDash val="solid"/>
          </a:ln>
        </p:spPr>
      </p:sp>
      <p:sp>
        <p:nvSpPr>
          <p:cNvPr id="9" name="">
            <a:extLst xmlns:a="http://schemas.openxmlformats.org/drawingml/2006/main">
              <a:ext uri="{FF2B5EF4-FFF2-40B4-BE49-F238E27FC236}">
                <a16:creationId xmlns:a16="http://schemas.microsoft.com/office/drawing/2014/main" id="{517F6319-C228-46DE-AF64-64CFEA69DF81}"/>
              </a:ext>
            </a:extLst>
          </p:cNvPr>
          <p:cNvSpPr>
            <a:spLocks xmlns:a="http://schemas.openxmlformats.org/drawingml/2006/main" noGrp="1"/>
          </p:cNvSpPr>
          <p:nvPr/>
        </p:nvSpPr>
        <p:spPr>
          <a:xfrm xmlns:a="http://schemas.openxmlformats.org/drawingml/2006/main">
            <a:off x="685800" y="4171950"/>
            <a:ext cx="48006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A94424"/>
                </a:solidFill>
              </a:defRPr>
            </a:pPr>
            <a:r>
              <a:rPr sz="1575" b="1">
                <a:solidFill>
                  <a:srgbClr val="A94424"/>
                </a:solidFill>
              </a:rPr>
              <a:t>Application: trace one component relationship and predict what else should be checked if it changes.</a:t>
            </a:r>
          </a:p>
        </p:txBody>
      </p:sp>
      <p:sp>
        <p:nvSpPr>
          <p:cNvPr id="10" name="">
            <a:extLst xmlns:a="http://schemas.openxmlformats.org/drawingml/2006/main">
              <a:ext uri="{FF2B5EF4-FFF2-40B4-BE49-F238E27FC236}">
                <a16:creationId xmlns:a16="http://schemas.microsoft.com/office/drawing/2014/main" id="{B624F6A9-0BFC-443D-9598-6A4DB43C2C28}"/>
              </a:ext>
            </a:extLst>
          </p:cNvPr>
          <p:cNvSpPr>
            <a:spLocks xmlns:a="http://schemas.openxmlformats.org/drawingml/2006/main" noGrp="1"/>
          </p:cNvSpPr>
          <p:nvPr/>
        </p:nvSpPr>
        <p:spPr>
          <a:xfrm xmlns:a="http://schemas.openxmlformats.org/drawingml/2006/main">
            <a:off x="6191250" y="1295400"/>
            <a:ext cx="4762500" cy="2676525"/>
          </a:xfrm>
          <a:prstGeom xmlns:a="http://schemas.openxmlformats.org/drawingml/2006/main" prst="roundRect">
            <a:avLst>
              <a:gd name="adj" fmla="val 2847"/>
            </a:avLst>
          </a:prstGeom>
          <a:solidFill xmlns:a="http://schemas.openxmlformats.org/drawingml/2006/main">
            <a:srgbClr val="FFFFFF"/>
          </a:solidFill>
          <a:ln xmlns:a="http://schemas.openxmlformats.org/drawingml/2006/main" w="9525">
            <a:solidFill>
              <a:srgbClr val="CAD4D8"/>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883451ad7f944371"/>
          <a:srcRect xmlns:a="http://schemas.openxmlformats.org/drawingml/2006/main" l="0" t="71" r="0" b="71"/>
          <a:stretch xmlns:a="http://schemas.openxmlformats.org/drawingml/2006/main">
            <a:fillRect l="0" t="0" r="0" b="0"/>
          </a:stretch>
        </p:blipFill>
        <p:spPr>
          <a:xfrm xmlns:a="http://schemas.openxmlformats.org/drawingml/2006/main">
            <a:off x="6191250" y="1295400"/>
            <a:ext cx="4762500" cy="2676525"/>
          </a:xfrm>
          <a:prstGeom xmlns:a="http://schemas.openxmlformats.org/drawingml/2006/main" prst="roundRect">
            <a:avLst>
              <a:gd name="adj" fmla="val 4270"/>
            </a:avLst>
          </a:prstGeom>
        </p:spPr>
      </p:pic>
      <p:sp>
        <p:nvSpPr>
          <p:cNvPr id="12" name="">
            <a:extLst xmlns:a="http://schemas.openxmlformats.org/drawingml/2006/main">
              <a:ext uri="{FF2B5EF4-FFF2-40B4-BE49-F238E27FC236}">
                <a16:creationId xmlns:a16="http://schemas.microsoft.com/office/drawing/2014/main" id="{44A7B4B5-6D97-426C-81C9-6A32E26E7AD6}"/>
              </a:ext>
            </a:extLst>
          </p:cNvPr>
          <p:cNvSpPr>
            <a:spLocks xmlns:a="http://schemas.openxmlformats.org/drawingml/2006/main" noGrp="1"/>
          </p:cNvSpPr>
          <p:nvPr/>
        </p:nvSpPr>
        <p:spPr>
          <a:xfrm xmlns:a="http://schemas.openxmlformats.org/drawingml/2006/main">
            <a:off x="6191250" y="40576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7232B"/>
                </a:solidFill>
              </a:defRPr>
            </a:pPr>
            <a:r>
              <a:rPr sz="1125" b="1">
                <a:solidFill>
                  <a:srgbClr val="17232B"/>
                </a:solidFill>
              </a:rPr>
              <a:t>A mechanism works because its parts interact, not because each part exists.</a:t>
            </a:r>
          </a:p>
        </p:txBody>
      </p:sp>
      <p:sp>
        <p:nvSpPr>
          <p:cNvPr id="13" name="">
            <a:extLst xmlns:a="http://schemas.openxmlformats.org/drawingml/2006/main">
              <a:ext uri="{FF2B5EF4-FFF2-40B4-BE49-F238E27FC236}">
                <a16:creationId xmlns:a16="http://schemas.microsoft.com/office/drawing/2014/main" id="{8072EDD8-71EF-4F40-92D4-69BE67EC6A8E}"/>
              </a:ext>
            </a:extLst>
          </p:cNvPr>
          <p:cNvSpPr>
            <a:spLocks xmlns:a="http://schemas.openxmlformats.org/drawingml/2006/main" noGrp="1"/>
          </p:cNvSpPr>
          <p:nvPr/>
        </p:nvSpPr>
        <p:spPr>
          <a:xfrm xmlns:a="http://schemas.openxmlformats.org/drawingml/2006/main">
            <a:off x="6191250" y="4610100"/>
            <a:ext cx="4762500" cy="781050"/>
          </a:xfrm>
          <a:prstGeom xmlns:a="http://schemas.openxmlformats.org/drawingml/2006/main" prst="rect">
            <a:avLst/>
          </a:prstGeom>
          <a:solidFill xmlns:a="http://schemas.openxmlformats.org/drawingml/2006/main">
            <a:srgbClr val="FFF4D8"/>
          </a:solidFill>
          <a:ln xmlns:a="http://schemas.openxmlformats.org/drawingml/2006/main" w="9525">
            <a:solidFill>
              <a:srgbClr val="F0B84B"/>
            </a:solidFill>
            <a:prstDash val="solid"/>
          </a:ln>
        </p:spPr>
        <p:txBody>
          <a:bodyPr xmlns:a="http://schemas.openxmlformats.org/drawingml/2006/main"/>
          <a:lstStyle xmlns:a="http://schemas.openxmlformats.org/drawingml/2006/main"/>
          <a:p xmlns:a="http://schemas.openxmlformats.org/drawingml/2006/main">
            <a:pPr algn="l">
              <a:defRPr sz="1125" b="1">
                <a:solidFill>
                  <a:srgbClr val="184F5E"/>
                </a:solidFill>
              </a:defRPr>
            </a:pPr>
            <a:r>
              <a:rPr sz="1125" b="1">
                <a:solidFill>
                  <a:srgbClr val="184F5E"/>
                </a:solidFill>
              </a:rPr>
              <a:t>NOTICE  Trace how changing the pivot, arm or energy-store position could affect the other parts.</a:t>
            </a:r>
          </a:p>
        </p:txBody>
      </p:sp>
    </p:spTree>
    <p:extLst>
      <p:ext uri="{BB962C8B-B14F-4D97-AF65-F5344CB8AC3E}">
        <p14:creationId xmlns:p14="http://schemas.microsoft.com/office/powerpoint/2010/main" val="5102275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F196B1A-7337-4AD2-9495-CEFF3019F0BD}"/>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2E455EC-DEED-4DD8-B79E-E31CCBF6CB27}"/>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94424"/>
                </a:solidFill>
              </a:defRPr>
            </a:pPr>
            <a:r>
              <a:rPr sz="1050" b="1">
                <a:solidFill>
                  <a:srgbClr val="A94424"/>
                </a:solidFill>
              </a:rPr>
              <a:t>MODULE 01  /  CATAPULT CHALLENGE</a:t>
            </a:r>
          </a:p>
        </p:txBody>
      </p:sp>
      <p:sp>
        <p:nvSpPr>
          <p:cNvPr id="3" name="">
            <a:extLst xmlns:a="http://schemas.openxmlformats.org/drawingml/2006/main">
              <a:ext uri="{FF2B5EF4-FFF2-40B4-BE49-F238E27FC236}">
                <a16:creationId xmlns:a16="http://schemas.microsoft.com/office/drawing/2014/main" id="{2243502C-E2A8-4AEF-A9A0-1F16CBBC568D}"/>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7232B"/>
                </a:solidFill>
              </a:defRPr>
            </a:pPr>
            <a:r>
              <a:rPr sz="2850" b="1">
                <a:solidFill>
                  <a:srgbClr val="17232B"/>
                </a:solidFill>
              </a:rPr>
              <a:t>Feedback turns testing into a design loop</a:t>
            </a:r>
          </a:p>
        </p:txBody>
      </p:sp>
      <p:sp>
        <p:nvSpPr>
          <p:cNvPr id="4" name="">
            <a:extLst xmlns:a="http://schemas.openxmlformats.org/drawingml/2006/main">
              <a:ext uri="{FF2B5EF4-FFF2-40B4-BE49-F238E27FC236}">
                <a16:creationId xmlns:a16="http://schemas.microsoft.com/office/drawing/2014/main" id="{28203FB2-1CAE-4E88-A8AD-7223BADF9A75}"/>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CAD4D8"/>
            </a:solidFill>
            <a:prstDash val="solid"/>
          </a:ln>
        </p:spPr>
      </p:sp>
      <p:sp>
        <p:nvSpPr>
          <p:cNvPr id="5" name="">
            <a:extLst xmlns:a="http://schemas.openxmlformats.org/drawingml/2006/main">
              <a:ext uri="{FF2B5EF4-FFF2-40B4-BE49-F238E27FC236}">
                <a16:creationId xmlns:a16="http://schemas.microsoft.com/office/drawing/2014/main" id="{644568A7-E61D-4BDF-82E5-10CB91BF42D1}"/>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3636D"/>
                </a:solidFill>
              </a:defRPr>
            </a:pPr>
            <a:r>
              <a:rPr sz="975" b="1">
                <a:solidFill>
                  <a:srgbClr val="53636D"/>
                </a:solidFill>
              </a:rPr>
              <a:t>YEAR 8 CATAPULT  •  MODULE 01</a:t>
            </a:r>
          </a:p>
        </p:txBody>
      </p:sp>
      <p:sp>
        <p:nvSpPr>
          <p:cNvPr id="6" name="">
            <a:extLst xmlns:a="http://schemas.openxmlformats.org/drawingml/2006/main">
              <a:ext uri="{FF2B5EF4-FFF2-40B4-BE49-F238E27FC236}">
                <a16:creationId xmlns:a16="http://schemas.microsoft.com/office/drawing/2014/main" id="{0BBC8CC0-C3F5-441A-A69C-D316B271E8B7}"/>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A94424"/>
                </a:solidFill>
              </a:defRPr>
            </a:pPr>
            <a:r>
              <a:rPr sz="975" b="1">
                <a:solidFill>
                  <a:srgbClr val="A94424"/>
                </a:solidFill>
              </a:rPr>
              <a:t>04</a:t>
            </a:r>
          </a:p>
        </p:txBody>
      </p:sp>
      <p:sp>
        <p:nvSpPr>
          <p:cNvPr id="7" name="">
            <a:extLst xmlns:a="http://schemas.openxmlformats.org/drawingml/2006/main">
              <a:ext uri="{FF2B5EF4-FFF2-40B4-BE49-F238E27FC236}">
                <a16:creationId xmlns:a16="http://schemas.microsoft.com/office/drawing/2014/main" id="{C0AC56CB-2F41-4408-BF69-D90C2F08C372}"/>
              </a:ext>
            </a:extLst>
          </p:cNvPr>
          <p:cNvSpPr>
            <a:spLocks xmlns:a="http://schemas.openxmlformats.org/drawingml/2006/main" noGrp="1"/>
          </p:cNvSpPr>
          <p:nvPr/>
        </p:nvSpPr>
        <p:spPr>
          <a:xfrm xmlns:a="http://schemas.openxmlformats.org/drawingml/2006/main">
            <a:off x="6705600" y="1381125"/>
            <a:ext cx="48006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7232B"/>
                </a:solidFill>
              </a:defRPr>
            </a:pPr>
            <a:r>
              <a:rPr sz="1725" b="0">
                <a:solidFill>
                  <a:srgbClr val="17232B"/>
                </a:solidFill>
              </a:rPr>
              <a:t>Inputs such as stored energy, materials and design information enter the system. Processes transfer or transform them. Outputs can include movement, sound, vibration and test data. Feedback is useful when an observed output guides the next decision.</a:t>
            </a:r>
          </a:p>
        </p:txBody>
      </p:sp>
      <p:sp>
        <p:nvSpPr>
          <p:cNvPr id="8" name="">
            <a:extLst xmlns:a="http://schemas.openxmlformats.org/drawingml/2006/main">
              <a:ext uri="{FF2B5EF4-FFF2-40B4-BE49-F238E27FC236}">
                <a16:creationId xmlns:a16="http://schemas.microsoft.com/office/drawing/2014/main" id="{EB0C7195-F7C8-447E-ABA3-D53E3BAF4F2A}"/>
              </a:ext>
            </a:extLst>
          </p:cNvPr>
          <p:cNvSpPr>
            <a:spLocks xmlns:a="http://schemas.openxmlformats.org/drawingml/2006/main" noGrp="1"/>
          </p:cNvSpPr>
          <p:nvPr/>
        </p:nvSpPr>
        <p:spPr>
          <a:xfrm xmlns:a="http://schemas.openxmlformats.org/drawingml/2006/main">
            <a:off x="6705600" y="3905250"/>
            <a:ext cx="4762500" cy="0"/>
          </a:xfrm>
          <a:prstGeom xmlns:a="http://schemas.openxmlformats.org/drawingml/2006/main" prst="line">
            <a:avLst/>
          </a:prstGeom>
          <a:noFill xmlns:a="http://schemas.openxmlformats.org/drawingml/2006/main"/>
          <a:ln xmlns:a="http://schemas.openxmlformats.org/drawingml/2006/main" w="38100">
            <a:solidFill>
              <a:srgbClr val="F0B84B"/>
            </a:solidFill>
            <a:prstDash val="solid"/>
          </a:ln>
        </p:spPr>
      </p:sp>
      <p:sp>
        <p:nvSpPr>
          <p:cNvPr id="9" name="">
            <a:extLst xmlns:a="http://schemas.openxmlformats.org/drawingml/2006/main">
              <a:ext uri="{FF2B5EF4-FFF2-40B4-BE49-F238E27FC236}">
                <a16:creationId xmlns:a16="http://schemas.microsoft.com/office/drawing/2014/main" id="{C18DCB36-A870-49E1-B60D-F32466C4B31D}"/>
              </a:ext>
            </a:extLst>
          </p:cNvPr>
          <p:cNvSpPr>
            <a:spLocks xmlns:a="http://schemas.openxmlformats.org/drawingml/2006/main" noGrp="1"/>
          </p:cNvSpPr>
          <p:nvPr/>
        </p:nvSpPr>
        <p:spPr>
          <a:xfrm xmlns:a="http://schemas.openxmlformats.org/drawingml/2006/main">
            <a:off x="6705600" y="4171950"/>
            <a:ext cx="48006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A94424"/>
                </a:solidFill>
              </a:defRPr>
            </a:pPr>
            <a:r>
              <a:rPr sz="1575" b="1">
                <a:solidFill>
                  <a:srgbClr val="A94424"/>
                </a:solidFill>
              </a:rPr>
              <a:t>Evidence move: turn one observed output into a specific question for the next check.</a:t>
            </a:r>
          </a:p>
        </p:txBody>
      </p:sp>
      <p:sp>
        <p:nvSpPr>
          <p:cNvPr id="10" name="">
            <a:extLst xmlns:a="http://schemas.openxmlformats.org/drawingml/2006/main">
              <a:ext uri="{FF2B5EF4-FFF2-40B4-BE49-F238E27FC236}">
                <a16:creationId xmlns:a16="http://schemas.microsoft.com/office/drawing/2014/main" id="{5049B618-05F9-4C1D-818C-68E59A7014CC}"/>
              </a:ext>
            </a:extLst>
          </p:cNvPr>
          <p:cNvSpPr>
            <a:spLocks xmlns:a="http://schemas.openxmlformats.org/drawingml/2006/main" noGrp="1"/>
          </p:cNvSpPr>
          <p:nvPr/>
        </p:nvSpPr>
        <p:spPr>
          <a:xfrm xmlns:a="http://schemas.openxmlformats.org/drawingml/2006/main">
            <a:off x="685800" y="1295400"/>
            <a:ext cx="4762500" cy="2676525"/>
          </a:xfrm>
          <a:prstGeom xmlns:a="http://schemas.openxmlformats.org/drawingml/2006/main" prst="roundRect">
            <a:avLst>
              <a:gd name="adj" fmla="val 2847"/>
            </a:avLst>
          </a:prstGeom>
          <a:solidFill xmlns:a="http://schemas.openxmlformats.org/drawingml/2006/main">
            <a:srgbClr val="FFFFFF"/>
          </a:solidFill>
          <a:ln xmlns:a="http://schemas.openxmlformats.org/drawingml/2006/main" w="9525">
            <a:solidFill>
              <a:srgbClr val="CAD4D8"/>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cc2182f6a6684d98"/>
          <a:srcRect xmlns:a="http://schemas.openxmlformats.org/drawingml/2006/main" l="0" t="71" r="0" b="71"/>
          <a:stretch xmlns:a="http://schemas.openxmlformats.org/drawingml/2006/main">
            <a:fillRect l="0" t="0" r="0" b="0"/>
          </a:stretch>
        </p:blipFill>
        <p:spPr>
          <a:xfrm xmlns:a="http://schemas.openxmlformats.org/drawingml/2006/main">
            <a:off x="685800" y="1295400"/>
            <a:ext cx="4762500" cy="2676525"/>
          </a:xfrm>
          <a:prstGeom xmlns:a="http://schemas.openxmlformats.org/drawingml/2006/main" prst="roundRect">
            <a:avLst>
              <a:gd name="adj" fmla="val 4270"/>
            </a:avLst>
          </a:prstGeom>
        </p:spPr>
      </p:pic>
      <p:sp>
        <p:nvSpPr>
          <p:cNvPr id="12" name="">
            <a:extLst xmlns:a="http://schemas.openxmlformats.org/drawingml/2006/main">
              <a:ext uri="{FF2B5EF4-FFF2-40B4-BE49-F238E27FC236}">
                <a16:creationId xmlns:a16="http://schemas.microsoft.com/office/drawing/2014/main" id="{CE3F0261-1837-47A6-B359-D9085ECAAD1D}"/>
              </a:ext>
            </a:extLst>
          </p:cNvPr>
          <p:cNvSpPr>
            <a:spLocks xmlns:a="http://schemas.openxmlformats.org/drawingml/2006/main" noGrp="1"/>
          </p:cNvSpPr>
          <p:nvPr/>
        </p:nvSpPr>
        <p:spPr>
          <a:xfrm xmlns:a="http://schemas.openxmlformats.org/drawingml/2006/main">
            <a:off x="685800" y="40576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7232B"/>
                </a:solidFill>
              </a:defRPr>
            </a:pPr>
            <a:r>
              <a:rPr sz="1125" b="1">
                <a:solidFill>
                  <a:srgbClr val="17232B"/>
                </a:solidFill>
              </a:rPr>
              <a:t>An observed output becomes feedback only when it guides the next decision.</a:t>
            </a:r>
          </a:p>
        </p:txBody>
      </p:sp>
      <p:sp>
        <p:nvSpPr>
          <p:cNvPr id="13" name="">
            <a:extLst xmlns:a="http://schemas.openxmlformats.org/drawingml/2006/main">
              <a:ext uri="{FF2B5EF4-FFF2-40B4-BE49-F238E27FC236}">
                <a16:creationId xmlns:a16="http://schemas.microsoft.com/office/drawing/2014/main" id="{5C921B95-2917-4D57-BB90-EF3D688E5A78}"/>
              </a:ext>
            </a:extLst>
          </p:cNvPr>
          <p:cNvSpPr>
            <a:spLocks xmlns:a="http://schemas.openxmlformats.org/drawingml/2006/main" noGrp="1"/>
          </p:cNvSpPr>
          <p:nvPr/>
        </p:nvSpPr>
        <p:spPr>
          <a:xfrm xmlns:a="http://schemas.openxmlformats.org/drawingml/2006/main">
            <a:off x="685800" y="4610100"/>
            <a:ext cx="4762500" cy="781050"/>
          </a:xfrm>
          <a:prstGeom xmlns:a="http://schemas.openxmlformats.org/drawingml/2006/main" prst="rect">
            <a:avLst/>
          </a:prstGeom>
          <a:solidFill xmlns:a="http://schemas.openxmlformats.org/drawingml/2006/main">
            <a:srgbClr val="FFF4D8"/>
          </a:solidFill>
          <a:ln xmlns:a="http://schemas.openxmlformats.org/drawingml/2006/main" w="9525">
            <a:solidFill>
              <a:srgbClr val="F0B84B"/>
            </a:solidFill>
            <a:prstDash val="solid"/>
          </a:ln>
        </p:spPr>
        <p:txBody>
          <a:bodyPr xmlns:a="http://schemas.openxmlformats.org/drawingml/2006/main"/>
          <a:lstStyle xmlns:a="http://schemas.openxmlformats.org/drawingml/2006/main"/>
          <a:p xmlns:a="http://schemas.openxmlformats.org/drawingml/2006/main">
            <a:pPr algn="l">
              <a:defRPr sz="1125" b="1">
                <a:solidFill>
                  <a:srgbClr val="184F5E"/>
                </a:solidFill>
              </a:defRPr>
            </a:pPr>
            <a:r>
              <a:rPr sz="1125" b="1">
                <a:solidFill>
                  <a:srgbClr val="184F5E"/>
                </a:solidFill>
              </a:rPr>
              <a:t>NOTICE  Look for the observation that would make a designer keep, question or change one feature.</a:t>
            </a:r>
          </a:p>
        </p:txBody>
      </p:sp>
    </p:spTree>
    <p:extLst>
      <p:ext uri="{BB962C8B-B14F-4D97-AF65-F5344CB8AC3E}">
        <p14:creationId xmlns:p14="http://schemas.microsoft.com/office/powerpoint/2010/main" val="111444737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E593E2E-4FE4-4862-9244-F686572A267A}"/>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68310D0-0175-4933-8A79-875289BE4036}"/>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94424"/>
                </a:solidFill>
              </a:defRPr>
            </a:pPr>
            <a:r>
              <a:rPr sz="1050" b="1">
                <a:solidFill>
                  <a:srgbClr val="A94424"/>
                </a:solidFill>
              </a:rPr>
              <a:t>MODULE 01  /  CATAPULT CHALLENGE</a:t>
            </a:r>
          </a:p>
        </p:txBody>
      </p:sp>
      <p:sp>
        <p:nvSpPr>
          <p:cNvPr id="3" name="">
            <a:extLst xmlns:a="http://schemas.openxmlformats.org/drawingml/2006/main">
              <a:ext uri="{FF2B5EF4-FFF2-40B4-BE49-F238E27FC236}">
                <a16:creationId xmlns:a16="http://schemas.microsoft.com/office/drawing/2014/main" id="{3E83F206-9CCE-46B0-AE16-423753E9C19C}"/>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7232B"/>
                </a:solidFill>
              </a:defRPr>
            </a:pPr>
            <a:r>
              <a:rPr sz="2850" b="1">
                <a:solidFill>
                  <a:srgbClr val="17232B"/>
                </a:solidFill>
              </a:rPr>
              <a:t>Constraints are boundaries; criteria judge success</a:t>
            </a:r>
          </a:p>
        </p:txBody>
      </p:sp>
      <p:sp>
        <p:nvSpPr>
          <p:cNvPr id="4" name="">
            <a:extLst xmlns:a="http://schemas.openxmlformats.org/drawingml/2006/main">
              <a:ext uri="{FF2B5EF4-FFF2-40B4-BE49-F238E27FC236}">
                <a16:creationId xmlns:a16="http://schemas.microsoft.com/office/drawing/2014/main" id="{3D003E9D-4ED8-4CED-8221-7DD8EAA57146}"/>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CAD4D8"/>
            </a:solidFill>
            <a:prstDash val="solid"/>
          </a:ln>
        </p:spPr>
      </p:sp>
      <p:sp>
        <p:nvSpPr>
          <p:cNvPr id="5" name="">
            <a:extLst xmlns:a="http://schemas.openxmlformats.org/drawingml/2006/main">
              <a:ext uri="{FF2B5EF4-FFF2-40B4-BE49-F238E27FC236}">
                <a16:creationId xmlns:a16="http://schemas.microsoft.com/office/drawing/2014/main" id="{09A8421A-DE35-473C-8E56-23CE5DDD50B0}"/>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3636D"/>
                </a:solidFill>
              </a:defRPr>
            </a:pPr>
            <a:r>
              <a:rPr sz="975" b="1">
                <a:solidFill>
                  <a:srgbClr val="53636D"/>
                </a:solidFill>
              </a:rPr>
              <a:t>YEAR 8 CATAPULT  •  MODULE 01</a:t>
            </a:r>
          </a:p>
        </p:txBody>
      </p:sp>
      <p:sp>
        <p:nvSpPr>
          <p:cNvPr id="6" name="">
            <a:extLst xmlns:a="http://schemas.openxmlformats.org/drawingml/2006/main">
              <a:ext uri="{FF2B5EF4-FFF2-40B4-BE49-F238E27FC236}">
                <a16:creationId xmlns:a16="http://schemas.microsoft.com/office/drawing/2014/main" id="{FA0C39FA-0F8B-47A2-9169-ACB5FAA29495}"/>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A94424"/>
                </a:solidFill>
              </a:defRPr>
            </a:pPr>
            <a:r>
              <a:rPr sz="975" b="1">
                <a:solidFill>
                  <a:srgbClr val="A94424"/>
                </a:solidFill>
              </a:rPr>
              <a:t>05</a:t>
            </a:r>
          </a:p>
        </p:txBody>
      </p:sp>
      <p:sp>
        <p:nvSpPr>
          <p:cNvPr id="7" name="">
            <a:extLst xmlns:a="http://schemas.openxmlformats.org/drawingml/2006/main">
              <a:ext uri="{FF2B5EF4-FFF2-40B4-BE49-F238E27FC236}">
                <a16:creationId xmlns:a16="http://schemas.microsoft.com/office/drawing/2014/main" id="{E3FA9EDE-6DC1-4707-B091-DD742E6D1156}"/>
              </a:ext>
            </a:extLst>
          </p:cNvPr>
          <p:cNvSpPr>
            <a:spLocks xmlns:a="http://schemas.openxmlformats.org/drawingml/2006/main" noGrp="1"/>
          </p:cNvSpPr>
          <p:nvPr/>
        </p:nvSpPr>
        <p:spPr>
          <a:xfrm xmlns:a="http://schemas.openxmlformats.org/drawingml/2006/main">
            <a:off x="685800" y="1381125"/>
            <a:ext cx="48006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7232B"/>
                </a:solidFill>
              </a:defRPr>
            </a:pPr>
            <a:r>
              <a:rPr sz="1725" b="0">
                <a:solidFill>
                  <a:srgbClr val="17232B"/>
                </a:solidFill>
              </a:rPr>
              <a:t>The authorised brief sets materials, a practical-plus-folio expectation and a maximum planned pine length of 2400 mm. These are constraints. A criterion states what successful performance would look like and must connect to observable evidence confirmed by the teacher.</a:t>
            </a:r>
          </a:p>
        </p:txBody>
      </p:sp>
      <p:sp>
        <p:nvSpPr>
          <p:cNvPr id="8" name="">
            <a:extLst xmlns:a="http://schemas.openxmlformats.org/drawingml/2006/main">
              <a:ext uri="{FF2B5EF4-FFF2-40B4-BE49-F238E27FC236}">
                <a16:creationId xmlns:a16="http://schemas.microsoft.com/office/drawing/2014/main" id="{CE2D1FF9-0C85-4744-B713-2BBD01669A70}"/>
              </a:ext>
            </a:extLst>
          </p:cNvPr>
          <p:cNvSpPr>
            <a:spLocks xmlns:a="http://schemas.openxmlformats.org/drawingml/2006/main" noGrp="1"/>
          </p:cNvSpPr>
          <p:nvPr/>
        </p:nvSpPr>
        <p:spPr>
          <a:xfrm xmlns:a="http://schemas.openxmlformats.org/drawingml/2006/main">
            <a:off x="685800" y="3905250"/>
            <a:ext cx="4762500" cy="0"/>
          </a:xfrm>
          <a:prstGeom xmlns:a="http://schemas.openxmlformats.org/drawingml/2006/main" prst="line">
            <a:avLst/>
          </a:prstGeom>
          <a:noFill xmlns:a="http://schemas.openxmlformats.org/drawingml/2006/main"/>
          <a:ln xmlns:a="http://schemas.openxmlformats.org/drawingml/2006/main" w="38100">
            <a:solidFill>
              <a:srgbClr val="F0B84B"/>
            </a:solidFill>
            <a:prstDash val="solid"/>
          </a:ln>
        </p:spPr>
      </p:sp>
      <p:sp>
        <p:nvSpPr>
          <p:cNvPr id="9" name="">
            <a:extLst xmlns:a="http://schemas.openxmlformats.org/drawingml/2006/main">
              <a:ext uri="{FF2B5EF4-FFF2-40B4-BE49-F238E27FC236}">
                <a16:creationId xmlns:a16="http://schemas.microsoft.com/office/drawing/2014/main" id="{D09BD5DA-78C5-41D6-B125-8D33E83C1942}"/>
              </a:ext>
            </a:extLst>
          </p:cNvPr>
          <p:cNvSpPr>
            <a:spLocks xmlns:a="http://schemas.openxmlformats.org/drawingml/2006/main" noGrp="1"/>
          </p:cNvSpPr>
          <p:nvPr/>
        </p:nvSpPr>
        <p:spPr>
          <a:xfrm xmlns:a="http://schemas.openxmlformats.org/drawingml/2006/main">
            <a:off x="685800" y="4171950"/>
            <a:ext cx="48006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A94424"/>
                </a:solidFill>
              </a:defRPr>
            </a:pPr>
            <a:r>
              <a:rPr sz="1575" b="1">
                <a:solidFill>
                  <a:srgbClr val="A94424"/>
                </a:solidFill>
              </a:rPr>
              <a:t>Decision: sort each statement as a boundary to respect or evidence to judge.</a:t>
            </a:r>
          </a:p>
        </p:txBody>
      </p:sp>
      <p:sp>
        <p:nvSpPr>
          <p:cNvPr id="10" name="">
            <a:extLst xmlns:a="http://schemas.openxmlformats.org/drawingml/2006/main">
              <a:ext uri="{FF2B5EF4-FFF2-40B4-BE49-F238E27FC236}">
                <a16:creationId xmlns:a16="http://schemas.microsoft.com/office/drawing/2014/main" id="{2C5BE9B1-364A-4C1E-9B27-21BAEA37BA0D}"/>
              </a:ext>
            </a:extLst>
          </p:cNvPr>
          <p:cNvSpPr>
            <a:spLocks xmlns:a="http://schemas.openxmlformats.org/drawingml/2006/main" noGrp="1"/>
          </p:cNvSpPr>
          <p:nvPr/>
        </p:nvSpPr>
        <p:spPr>
          <a:xfrm xmlns:a="http://schemas.openxmlformats.org/drawingml/2006/main">
            <a:off x="6191250" y="1295400"/>
            <a:ext cx="4762500" cy="2676525"/>
          </a:xfrm>
          <a:prstGeom xmlns:a="http://schemas.openxmlformats.org/drawingml/2006/main" prst="roundRect">
            <a:avLst>
              <a:gd name="adj" fmla="val 2847"/>
            </a:avLst>
          </a:prstGeom>
          <a:solidFill xmlns:a="http://schemas.openxmlformats.org/drawingml/2006/main">
            <a:srgbClr val="FFFFFF"/>
          </a:solidFill>
          <a:ln xmlns:a="http://schemas.openxmlformats.org/drawingml/2006/main" w="9525">
            <a:solidFill>
              <a:srgbClr val="CAD4D8"/>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00691cde6a824ea9"/>
          <a:srcRect xmlns:a="http://schemas.openxmlformats.org/drawingml/2006/main" l="0" t="71" r="0" b="71"/>
          <a:stretch xmlns:a="http://schemas.openxmlformats.org/drawingml/2006/main">
            <a:fillRect l="0" t="0" r="0" b="0"/>
          </a:stretch>
        </p:blipFill>
        <p:spPr>
          <a:xfrm xmlns:a="http://schemas.openxmlformats.org/drawingml/2006/main">
            <a:off x="6191250" y="1295400"/>
            <a:ext cx="4762500" cy="2676525"/>
          </a:xfrm>
          <a:prstGeom xmlns:a="http://schemas.openxmlformats.org/drawingml/2006/main" prst="roundRect">
            <a:avLst>
              <a:gd name="adj" fmla="val 4270"/>
            </a:avLst>
          </a:prstGeom>
        </p:spPr>
      </p:pic>
      <p:sp>
        <p:nvSpPr>
          <p:cNvPr id="12" name="">
            <a:extLst xmlns:a="http://schemas.openxmlformats.org/drawingml/2006/main">
              <a:ext uri="{FF2B5EF4-FFF2-40B4-BE49-F238E27FC236}">
                <a16:creationId xmlns:a16="http://schemas.microsoft.com/office/drawing/2014/main" id="{AE57B7DB-5FE7-4E6B-ADF5-5A19FA4DEDCA}"/>
              </a:ext>
            </a:extLst>
          </p:cNvPr>
          <p:cNvSpPr>
            <a:spLocks xmlns:a="http://schemas.openxmlformats.org/drawingml/2006/main" noGrp="1"/>
          </p:cNvSpPr>
          <p:nvPr/>
        </p:nvSpPr>
        <p:spPr>
          <a:xfrm xmlns:a="http://schemas.openxmlformats.org/drawingml/2006/main">
            <a:off x="6191250" y="40576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7232B"/>
                </a:solidFill>
              </a:defRPr>
            </a:pPr>
            <a:r>
              <a:rPr sz="1125" b="1">
                <a:solidFill>
                  <a:srgbClr val="17232B"/>
                </a:solidFill>
              </a:rPr>
              <a:t>Constraints set the boundary; criteria need evidence.</a:t>
            </a:r>
          </a:p>
        </p:txBody>
      </p:sp>
      <p:sp>
        <p:nvSpPr>
          <p:cNvPr id="13" name="">
            <a:extLst xmlns:a="http://schemas.openxmlformats.org/drawingml/2006/main">
              <a:ext uri="{FF2B5EF4-FFF2-40B4-BE49-F238E27FC236}">
                <a16:creationId xmlns:a16="http://schemas.microsoft.com/office/drawing/2014/main" id="{5FD9641C-9DD9-4DB4-9F24-ABBF4886DEA7}"/>
              </a:ext>
            </a:extLst>
          </p:cNvPr>
          <p:cNvSpPr>
            <a:spLocks xmlns:a="http://schemas.openxmlformats.org/drawingml/2006/main" noGrp="1"/>
          </p:cNvSpPr>
          <p:nvPr/>
        </p:nvSpPr>
        <p:spPr>
          <a:xfrm xmlns:a="http://schemas.openxmlformats.org/drawingml/2006/main">
            <a:off x="6191250" y="4610100"/>
            <a:ext cx="4762500" cy="781050"/>
          </a:xfrm>
          <a:prstGeom xmlns:a="http://schemas.openxmlformats.org/drawingml/2006/main" prst="rect">
            <a:avLst/>
          </a:prstGeom>
          <a:solidFill xmlns:a="http://schemas.openxmlformats.org/drawingml/2006/main">
            <a:srgbClr val="FFF4D8"/>
          </a:solidFill>
          <a:ln xmlns:a="http://schemas.openxmlformats.org/drawingml/2006/main" w="9525">
            <a:solidFill>
              <a:srgbClr val="F0B84B"/>
            </a:solidFill>
            <a:prstDash val="solid"/>
          </a:ln>
        </p:spPr>
        <p:txBody>
          <a:bodyPr xmlns:a="http://schemas.openxmlformats.org/drawingml/2006/main"/>
          <a:lstStyle xmlns:a="http://schemas.openxmlformats.org/drawingml/2006/main"/>
          <a:p xmlns:a="http://schemas.openxmlformats.org/drawingml/2006/main">
            <a:pPr algn="l">
              <a:defRPr sz="1125" b="1">
                <a:solidFill>
                  <a:srgbClr val="184F5E"/>
                </a:solidFill>
              </a:defRPr>
            </a:pPr>
            <a:r>
              <a:rPr sz="1125" b="1">
                <a:solidFill>
                  <a:srgbClr val="184F5E"/>
                </a:solidFill>
              </a:rPr>
              <a:t>NOTICE  Separate what the design must work within from what must be observed to judge success.</a:t>
            </a:r>
          </a:p>
        </p:txBody>
      </p:sp>
    </p:spTree>
    <p:extLst>
      <p:ext uri="{BB962C8B-B14F-4D97-AF65-F5344CB8AC3E}">
        <p14:creationId xmlns:p14="http://schemas.microsoft.com/office/powerpoint/2010/main" val="861708510"/>
      </p:ext>
    </p:extLst>
  </p:cSld>
</p:sld>
</file>

<file path=ppt/slides/slide6.xml><?xml version="1.0" encoding="utf-8"?>
<p:sld xmlns:p="http://schemas.openxmlformats.org/presentationml/2006/main">
  <p:cSld>
    <p:bg>
      <p:bgPr>
        <a:solidFill xmlns:a="http://schemas.openxmlformats.org/drawingml/2006/main">
          <a:srgbClr val="0B3541"/>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BF2F446-6BDA-4B08-8C0A-0EBD4996AC94}"/>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131EFEB-0EEF-4459-A941-A8B373E0CBF4}"/>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F0B84B"/>
                </a:solidFill>
              </a:defRPr>
            </a:pPr>
            <a:r>
              <a:rPr sz="1050" b="1">
                <a:solidFill>
                  <a:srgbClr val="F0B84B"/>
                </a:solidFill>
              </a:rPr>
              <a:t>MODULE 01  /  CATAPULT CHALLENGE</a:t>
            </a:r>
          </a:p>
        </p:txBody>
      </p:sp>
      <p:sp>
        <p:nvSpPr>
          <p:cNvPr id="3" name="">
            <a:extLst xmlns:a="http://schemas.openxmlformats.org/drawingml/2006/main">
              <a:ext uri="{FF2B5EF4-FFF2-40B4-BE49-F238E27FC236}">
                <a16:creationId xmlns:a16="http://schemas.microsoft.com/office/drawing/2014/main" id="{FEF9C6D2-9002-4218-88A1-E6103B60E37E}"/>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FFFFF"/>
                </a:solidFill>
              </a:defRPr>
            </a:pPr>
            <a:r>
              <a:rPr sz="2850" b="1">
                <a:solidFill>
                  <a:srgbClr val="FFFFFF"/>
                </a:solidFill>
              </a:rPr>
              <a:t>Stop. Think. Explain.</a:t>
            </a:r>
          </a:p>
        </p:txBody>
      </p:sp>
      <p:sp>
        <p:nvSpPr>
          <p:cNvPr id="4" name="">
            <a:extLst xmlns:a="http://schemas.openxmlformats.org/drawingml/2006/main">
              <a:ext uri="{FF2B5EF4-FFF2-40B4-BE49-F238E27FC236}">
                <a16:creationId xmlns:a16="http://schemas.microsoft.com/office/drawing/2014/main" id="{FDC2EA2C-A6E2-43F2-BC83-0488D3F06EAE}"/>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FFFFFF">
                <a:alpha val="33333"/>
              </a:srgbClr>
            </a:solidFill>
            <a:prstDash val="solid"/>
          </a:ln>
        </p:spPr>
      </p:sp>
      <p:sp>
        <p:nvSpPr>
          <p:cNvPr id="5" name="">
            <a:extLst xmlns:a="http://schemas.openxmlformats.org/drawingml/2006/main">
              <a:ext uri="{FF2B5EF4-FFF2-40B4-BE49-F238E27FC236}">
                <a16:creationId xmlns:a16="http://schemas.microsoft.com/office/drawing/2014/main" id="{336A42E0-EBD4-4010-A6B6-BCA8EE5F1C94}"/>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D7E5E8"/>
                </a:solidFill>
              </a:defRPr>
            </a:pPr>
            <a:r>
              <a:rPr sz="975" b="1">
                <a:solidFill>
                  <a:srgbClr val="D7E5E8"/>
                </a:solidFill>
              </a:rPr>
              <a:t>YEAR 8 CATAPULT  •  MODULE 01</a:t>
            </a:r>
          </a:p>
        </p:txBody>
      </p:sp>
      <p:sp>
        <p:nvSpPr>
          <p:cNvPr id="6" name="">
            <a:extLst xmlns:a="http://schemas.openxmlformats.org/drawingml/2006/main">
              <a:ext uri="{FF2B5EF4-FFF2-40B4-BE49-F238E27FC236}">
                <a16:creationId xmlns:a16="http://schemas.microsoft.com/office/drawing/2014/main" id="{8D93D99A-F763-463F-86F1-A5ADC578B217}"/>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F0B84B"/>
                </a:solidFill>
              </a:defRPr>
            </a:pPr>
            <a:r>
              <a:rPr sz="975" b="1">
                <a:solidFill>
                  <a:srgbClr val="F0B84B"/>
                </a:solidFill>
              </a:rPr>
              <a:t>06</a:t>
            </a:r>
          </a:p>
        </p:txBody>
      </p:sp>
      <p:sp>
        <p:nvSpPr>
          <p:cNvPr id="7" name="">
            <a:extLst xmlns:a="http://schemas.openxmlformats.org/drawingml/2006/main">
              <a:ext uri="{FF2B5EF4-FFF2-40B4-BE49-F238E27FC236}">
                <a16:creationId xmlns:a16="http://schemas.microsoft.com/office/drawing/2014/main" id="{435623B5-20A0-49C6-A0E9-955BA65780DD}"/>
              </a:ext>
            </a:extLst>
          </p:cNvPr>
          <p:cNvSpPr>
            <a:spLocks xmlns:a="http://schemas.openxmlformats.org/drawingml/2006/main" noGrp="1"/>
          </p:cNvSpPr>
          <p:nvPr/>
        </p:nvSpPr>
        <p:spPr>
          <a:xfrm xmlns:a="http://schemas.openxmlformats.org/drawingml/2006/main">
            <a:off x="685800" y="1219200"/>
            <a:ext cx="981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D7E5E8"/>
                </a:solidFill>
              </a:defRPr>
            </a:pPr>
            <a:r>
              <a:rPr sz="1500" b="0">
                <a:solidFill>
                  <a:srgbClr val="D7E5E8"/>
                </a:solidFill>
              </a:rPr>
              <a:t>Answer silently first. Then justify one answer with a partner.</a:t>
            </a:r>
          </a:p>
        </p:txBody>
      </p:sp>
      <p:sp>
        <p:nvSpPr>
          <p:cNvPr id="8" name="">
            <a:extLst xmlns:a="http://schemas.openxmlformats.org/drawingml/2006/main">
              <a:ext uri="{FF2B5EF4-FFF2-40B4-BE49-F238E27FC236}">
                <a16:creationId xmlns:a16="http://schemas.microsoft.com/office/drawing/2014/main" id="{59D9E428-97D8-4EE5-B7A4-7F7B14C917A5}"/>
              </a:ext>
            </a:extLst>
          </p:cNvPr>
          <p:cNvSpPr>
            <a:spLocks xmlns:a="http://schemas.openxmlformats.org/drawingml/2006/main" noGrp="1"/>
          </p:cNvSpPr>
          <p:nvPr/>
        </p:nvSpPr>
        <p:spPr>
          <a:xfrm xmlns:a="http://schemas.openxmlformats.org/drawingml/2006/main">
            <a:off x="781050" y="1933575"/>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0B84B"/>
                </a:solidFill>
              </a:defRPr>
            </a:pPr>
            <a:r>
              <a:rPr sz="1800" b="1">
                <a:solidFill>
                  <a:srgbClr val="F0B84B"/>
                </a:solidFill>
              </a:rPr>
              <a:t>1</a:t>
            </a:r>
          </a:p>
        </p:txBody>
      </p:sp>
      <p:sp>
        <p:nvSpPr>
          <p:cNvPr id="9" name="">
            <a:extLst xmlns:a="http://schemas.openxmlformats.org/drawingml/2006/main">
              <a:ext uri="{FF2B5EF4-FFF2-40B4-BE49-F238E27FC236}">
                <a16:creationId xmlns:a16="http://schemas.microsoft.com/office/drawing/2014/main" id="{156072DD-BF05-4F85-8378-3194276F8DC8}"/>
              </a:ext>
            </a:extLst>
          </p:cNvPr>
          <p:cNvSpPr>
            <a:spLocks xmlns:a="http://schemas.openxmlformats.org/drawingml/2006/main" noGrp="1"/>
          </p:cNvSpPr>
          <p:nvPr/>
        </p:nvSpPr>
        <p:spPr>
          <a:xfrm xmlns:a="http://schemas.openxmlformats.org/drawingml/2006/main">
            <a:off x="1485900" y="1847850"/>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Why is a list of parts not yet a system explanation?</a:t>
            </a:r>
          </a:p>
        </p:txBody>
      </p:sp>
      <p:sp>
        <p:nvSpPr>
          <p:cNvPr id="10" name="">
            <a:extLst xmlns:a="http://schemas.openxmlformats.org/drawingml/2006/main">
              <a:ext uri="{FF2B5EF4-FFF2-40B4-BE49-F238E27FC236}">
                <a16:creationId xmlns:a16="http://schemas.microsoft.com/office/drawing/2014/main" id="{74635599-7B49-413B-93EC-09027B6442FB}"/>
              </a:ext>
            </a:extLst>
          </p:cNvPr>
          <p:cNvSpPr>
            <a:spLocks xmlns:a="http://schemas.openxmlformats.org/drawingml/2006/main" noGrp="1"/>
          </p:cNvSpPr>
          <p:nvPr/>
        </p:nvSpPr>
        <p:spPr>
          <a:xfrm xmlns:a="http://schemas.openxmlformats.org/drawingml/2006/main">
            <a:off x="1485900" y="2533650"/>
            <a:ext cx="9048750" cy="0"/>
          </a:xfrm>
          <a:prstGeom xmlns:a="http://schemas.openxmlformats.org/drawingml/2006/main" prst="line">
            <a:avLst/>
          </a:prstGeom>
          <a:noFill xmlns:a="http://schemas.openxmlformats.org/drawingml/2006/main"/>
          <a:ln xmlns:a="http://schemas.openxmlformats.org/drawingml/2006/main" w="9525">
            <a:solidFill>
              <a:srgbClr val="FFFFFF">
                <a:alpha val="20000"/>
              </a:srgbClr>
            </a:solidFill>
            <a:prstDash val="solid"/>
          </a:ln>
        </p:spPr>
      </p:sp>
      <p:sp>
        <p:nvSpPr>
          <p:cNvPr id="11" name="">
            <a:extLst xmlns:a="http://schemas.openxmlformats.org/drawingml/2006/main">
              <a:ext uri="{FF2B5EF4-FFF2-40B4-BE49-F238E27FC236}">
                <a16:creationId xmlns:a16="http://schemas.microsoft.com/office/drawing/2014/main" id="{17A6BB72-FE77-4082-B7D7-3086F14B1010}"/>
              </a:ext>
            </a:extLst>
          </p:cNvPr>
          <p:cNvSpPr>
            <a:spLocks xmlns:a="http://schemas.openxmlformats.org/drawingml/2006/main" noGrp="1"/>
          </p:cNvSpPr>
          <p:nvPr/>
        </p:nvSpPr>
        <p:spPr>
          <a:xfrm xmlns:a="http://schemas.openxmlformats.org/drawingml/2006/main">
            <a:off x="781050" y="29146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0B84B"/>
                </a:solidFill>
              </a:defRPr>
            </a:pPr>
            <a:r>
              <a:rPr sz="1800" b="1">
                <a:solidFill>
                  <a:srgbClr val="F0B84B"/>
                </a:solidFill>
              </a:rPr>
              <a:t>2</a:t>
            </a:r>
          </a:p>
        </p:txBody>
      </p:sp>
      <p:sp>
        <p:nvSpPr>
          <p:cNvPr id="12" name="">
            <a:extLst xmlns:a="http://schemas.openxmlformats.org/drawingml/2006/main">
              <a:ext uri="{FF2B5EF4-FFF2-40B4-BE49-F238E27FC236}">
                <a16:creationId xmlns:a16="http://schemas.microsoft.com/office/drawing/2014/main" id="{0C4D93A6-1520-427C-8E87-1FDA35197BC1}"/>
              </a:ext>
            </a:extLst>
          </p:cNvPr>
          <p:cNvSpPr>
            <a:spLocks xmlns:a="http://schemas.openxmlformats.org/drawingml/2006/main" noGrp="1"/>
          </p:cNvSpPr>
          <p:nvPr/>
        </p:nvSpPr>
        <p:spPr>
          <a:xfrm xmlns:a="http://schemas.openxmlformats.org/drawingml/2006/main">
            <a:off x="1485900" y="2828925"/>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What makes feedback useful in engineering?</a:t>
            </a:r>
          </a:p>
        </p:txBody>
      </p:sp>
      <p:sp>
        <p:nvSpPr>
          <p:cNvPr id="13" name="">
            <a:extLst xmlns:a="http://schemas.openxmlformats.org/drawingml/2006/main">
              <a:ext uri="{FF2B5EF4-FFF2-40B4-BE49-F238E27FC236}">
                <a16:creationId xmlns:a16="http://schemas.microsoft.com/office/drawing/2014/main" id="{0485A890-D1FF-4061-BAC4-4A60DBB3FA24}"/>
              </a:ext>
            </a:extLst>
          </p:cNvPr>
          <p:cNvSpPr>
            <a:spLocks xmlns:a="http://schemas.openxmlformats.org/drawingml/2006/main" noGrp="1"/>
          </p:cNvSpPr>
          <p:nvPr/>
        </p:nvSpPr>
        <p:spPr>
          <a:xfrm xmlns:a="http://schemas.openxmlformats.org/drawingml/2006/main">
            <a:off x="1485900" y="3514725"/>
            <a:ext cx="9048750" cy="0"/>
          </a:xfrm>
          <a:prstGeom xmlns:a="http://schemas.openxmlformats.org/drawingml/2006/main" prst="line">
            <a:avLst/>
          </a:prstGeom>
          <a:noFill xmlns:a="http://schemas.openxmlformats.org/drawingml/2006/main"/>
          <a:ln xmlns:a="http://schemas.openxmlformats.org/drawingml/2006/main" w="9525">
            <a:solidFill>
              <a:srgbClr val="FFFFFF">
                <a:alpha val="20000"/>
              </a:srgbClr>
            </a:solidFill>
            <a:prstDash val="solid"/>
          </a:ln>
        </p:spPr>
      </p:sp>
      <p:sp>
        <p:nvSpPr>
          <p:cNvPr id="14" name="">
            <a:extLst xmlns:a="http://schemas.openxmlformats.org/drawingml/2006/main">
              <a:ext uri="{FF2B5EF4-FFF2-40B4-BE49-F238E27FC236}">
                <a16:creationId xmlns:a16="http://schemas.microsoft.com/office/drawing/2014/main" id="{2DA5D057-5B64-4FA2-AD9F-46880AFB675E}"/>
              </a:ext>
            </a:extLst>
          </p:cNvPr>
          <p:cNvSpPr>
            <a:spLocks xmlns:a="http://schemas.openxmlformats.org/drawingml/2006/main" noGrp="1"/>
          </p:cNvSpPr>
          <p:nvPr/>
        </p:nvSpPr>
        <p:spPr>
          <a:xfrm xmlns:a="http://schemas.openxmlformats.org/drawingml/2006/main">
            <a:off x="781050" y="3895725"/>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0B84B"/>
                </a:solidFill>
              </a:defRPr>
            </a:pPr>
            <a:r>
              <a:rPr sz="1800" b="1">
                <a:solidFill>
                  <a:srgbClr val="F0B84B"/>
                </a:solidFill>
              </a:rPr>
              <a:t>3</a:t>
            </a:r>
          </a:p>
        </p:txBody>
      </p:sp>
      <p:sp>
        <p:nvSpPr>
          <p:cNvPr id="15" name="">
            <a:extLst xmlns:a="http://schemas.openxmlformats.org/drawingml/2006/main">
              <a:ext uri="{FF2B5EF4-FFF2-40B4-BE49-F238E27FC236}">
                <a16:creationId xmlns:a16="http://schemas.microsoft.com/office/drawing/2014/main" id="{7D1406A3-8915-4AA4-800D-7CE4818E8DFA}"/>
              </a:ext>
            </a:extLst>
          </p:cNvPr>
          <p:cNvSpPr>
            <a:spLocks xmlns:a="http://schemas.openxmlformats.org/drawingml/2006/main" noGrp="1"/>
          </p:cNvSpPr>
          <p:nvPr/>
        </p:nvSpPr>
        <p:spPr>
          <a:xfrm xmlns:a="http://schemas.openxmlformats.org/drawingml/2006/main">
            <a:off x="1485900" y="3810000"/>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How is a criterion different from a constraint?</a:t>
            </a:r>
          </a:p>
        </p:txBody>
      </p:sp>
      <p:sp>
        <p:nvSpPr>
          <p:cNvPr id="16" name="">
            <a:extLst xmlns:a="http://schemas.openxmlformats.org/drawingml/2006/main">
              <a:ext uri="{FF2B5EF4-FFF2-40B4-BE49-F238E27FC236}">
                <a16:creationId xmlns:a16="http://schemas.microsoft.com/office/drawing/2014/main" id="{714F85D2-0633-40E0-8171-59001A1E41E2}"/>
              </a:ext>
            </a:extLst>
          </p:cNvPr>
          <p:cNvSpPr>
            <a:spLocks xmlns:a="http://schemas.openxmlformats.org/drawingml/2006/main" noGrp="1"/>
          </p:cNvSpPr>
          <p:nvPr/>
        </p:nvSpPr>
        <p:spPr>
          <a:xfrm xmlns:a="http://schemas.openxmlformats.org/drawingml/2006/main">
            <a:off x="1485900" y="4495800"/>
            <a:ext cx="9048750" cy="0"/>
          </a:xfrm>
          <a:prstGeom xmlns:a="http://schemas.openxmlformats.org/drawingml/2006/main" prst="line">
            <a:avLst/>
          </a:prstGeom>
          <a:noFill xmlns:a="http://schemas.openxmlformats.org/drawingml/2006/main"/>
          <a:ln xmlns:a="http://schemas.openxmlformats.org/drawingml/2006/main" w="9525">
            <a:solidFill>
              <a:srgbClr val="FFFFFF">
                <a:alpha val="20000"/>
              </a:srgbClr>
            </a:solidFill>
            <a:prstDash val="solid"/>
          </a:ln>
        </p:spPr>
      </p:sp>
      <p:sp>
        <p:nvSpPr>
          <p:cNvPr id="17" name="">
            <a:extLst xmlns:a="http://schemas.openxmlformats.org/drawingml/2006/main">
              <a:ext uri="{FF2B5EF4-FFF2-40B4-BE49-F238E27FC236}">
                <a16:creationId xmlns:a16="http://schemas.microsoft.com/office/drawing/2014/main" id="{0F1C9403-8D1F-4DFA-99B1-8B037B7DF37A}"/>
              </a:ext>
            </a:extLst>
          </p:cNvPr>
          <p:cNvSpPr>
            <a:spLocks xmlns:a="http://schemas.openxmlformats.org/drawingml/2006/main" noGrp="1"/>
          </p:cNvSpPr>
          <p:nvPr/>
        </p:nvSpPr>
        <p:spPr>
          <a:xfrm xmlns:a="http://schemas.openxmlformats.org/drawingml/2006/main">
            <a:off x="781050" y="487680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0B84B"/>
                </a:solidFill>
              </a:defRPr>
            </a:pPr>
            <a:r>
              <a:rPr sz="1800" b="1">
                <a:solidFill>
                  <a:srgbClr val="F0B84B"/>
                </a:solidFill>
              </a:rPr>
              <a:t>4</a:t>
            </a:r>
          </a:p>
        </p:txBody>
      </p:sp>
      <p:sp>
        <p:nvSpPr>
          <p:cNvPr id="18" name="">
            <a:extLst xmlns:a="http://schemas.openxmlformats.org/drawingml/2006/main">
              <a:ext uri="{FF2B5EF4-FFF2-40B4-BE49-F238E27FC236}">
                <a16:creationId xmlns:a16="http://schemas.microsoft.com/office/drawing/2014/main" id="{7BF3D669-6A9E-4A59-AC5F-430FB7015662}"/>
              </a:ext>
            </a:extLst>
          </p:cNvPr>
          <p:cNvSpPr>
            <a:spLocks xmlns:a="http://schemas.openxmlformats.org/drawingml/2006/main" noGrp="1"/>
          </p:cNvSpPr>
          <p:nvPr/>
        </p:nvSpPr>
        <p:spPr>
          <a:xfrm xmlns:a="http://schemas.openxmlformats.org/drawingml/2006/main">
            <a:off x="1485900" y="4791075"/>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Which evidence would help explain an inconsistent result?</a:t>
            </a:r>
          </a:p>
        </p:txBody>
      </p:sp>
    </p:spTree>
    <p:extLst>
      <p:ext uri="{BB962C8B-B14F-4D97-AF65-F5344CB8AC3E}">
        <p14:creationId xmlns:p14="http://schemas.microsoft.com/office/powerpoint/2010/main" val="2094015258"/>
      </p:ext>
    </p:extLst>
  </p:cSld>
</p:sld>
</file>

<file path=ppt/slides/slide7.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F71F8B9-850E-4D90-9C19-D69C64C21280}"/>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8D58B1E-DC19-437F-A80A-CC326320C514}"/>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94424"/>
                </a:solidFill>
              </a:defRPr>
            </a:pPr>
            <a:r>
              <a:rPr sz="1050" b="1">
                <a:solidFill>
                  <a:srgbClr val="A94424"/>
                </a:solidFill>
              </a:rPr>
              <a:t>MODULE 01  /  CATAPULT CHALLENGE</a:t>
            </a:r>
          </a:p>
        </p:txBody>
      </p:sp>
      <p:sp>
        <p:nvSpPr>
          <p:cNvPr id="3" name="">
            <a:extLst xmlns:a="http://schemas.openxmlformats.org/drawingml/2006/main">
              <a:ext uri="{FF2B5EF4-FFF2-40B4-BE49-F238E27FC236}">
                <a16:creationId xmlns:a16="http://schemas.microsoft.com/office/drawing/2014/main" id="{DE1A2E3B-912F-448D-8E25-0D34A9F27F87}"/>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7232B"/>
                </a:solidFill>
              </a:defRPr>
            </a:pPr>
            <a:r>
              <a:rPr sz="2850" b="1">
                <a:solidFill>
                  <a:srgbClr val="17232B"/>
                </a:solidFill>
              </a:rPr>
              <a:t>Build the evidence, not just an answer</a:t>
            </a:r>
          </a:p>
        </p:txBody>
      </p:sp>
      <p:sp>
        <p:nvSpPr>
          <p:cNvPr id="4" name="">
            <a:extLst xmlns:a="http://schemas.openxmlformats.org/drawingml/2006/main">
              <a:ext uri="{FF2B5EF4-FFF2-40B4-BE49-F238E27FC236}">
                <a16:creationId xmlns:a16="http://schemas.microsoft.com/office/drawing/2014/main" id="{EE27F18A-7717-42F5-92ED-2C2E44EDDFC8}"/>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CAD4D8"/>
            </a:solidFill>
            <a:prstDash val="solid"/>
          </a:ln>
        </p:spPr>
      </p:sp>
      <p:sp>
        <p:nvSpPr>
          <p:cNvPr id="5" name="">
            <a:extLst xmlns:a="http://schemas.openxmlformats.org/drawingml/2006/main">
              <a:ext uri="{FF2B5EF4-FFF2-40B4-BE49-F238E27FC236}">
                <a16:creationId xmlns:a16="http://schemas.microsoft.com/office/drawing/2014/main" id="{95C552D5-91BF-402E-B636-167AC8A32325}"/>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3636D"/>
                </a:solidFill>
              </a:defRPr>
            </a:pPr>
            <a:r>
              <a:rPr sz="975" b="1">
                <a:solidFill>
                  <a:srgbClr val="53636D"/>
                </a:solidFill>
              </a:rPr>
              <a:t>YEAR 8 CATAPULT  •  MODULE 01</a:t>
            </a:r>
          </a:p>
        </p:txBody>
      </p:sp>
      <p:sp>
        <p:nvSpPr>
          <p:cNvPr id="6" name="">
            <a:extLst xmlns:a="http://schemas.openxmlformats.org/drawingml/2006/main">
              <a:ext uri="{FF2B5EF4-FFF2-40B4-BE49-F238E27FC236}">
                <a16:creationId xmlns:a16="http://schemas.microsoft.com/office/drawing/2014/main" id="{E3F5903C-3B0E-4AD5-8B8C-4C00E16217CB}"/>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A94424"/>
                </a:solidFill>
              </a:defRPr>
            </a:pPr>
            <a:r>
              <a:rPr sz="975" b="1">
                <a:solidFill>
                  <a:srgbClr val="A94424"/>
                </a:solidFill>
              </a:rPr>
              <a:t>07</a:t>
            </a:r>
          </a:p>
        </p:txBody>
      </p:sp>
      <p:sp>
        <p:nvSpPr>
          <p:cNvPr id="7" name="">
            <a:extLst xmlns:a="http://schemas.openxmlformats.org/drawingml/2006/main">
              <a:ext uri="{FF2B5EF4-FFF2-40B4-BE49-F238E27FC236}">
                <a16:creationId xmlns:a16="http://schemas.microsoft.com/office/drawing/2014/main" id="{7FC2FD60-C23D-4C94-9224-EB67E4AB5AFA}"/>
              </a:ext>
            </a:extLst>
          </p:cNvPr>
          <p:cNvSpPr>
            <a:spLocks xmlns:a="http://schemas.openxmlformats.org/drawingml/2006/main" noGrp="1"/>
          </p:cNvSpPr>
          <p:nvPr/>
        </p:nvSpPr>
        <p:spPr>
          <a:xfrm xmlns:a="http://schemas.openxmlformats.org/drawingml/2006/main">
            <a:off x="685800" y="12573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94424"/>
                </a:solidFill>
              </a:defRPr>
            </a:pPr>
            <a:r>
              <a:rPr sz="1200" b="1">
                <a:solidFill>
                  <a:srgbClr val="A94424"/>
                </a:solidFill>
              </a:rPr>
              <a:t>THE QUESTION</a:t>
            </a:r>
          </a:p>
        </p:txBody>
      </p:sp>
      <p:sp>
        <p:nvSpPr>
          <p:cNvPr id="8" name="">
            <a:extLst xmlns:a="http://schemas.openxmlformats.org/drawingml/2006/main">
              <a:ext uri="{FF2B5EF4-FFF2-40B4-BE49-F238E27FC236}">
                <a16:creationId xmlns:a16="http://schemas.microsoft.com/office/drawing/2014/main" id="{E4BDA1E7-1CA6-45E7-B609-04FB0A87EBE6}"/>
              </a:ext>
            </a:extLst>
          </p:cNvPr>
          <p:cNvSpPr>
            <a:spLocks xmlns:a="http://schemas.openxmlformats.org/drawingml/2006/main" noGrp="1"/>
          </p:cNvSpPr>
          <p:nvPr/>
        </p:nvSpPr>
        <p:spPr>
          <a:xfrm xmlns:a="http://schemas.openxmlformats.org/drawingml/2006/main">
            <a:off x="685800" y="1581150"/>
            <a:ext cx="10820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7232B"/>
                </a:solidFill>
              </a:defRPr>
            </a:pPr>
            <a:r>
              <a:rPr sz="1800" b="1">
                <a:solidFill>
                  <a:srgbClr val="17232B"/>
                </a:solidFill>
              </a:rPr>
              <a:t>A design meets every confirmed constraint but gives inconsistent results. Explain why it may still be unsuccessful and identify the evidence needed before one change is recommended.</a:t>
            </a:r>
          </a:p>
        </p:txBody>
      </p:sp>
      <p:sp>
        <p:nvSpPr>
          <p:cNvPr id="9" name="">
            <a:extLst xmlns:a="http://schemas.openxmlformats.org/drawingml/2006/main">
              <a:ext uri="{FF2B5EF4-FFF2-40B4-BE49-F238E27FC236}">
                <a16:creationId xmlns:a16="http://schemas.microsoft.com/office/drawing/2014/main" id="{6052F0A0-752E-43C9-ACE1-2E5C7E70D3FB}"/>
              </a:ext>
            </a:extLst>
          </p:cNvPr>
          <p:cNvSpPr>
            <a:spLocks xmlns:a="http://schemas.openxmlformats.org/drawingml/2006/main" noGrp="1"/>
          </p:cNvSpPr>
          <p:nvPr/>
        </p:nvSpPr>
        <p:spPr>
          <a:xfrm xmlns:a="http://schemas.openxmlformats.org/drawingml/2006/main">
            <a:off x="3143250" y="3476625"/>
            <a:ext cx="53340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DC8169E-6FA6-4A07-AF58-7ABBC9C9B331}"/>
              </a:ext>
            </a:extLst>
          </p:cNvPr>
          <p:cNvSpPr>
            <a:spLocks xmlns:a="http://schemas.openxmlformats.org/drawingml/2006/main" noGrp="1"/>
          </p:cNvSpPr>
          <p:nvPr/>
        </p:nvSpPr>
        <p:spPr>
          <a:xfrm xmlns:a="http://schemas.openxmlformats.org/drawingml/2006/main">
            <a:off x="5867400" y="3476625"/>
            <a:ext cx="53340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D4F4872-4286-419F-A04C-1F0863EACB15}"/>
              </a:ext>
            </a:extLst>
          </p:cNvPr>
          <p:cNvSpPr>
            <a:spLocks xmlns:a="http://schemas.openxmlformats.org/drawingml/2006/main" noGrp="1"/>
          </p:cNvSpPr>
          <p:nvPr/>
        </p:nvSpPr>
        <p:spPr>
          <a:xfrm xmlns:a="http://schemas.openxmlformats.org/drawingml/2006/main">
            <a:off x="8591550" y="3476625"/>
            <a:ext cx="53340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6368FD6-9C95-45C4-AA89-9D86E28023B8}"/>
              </a:ext>
            </a:extLst>
          </p:cNvPr>
          <p:cNvSpPr>
            <a:spLocks xmlns:a="http://schemas.openxmlformats.org/drawingml/2006/main" noGrp="1"/>
          </p:cNvSpPr>
          <p:nvPr/>
        </p:nvSpPr>
        <p:spPr>
          <a:xfrm xmlns:a="http://schemas.openxmlformats.org/drawingml/2006/main">
            <a:off x="685800" y="3028950"/>
            <a:ext cx="23431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84F5E"/>
                </a:solidFill>
              </a:defRPr>
            </a:pPr>
            <a:r>
              <a:rPr sz="1500" b="1">
                <a:solidFill>
                  <a:srgbClr val="184F5E"/>
                </a:solidFill>
              </a:rPr>
              <a:t>READ</a:t>
            </a:r>
          </a:p>
          <a:p xmlns:a="http://schemas.openxmlformats.org/drawingml/2006/main">
            <a:pPr algn="ctr">
              <a:defRPr sz="1500" b="1">
                <a:solidFill>
                  <a:srgbClr val="184F5E"/>
                </a:solidFill>
              </a:defRPr>
            </a:pPr>
            <a:r>
              <a:rPr sz="1500" b="1">
                <a:solidFill>
                  <a:srgbClr val="184F5E"/>
                </a:solidFill>
              </a:rPr>
              <a:t>Underline the decision</a:t>
            </a:r>
          </a:p>
        </p:txBody>
      </p:sp>
      <p:sp>
        <p:nvSpPr>
          <p:cNvPr id="13" name="">
            <a:extLst xmlns:a="http://schemas.openxmlformats.org/drawingml/2006/main">
              <a:ext uri="{FF2B5EF4-FFF2-40B4-BE49-F238E27FC236}">
                <a16:creationId xmlns:a16="http://schemas.microsoft.com/office/drawing/2014/main" id="{C80E6569-3358-4057-9256-DE3D6B360620}"/>
              </a:ext>
            </a:extLst>
          </p:cNvPr>
          <p:cNvSpPr>
            <a:spLocks xmlns:a="http://schemas.openxmlformats.org/drawingml/2006/main" noGrp="1"/>
          </p:cNvSpPr>
          <p:nvPr/>
        </p:nvSpPr>
        <p:spPr>
          <a:xfrm xmlns:a="http://schemas.openxmlformats.org/drawingml/2006/main">
            <a:off x="3409950" y="3028950"/>
            <a:ext cx="23431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A94424"/>
                </a:solidFill>
              </a:defRPr>
            </a:pPr>
            <a:r>
              <a:rPr sz="1500" b="1">
                <a:solidFill>
                  <a:srgbClr val="A94424"/>
                </a:solidFill>
              </a:rPr>
              <a:t>SELECT</a:t>
            </a:r>
          </a:p>
          <a:p xmlns:a="http://schemas.openxmlformats.org/drawingml/2006/main">
            <a:pPr algn="ctr">
              <a:defRPr sz="1500" b="1">
                <a:solidFill>
                  <a:srgbClr val="A94424"/>
                </a:solidFill>
              </a:defRPr>
            </a:pPr>
            <a:r>
              <a:rPr sz="1500" b="1">
                <a:solidFill>
                  <a:srgbClr val="A94424"/>
                </a:solidFill>
              </a:rPr>
              <a:t>Choose precise evidence</a:t>
            </a:r>
          </a:p>
        </p:txBody>
      </p:sp>
      <p:sp>
        <p:nvSpPr>
          <p:cNvPr id="14" name="">
            <a:extLst xmlns:a="http://schemas.openxmlformats.org/drawingml/2006/main">
              <a:ext uri="{FF2B5EF4-FFF2-40B4-BE49-F238E27FC236}">
                <a16:creationId xmlns:a16="http://schemas.microsoft.com/office/drawing/2014/main" id="{F7925301-D473-4610-90D0-0F2DB90DB7CD}"/>
              </a:ext>
            </a:extLst>
          </p:cNvPr>
          <p:cNvSpPr>
            <a:spLocks xmlns:a="http://schemas.openxmlformats.org/drawingml/2006/main" noGrp="1"/>
          </p:cNvSpPr>
          <p:nvPr/>
        </p:nvSpPr>
        <p:spPr>
          <a:xfrm xmlns:a="http://schemas.openxmlformats.org/drawingml/2006/main">
            <a:off x="6134100" y="3028950"/>
            <a:ext cx="23431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84F5E"/>
                </a:solidFill>
              </a:defRPr>
            </a:pPr>
            <a:r>
              <a:rPr sz="1500" b="1">
                <a:solidFill>
                  <a:srgbClr val="184F5E"/>
                </a:solidFill>
              </a:rPr>
              <a:t>EXPLAIN</a:t>
            </a:r>
          </a:p>
          <a:p xmlns:a="http://schemas.openxmlformats.org/drawingml/2006/main">
            <a:pPr algn="ctr">
              <a:defRPr sz="1500" b="1">
                <a:solidFill>
                  <a:srgbClr val="184F5E"/>
                </a:solidFill>
              </a:defRPr>
            </a:pPr>
            <a:r>
              <a:rPr sz="1500" b="1">
                <a:solidFill>
                  <a:srgbClr val="184F5E"/>
                </a:solidFill>
              </a:rPr>
              <a:t>Connect with theory</a:t>
            </a:r>
          </a:p>
        </p:txBody>
      </p:sp>
      <p:sp>
        <p:nvSpPr>
          <p:cNvPr id="15" name="">
            <a:extLst xmlns:a="http://schemas.openxmlformats.org/drawingml/2006/main">
              <a:ext uri="{FF2B5EF4-FFF2-40B4-BE49-F238E27FC236}">
                <a16:creationId xmlns:a16="http://schemas.microsoft.com/office/drawing/2014/main" id="{AC0E9F6C-C9C3-439A-891A-17D6C66110B2}"/>
              </a:ext>
            </a:extLst>
          </p:cNvPr>
          <p:cNvSpPr>
            <a:spLocks xmlns:a="http://schemas.openxmlformats.org/drawingml/2006/main" noGrp="1"/>
          </p:cNvSpPr>
          <p:nvPr/>
        </p:nvSpPr>
        <p:spPr>
          <a:xfrm xmlns:a="http://schemas.openxmlformats.org/drawingml/2006/main">
            <a:off x="8858250" y="3028950"/>
            <a:ext cx="23431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A94424"/>
                </a:solidFill>
              </a:defRPr>
            </a:pPr>
            <a:r>
              <a:rPr sz="1500" b="1">
                <a:solidFill>
                  <a:srgbClr val="A94424"/>
                </a:solidFill>
              </a:rPr>
              <a:t>CHECK</a:t>
            </a:r>
          </a:p>
          <a:p xmlns:a="http://schemas.openxmlformats.org/drawingml/2006/main">
            <a:pPr algn="ctr">
              <a:defRPr sz="1500" b="1">
                <a:solidFill>
                  <a:srgbClr val="A94424"/>
                </a:solidFill>
              </a:defRPr>
            </a:pPr>
            <a:r>
              <a:rPr sz="1500" b="1">
                <a:solidFill>
                  <a:srgbClr val="A94424"/>
                </a:solidFill>
              </a:rPr>
              <a:t>Answer every part</a:t>
            </a:r>
          </a:p>
        </p:txBody>
      </p:sp>
      <p:sp>
        <p:nvSpPr>
          <p:cNvPr id="16" name="">
            <a:extLst xmlns:a="http://schemas.openxmlformats.org/drawingml/2006/main">
              <a:ext uri="{FF2B5EF4-FFF2-40B4-BE49-F238E27FC236}">
                <a16:creationId xmlns:a16="http://schemas.microsoft.com/office/drawing/2014/main" id="{78D0CA2D-C77E-499C-A9F1-0156D29600E9}"/>
              </a:ext>
            </a:extLst>
          </p:cNvPr>
          <p:cNvSpPr>
            <a:spLocks xmlns:a="http://schemas.openxmlformats.org/drawingml/2006/main" noGrp="1"/>
          </p:cNvSpPr>
          <p:nvPr/>
        </p:nvSpPr>
        <p:spPr>
          <a:xfrm xmlns:a="http://schemas.openxmlformats.org/drawingml/2006/main">
            <a:off x="685800" y="4476750"/>
            <a:ext cx="10820400" cy="1219200"/>
          </a:xfrm>
          <a:prstGeom xmlns:a="http://schemas.openxmlformats.org/drawingml/2006/main" prst="rect">
            <a:avLst/>
          </a:prstGeom>
          <a:solidFill xmlns:a="http://schemas.openxmlformats.org/drawingml/2006/main">
            <a:srgbClr val="FFFFFF"/>
          </a:solidFill>
          <a:ln xmlns:a="http://schemas.openxmlformats.org/drawingml/2006/main" w="9525">
            <a:solidFill>
              <a:srgbClr val="CAD4D8"/>
            </a:solidFill>
            <a:prstDash val="solid"/>
          </a:ln>
        </p:spPr>
      </p:sp>
      <p:sp>
        <p:nvSpPr>
          <p:cNvPr id="17" name="">
            <a:extLst xmlns:a="http://schemas.openxmlformats.org/drawingml/2006/main">
              <a:ext uri="{FF2B5EF4-FFF2-40B4-BE49-F238E27FC236}">
                <a16:creationId xmlns:a16="http://schemas.microsoft.com/office/drawing/2014/main" id="{95837E37-611A-4428-A865-D06733562FE7}"/>
              </a:ext>
            </a:extLst>
          </p:cNvPr>
          <p:cNvSpPr>
            <a:spLocks xmlns:a="http://schemas.openxmlformats.org/drawingml/2006/main" noGrp="1"/>
          </p:cNvSpPr>
          <p:nvPr/>
        </p:nvSpPr>
        <p:spPr>
          <a:xfrm xmlns:a="http://schemas.openxmlformats.org/drawingml/2006/main">
            <a:off x="914400" y="46672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94424"/>
                </a:solidFill>
              </a:defRPr>
            </a:pPr>
            <a:r>
              <a:rPr sz="1200" b="1">
                <a:solidFill>
                  <a:srgbClr val="A94424"/>
                </a:solidFill>
              </a:rPr>
              <a:t>SENTENCE SUPPORT</a:t>
            </a:r>
          </a:p>
        </p:txBody>
      </p:sp>
      <p:sp>
        <p:nvSpPr>
          <p:cNvPr id="18" name="">
            <a:extLst xmlns:a="http://schemas.openxmlformats.org/drawingml/2006/main">
              <a:ext uri="{FF2B5EF4-FFF2-40B4-BE49-F238E27FC236}">
                <a16:creationId xmlns:a16="http://schemas.microsoft.com/office/drawing/2014/main" id="{F7443A6D-A090-464B-9FD3-EB31A81C9E96}"/>
              </a:ext>
            </a:extLst>
          </p:cNvPr>
          <p:cNvSpPr>
            <a:spLocks xmlns:a="http://schemas.openxmlformats.org/drawingml/2006/main" noGrp="1"/>
          </p:cNvSpPr>
          <p:nvPr/>
        </p:nvSpPr>
        <p:spPr>
          <a:xfrm xmlns:a="http://schemas.openxmlformats.org/drawingml/2006/main">
            <a:off x="914400" y="5029200"/>
            <a:ext cx="10144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7232B"/>
                </a:solidFill>
              </a:defRPr>
            </a:pPr>
            <a:r>
              <a:rPr sz="1575" b="0">
                <a:solidFill>
                  <a:srgbClr val="17232B"/>
                </a:solidFill>
              </a:rPr>
              <a:t>Although the design meets the constraints, the evidence shows … This matters because … Before changing … I would check …</a:t>
            </a:r>
          </a:p>
        </p:txBody>
      </p:sp>
    </p:spTree>
    <p:extLst>
      <p:ext uri="{BB962C8B-B14F-4D97-AF65-F5344CB8AC3E}">
        <p14:creationId xmlns:p14="http://schemas.microsoft.com/office/powerpoint/2010/main" val="2097686116"/>
      </p:ext>
    </p:extLst>
  </p:cSld>
</p:sld>
</file>

<file path=ppt/slides/slide8.xml><?xml version="1.0" encoding="utf-8"?>
<p:sld xmlns:p="http://schemas.openxmlformats.org/presentationml/2006/main">
  <p:cSld>
    <p:bg>
      <p:bgPr>
        <a:solidFill xmlns:a="http://schemas.openxmlformats.org/drawingml/2006/main">
          <a:srgbClr val="A94424"/>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CDAE9F7-439B-4D71-9D25-61820F759C8C}"/>
              </a:ext>
            </a:extLst>
          </p:cNvPr>
          <p:cNvSpPr>
            <a:spLocks xmlns:a="http://schemas.openxmlformats.org/drawingml/2006/main" noGrp="1"/>
          </p:cNvSpPr>
          <p:nvPr/>
        </p:nvSpPr>
        <p:spPr>
          <a:xfrm xmlns:a="http://schemas.openxmlformats.org/drawingml/2006/main">
            <a:off x="685800" y="55245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0B84B"/>
                </a:solidFill>
              </a:defRPr>
            </a:pPr>
            <a:r>
              <a:rPr sz="1350" b="1">
                <a:solidFill>
                  <a:srgbClr val="F0B84B"/>
                </a:solidFill>
              </a:rPr>
              <a:t>BEFORE YOU PACK UP …</a:t>
            </a:r>
          </a:p>
        </p:txBody>
      </p:sp>
      <p:sp>
        <p:nvSpPr>
          <p:cNvPr id="2" name="">
            <a:extLst xmlns:a="http://schemas.openxmlformats.org/drawingml/2006/main">
              <a:ext uri="{FF2B5EF4-FFF2-40B4-BE49-F238E27FC236}">
                <a16:creationId xmlns:a16="http://schemas.microsoft.com/office/drawing/2014/main" id="{7F98C04C-84F2-4EEF-8B2A-AB5A266814A6}"/>
              </a:ext>
            </a:extLst>
          </p:cNvPr>
          <p:cNvSpPr>
            <a:spLocks xmlns:a="http://schemas.openxmlformats.org/drawingml/2006/main" noGrp="1"/>
          </p:cNvSpPr>
          <p:nvPr/>
        </p:nvSpPr>
        <p:spPr>
          <a:xfrm xmlns:a="http://schemas.openxmlformats.org/drawingml/2006/main">
            <a:off x="685800" y="1066800"/>
            <a:ext cx="8001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Close the design loop</a:t>
            </a:r>
          </a:p>
        </p:txBody>
      </p:sp>
      <p:sp>
        <p:nvSpPr>
          <p:cNvPr id="3" name="">
            <a:extLst xmlns:a="http://schemas.openxmlformats.org/drawingml/2006/main">
              <a:ext uri="{FF2B5EF4-FFF2-40B4-BE49-F238E27FC236}">
                <a16:creationId xmlns:a16="http://schemas.microsoft.com/office/drawing/2014/main" id="{5C4ED404-D824-4D05-AE23-E575AD4B107E}"/>
              </a:ext>
            </a:extLst>
          </p:cNvPr>
          <p:cNvSpPr>
            <a:spLocks xmlns:a="http://schemas.openxmlformats.org/drawingml/2006/main" noGrp="1"/>
          </p:cNvSpPr>
          <p:nvPr/>
        </p:nvSpPr>
        <p:spPr>
          <a:xfrm xmlns:a="http://schemas.openxmlformats.org/drawingml/2006/main">
            <a:off x="685800" y="2095500"/>
            <a:ext cx="8096250" cy="666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EC9011E-E441-4503-ACF6-0E0C4AB43751}"/>
              </a:ext>
            </a:extLst>
          </p:cNvPr>
          <p:cNvSpPr>
            <a:spLocks xmlns:a="http://schemas.openxmlformats.org/drawingml/2006/main" noGrp="1"/>
          </p:cNvSpPr>
          <p:nvPr/>
        </p:nvSpPr>
        <p:spPr>
          <a:xfrm xmlns:a="http://schemas.openxmlformats.org/drawingml/2006/main">
            <a:off x="933450" y="22669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232B"/>
                </a:solidFill>
              </a:defRPr>
            </a:pPr>
            <a:r>
              <a:rPr sz="1650" b="1">
                <a:solidFill>
                  <a:srgbClr val="17232B"/>
                </a:solidFill>
              </a:rPr>
              <a:t>1. One system relationship I can now explain …</a:t>
            </a:r>
          </a:p>
        </p:txBody>
      </p:sp>
      <p:sp>
        <p:nvSpPr>
          <p:cNvPr id="5" name="">
            <a:extLst xmlns:a="http://schemas.openxmlformats.org/drawingml/2006/main">
              <a:ext uri="{FF2B5EF4-FFF2-40B4-BE49-F238E27FC236}">
                <a16:creationId xmlns:a16="http://schemas.microsoft.com/office/drawing/2014/main" id="{902C0C71-3E59-43B4-9C90-E5CCF6D81344}"/>
              </a:ext>
            </a:extLst>
          </p:cNvPr>
          <p:cNvSpPr>
            <a:spLocks xmlns:a="http://schemas.openxmlformats.org/drawingml/2006/main" noGrp="1"/>
          </p:cNvSpPr>
          <p:nvPr/>
        </p:nvSpPr>
        <p:spPr>
          <a:xfrm xmlns:a="http://schemas.openxmlformats.org/drawingml/2006/main">
            <a:off x="685800" y="3028950"/>
            <a:ext cx="8096250" cy="666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2C67845-9132-43C6-B412-5353E0F86BAD}"/>
              </a:ext>
            </a:extLst>
          </p:cNvPr>
          <p:cNvSpPr>
            <a:spLocks xmlns:a="http://schemas.openxmlformats.org/drawingml/2006/main" noGrp="1"/>
          </p:cNvSpPr>
          <p:nvPr/>
        </p:nvSpPr>
        <p:spPr>
          <a:xfrm xmlns:a="http://schemas.openxmlformats.org/drawingml/2006/main">
            <a:off x="933450" y="32004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232B"/>
                </a:solidFill>
              </a:defRPr>
            </a:pPr>
            <a:r>
              <a:rPr sz="1650" b="1">
                <a:solidFill>
                  <a:srgbClr val="17232B"/>
                </a:solidFill>
              </a:rPr>
              <a:t>2. One piece of evidence that could guide a change …</a:t>
            </a:r>
          </a:p>
        </p:txBody>
      </p:sp>
      <p:sp>
        <p:nvSpPr>
          <p:cNvPr id="7" name="">
            <a:extLst xmlns:a="http://schemas.openxmlformats.org/drawingml/2006/main">
              <a:ext uri="{FF2B5EF4-FFF2-40B4-BE49-F238E27FC236}">
                <a16:creationId xmlns:a16="http://schemas.microsoft.com/office/drawing/2014/main" id="{D52E8E48-F5ED-4135-977D-C7113811F29F}"/>
              </a:ext>
            </a:extLst>
          </p:cNvPr>
          <p:cNvSpPr>
            <a:spLocks xmlns:a="http://schemas.openxmlformats.org/drawingml/2006/main" noGrp="1"/>
          </p:cNvSpPr>
          <p:nvPr/>
        </p:nvSpPr>
        <p:spPr>
          <a:xfrm xmlns:a="http://schemas.openxmlformats.org/drawingml/2006/main">
            <a:off x="685800" y="3962400"/>
            <a:ext cx="8096250" cy="666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EBCFE99-4DFB-46BB-AA27-6CF9DA20BF7B}"/>
              </a:ext>
            </a:extLst>
          </p:cNvPr>
          <p:cNvSpPr>
            <a:spLocks xmlns:a="http://schemas.openxmlformats.org/drawingml/2006/main" noGrp="1"/>
          </p:cNvSpPr>
          <p:nvPr/>
        </p:nvSpPr>
        <p:spPr>
          <a:xfrm xmlns:a="http://schemas.openxmlformats.org/drawingml/2006/main">
            <a:off x="933450" y="41338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232B"/>
                </a:solidFill>
              </a:defRPr>
            </a:pPr>
            <a:r>
              <a:rPr sz="1650" b="1">
                <a:solidFill>
                  <a:srgbClr val="17232B"/>
                </a:solidFill>
              </a:rPr>
              <a:t>3. One question about the confirmed brief …</a:t>
            </a:r>
          </a:p>
        </p:txBody>
      </p:sp>
      <p:sp>
        <p:nvSpPr>
          <p:cNvPr id="9" name="">
            <a:extLst xmlns:a="http://schemas.openxmlformats.org/drawingml/2006/main">
              <a:ext uri="{FF2B5EF4-FFF2-40B4-BE49-F238E27FC236}">
                <a16:creationId xmlns:a16="http://schemas.microsoft.com/office/drawing/2014/main" id="{7D9A25CA-146F-4E36-9419-71E11C6E1B4E}"/>
              </a:ext>
            </a:extLst>
          </p:cNvPr>
          <p:cNvSpPr>
            <a:spLocks xmlns:a="http://schemas.openxmlformats.org/drawingml/2006/main" noGrp="1"/>
          </p:cNvSpPr>
          <p:nvPr/>
        </p:nvSpPr>
        <p:spPr>
          <a:xfrm xmlns:a="http://schemas.openxmlformats.org/drawingml/2006/main">
            <a:off x="9353550" y="2419350"/>
            <a:ext cx="1828800" cy="1828800"/>
          </a:xfrm>
          <a:prstGeom xmlns:a="http://schemas.openxmlformats.org/drawingml/2006/main" prst="ellipse">
            <a:avLst/>
          </a:prstGeom>
          <a:solidFill xmlns:a="http://schemas.openxmlformats.org/drawingml/2006/main">
            <a:srgbClr val="F0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0A48B79-656E-4237-AC2E-D30195265FFB}"/>
              </a:ext>
            </a:extLst>
          </p:cNvPr>
          <p:cNvSpPr>
            <a:spLocks xmlns:a="http://schemas.openxmlformats.org/drawingml/2006/main" noGrp="1"/>
          </p:cNvSpPr>
          <p:nvPr/>
        </p:nvSpPr>
        <p:spPr>
          <a:xfrm xmlns:a="http://schemas.openxmlformats.org/drawingml/2006/main">
            <a:off x="9610725" y="2800350"/>
            <a:ext cx="13144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7232B"/>
                </a:solidFill>
              </a:defRPr>
            </a:pPr>
            <a:r>
              <a:rPr sz="1875" b="1">
                <a:solidFill>
                  <a:srgbClr val="17232B"/>
                </a:solidFill>
              </a:rPr>
              <a:t>SAVE</a:t>
            </a:r>
          </a:p>
          <a:p xmlns:a="http://schemas.openxmlformats.org/drawingml/2006/main">
            <a:pPr algn="ctr">
              <a:defRPr sz="1875" b="1">
                <a:solidFill>
                  <a:srgbClr val="17232B"/>
                </a:solidFill>
              </a:defRPr>
            </a:pPr>
            <a:r>
              <a:rPr sz="1875" b="1">
                <a:solidFill>
                  <a:srgbClr val="17232B"/>
                </a:solidFill>
              </a:rPr>
              <a:t>YOUR</a:t>
            </a:r>
          </a:p>
          <a:p xmlns:a="http://schemas.openxmlformats.org/drawingml/2006/main">
            <a:pPr algn="ctr">
              <a:defRPr sz="1875" b="1">
                <a:solidFill>
                  <a:srgbClr val="17232B"/>
                </a:solidFill>
              </a:defRPr>
            </a:pPr>
            <a:r>
              <a:rPr sz="1875" b="1">
                <a:solidFill>
                  <a:srgbClr val="17232B"/>
                </a:solidFill>
              </a:rPr>
              <a:t>EVIDENCE</a:t>
            </a:r>
          </a:p>
        </p:txBody>
      </p:sp>
      <p:sp>
        <p:nvSpPr>
          <p:cNvPr id="11" name="">
            <a:extLst xmlns:a="http://schemas.openxmlformats.org/drawingml/2006/main">
              <a:ext uri="{FF2B5EF4-FFF2-40B4-BE49-F238E27FC236}">
                <a16:creationId xmlns:a16="http://schemas.microsoft.com/office/drawing/2014/main" id="{90D1882A-15EB-4326-B202-A5BC64FCF791}"/>
              </a:ext>
            </a:extLst>
          </p:cNvPr>
          <p:cNvSpPr>
            <a:spLocks xmlns:a="http://schemas.openxmlformats.org/drawingml/2006/main" noGrp="1"/>
          </p:cNvSpPr>
          <p:nvPr/>
        </p:nvSpPr>
        <p:spPr>
          <a:xfrm xmlns:a="http://schemas.openxmlformats.org/drawingml/2006/main">
            <a:off x="685800" y="5219700"/>
            <a:ext cx="809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FFFFFF"/>
                </a:solidFill>
              </a:defRPr>
            </a:pPr>
            <a:r>
              <a:rPr sz="1425" b="0">
                <a:solidFill>
                  <a:srgbClr val="FFFFFF"/>
                </a:solidFill>
              </a:rPr>
              <a:t>Evidence destination: your module response and folio where your teacher directs.</a:t>
            </a:r>
          </a:p>
        </p:txBody>
      </p:sp>
      <p:sp>
        <p:nvSpPr>
          <p:cNvPr id="12" name="">
            <a:extLst xmlns:a="http://schemas.openxmlformats.org/drawingml/2006/main">
              <a:ext uri="{FF2B5EF4-FFF2-40B4-BE49-F238E27FC236}">
                <a16:creationId xmlns:a16="http://schemas.microsoft.com/office/drawing/2014/main" id="{22092BCA-D414-4BAA-9947-96B6EF5191D7}"/>
              </a:ext>
            </a:extLst>
          </p:cNvPr>
          <p:cNvSpPr>
            <a:spLocks xmlns:a="http://schemas.openxmlformats.org/drawingml/2006/main" noGrp="1"/>
          </p:cNvSpPr>
          <p:nvPr/>
        </p:nvSpPr>
        <p:spPr>
          <a:xfrm xmlns:a="http://schemas.openxmlformats.org/drawingml/2006/main">
            <a:off x="685800" y="588645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0B84B"/>
                </a:solidFill>
              </a:defRPr>
            </a:pPr>
            <a:r>
              <a:rPr sz="1350" b="1">
                <a:solidFill>
                  <a:srgbClr val="F0B84B"/>
                </a:solidFill>
              </a:rPr>
              <a:t>Next: examine how tools and materials are selected within teacher-approved workshop systems.</a:t>
            </a:r>
          </a:p>
        </p:txBody>
      </p:sp>
      <p:sp>
        <p:nvSpPr>
          <p:cNvPr id="13" name="">
            <a:extLst xmlns:a="http://schemas.openxmlformats.org/drawingml/2006/main">
              <a:ext uri="{FF2B5EF4-FFF2-40B4-BE49-F238E27FC236}">
                <a16:creationId xmlns:a16="http://schemas.microsoft.com/office/drawing/2014/main" id="{FD3C1120-8CB3-4CFC-97A0-52577251350F}"/>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FFFFFF">
                <a:alpha val="33333"/>
              </a:srgbClr>
            </a:solidFill>
            <a:prstDash val="solid"/>
          </a:ln>
        </p:spPr>
      </p:sp>
      <p:sp>
        <p:nvSpPr>
          <p:cNvPr id="14" name="">
            <a:extLst xmlns:a="http://schemas.openxmlformats.org/drawingml/2006/main">
              <a:ext uri="{FF2B5EF4-FFF2-40B4-BE49-F238E27FC236}">
                <a16:creationId xmlns:a16="http://schemas.microsoft.com/office/drawing/2014/main" id="{A7F5EB83-3626-49EC-907A-E069A9CDAADC}"/>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D7E5E8"/>
                </a:solidFill>
              </a:defRPr>
            </a:pPr>
            <a:r>
              <a:rPr sz="975" b="1">
                <a:solidFill>
                  <a:srgbClr val="D7E5E8"/>
                </a:solidFill>
              </a:rPr>
              <a:t>YEAR 8 CATAPULT  •  MODULE 01</a:t>
            </a:r>
          </a:p>
        </p:txBody>
      </p:sp>
      <p:sp>
        <p:nvSpPr>
          <p:cNvPr id="15" name="">
            <a:extLst xmlns:a="http://schemas.openxmlformats.org/drawingml/2006/main">
              <a:ext uri="{FF2B5EF4-FFF2-40B4-BE49-F238E27FC236}">
                <a16:creationId xmlns:a16="http://schemas.microsoft.com/office/drawing/2014/main" id="{84D89439-428F-4008-A488-12DED565D6F6}"/>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F0B84B"/>
                </a:solidFill>
              </a:defRPr>
            </a:pPr>
            <a:r>
              <a:rPr sz="975" b="1">
                <a:solidFill>
                  <a:srgbClr val="F0B84B"/>
                </a:solidFill>
              </a:rPr>
              <a:t>08</a:t>
            </a:r>
          </a:p>
        </p:txBody>
      </p:sp>
    </p:spTree>
    <p:extLst>
      <p:ext uri="{BB962C8B-B14F-4D97-AF65-F5344CB8AC3E}">
        <p14:creationId xmlns:p14="http://schemas.microsoft.com/office/powerpoint/2010/main" val="2178347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2026-08-24T09:20:18.7310000Z</dcterms:created>
  <dcterms:modified xsi:type="dcterms:W3CDTF">2026-08-24T09:20:18.7310000Z</dcterms:modified>
</coreProperties>
</file>